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90" r:id="rId18"/>
    <p:sldId id="289" r:id="rId19"/>
    <p:sldId id="291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31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47" autoAdjust="0"/>
    <p:restoredTop sz="96440" autoAdjust="0"/>
  </p:normalViewPr>
  <p:slideViewPr>
    <p:cSldViewPr snapToGrid="0">
      <p:cViewPr varScale="1">
        <p:scale>
          <a:sx n="109" d="100"/>
          <a:sy n="109" d="100"/>
        </p:scale>
        <p:origin x="117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9BB29-2F69-4BAD-BAE6-35EBE787D585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E1986-C91B-477C-93E3-239B6FF79C4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8069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Pour</a:t>
            </a:r>
            <a:r>
              <a:rPr lang="fr-FR" b="1" baseline="0" dirty="0" smtClean="0"/>
              <a:t> installer </a:t>
            </a:r>
            <a:r>
              <a:rPr lang="fr-FR" b="1" baseline="0" dirty="0" err="1" smtClean="0"/>
              <a:t>gitlab-runner</a:t>
            </a:r>
            <a:r>
              <a:rPr lang="fr-FR" b="1" baseline="0" dirty="0" smtClean="0"/>
              <a:t> en mode linux</a:t>
            </a:r>
            <a:endParaRPr lang="fr-FR" b="1" dirty="0" smtClean="0"/>
          </a:p>
          <a:p>
            <a:r>
              <a:rPr lang="fr-FR" dirty="0" smtClean="0"/>
              <a:t>https://docs.gitlab.com/runner/install/linux-repository.html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1226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 smtClean="0"/>
              <a:t>Pour</a:t>
            </a:r>
            <a:r>
              <a:rPr lang="fr-FR" b="1" baseline="0" dirty="0" smtClean="0"/>
              <a:t> installer </a:t>
            </a:r>
            <a:r>
              <a:rPr lang="fr-FR" b="1" baseline="0" dirty="0" err="1" smtClean="0"/>
              <a:t>gitlab-runner</a:t>
            </a:r>
            <a:r>
              <a:rPr lang="fr-FR" b="1" baseline="0" dirty="0" smtClean="0"/>
              <a:t> en mode linux</a:t>
            </a:r>
            <a:endParaRPr lang="fr-FR" b="1" dirty="0" smtClean="0"/>
          </a:p>
          <a:p>
            <a:r>
              <a:rPr lang="fr-FR" dirty="0" smtClean="0"/>
              <a:t>https://docs.gitlab.com/runner/install/linux-repository.html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428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760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8E1986-C91B-477C-93E3-239B6FF79C49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04794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7507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2676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023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971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0608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4067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055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2840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34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6797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18AD39-8054-4B4E-A8CA-E68688617542}" type="datetimeFigureOut">
              <a:rPr lang="fr-FR" smtClean="0"/>
              <a:t>11/10/2024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5B99FC-4C50-4956-A91E-B762900B5DDA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5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295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97231" y="2543234"/>
            <a:ext cx="4714752" cy="1815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Formation Gitlab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  <a:p>
            <a:pPr algn="ctr"/>
            <a:r>
              <a:rPr lang="fr-FR" sz="2800" b="1" dirty="0" smtClean="0">
                <a:solidFill>
                  <a:srgbClr val="1C3158"/>
                </a:solidFill>
                <a:latin typeface="Comic Sans MS" pitchFamily="66" charset="0"/>
              </a:rPr>
              <a:t> </a:t>
            </a:r>
          </a:p>
          <a:p>
            <a:pPr algn="ctr"/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Mise en place d’un premier </a:t>
            </a:r>
          </a:p>
          <a:p>
            <a:pPr algn="ctr"/>
            <a:r>
              <a:rPr lang="fr-FR" sz="2800" dirty="0">
                <a:solidFill>
                  <a:srgbClr val="1C3158"/>
                </a:solidFill>
                <a:latin typeface="Comic Sans MS" pitchFamily="66" charset="0"/>
              </a:rPr>
              <a:t>R</a:t>
            </a:r>
            <a:r>
              <a:rPr lang="fr-FR" sz="2800" dirty="0" smtClean="0">
                <a:solidFill>
                  <a:srgbClr val="1C3158"/>
                </a:solidFill>
                <a:latin typeface="Comic Sans MS" pitchFamily="66" charset="0"/>
              </a:rPr>
              <a:t>unner</a:t>
            </a:r>
            <a:endParaRPr lang="fr-FR" sz="2800" dirty="0">
              <a:solidFill>
                <a:srgbClr val="1C3158"/>
              </a:solidFill>
              <a:latin typeface="Comic Sans MS" pitchFamily="66" charset="0"/>
            </a:endParaRPr>
          </a:p>
        </p:txBody>
      </p:sp>
      <p:cxnSp>
        <p:nvCxnSpPr>
          <p:cNvPr id="4" name="Connecteur droit 3"/>
          <p:cNvCxnSpPr>
            <a:cxnSpLocks/>
          </p:cNvCxnSpPr>
          <p:nvPr/>
        </p:nvCxnSpPr>
        <p:spPr>
          <a:xfrm flipH="1">
            <a:off x="6266500" y="3227040"/>
            <a:ext cx="5176200" cy="17384"/>
          </a:xfrm>
          <a:prstGeom prst="line">
            <a:avLst/>
          </a:prstGeom>
          <a:ln w="22225">
            <a:solidFill>
              <a:srgbClr val="1C31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" name="Picture 3" descr="C:\Users\bepro-17\AppData\Roaming\Skype\live#3ambenalaya.bepro\media_messaging\media_cache_v3\^2DF5C670F0A42E46084157BFD3139AC68F80CB1B7C725AE391^pimgpsh_fullsize_distr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353" y="5376618"/>
            <a:ext cx="1552248" cy="154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4729466" y="6221574"/>
            <a:ext cx="4296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b="1" i="1" dirty="0">
                <a:solidFill>
                  <a:srgbClr val="1C3158"/>
                </a:solidFill>
              </a:rPr>
              <a:t>Béchir BEJAOUI</a:t>
            </a:r>
          </a:p>
          <a:p>
            <a:pPr algn="ctr"/>
            <a:r>
              <a:rPr lang="fr-FR" dirty="0">
                <a:solidFill>
                  <a:srgbClr val="1C3158"/>
                </a:solidFill>
              </a:rPr>
              <a:t>Formateur et consultant indépendant</a:t>
            </a:r>
          </a:p>
        </p:txBody>
      </p:sp>
      <p:pic>
        <p:nvPicPr>
          <p:cNvPr id="1028" name="Picture 4" descr="https://www.wizcase.com/wp-content/uploads/2022/03/GiTlab-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99" y="539302"/>
            <a:ext cx="4870202" cy="4414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7350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  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Mode machine /mode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D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ockerisé </a:t>
            </a:r>
          </a:p>
          <a:p>
            <a:r>
              <a:rPr lang="fr-FR" dirty="0">
                <a:solidFill>
                  <a:srgbClr val="292929"/>
                </a:solidFill>
                <a:latin typeface="LATO"/>
              </a:rPr>
              <a:t/>
            </a:r>
            <a:br>
              <a:rPr lang="fr-FR" dirty="0">
                <a:solidFill>
                  <a:srgbClr val="292929"/>
                </a:solidFill>
                <a:latin typeface="LATO"/>
              </a:rPr>
            </a:br>
            <a:r>
              <a:rPr lang="fr-FR" dirty="0">
                <a:solidFill>
                  <a:srgbClr val="292929"/>
                </a:solidFill>
                <a:latin typeface="LATO"/>
              </a:rPr>
              <a:t>        *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La documentation https</a:t>
            </a:r>
            <a:r>
              <a:rPr lang="fr-FR" dirty="0">
                <a:solidFill>
                  <a:srgbClr val="292929"/>
                </a:solidFill>
                <a:latin typeface="LATO"/>
              </a:rPr>
              <a:t>://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docs.gitlab.com/runner/install/index.html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7807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SELF HOSTED (LINUX)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568" y="1435578"/>
            <a:ext cx="3156112" cy="51374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9" name="Connecteur droit avec flèche 8"/>
          <p:cNvCxnSpPr/>
          <p:nvPr/>
        </p:nvCxnSpPr>
        <p:spPr>
          <a:xfrm flipH="1">
            <a:off x="1338294" y="1737966"/>
            <a:ext cx="369393" cy="5328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Ellipse 9"/>
          <p:cNvSpPr/>
          <p:nvPr/>
        </p:nvSpPr>
        <p:spPr>
          <a:xfrm>
            <a:off x="1780355" y="4965616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3059102" y="6264155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418" y="1435579"/>
            <a:ext cx="7258722" cy="2536044"/>
          </a:xfrm>
          <a:prstGeom prst="rect">
            <a:avLst/>
          </a:prstGeom>
        </p:spPr>
      </p:pic>
      <p:sp>
        <p:nvSpPr>
          <p:cNvPr id="13" name="Ellipse 12"/>
          <p:cNvSpPr/>
          <p:nvPr/>
        </p:nvSpPr>
        <p:spPr>
          <a:xfrm>
            <a:off x="5112970" y="2675957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4" name="Rectangle 13"/>
          <p:cNvSpPr/>
          <p:nvPr/>
        </p:nvSpPr>
        <p:spPr>
          <a:xfrm>
            <a:off x="11039412" y="2773477"/>
            <a:ext cx="569229" cy="26644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3946" y="3582576"/>
            <a:ext cx="6983302" cy="271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Ellipse 15"/>
          <p:cNvSpPr/>
          <p:nvPr/>
        </p:nvSpPr>
        <p:spPr>
          <a:xfrm>
            <a:off x="5580263" y="4359854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17" name="Rectangle 16"/>
          <p:cNvSpPr/>
          <p:nvPr/>
        </p:nvSpPr>
        <p:spPr>
          <a:xfrm>
            <a:off x="4945997" y="4120088"/>
            <a:ext cx="955214" cy="266449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8208" y="4822427"/>
            <a:ext cx="2660787" cy="1797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9" name="Connecteur droit avec flèche 18"/>
          <p:cNvCxnSpPr/>
          <p:nvPr/>
        </p:nvCxnSpPr>
        <p:spPr>
          <a:xfrm flipH="1">
            <a:off x="6020347" y="3779408"/>
            <a:ext cx="239508" cy="3863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H="1">
            <a:off x="5908724" y="4692920"/>
            <a:ext cx="119754" cy="2621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72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915" y="1715792"/>
            <a:ext cx="5778797" cy="45849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3315309" y="1994905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2822099" y="4941240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4</a:t>
            </a:r>
            <a:endParaRPr lang="fr-FR" dirty="0"/>
          </a:p>
        </p:txBody>
      </p:sp>
      <p:sp>
        <p:nvSpPr>
          <p:cNvPr id="13" name="Ellipse 12"/>
          <p:cNvSpPr/>
          <p:nvPr/>
        </p:nvSpPr>
        <p:spPr>
          <a:xfrm>
            <a:off x="3187279" y="3280341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6" name="Ellipse 15"/>
          <p:cNvSpPr/>
          <p:nvPr/>
        </p:nvSpPr>
        <p:spPr>
          <a:xfrm>
            <a:off x="1801550" y="4135467"/>
            <a:ext cx="320948" cy="308837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746860" y="1329819"/>
            <a:ext cx="5109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y a quatre sections pour configurer le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R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unner 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692563" y="1958552"/>
            <a:ext cx="212269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solidFill>
                  <a:srgbClr val="292929"/>
                </a:solidFill>
                <a:latin typeface="LATO"/>
              </a:rPr>
              <a:t>Choisir la plateforme </a:t>
            </a:r>
            <a:endParaRPr lang="fr-FR" sz="1600" dirty="0"/>
          </a:p>
        </p:txBody>
      </p:sp>
      <p:sp>
        <p:nvSpPr>
          <p:cNvPr id="22" name="Rectangle 21"/>
          <p:cNvSpPr/>
          <p:nvPr/>
        </p:nvSpPr>
        <p:spPr>
          <a:xfrm>
            <a:off x="3508227" y="3314327"/>
            <a:ext cx="166744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solidFill>
                  <a:srgbClr val="292929"/>
                </a:solidFill>
                <a:latin typeface="LATO"/>
              </a:rPr>
              <a:t>Ajouter des tags</a:t>
            </a:r>
            <a:endParaRPr lang="fr-FR" sz="1600" dirty="0"/>
          </a:p>
        </p:txBody>
      </p:sp>
      <p:sp>
        <p:nvSpPr>
          <p:cNvPr id="23" name="Rectangle 22"/>
          <p:cNvSpPr/>
          <p:nvPr/>
        </p:nvSpPr>
        <p:spPr>
          <a:xfrm>
            <a:off x="2204407" y="4129640"/>
            <a:ext cx="230383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solidFill>
                  <a:srgbClr val="292929"/>
                </a:solidFill>
                <a:latin typeface="LATO"/>
              </a:rPr>
              <a:t>Donner une description</a:t>
            </a:r>
            <a:endParaRPr lang="fr-FR" sz="1600" dirty="0"/>
          </a:p>
        </p:txBody>
      </p:sp>
      <p:sp>
        <p:nvSpPr>
          <p:cNvPr id="24" name="Rectangle 23"/>
          <p:cNvSpPr/>
          <p:nvPr/>
        </p:nvSpPr>
        <p:spPr>
          <a:xfrm>
            <a:off x="3143047" y="4941240"/>
            <a:ext cx="513153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 smtClean="0">
                <a:solidFill>
                  <a:srgbClr val="292929"/>
                </a:solidFill>
                <a:latin typeface="LATO"/>
              </a:rPr>
              <a:t>Définir des configurations supplémentaires (Optionnel)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2097402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60" y="1786651"/>
            <a:ext cx="9317596" cy="417611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258262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Choisissant linux,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il faut donc installer le Runner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avec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d’effectuer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ces étapes d’enregistrement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927" y="2280265"/>
            <a:ext cx="7996135" cy="5113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Connecteur droit avec flèche 7"/>
          <p:cNvCxnSpPr/>
          <p:nvPr/>
        </p:nvCxnSpPr>
        <p:spPr>
          <a:xfrm flipH="1">
            <a:off x="8362950" y="1962150"/>
            <a:ext cx="749300" cy="4254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83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329819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Choisissant linux, il faut donc installer le Runner avec d’effectuer ces étapes d’enregistrement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263" y="1948385"/>
            <a:ext cx="8052135" cy="4191330"/>
          </a:xfrm>
          <a:prstGeom prst="rect">
            <a:avLst/>
          </a:prstGeom>
        </p:spPr>
      </p:pic>
      <p:cxnSp>
        <p:nvCxnSpPr>
          <p:cNvPr id="10" name="Connecteur droit avec flèche 9"/>
          <p:cNvCxnSpPr/>
          <p:nvPr/>
        </p:nvCxnSpPr>
        <p:spPr>
          <a:xfrm flipH="1">
            <a:off x="4014883" y="2032158"/>
            <a:ext cx="452069" cy="6444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15364" y="1948385"/>
            <a:ext cx="2882480" cy="41913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2940302" y="1757228"/>
            <a:ext cx="36727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400" dirty="0" smtClean="0">
                <a:solidFill>
                  <a:srgbClr val="292929"/>
                </a:solidFill>
                <a:latin typeface="LATO"/>
              </a:rPr>
              <a:t>Cliquer ce lien pour afficher le volet à droite 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268133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835" y="5146378"/>
            <a:ext cx="8811822" cy="7275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329819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Le résultat après installation et enregistrement du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R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unner 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35" y="1836720"/>
            <a:ext cx="8797201" cy="2655253"/>
          </a:xfrm>
          <a:prstGeom prst="rect">
            <a:avLst/>
          </a:prstGeom>
        </p:spPr>
      </p:pic>
      <p:sp>
        <p:nvSpPr>
          <p:cNvPr id="9" name="Rectangle à coins arrondis 8"/>
          <p:cNvSpPr/>
          <p:nvPr/>
        </p:nvSpPr>
        <p:spPr>
          <a:xfrm>
            <a:off x="2616032" y="5144059"/>
            <a:ext cx="2458585" cy="257215"/>
          </a:xfrm>
          <a:prstGeom prst="round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à coins arrondis 13"/>
          <p:cNvSpPr/>
          <p:nvPr/>
        </p:nvSpPr>
        <p:spPr>
          <a:xfrm>
            <a:off x="2126535" y="5657162"/>
            <a:ext cx="1785401" cy="216798"/>
          </a:xfrm>
          <a:prstGeom prst="roundRect">
            <a:avLst/>
          </a:prstGeom>
          <a:solidFill>
            <a:srgbClr val="92D05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46859" y="4686824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faut vérifier que le service est bien démarré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16960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46860" y="1329819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Ensuite dans la page des Runners il faut trouver le Runner nouvellement crée en pause 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60" y="1741856"/>
            <a:ext cx="6726607" cy="279412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9621" y="2941485"/>
            <a:ext cx="3451709" cy="112029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746859" y="4449478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Note: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il est possible que vous auriez le message suivant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621" y="4942556"/>
            <a:ext cx="7561624" cy="15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5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6860" y="1385330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Note: </a:t>
            </a:r>
            <a:r>
              <a:rPr lang="fr-FR" dirty="0">
                <a:solidFill>
                  <a:srgbClr val="292929"/>
                </a:solidFill>
                <a:latin typeface="LATO"/>
              </a:rPr>
              <a:t>I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l est possible que vous auriez le message suivant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622" y="1878408"/>
            <a:ext cx="7561624" cy="15861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46859" y="3693534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faut s’assurer que le Job est Taggé ou si le job n’est pas taggé essayez de décocher l’option  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2" y="4339850"/>
            <a:ext cx="6824110" cy="212709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955542" y="5637790"/>
            <a:ext cx="6824110" cy="43194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819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(LINUX)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6860" y="1385330"/>
            <a:ext cx="103409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Ou vous exécutez cette commande au niveau de votre machine, pour s’assurer que le job est en exécution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71" y="2253351"/>
            <a:ext cx="8152638" cy="732074"/>
          </a:xfrm>
          <a:prstGeom prst="rect">
            <a:avLst/>
          </a:prstGeom>
        </p:spPr>
      </p:pic>
      <p:sp>
        <p:nvSpPr>
          <p:cNvPr id="12" name="Rectangle à coins arrondis 11"/>
          <p:cNvSpPr/>
          <p:nvPr/>
        </p:nvSpPr>
        <p:spPr>
          <a:xfrm>
            <a:off x="2482605" y="2253352"/>
            <a:ext cx="1641279" cy="247624"/>
          </a:xfrm>
          <a:prstGeom prst="round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/>
          <p:cNvSpPr/>
          <p:nvPr/>
        </p:nvSpPr>
        <p:spPr>
          <a:xfrm>
            <a:off x="746859" y="3207115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Il faut s’assurer également que les Runners fonctionnent et ne sont pas en pause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39520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6860" y="1385330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Choisissez Windows maintenant pour créer un nouveau Runner sous Windows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60" y="1897120"/>
            <a:ext cx="5458007" cy="250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49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6860" y="1385330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Exécutez ces commandes dans une session PowerShell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884" y="1897120"/>
            <a:ext cx="9131769" cy="4305521"/>
          </a:xfrm>
          <a:prstGeom prst="rect">
            <a:avLst/>
          </a:prstGeom>
        </p:spPr>
      </p:pic>
      <p:sp>
        <p:nvSpPr>
          <p:cNvPr id="5" name="Ellipse 4"/>
          <p:cNvSpPr/>
          <p:nvPr/>
        </p:nvSpPr>
        <p:spPr>
          <a:xfrm>
            <a:off x="8247767" y="2410141"/>
            <a:ext cx="339115" cy="339115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8586882" y="2470696"/>
            <a:ext cx="1897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Installer le Runner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1569418" y="2860856"/>
            <a:ext cx="339115" cy="339115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1908533" y="2921411"/>
            <a:ext cx="2170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Enregistrer le Runner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2892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46860" y="1385330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Commencez par la commande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Invoke-WebRequest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38" y="1828508"/>
            <a:ext cx="7031562" cy="280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907" y="1844017"/>
            <a:ext cx="6123345" cy="304438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1361" y="1381306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Enregistrez le Runner avec la commande 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Register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3525700" y="2709852"/>
            <a:ext cx="253067" cy="228894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1826616" y="3241250"/>
            <a:ext cx="235173" cy="218563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12" name="Ellipse 11"/>
          <p:cNvSpPr/>
          <p:nvPr/>
        </p:nvSpPr>
        <p:spPr>
          <a:xfrm>
            <a:off x="1252606" y="3803039"/>
            <a:ext cx="249711" cy="216706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2389051" y="2751127"/>
            <a:ext cx="1136649" cy="187619"/>
          </a:xfrm>
          <a:prstGeom prst="rect">
            <a:avLst/>
          </a:prstGeom>
          <a:solidFill>
            <a:srgbClr val="FF00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/>
          <p:cNvSpPr/>
          <p:nvPr/>
        </p:nvSpPr>
        <p:spPr>
          <a:xfrm>
            <a:off x="1428861" y="3272401"/>
            <a:ext cx="361949" cy="187619"/>
          </a:xfrm>
          <a:prstGeom prst="rect">
            <a:avLst/>
          </a:prstGeom>
          <a:solidFill>
            <a:srgbClr val="FF00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901419" y="3817583"/>
            <a:ext cx="320675" cy="187619"/>
          </a:xfrm>
          <a:prstGeom prst="rect">
            <a:avLst/>
          </a:prstGeom>
          <a:solidFill>
            <a:srgbClr val="FF00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3945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502" y="1999720"/>
            <a:ext cx="8500082" cy="211401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1361" y="1381306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Installer le Runner avec la commande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 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et lancer le avec la </a:t>
            </a:r>
            <a:r>
              <a:rPr lang="fr-FR" dirty="0" err="1" smtClean="0">
                <a:solidFill>
                  <a:srgbClr val="292929"/>
                </a:solidFill>
                <a:latin typeface="LATO"/>
              </a:rPr>
              <a:t>commabde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</a:t>
            </a:r>
            <a:r>
              <a:rPr lang="fr-FR" dirty="0" err="1" smtClean="0">
                <a:solidFill>
                  <a:srgbClr val="292929"/>
                </a:solidFill>
                <a:latin typeface="LATO"/>
              </a:rPr>
              <a:t>start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8" name="Ellipse 7"/>
          <p:cNvSpPr/>
          <p:nvPr/>
        </p:nvSpPr>
        <p:spPr>
          <a:xfrm>
            <a:off x="4754993" y="2099715"/>
            <a:ext cx="253067" cy="228894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11" name="Ellipse 10"/>
          <p:cNvSpPr/>
          <p:nvPr/>
        </p:nvSpPr>
        <p:spPr>
          <a:xfrm>
            <a:off x="4613891" y="3147647"/>
            <a:ext cx="235173" cy="218563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5690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1361" y="1381306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Vérifiez que le Runner est bien démarré dans la liste des services 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728" y="1897120"/>
            <a:ext cx="7496175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7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5501" y="1363139"/>
            <a:ext cx="1034099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Note: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Pour certain cas, </a:t>
            </a:r>
            <a:r>
              <a:rPr lang="fr-FR" altLang="fr-FR" b="1" dirty="0" err="1">
                <a:solidFill>
                  <a:srgbClr val="232629"/>
                </a:solidFill>
                <a:latin typeface="LATO"/>
              </a:rPr>
              <a:t>pwsh</a:t>
            </a:r>
            <a:r>
              <a:rPr lang="fr-FR" altLang="fr-FR" dirty="0">
                <a:solidFill>
                  <a:srgbClr val="232629"/>
                </a:solidFill>
                <a:latin typeface="LATO"/>
              </a:rPr>
              <a:t> n'est pas une commande Windows valide (sur mes installations). Le passage </a:t>
            </a:r>
            <a:r>
              <a:rPr lang="fr-FR" altLang="fr-FR" b="1" dirty="0" err="1" smtClean="0">
                <a:solidFill>
                  <a:srgbClr val="232629"/>
                </a:solidFill>
                <a:latin typeface="LATO"/>
              </a:rPr>
              <a:t>pwsh</a:t>
            </a:r>
            <a:r>
              <a:rPr lang="fr-FR" altLang="fr-FR" dirty="0" smtClean="0">
                <a:solidFill>
                  <a:srgbClr val="232629"/>
                </a:solidFill>
                <a:latin typeface="LATO"/>
              </a:rPr>
              <a:t> au </a:t>
            </a:r>
            <a:r>
              <a:rPr lang="fr-FR" altLang="fr-FR" dirty="0">
                <a:solidFill>
                  <a:srgbClr val="232629"/>
                </a:solidFill>
                <a:latin typeface="LATO"/>
              </a:rPr>
              <a:t>service </a:t>
            </a:r>
            <a:r>
              <a:rPr lang="fr-FR" altLang="fr-FR" b="1" dirty="0" err="1" smtClean="0">
                <a:solidFill>
                  <a:srgbClr val="232629"/>
                </a:solidFill>
                <a:latin typeface="LATO"/>
              </a:rPr>
              <a:t>powershell</a:t>
            </a:r>
            <a:r>
              <a:rPr lang="fr-FR" altLang="fr-FR" dirty="0" smtClean="0">
                <a:solidFill>
                  <a:srgbClr val="232629"/>
                </a:solidFill>
                <a:latin typeface="LATO"/>
              </a:rPr>
              <a:t> et </a:t>
            </a:r>
            <a:r>
              <a:rPr lang="fr-FR" altLang="fr-FR" dirty="0">
                <a:solidFill>
                  <a:srgbClr val="232629"/>
                </a:solidFill>
                <a:latin typeface="LATO"/>
              </a:rPr>
              <a:t>son redémarrage </a:t>
            </a:r>
            <a:r>
              <a:rPr lang="fr-FR" altLang="fr-FR" b="1" dirty="0" err="1" smtClean="0">
                <a:solidFill>
                  <a:srgbClr val="232629"/>
                </a:solidFill>
                <a:latin typeface="LATO"/>
              </a:rPr>
              <a:t>gitlab-runner</a:t>
            </a:r>
            <a:r>
              <a:rPr lang="fr-FR" altLang="fr-FR" dirty="0" smtClean="0">
                <a:solidFill>
                  <a:srgbClr val="232629"/>
                </a:solidFill>
                <a:latin typeface="LATO"/>
              </a:rPr>
              <a:t> ont </a:t>
            </a:r>
            <a:r>
              <a:rPr lang="fr-FR" altLang="fr-FR" dirty="0">
                <a:solidFill>
                  <a:srgbClr val="232629"/>
                </a:solidFill>
                <a:latin typeface="LATO"/>
              </a:rPr>
              <a:t>résolu le problème pour moi.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</a:t>
            </a: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Sous le dossier d’installation du Runner, ouvrez le fichier de configuration </a:t>
            </a:r>
            <a:r>
              <a:rPr lang="fr-FR" dirty="0" err="1" smtClean="0">
                <a:solidFill>
                  <a:srgbClr val="292929"/>
                </a:solidFill>
                <a:latin typeface="LATO"/>
              </a:rPr>
              <a:t>toml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et substituez 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pwsh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par </a:t>
            </a:r>
            <a:r>
              <a:rPr lang="fr-FR" b="1" dirty="0" err="1" smtClean="0">
                <a:solidFill>
                  <a:srgbClr val="292929"/>
                </a:solidFill>
                <a:latin typeface="LATO"/>
              </a:rPr>
              <a:t>powershell</a:t>
            </a:r>
            <a:r>
              <a:rPr lang="fr-FR" dirty="0" smtClean="0">
                <a:solidFill>
                  <a:srgbClr val="292929"/>
                </a:solidFill>
                <a:latin typeface="LATO"/>
              </a:rPr>
              <a:t>  </a:t>
            </a:r>
            <a:endParaRPr lang="fr-FR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379" y="3287515"/>
            <a:ext cx="3426939" cy="256827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996" y="4887506"/>
            <a:ext cx="2469094" cy="26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7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1361" y="1381306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Vous avez ressui à créer le deuxième Runner sous Windows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13" y="1897120"/>
            <a:ext cx="7442582" cy="2991004"/>
          </a:xfrm>
          <a:prstGeom prst="rect">
            <a:avLst/>
          </a:prstGeom>
        </p:spPr>
      </p:pic>
      <p:sp>
        <p:nvSpPr>
          <p:cNvPr id="8" name="Ellipse 7"/>
          <p:cNvSpPr/>
          <p:nvPr/>
        </p:nvSpPr>
        <p:spPr>
          <a:xfrm>
            <a:off x="1927015" y="3359287"/>
            <a:ext cx="253067" cy="228894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9" name="Ellipse 8"/>
          <p:cNvSpPr/>
          <p:nvPr/>
        </p:nvSpPr>
        <p:spPr>
          <a:xfrm>
            <a:off x="1785913" y="4407219"/>
            <a:ext cx="235173" cy="218563"/>
          </a:xfrm>
          <a:prstGeom prst="ellipse">
            <a:avLst/>
          </a:prstGeom>
          <a:solidFill>
            <a:srgbClr val="FF0000"/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2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5642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rgbClr val="7030A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ZoneTexte 1"/>
          <p:cNvSpPr txBox="1"/>
          <p:nvPr/>
        </p:nvSpPr>
        <p:spPr>
          <a:xfrm>
            <a:off x="0" y="0"/>
            <a:ext cx="6259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i="1" dirty="0" smtClean="0">
                <a:solidFill>
                  <a:schemeClr val="bg1"/>
                </a:solidFill>
              </a:rPr>
              <a:t>Mise en place d’un premier Runner</a:t>
            </a:r>
            <a:endParaRPr lang="fr-FR" sz="3200" b="1" i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6860" y="917782"/>
            <a:ext cx="8857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>
                <a:solidFill>
                  <a:srgbClr val="292929"/>
                </a:solidFill>
                <a:latin typeface="LATO"/>
              </a:rPr>
              <a:t>INSTALLATION DU RUNNER EN MODE </a:t>
            </a:r>
            <a:r>
              <a:rPr lang="fr-FR" b="1" dirty="0">
                <a:solidFill>
                  <a:srgbClr val="292929"/>
                </a:solidFill>
                <a:latin typeface="LATO"/>
              </a:rPr>
              <a:t>SELF HOSTED </a:t>
            </a:r>
            <a:r>
              <a:rPr lang="fr-FR" b="1" dirty="0" smtClean="0">
                <a:solidFill>
                  <a:srgbClr val="292929"/>
                </a:solidFill>
                <a:latin typeface="LATO"/>
              </a:rPr>
              <a:t>(WINDOWS)</a:t>
            </a:r>
            <a:endParaRPr lang="fr-FR" b="1" dirty="0">
              <a:solidFill>
                <a:srgbClr val="292929"/>
              </a:solidFill>
              <a:latin typeface="LATO"/>
            </a:endParaRPr>
          </a:p>
          <a:p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01361" y="1381306"/>
            <a:ext cx="103409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>
                <a:solidFill>
                  <a:srgbClr val="292929"/>
                </a:solidFill>
                <a:latin typeface="LATO"/>
              </a:rPr>
              <a:t>Vous avez ressui à créer le deuxième Runner sous Windows </a:t>
            </a:r>
            <a:endParaRPr lang="fr-FR" b="1" dirty="0">
              <a:solidFill>
                <a:srgbClr val="292929"/>
              </a:solidFill>
              <a:latin typeface="LATO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336" y="1897120"/>
            <a:ext cx="9793571" cy="41100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547319" y="5397437"/>
            <a:ext cx="1862000" cy="204020"/>
          </a:xfrm>
          <a:prstGeom prst="rect">
            <a:avLst/>
          </a:prstGeom>
          <a:solidFill>
            <a:srgbClr val="FF0000">
              <a:alpha val="3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4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6532</TotalTime>
  <Words>602</Words>
  <Application>Microsoft Office PowerPoint</Application>
  <PresentationFormat>Widescreen</PresentationFormat>
  <Paragraphs>98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Comic Sans MS</vt:lpstr>
      <vt:lpstr>LATO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Alphorm</dc:creator>
  <cp:lastModifiedBy>DELL</cp:lastModifiedBy>
  <cp:revision>221</cp:revision>
  <dcterms:created xsi:type="dcterms:W3CDTF">2017-02-10T20:50:27Z</dcterms:created>
  <dcterms:modified xsi:type="dcterms:W3CDTF">2024-10-11T16:30:55Z</dcterms:modified>
</cp:coreProperties>
</file>