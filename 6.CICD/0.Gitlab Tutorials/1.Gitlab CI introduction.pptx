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3" r:id="rId2"/>
    <p:sldId id="280" r:id="rId3"/>
    <p:sldId id="281" r:id="rId4"/>
    <p:sldId id="274" r:id="rId5"/>
    <p:sldId id="275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1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047" autoAdjust="0"/>
    <p:restoredTop sz="93111" autoAdjust="0"/>
  </p:normalViewPr>
  <p:slideViewPr>
    <p:cSldViewPr snapToGrid="0">
      <p:cViewPr varScale="1">
        <p:scale>
          <a:sx n="105" d="100"/>
          <a:sy n="105" d="100"/>
        </p:scale>
        <p:origin x="1312" y="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9BB29-2F69-4BAD-BAE6-35EBE787D585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E1986-C91B-477C-93E3-239B6FF79C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06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50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826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02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97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60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06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55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84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3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79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5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29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58040" y="2543234"/>
            <a:ext cx="2993127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Formation Gitlab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  <a:p>
            <a:pPr algn="ctr"/>
            <a:r>
              <a:rPr lang="fr-FR" sz="2800" b="1" dirty="0" smtClean="0">
                <a:solidFill>
                  <a:srgbClr val="1C3158"/>
                </a:solidFill>
                <a:latin typeface="Comic Sans MS" pitchFamily="66" charset="0"/>
              </a:rPr>
              <a:t> </a:t>
            </a:r>
          </a:p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Le Gitlab CI</a:t>
            </a:r>
          </a:p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Introduction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6266500" y="3227040"/>
            <a:ext cx="5176200" cy="17384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353" y="5376618"/>
            <a:ext cx="1552248" cy="154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729466" y="6221574"/>
            <a:ext cx="4296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pic>
        <p:nvPicPr>
          <p:cNvPr id="1028" name="Picture 4" descr="https://www.wizcase.com/wp-content/uploads/2022/03/GiTlab-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99" y="539302"/>
            <a:ext cx="4870202" cy="441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35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294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 GITLAB CI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3916" y="852957"/>
            <a:ext cx="47274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LA STRCUTURE PIPELINE: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968079" y="1335265"/>
            <a:ext cx="2428308" cy="466284"/>
          </a:xfrm>
          <a:prstGeom prst="roundRect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PIPELINE</a:t>
            </a:r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2780544" y="2128099"/>
            <a:ext cx="2428308" cy="466284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STAGE</a:t>
            </a:r>
            <a:endParaRPr lang="fr-FR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4147098" y="3419451"/>
            <a:ext cx="2428308" cy="466284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JOB</a:t>
            </a:r>
            <a:endParaRPr lang="fr-FR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7565500" y="4939291"/>
            <a:ext cx="2428308" cy="466284"/>
          </a:xfrm>
          <a:prstGeom prst="roundRect">
            <a:avLst/>
          </a:prstGeom>
          <a:solidFill>
            <a:srgbClr val="92D05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SCRIPT</a:t>
            </a:r>
            <a:endParaRPr lang="fr-FR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2932944" y="2280499"/>
            <a:ext cx="2428308" cy="466284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STAGE</a:t>
            </a:r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3085344" y="2432899"/>
            <a:ext cx="2428308" cy="466284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STAGE</a:t>
            </a:r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4299498" y="3571851"/>
            <a:ext cx="2428308" cy="466284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JOB</a:t>
            </a:r>
            <a:endParaRPr lang="fr-FR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4451898" y="3724251"/>
            <a:ext cx="2428308" cy="466284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JOB</a:t>
            </a:r>
            <a:endParaRPr lang="fr-FR" dirty="0"/>
          </a:p>
        </p:txBody>
      </p:sp>
      <p:sp>
        <p:nvSpPr>
          <p:cNvPr id="13" name="Rectangle à coins arrondis 12"/>
          <p:cNvSpPr/>
          <p:nvPr/>
        </p:nvSpPr>
        <p:spPr>
          <a:xfrm>
            <a:off x="4604298" y="3876651"/>
            <a:ext cx="2428308" cy="466284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JOB</a:t>
            </a:r>
            <a:endParaRPr lang="fr-FR" dirty="0"/>
          </a:p>
        </p:txBody>
      </p:sp>
      <p:sp>
        <p:nvSpPr>
          <p:cNvPr id="14" name="Rectangle à coins arrondis 13"/>
          <p:cNvSpPr/>
          <p:nvPr/>
        </p:nvSpPr>
        <p:spPr>
          <a:xfrm>
            <a:off x="7565500" y="4239865"/>
            <a:ext cx="2428308" cy="46628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BEFORE</a:t>
            </a:r>
            <a:endParaRPr lang="fr-FR" dirty="0"/>
          </a:p>
        </p:txBody>
      </p:sp>
      <p:sp>
        <p:nvSpPr>
          <p:cNvPr id="15" name="Rectangle à coins arrondis 14"/>
          <p:cNvSpPr/>
          <p:nvPr/>
        </p:nvSpPr>
        <p:spPr>
          <a:xfrm>
            <a:off x="7565500" y="5585102"/>
            <a:ext cx="2428308" cy="466284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AFTER</a:t>
            </a:r>
            <a:endParaRPr lang="fr-FR" dirty="0"/>
          </a:p>
        </p:txBody>
      </p:sp>
      <p:cxnSp>
        <p:nvCxnSpPr>
          <p:cNvPr id="17" name="Connecteur droit avec flèche 16"/>
          <p:cNvCxnSpPr>
            <a:stCxn id="4" idx="2"/>
            <a:endCxn id="6" idx="0"/>
          </p:cNvCxnSpPr>
          <p:nvPr/>
        </p:nvCxnSpPr>
        <p:spPr>
          <a:xfrm>
            <a:off x="3182233" y="1801549"/>
            <a:ext cx="812465" cy="326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>
            <a:stCxn id="10" idx="2"/>
            <a:endCxn id="7" idx="0"/>
          </p:cNvCxnSpPr>
          <p:nvPr/>
        </p:nvCxnSpPr>
        <p:spPr>
          <a:xfrm>
            <a:off x="4299498" y="2899183"/>
            <a:ext cx="1061754" cy="520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13" idx="2"/>
            <a:endCxn id="8" idx="1"/>
          </p:cNvCxnSpPr>
          <p:nvPr/>
        </p:nvCxnSpPr>
        <p:spPr>
          <a:xfrm>
            <a:off x="5818452" y="4342935"/>
            <a:ext cx="1747048" cy="829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55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294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 GITLAB CI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3916" y="852957"/>
            <a:ext cx="47274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DECELNCHEURS D’UN PIPELINE: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482" y="1573619"/>
            <a:ext cx="9567486" cy="486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3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294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 GITLAB CI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CONTINUOUS INTEGRATION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/>
            </a:r>
            <a:br>
              <a:rPr lang="fr-FR" dirty="0">
                <a:solidFill>
                  <a:srgbClr val="292929"/>
                </a:solidFill>
                <a:latin typeface="LATO"/>
              </a:rPr>
            </a:br>
            <a:r>
              <a:rPr lang="fr-FR" dirty="0">
                <a:solidFill>
                  <a:srgbClr val="292929"/>
                </a:solidFill>
                <a:latin typeface="LATO"/>
              </a:rPr>
              <a:t>        *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Action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sur push du nouveau code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/>
            </a:r>
            <a:br>
              <a:rPr lang="fr-FR" dirty="0">
                <a:solidFill>
                  <a:srgbClr val="292929"/>
                </a:solidFill>
                <a:latin typeface="LATO"/>
              </a:rPr>
            </a:br>
            <a:r>
              <a:rPr lang="fr-FR" dirty="0">
                <a:solidFill>
                  <a:srgbClr val="292929"/>
                </a:solidFill>
                <a:latin typeface="LATO"/>
              </a:rPr>
              <a:t>        * A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ider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les développeurs dans la phase de développement (code </a:t>
            </a:r>
            <a:r>
              <a:rPr lang="fr-FR" dirty="0" err="1">
                <a:solidFill>
                  <a:srgbClr val="292929"/>
                </a:solidFill>
                <a:latin typeface="LATO"/>
              </a:rPr>
              <a:t>quality</a:t>
            </a:r>
            <a:r>
              <a:rPr lang="fr-FR" dirty="0">
                <a:solidFill>
                  <a:srgbClr val="292929"/>
                </a:solidFill>
                <a:latin typeface="LATO"/>
              </a:rPr>
              <a:t>...)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/>
            </a:r>
            <a:br>
              <a:rPr lang="fr-FR" dirty="0">
                <a:solidFill>
                  <a:srgbClr val="292929"/>
                </a:solidFill>
                <a:latin typeface="LATO"/>
              </a:rPr>
            </a:br>
            <a:r>
              <a:rPr lang="fr-FR" dirty="0">
                <a:solidFill>
                  <a:srgbClr val="292929"/>
                </a:solidFill>
                <a:latin typeface="LATO"/>
              </a:rPr>
              <a:t>        * C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réation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de l'applicatif final (binaire...)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/>
            </a:r>
            <a:br>
              <a:rPr lang="fr-FR" dirty="0">
                <a:solidFill>
                  <a:srgbClr val="292929"/>
                </a:solidFill>
                <a:latin typeface="LATO"/>
              </a:rPr>
            </a:br>
            <a:r>
              <a:rPr lang="fr-FR" dirty="0">
                <a:solidFill>
                  <a:srgbClr val="292929"/>
                </a:solidFill>
                <a:latin typeface="LATO"/>
              </a:rPr>
              <a:t>        * V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érification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du code (tests unitaires...) pour trouver d'éventuelles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régressions</a:t>
            </a:r>
            <a:endParaRPr lang="fr-FR" dirty="0">
              <a:solidFill>
                <a:srgbClr val="292929"/>
              </a:solidFill>
              <a:latin typeface="LATO"/>
            </a:endParaRP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                * découverte le plus tôt possible</a:t>
            </a:r>
            <a:endParaRPr lang="fr-FR" b="0" dirty="0">
              <a:solidFill>
                <a:srgbClr val="292929"/>
              </a:solidFill>
              <a:effectLst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7807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294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 GITLAB CI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4750" y="724371"/>
            <a:ext cx="10589276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dirty="0" smtClean="0">
                <a:solidFill>
                  <a:srgbClr val="292929"/>
                </a:solidFill>
                <a:latin typeface="LATO"/>
              </a:rPr>
              <a:t>LES RUNNERS </a:t>
            </a:r>
            <a:r>
              <a:rPr lang="fr-FR" sz="1600" b="1" dirty="0">
                <a:solidFill>
                  <a:srgbClr val="292929"/>
                </a:solidFill>
                <a:latin typeface="LATO"/>
              </a:rPr>
              <a:t>:</a:t>
            </a:r>
          </a:p>
          <a:p>
            <a:r>
              <a:rPr lang="fr-FR" sz="1600" dirty="0">
                <a:solidFill>
                  <a:srgbClr val="292929"/>
                </a:solidFill>
                <a:latin typeface="LATO"/>
              </a:rPr>
              <a:t/>
            </a:r>
            <a:br>
              <a:rPr lang="fr-FR" sz="1600" dirty="0">
                <a:solidFill>
                  <a:srgbClr val="292929"/>
                </a:solidFill>
                <a:latin typeface="LATO"/>
              </a:rPr>
            </a:br>
            <a:r>
              <a:rPr lang="fr-FR" sz="1600" dirty="0">
                <a:solidFill>
                  <a:srgbClr val="292929"/>
                </a:solidFill>
                <a:latin typeface="LATO"/>
              </a:rPr>
              <a:t>            * 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Machine virtuelles/conteneurs</a:t>
            </a:r>
            <a:endParaRPr lang="fr-FR" sz="1600" dirty="0">
              <a:solidFill>
                <a:srgbClr val="292929"/>
              </a:solidFill>
              <a:latin typeface="LATO"/>
            </a:endParaRPr>
          </a:p>
          <a:p>
            <a:r>
              <a:rPr lang="fr-FR" sz="1600" dirty="0">
                <a:solidFill>
                  <a:srgbClr val="292929"/>
                </a:solidFill>
                <a:latin typeface="LATO"/>
              </a:rPr>
              <a:t/>
            </a:r>
            <a:br>
              <a:rPr lang="fr-FR" sz="1600" dirty="0">
                <a:solidFill>
                  <a:srgbClr val="292929"/>
                </a:solidFill>
                <a:latin typeface="LATO"/>
              </a:rPr>
            </a:br>
            <a:r>
              <a:rPr lang="fr-FR" sz="1600" dirty="0">
                <a:solidFill>
                  <a:srgbClr val="292929"/>
                </a:solidFill>
                <a:latin typeface="LATO"/>
              </a:rPr>
              <a:t>            * 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Permettent </a:t>
            </a:r>
            <a:r>
              <a:rPr lang="fr-FR" sz="1600" dirty="0">
                <a:solidFill>
                  <a:srgbClr val="292929"/>
                </a:solidFill>
                <a:latin typeface="LATO"/>
              </a:rPr>
              <a:t>de lancer les 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jobs des tâches</a:t>
            </a:r>
            <a:endParaRPr lang="fr-FR" sz="1600" dirty="0">
              <a:solidFill>
                <a:srgbClr val="292929"/>
              </a:solidFill>
              <a:latin typeface="LATO"/>
            </a:endParaRPr>
          </a:p>
          <a:p>
            <a:r>
              <a:rPr lang="fr-FR" sz="1600" dirty="0">
                <a:solidFill>
                  <a:srgbClr val="292929"/>
                </a:solidFill>
                <a:latin typeface="LATO"/>
              </a:rPr>
              <a:t/>
            </a:r>
            <a:br>
              <a:rPr lang="fr-FR" sz="1600" dirty="0">
                <a:solidFill>
                  <a:srgbClr val="292929"/>
                </a:solidFill>
                <a:latin typeface="LATO"/>
              </a:rPr>
            </a:br>
            <a:r>
              <a:rPr lang="fr-FR" sz="1600" dirty="0">
                <a:solidFill>
                  <a:srgbClr val="292929"/>
                </a:solidFill>
                <a:latin typeface="LATO"/>
              </a:rPr>
              <a:t>            * 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Applicatifs </a:t>
            </a:r>
            <a:r>
              <a:rPr lang="fr-FR" sz="1600" dirty="0">
                <a:solidFill>
                  <a:srgbClr val="292929"/>
                </a:solidFill>
                <a:latin typeface="LATO"/>
              </a:rPr>
              <a:t>nécessaires à 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l'exécution des </a:t>
            </a:r>
            <a:r>
              <a:rPr lang="fr-FR" sz="1600" dirty="0" err="1" smtClean="0">
                <a:solidFill>
                  <a:srgbClr val="292929"/>
                </a:solidFill>
                <a:latin typeface="LATO"/>
              </a:rPr>
              <a:t>runners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 </a:t>
            </a:r>
            <a:r>
              <a:rPr lang="fr-FR" sz="1600" dirty="0">
                <a:solidFill>
                  <a:srgbClr val="292929"/>
                </a:solidFill>
                <a:latin typeface="LATO"/>
              </a:rPr>
              <a:t>(docker, </a:t>
            </a:r>
            <a:r>
              <a:rPr lang="fr-FR" sz="1600" dirty="0" err="1">
                <a:solidFill>
                  <a:srgbClr val="292929"/>
                </a:solidFill>
                <a:latin typeface="LATO"/>
              </a:rPr>
              <a:t>ansible</a:t>
            </a:r>
            <a:r>
              <a:rPr lang="fr-FR" sz="1600" dirty="0">
                <a:solidFill>
                  <a:srgbClr val="292929"/>
                </a:solidFill>
                <a:latin typeface="LATO"/>
              </a:rPr>
              <a:t>, </a:t>
            </a:r>
            <a:r>
              <a:rPr lang="fr-FR" sz="1600" dirty="0" err="1">
                <a:solidFill>
                  <a:srgbClr val="292929"/>
                </a:solidFill>
                <a:latin typeface="LATO"/>
              </a:rPr>
              <a:t>maven</a:t>
            </a:r>
            <a:r>
              <a:rPr lang="fr-FR" sz="1600" dirty="0">
                <a:solidFill>
                  <a:srgbClr val="292929"/>
                </a:solidFill>
                <a:latin typeface="LATO"/>
              </a:rPr>
              <a:t>...)</a:t>
            </a:r>
          </a:p>
          <a:p>
            <a:r>
              <a:rPr lang="fr-FR" sz="1600" dirty="0">
                <a:solidFill>
                  <a:srgbClr val="292929"/>
                </a:solidFill>
                <a:latin typeface="LATO"/>
              </a:rPr>
              <a:t/>
            </a:r>
            <a:br>
              <a:rPr lang="fr-FR" sz="1600" dirty="0">
                <a:solidFill>
                  <a:srgbClr val="292929"/>
                </a:solidFill>
                <a:latin typeface="LATO"/>
              </a:rPr>
            </a:br>
            <a:r>
              <a:rPr lang="fr-FR" sz="1600" dirty="0">
                <a:solidFill>
                  <a:srgbClr val="292929"/>
                </a:solidFill>
                <a:latin typeface="LATO"/>
              </a:rPr>
              <a:t>            * 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Recommandé </a:t>
            </a:r>
            <a:r>
              <a:rPr lang="fr-FR" sz="1600" dirty="0">
                <a:solidFill>
                  <a:srgbClr val="292929"/>
                </a:solidFill>
                <a:latin typeface="LATO"/>
              </a:rPr>
              <a:t>d'utiliser une machine différente du host Gitlab</a:t>
            </a:r>
          </a:p>
          <a:p>
            <a:r>
              <a:rPr lang="fr-FR" sz="1600" dirty="0">
                <a:solidFill>
                  <a:srgbClr val="292929"/>
                </a:solidFill>
                <a:latin typeface="LATO"/>
              </a:rPr>
              <a:t/>
            </a:r>
            <a:br>
              <a:rPr lang="fr-FR" sz="1600" dirty="0">
                <a:solidFill>
                  <a:srgbClr val="292929"/>
                </a:solidFill>
                <a:latin typeface="LATO"/>
              </a:rPr>
            </a:br>
            <a:r>
              <a:rPr lang="fr-FR" sz="1600" dirty="0">
                <a:solidFill>
                  <a:srgbClr val="292929"/>
                </a:solidFill>
                <a:latin typeface="LATO"/>
              </a:rPr>
              <a:t>            * 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La  portée </a:t>
            </a:r>
            <a:r>
              <a:rPr lang="fr-FR" sz="1600" dirty="0">
                <a:solidFill>
                  <a:srgbClr val="292929"/>
                </a:solidFill>
                <a:latin typeface="LATO"/>
              </a:rPr>
              <a:t>d'un </a:t>
            </a:r>
            <a:r>
              <a:rPr lang="fr-FR" sz="1600" dirty="0" err="1" smtClean="0">
                <a:solidFill>
                  <a:srgbClr val="292929"/>
                </a:solidFill>
                <a:latin typeface="LATO"/>
              </a:rPr>
              <a:t>Runner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 peut être (</a:t>
            </a:r>
            <a:r>
              <a:rPr lang="fr-FR" sz="1600" dirty="0" err="1" smtClean="0">
                <a:solidFill>
                  <a:srgbClr val="292929"/>
                </a:solidFill>
                <a:latin typeface="LATO"/>
              </a:rPr>
              <a:t>shared</a:t>
            </a:r>
            <a:r>
              <a:rPr lang="fr-FR" sz="1600" dirty="0">
                <a:solidFill>
                  <a:srgbClr val="292929"/>
                </a:solidFill>
                <a:latin typeface="LATO"/>
              </a:rPr>
              <a:t>, group, </a:t>
            </a:r>
            <a:r>
              <a:rPr lang="fr-FR" sz="1600" dirty="0" err="1" smtClean="0">
                <a:solidFill>
                  <a:srgbClr val="292929"/>
                </a:solidFill>
                <a:latin typeface="LATO"/>
              </a:rPr>
              <a:t>specifique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)</a:t>
            </a:r>
            <a:endParaRPr lang="fr-FR" sz="1600" dirty="0">
              <a:solidFill>
                <a:srgbClr val="292929"/>
              </a:solidFill>
              <a:latin typeface="LATO"/>
            </a:endParaRPr>
          </a:p>
          <a:p>
            <a:r>
              <a:rPr lang="fr-FR" sz="1600" dirty="0">
                <a:solidFill>
                  <a:srgbClr val="292929"/>
                </a:solidFill>
                <a:latin typeface="LATO"/>
              </a:rPr>
              <a:t/>
            </a:r>
            <a:br>
              <a:rPr lang="fr-FR" sz="1600" dirty="0">
                <a:solidFill>
                  <a:srgbClr val="292929"/>
                </a:solidFill>
                <a:latin typeface="LATO"/>
              </a:rPr>
            </a:br>
            <a:r>
              <a:rPr lang="fr-FR" sz="1600" dirty="0">
                <a:solidFill>
                  <a:srgbClr val="292929"/>
                </a:solidFill>
                <a:latin typeface="LATO"/>
              </a:rPr>
              <a:t>            * 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Possibilité de tagger les Runners </a:t>
            </a:r>
            <a:r>
              <a:rPr lang="fr-FR" sz="1600" dirty="0">
                <a:solidFill>
                  <a:srgbClr val="292929"/>
                </a:solidFill>
                <a:latin typeface="LATO"/>
              </a:rPr>
              <a:t>(langages, </a:t>
            </a:r>
            <a:r>
              <a:rPr lang="fr-FR" sz="1600" dirty="0" err="1">
                <a:solidFill>
                  <a:srgbClr val="292929"/>
                </a:solidFill>
                <a:latin typeface="LATO"/>
              </a:rPr>
              <a:t>builder</a:t>
            </a:r>
            <a:r>
              <a:rPr lang="fr-FR" sz="1600" dirty="0">
                <a:solidFill>
                  <a:srgbClr val="292929"/>
                </a:solidFill>
                <a:latin typeface="LATO"/>
              </a:rPr>
              <a:t>...)</a:t>
            </a:r>
          </a:p>
          <a:p>
            <a:r>
              <a:rPr lang="fr-FR" sz="1600" dirty="0">
                <a:solidFill>
                  <a:srgbClr val="292929"/>
                </a:solidFill>
                <a:latin typeface="LATO"/>
              </a:rPr>
              <a:t/>
            </a:r>
            <a:br>
              <a:rPr lang="fr-FR" sz="1600" dirty="0">
                <a:solidFill>
                  <a:srgbClr val="292929"/>
                </a:solidFill>
                <a:latin typeface="LATO"/>
              </a:rPr>
            </a:br>
            <a:r>
              <a:rPr lang="fr-FR" sz="1600" dirty="0">
                <a:solidFill>
                  <a:srgbClr val="292929"/>
                </a:solidFill>
                <a:latin typeface="LATO"/>
              </a:rPr>
              <a:t>            * gitlab.com : 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Fournit Runners </a:t>
            </a:r>
            <a:r>
              <a:rPr lang="fr-FR" sz="1600" dirty="0">
                <a:solidFill>
                  <a:srgbClr val="292929"/>
                </a:solidFill>
                <a:latin typeface="LATO"/>
              </a:rPr>
              <a:t>publique limité en temps d'utilisation (2000min/pipeline/mois)</a:t>
            </a:r>
          </a:p>
          <a:p>
            <a:r>
              <a:rPr lang="fr-FR" sz="1600" dirty="0">
                <a:solidFill>
                  <a:srgbClr val="292929"/>
                </a:solidFill>
                <a:latin typeface="LATO"/>
              </a:rPr>
              <a:t>            </a:t>
            </a:r>
          </a:p>
          <a:p>
            <a:r>
              <a:rPr lang="fr-FR" sz="1600" dirty="0">
                <a:solidFill>
                  <a:srgbClr val="292929"/>
                </a:solidFill>
                <a:latin typeface="LATO"/>
              </a:rPr>
              <a:t>            * </a:t>
            </a:r>
            <a:r>
              <a:rPr lang="fr-FR" sz="1600" dirty="0" smtClean="0">
                <a:solidFill>
                  <a:srgbClr val="292929"/>
                </a:solidFill>
                <a:latin typeface="LATO"/>
              </a:rPr>
              <a:t>Pour plus d’informations sur les Runners: https</a:t>
            </a:r>
            <a:r>
              <a:rPr lang="fr-FR" sz="1600" dirty="0">
                <a:solidFill>
                  <a:srgbClr val="292929"/>
                </a:solidFill>
                <a:latin typeface="LATO"/>
              </a:rPr>
              <a:t>://docs.gitlab.com/runner/</a:t>
            </a:r>
            <a:endParaRPr lang="fr-FR" sz="1600" b="0" dirty="0">
              <a:solidFill>
                <a:srgbClr val="292929"/>
              </a:solidFill>
              <a:effectLst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4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294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 GITLAB CI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0805" y="1093764"/>
            <a:ext cx="1058927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/>
              <a:t>LES PIPLINES:</a:t>
            </a:r>
            <a:endParaRPr lang="fr-FR" b="1" dirty="0"/>
          </a:p>
          <a:p>
            <a:r>
              <a:rPr lang="fr-FR" dirty="0"/>
              <a:t/>
            </a:r>
            <a:br>
              <a:rPr lang="fr-FR" dirty="0"/>
            </a:br>
            <a:r>
              <a:rPr lang="fr-FR" dirty="0"/>
              <a:t>            * </a:t>
            </a:r>
            <a:r>
              <a:rPr lang="fr-FR" dirty="0" smtClean="0"/>
              <a:t>Déclenchée par </a:t>
            </a:r>
            <a:r>
              <a:rPr lang="fr-FR" dirty="0"/>
              <a:t>trigger ou par </a:t>
            </a:r>
            <a:r>
              <a:rPr lang="fr-FR" dirty="0" smtClean="0"/>
              <a:t>tâches récurrentes comme </a:t>
            </a:r>
            <a:r>
              <a:rPr lang="fr-FR" dirty="0"/>
              <a:t>(</a:t>
            </a:r>
            <a:r>
              <a:rPr lang="fr-FR" dirty="0" err="1"/>
              <a:t>cron</a:t>
            </a:r>
            <a:r>
              <a:rPr lang="fr-FR" dirty="0"/>
              <a:t>)</a:t>
            </a:r>
          </a:p>
          <a:p>
            <a:r>
              <a:rPr lang="fr-FR" dirty="0"/>
              <a:t/>
            </a:r>
            <a:br>
              <a:rPr lang="fr-FR" dirty="0"/>
            </a:br>
            <a:r>
              <a:rPr lang="fr-FR" dirty="0"/>
              <a:t>            * </a:t>
            </a:r>
            <a:r>
              <a:rPr lang="fr-FR" dirty="0" smtClean="0"/>
              <a:t>Permet de lancer une suite </a:t>
            </a:r>
            <a:r>
              <a:rPr lang="fr-FR" dirty="0"/>
              <a:t>de tâches à </a:t>
            </a:r>
            <a:r>
              <a:rPr lang="fr-FR" dirty="0" smtClean="0"/>
              <a:t>réaliser</a:t>
            </a:r>
          </a:p>
          <a:p>
            <a:r>
              <a:rPr lang="fr-FR" dirty="0"/>
              <a:t/>
            </a:r>
            <a:br>
              <a:rPr lang="fr-FR" dirty="0"/>
            </a:br>
            <a:r>
              <a:rPr lang="fr-FR" dirty="0"/>
              <a:t>            * </a:t>
            </a:r>
            <a:r>
              <a:rPr lang="fr-FR" dirty="0" smtClean="0"/>
              <a:t>Les pipelines sont découpées </a:t>
            </a:r>
            <a:r>
              <a:rPr lang="fr-FR" dirty="0"/>
              <a:t>en stages (étapes)</a:t>
            </a:r>
          </a:p>
          <a:p>
            <a:r>
              <a:rPr lang="fr-FR" dirty="0"/>
              <a:t/>
            </a:r>
            <a:br>
              <a:rPr lang="fr-FR" dirty="0"/>
            </a:br>
            <a:r>
              <a:rPr lang="fr-FR" dirty="0"/>
              <a:t>            * </a:t>
            </a:r>
            <a:r>
              <a:rPr lang="fr-FR" dirty="0" smtClean="0"/>
              <a:t>Le Pipeline est décrite </a:t>
            </a:r>
            <a:r>
              <a:rPr lang="fr-FR" dirty="0"/>
              <a:t>dans un fichier </a:t>
            </a:r>
            <a:r>
              <a:rPr lang="fr-FR" dirty="0" smtClean="0"/>
              <a:t>de type YAML trouvé à </a:t>
            </a:r>
            <a:r>
              <a:rPr lang="fr-FR" dirty="0"/>
              <a:t>la </a:t>
            </a:r>
            <a:r>
              <a:rPr lang="fr-FR" dirty="0" smtClean="0"/>
              <a:t>racine du projet </a:t>
            </a:r>
            <a:r>
              <a:rPr lang="fr-FR" dirty="0"/>
              <a:t>: .</a:t>
            </a:r>
            <a:r>
              <a:rPr lang="fr-FR" dirty="0" err="1"/>
              <a:t>gitlab-ci.yaml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697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294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 GITLAB CI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2308" y="3025296"/>
            <a:ext cx="105892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latin typeface="LATO"/>
              </a:rPr>
              <a:t>LES JOBS:</a:t>
            </a:r>
            <a:endParaRPr lang="fr-FR" b="1" dirty="0">
              <a:latin typeface="LATO"/>
            </a:endParaRPr>
          </a:p>
          <a:p>
            <a:r>
              <a:rPr lang="fr-FR" dirty="0">
                <a:latin typeface="LATO"/>
              </a:rPr>
              <a:t/>
            </a:r>
            <a:br>
              <a:rPr lang="fr-FR" dirty="0">
                <a:latin typeface="LATO"/>
              </a:rPr>
            </a:br>
            <a:r>
              <a:rPr lang="fr-FR" dirty="0">
                <a:latin typeface="LATO"/>
              </a:rPr>
              <a:t>            * </a:t>
            </a:r>
            <a:r>
              <a:rPr lang="fr-FR" dirty="0" smtClean="0">
                <a:latin typeface="LATO"/>
              </a:rPr>
              <a:t>Ce sont des tâches précises </a:t>
            </a:r>
            <a:r>
              <a:rPr lang="fr-FR" dirty="0">
                <a:latin typeface="LATO"/>
              </a:rPr>
              <a:t>à réaliser dans un environnement </a:t>
            </a:r>
            <a:r>
              <a:rPr lang="fr-FR" dirty="0" smtClean="0">
                <a:latin typeface="LATO"/>
              </a:rPr>
              <a:t>spécifique</a:t>
            </a:r>
            <a:endParaRPr lang="fr-FR" dirty="0">
              <a:latin typeface="LATO"/>
            </a:endParaRPr>
          </a:p>
          <a:p>
            <a:r>
              <a:rPr lang="fr-FR" dirty="0">
                <a:latin typeface="LATO"/>
              </a:rPr>
              <a:t/>
            </a:r>
            <a:br>
              <a:rPr lang="fr-FR" dirty="0">
                <a:latin typeface="LATO"/>
              </a:rPr>
            </a:br>
            <a:r>
              <a:rPr lang="fr-FR" dirty="0">
                <a:latin typeface="LATO"/>
              </a:rPr>
              <a:t>            * </a:t>
            </a:r>
            <a:r>
              <a:rPr lang="fr-FR" dirty="0" smtClean="0">
                <a:latin typeface="LATO"/>
              </a:rPr>
              <a:t>Avec la possibilité </a:t>
            </a:r>
            <a:r>
              <a:rPr lang="fr-FR" dirty="0">
                <a:latin typeface="LATO"/>
              </a:rPr>
              <a:t>de fixer des contraintes : environnement, conditions...</a:t>
            </a:r>
          </a:p>
          <a:p>
            <a:r>
              <a:rPr lang="fr-FR" dirty="0">
                <a:latin typeface="LATO"/>
              </a:rPr>
              <a:t/>
            </a:r>
            <a:br>
              <a:rPr lang="fr-FR" dirty="0">
                <a:latin typeface="LATO"/>
              </a:rPr>
            </a:br>
            <a:r>
              <a:rPr lang="fr-FR" dirty="0">
                <a:latin typeface="LATO"/>
              </a:rPr>
              <a:t>            * </a:t>
            </a:r>
            <a:r>
              <a:rPr lang="fr-FR" dirty="0" smtClean="0">
                <a:latin typeface="LATO"/>
              </a:rPr>
              <a:t>Un Job  est constitué </a:t>
            </a:r>
            <a:r>
              <a:rPr lang="fr-FR" dirty="0">
                <a:latin typeface="LATO"/>
              </a:rPr>
              <a:t>d'un script </a:t>
            </a:r>
            <a:r>
              <a:rPr lang="fr-FR" dirty="0" smtClean="0">
                <a:latin typeface="LATO"/>
              </a:rPr>
              <a:t>avec des possibilités </a:t>
            </a:r>
            <a:r>
              <a:rPr lang="fr-FR" dirty="0">
                <a:latin typeface="LATO"/>
              </a:rPr>
              <a:t>d</a:t>
            </a:r>
            <a:r>
              <a:rPr lang="fr-FR" dirty="0" smtClean="0">
                <a:latin typeface="LATO"/>
              </a:rPr>
              <a:t>es </a:t>
            </a:r>
            <a:r>
              <a:rPr lang="fr-FR" dirty="0">
                <a:latin typeface="LATO"/>
              </a:rPr>
              <a:t>commandes </a:t>
            </a:r>
            <a:r>
              <a:rPr lang="fr-FR" dirty="0" err="1" smtClean="0">
                <a:latin typeface="LATO"/>
              </a:rPr>
              <a:t>executée</a:t>
            </a:r>
            <a:r>
              <a:rPr lang="fr-FR" dirty="0" smtClean="0">
                <a:latin typeface="LATO"/>
              </a:rPr>
              <a:t> </a:t>
            </a:r>
            <a:r>
              <a:rPr lang="fr-FR" dirty="0" err="1" smtClean="0">
                <a:latin typeface="LATO"/>
              </a:rPr>
              <a:t>before</a:t>
            </a:r>
            <a:r>
              <a:rPr lang="fr-FR" dirty="0" smtClean="0">
                <a:latin typeface="LATO"/>
              </a:rPr>
              <a:t>/</a:t>
            </a:r>
            <a:r>
              <a:rPr lang="fr-FR" dirty="0" err="1" smtClean="0">
                <a:latin typeface="LATO"/>
              </a:rPr>
              <a:t>after</a:t>
            </a:r>
            <a:endParaRPr lang="fr-FR" dirty="0"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3916" y="852957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STAGES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:</a:t>
            </a:r>
          </a:p>
          <a:p>
            <a:r>
              <a:rPr lang="fr-FR" dirty="0">
                <a:latin typeface="LATO"/>
              </a:rPr>
              <a:t/>
            </a:r>
            <a:br>
              <a:rPr lang="fr-FR" dirty="0">
                <a:latin typeface="LATO"/>
              </a:rPr>
            </a:br>
            <a:r>
              <a:rPr lang="fr-FR" dirty="0">
                <a:latin typeface="LATO"/>
              </a:rPr>
              <a:t>          </a:t>
            </a:r>
            <a:r>
              <a:rPr lang="fr-FR" dirty="0" smtClean="0">
                <a:latin typeface="LATO"/>
              </a:rPr>
              <a:t>* Etapes </a:t>
            </a:r>
            <a:r>
              <a:rPr lang="fr-FR" dirty="0">
                <a:latin typeface="LATO"/>
              </a:rPr>
              <a:t>d'un pipeline</a:t>
            </a:r>
          </a:p>
          <a:p>
            <a:r>
              <a:rPr lang="fr-FR" dirty="0">
                <a:latin typeface="LATO"/>
              </a:rPr>
              <a:t/>
            </a:r>
            <a:br>
              <a:rPr lang="fr-FR" dirty="0">
                <a:latin typeface="LATO"/>
              </a:rPr>
            </a:br>
            <a:r>
              <a:rPr lang="fr-FR" dirty="0">
                <a:latin typeface="LATO"/>
              </a:rPr>
              <a:t>          </a:t>
            </a:r>
            <a:r>
              <a:rPr lang="fr-FR" dirty="0" smtClean="0">
                <a:latin typeface="LATO"/>
              </a:rPr>
              <a:t>* constitué </a:t>
            </a:r>
            <a:r>
              <a:rPr lang="fr-FR" dirty="0">
                <a:latin typeface="LATO"/>
              </a:rPr>
              <a:t>de 1 à plusieurs jobs</a:t>
            </a:r>
          </a:p>
          <a:p>
            <a:r>
              <a:rPr lang="fr-FR" dirty="0">
                <a:latin typeface="LATO"/>
              </a:rPr>
              <a:t/>
            </a:r>
            <a:br>
              <a:rPr lang="fr-FR" dirty="0">
                <a:latin typeface="LATO"/>
              </a:rPr>
            </a:br>
            <a:r>
              <a:rPr lang="fr-FR" dirty="0">
                <a:latin typeface="LATO"/>
              </a:rPr>
              <a:t>          </a:t>
            </a:r>
            <a:r>
              <a:rPr lang="fr-FR" dirty="0" smtClean="0">
                <a:latin typeface="LATO"/>
              </a:rPr>
              <a:t>* </a:t>
            </a:r>
            <a:r>
              <a:rPr lang="fr-FR" dirty="0">
                <a:latin typeface="LATO"/>
              </a:rPr>
              <a:t>regroupement logique</a:t>
            </a:r>
            <a:endParaRPr lang="fr-FR" b="0" dirty="0">
              <a:effectLst/>
              <a:latin typeface="LAT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2308" y="5462516"/>
            <a:ext cx="105892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latin typeface="LATO"/>
              </a:rPr>
              <a:t>LES SCRIPTS:</a:t>
            </a:r>
            <a:endParaRPr lang="fr-FR" b="1" dirty="0">
              <a:latin typeface="LATO"/>
            </a:endParaRPr>
          </a:p>
          <a:p>
            <a:r>
              <a:rPr lang="fr-FR" dirty="0">
                <a:latin typeface="LATO"/>
              </a:rPr>
              <a:t/>
            </a:r>
            <a:br>
              <a:rPr lang="fr-FR" dirty="0">
                <a:latin typeface="LATO"/>
              </a:rPr>
            </a:br>
            <a:r>
              <a:rPr lang="fr-FR" dirty="0">
                <a:latin typeface="LATO"/>
              </a:rPr>
              <a:t>            * </a:t>
            </a:r>
            <a:r>
              <a:rPr lang="fr-FR" dirty="0" smtClean="0">
                <a:latin typeface="LATO"/>
              </a:rPr>
              <a:t>Ils varient selon l’</a:t>
            </a:r>
            <a:r>
              <a:rPr lang="fr-FR" dirty="0" err="1" smtClean="0">
                <a:latin typeface="LATO"/>
              </a:rPr>
              <a:t>envrionment</a:t>
            </a:r>
            <a:r>
              <a:rPr lang="fr-FR" dirty="0" smtClean="0">
                <a:latin typeface="LATO"/>
              </a:rPr>
              <a:t> </a:t>
            </a:r>
            <a:r>
              <a:rPr lang="fr-FR" dirty="0" err="1" smtClean="0">
                <a:latin typeface="LATO"/>
              </a:rPr>
              <a:t>Maven</a:t>
            </a:r>
            <a:r>
              <a:rPr lang="fr-FR" dirty="0" smtClean="0">
                <a:latin typeface="LATO"/>
              </a:rPr>
              <a:t>, </a:t>
            </a:r>
            <a:r>
              <a:rPr lang="fr-FR" dirty="0" err="1" smtClean="0">
                <a:latin typeface="LATO"/>
              </a:rPr>
              <a:t>dotnet</a:t>
            </a:r>
            <a:r>
              <a:rPr lang="fr-FR" dirty="0" smtClean="0">
                <a:latin typeface="LATO"/>
              </a:rPr>
              <a:t> </a:t>
            </a:r>
            <a:r>
              <a:rPr lang="fr-FR" dirty="0" err="1" smtClean="0">
                <a:latin typeface="LATO"/>
              </a:rPr>
              <a:t>Powershell</a:t>
            </a:r>
            <a:r>
              <a:rPr lang="fr-FR" dirty="0" smtClean="0">
                <a:latin typeface="LATO"/>
              </a:rPr>
              <a:t> </a:t>
            </a:r>
            <a:r>
              <a:rPr lang="fr-FR" dirty="0" err="1" smtClean="0">
                <a:latin typeface="LATO"/>
              </a:rPr>
              <a:t>etc</a:t>
            </a:r>
            <a:r>
              <a:rPr lang="fr-FR" dirty="0" smtClean="0">
                <a:latin typeface="LATO"/>
              </a:rPr>
              <a:t> ….   </a:t>
            </a:r>
            <a:endParaRPr lang="fr-FR" dirty="0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3813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294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 GITLAB CI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3915" y="852957"/>
            <a:ext cx="1154808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EXECUTORS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:</a:t>
            </a:r>
          </a:p>
          <a:p>
            <a:r>
              <a:rPr lang="fr-FR" dirty="0">
                <a:latin typeface="LATO"/>
              </a:rPr>
              <a:t/>
            </a:r>
            <a:br>
              <a:rPr lang="fr-FR" dirty="0">
                <a:latin typeface="LATO"/>
              </a:rPr>
            </a:br>
            <a:r>
              <a:rPr lang="fr-FR" dirty="0">
                <a:latin typeface="LATO"/>
              </a:rPr>
              <a:t>          </a:t>
            </a:r>
            <a:r>
              <a:rPr lang="fr-FR" dirty="0" smtClean="0">
                <a:latin typeface="LATO"/>
              </a:rPr>
              <a:t>* </a:t>
            </a:r>
            <a:r>
              <a:rPr lang="fr-FR" dirty="0" err="1"/>
              <a:t>Executor</a:t>
            </a:r>
            <a:r>
              <a:rPr lang="fr-FR" dirty="0"/>
              <a:t> :</a:t>
            </a:r>
          </a:p>
          <a:p>
            <a:r>
              <a:rPr lang="fr-FR" dirty="0"/>
              <a:t/>
            </a:r>
            <a:br>
              <a:rPr lang="fr-FR" dirty="0"/>
            </a:br>
            <a:r>
              <a:rPr lang="fr-FR" dirty="0"/>
              <a:t>            * type de </a:t>
            </a:r>
            <a:r>
              <a:rPr lang="fr-FR" dirty="0" err="1"/>
              <a:t>runner</a:t>
            </a:r>
            <a:r>
              <a:rPr lang="fr-FR" dirty="0"/>
              <a:t> adapté au job</a:t>
            </a:r>
          </a:p>
          <a:p>
            <a:r>
              <a:rPr lang="fr-FR" dirty="0"/>
              <a:t/>
            </a:r>
            <a:br>
              <a:rPr lang="fr-FR" dirty="0"/>
            </a:br>
            <a:r>
              <a:rPr lang="fr-FR" dirty="0"/>
              <a:t>            * SSH, </a:t>
            </a:r>
            <a:r>
              <a:rPr lang="fr-FR" dirty="0" err="1"/>
              <a:t>shell</a:t>
            </a:r>
            <a:r>
              <a:rPr lang="fr-FR" dirty="0"/>
              <a:t>, </a:t>
            </a:r>
            <a:r>
              <a:rPr lang="fr-FR" dirty="0" err="1"/>
              <a:t>powershell</a:t>
            </a:r>
            <a:r>
              <a:rPr lang="fr-FR" dirty="0"/>
              <a:t>, docker, </a:t>
            </a:r>
            <a:r>
              <a:rPr lang="fr-FR" dirty="0" err="1"/>
              <a:t>kubernetes</a:t>
            </a:r>
            <a:r>
              <a:rPr lang="fr-FR" dirty="0"/>
              <a:t>, </a:t>
            </a:r>
            <a:r>
              <a:rPr lang="fr-FR" dirty="0" err="1"/>
              <a:t>virtualbox</a:t>
            </a:r>
            <a:r>
              <a:rPr lang="fr-FR" dirty="0" smtClean="0"/>
              <a:t>...</a:t>
            </a:r>
          </a:p>
          <a:p>
            <a:endParaRPr lang="fr-FR" dirty="0"/>
          </a:p>
          <a:p>
            <a:r>
              <a:rPr lang="fr-FR" dirty="0"/>
              <a:t>             </a:t>
            </a:r>
            <a:r>
              <a:rPr lang="fr-FR" dirty="0" smtClean="0"/>
              <a:t>* Pour savoir plus sur les </a:t>
            </a:r>
            <a:r>
              <a:rPr lang="fr-FR" dirty="0" err="1" smtClean="0"/>
              <a:t>Executors</a:t>
            </a:r>
            <a:r>
              <a:rPr lang="fr-FR" dirty="0" smtClean="0"/>
              <a:t> </a:t>
            </a:r>
            <a:r>
              <a:rPr lang="fr-FR" dirty="0"/>
              <a:t>  https://docs.gitlab.com/runner/executors/index.html#selecting-the-executor</a:t>
            </a:r>
          </a:p>
        </p:txBody>
      </p:sp>
    </p:spTree>
    <p:extLst>
      <p:ext uri="{BB962C8B-B14F-4D97-AF65-F5344CB8AC3E}">
        <p14:creationId xmlns:p14="http://schemas.microsoft.com/office/powerpoint/2010/main" val="128901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5477</TotalTime>
  <Words>74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Comic Sans MS</vt:lpstr>
      <vt:lpstr>LATO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Alphorm</dc:creator>
  <cp:lastModifiedBy>DELL</cp:lastModifiedBy>
  <cp:revision>202</cp:revision>
  <dcterms:created xsi:type="dcterms:W3CDTF">2017-02-10T20:50:27Z</dcterms:created>
  <dcterms:modified xsi:type="dcterms:W3CDTF">2025-06-06T10:06:32Z</dcterms:modified>
</cp:coreProperties>
</file>