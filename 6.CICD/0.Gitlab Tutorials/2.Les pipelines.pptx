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3" r:id="rId2"/>
    <p:sldId id="275" r:id="rId3"/>
    <p:sldId id="308" r:id="rId4"/>
    <p:sldId id="280" r:id="rId5"/>
    <p:sldId id="309" r:id="rId6"/>
    <p:sldId id="283" r:id="rId7"/>
    <p:sldId id="281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00" r:id="rId30"/>
    <p:sldId id="301" r:id="rId31"/>
    <p:sldId id="302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1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2" autoAdjust="0"/>
    <p:restoredTop sz="90789" autoAdjust="0"/>
  </p:normalViewPr>
  <p:slideViewPr>
    <p:cSldViewPr snapToGrid="0">
      <p:cViewPr varScale="1">
        <p:scale>
          <a:sx n="103" d="100"/>
          <a:sy n="103" d="100"/>
        </p:scale>
        <p:origin x="820" y="108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9BB29-2F69-4BAD-BAE6-35EBE787D585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E1986-C91B-477C-93E3-239B6FF79C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06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4376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360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3301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031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3198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243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18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build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"Build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test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"Test part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stage: deploy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script: echo "Deploy A"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1637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err="1" smtClean="0"/>
              <a:t>delayed</a:t>
            </a:r>
            <a:r>
              <a:rPr lang="fr-FR" b="1" dirty="0" smtClean="0"/>
              <a:t>:</a:t>
            </a:r>
            <a:endParaRPr lang="en-US" b="1" dirty="0" smtClean="0"/>
          </a:p>
          <a:p>
            <a:r>
              <a:rPr lang="en-US" dirty="0" err="1" smtClean="0"/>
              <a:t>deploy_delayed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stage: deploy</a:t>
            </a:r>
            <a:br>
              <a:rPr lang="en-US" dirty="0" smtClean="0"/>
            </a:br>
            <a:r>
              <a:rPr lang="en-US" dirty="0" smtClean="0"/>
              <a:t>script:</a:t>
            </a:r>
            <a:br>
              <a:rPr lang="en-US" dirty="0" smtClean="0"/>
            </a:br>
            <a:r>
              <a:rPr lang="en-US" dirty="0" smtClean="0"/>
              <a:t>- echo "</a:t>
            </a:r>
            <a:r>
              <a:rPr lang="en-US" dirty="0" err="1" smtClean="0"/>
              <a:t>Déploiement</a:t>
            </a:r>
            <a:r>
              <a:rPr lang="en-US" dirty="0" smtClean="0"/>
              <a:t> </a:t>
            </a:r>
            <a:r>
              <a:rPr lang="en-US" dirty="0" err="1" smtClean="0"/>
              <a:t>lancé</a:t>
            </a:r>
            <a:r>
              <a:rPr lang="en-US" dirty="0" smtClean="0"/>
              <a:t> après </a:t>
            </a:r>
            <a:r>
              <a:rPr lang="en-US" dirty="0" err="1" smtClean="0"/>
              <a:t>délai</a:t>
            </a:r>
            <a:r>
              <a:rPr lang="en-US" dirty="0" smtClean="0"/>
              <a:t>"</a:t>
            </a:r>
            <a:br>
              <a:rPr lang="en-US" dirty="0" smtClean="0"/>
            </a:br>
            <a:r>
              <a:rPr lang="en-US" dirty="0" smtClean="0"/>
              <a:t>when: delayed</a:t>
            </a:r>
            <a:br>
              <a:rPr lang="en-US" dirty="0" smtClean="0"/>
            </a:br>
            <a:r>
              <a:rPr lang="en-US" dirty="0" err="1" smtClean="0"/>
              <a:t>start_in</a:t>
            </a:r>
            <a:r>
              <a:rPr lang="en-US" dirty="0" smtClean="0"/>
              <a:t>: 5 minutes</a:t>
            </a:r>
          </a:p>
          <a:p>
            <a:endParaRPr lang="fr-FR" dirty="0" smtClean="0"/>
          </a:p>
          <a:p>
            <a:r>
              <a:rPr lang="fr-FR" b="1" dirty="0" err="1" smtClean="0"/>
              <a:t>never</a:t>
            </a:r>
            <a:r>
              <a:rPr lang="fr-FR" b="1" dirty="0" smtClean="0"/>
              <a:t>: </a:t>
            </a:r>
          </a:p>
          <a:p>
            <a:r>
              <a:rPr lang="en-US" dirty="0" err="1" smtClean="0"/>
              <a:t>test_job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stage: test</a:t>
            </a:r>
            <a:br>
              <a:rPr lang="en-US" dirty="0" smtClean="0"/>
            </a:br>
            <a:r>
              <a:rPr lang="en-US" dirty="0" smtClean="0"/>
              <a:t>script:</a:t>
            </a:r>
            <a:br>
              <a:rPr lang="en-US" dirty="0" smtClean="0"/>
            </a:br>
            <a:r>
              <a:rPr lang="en-US" dirty="0" smtClean="0"/>
              <a:t>- echo "Je ne </a:t>
            </a:r>
            <a:r>
              <a:rPr lang="en-US" dirty="0" err="1" smtClean="0"/>
              <a:t>dois</a:t>
            </a:r>
            <a:r>
              <a:rPr lang="en-US" dirty="0" smtClean="0"/>
              <a:t> pas </a:t>
            </a:r>
            <a:r>
              <a:rPr lang="en-US" dirty="0" err="1" smtClean="0"/>
              <a:t>tourner</a:t>
            </a:r>
            <a:r>
              <a:rPr lang="en-US" dirty="0" smtClean="0"/>
              <a:t> sur main"</a:t>
            </a:r>
            <a:br>
              <a:rPr lang="en-US" dirty="0" smtClean="0"/>
            </a:br>
            <a:r>
              <a:rPr lang="en-US" dirty="0" smtClean="0"/>
              <a:t>rules:</a:t>
            </a:r>
            <a:br>
              <a:rPr lang="en-US" dirty="0" smtClean="0"/>
            </a:br>
            <a:r>
              <a:rPr lang="en-US" dirty="0" smtClean="0"/>
              <a:t>- if: '$CI_COMMIT_BRANCH == "main"'</a:t>
            </a:r>
            <a:br>
              <a:rPr lang="en-US" dirty="0" smtClean="0"/>
            </a:br>
            <a:r>
              <a:rPr lang="en-US" dirty="0" smtClean="0"/>
              <a:t>- when: never</a:t>
            </a:r>
            <a:br>
              <a:rPr lang="en-US" dirty="0" smtClean="0"/>
            </a:br>
            <a:r>
              <a:rPr lang="en-US" dirty="0" smtClean="0"/>
              <a:t>- when: </a:t>
            </a:r>
            <a:r>
              <a:rPr lang="en-US" dirty="0" err="1" smtClean="0"/>
              <a:t>on_success</a:t>
            </a:r>
            <a:endParaRPr lang="en-US" dirty="0" smtClean="0"/>
          </a:p>
          <a:p>
            <a:endParaRPr lang="fr-FR" dirty="0" smtClean="0"/>
          </a:p>
          <a:p>
            <a:r>
              <a:rPr lang="fr-FR" b="1" dirty="0" err="1" smtClean="0"/>
              <a:t>always</a:t>
            </a:r>
            <a:r>
              <a:rPr lang="fr-FR" b="1" dirty="0" smtClean="0"/>
              <a:t>: </a:t>
            </a:r>
          </a:p>
          <a:p>
            <a:endParaRPr lang="fr-FR" b="0" dirty="0" smtClean="0"/>
          </a:p>
          <a:p>
            <a:r>
              <a:rPr lang="en-US" dirty="0" smtClean="0"/>
              <a:t>stages:</a:t>
            </a:r>
            <a:br>
              <a:rPr lang="en-US" dirty="0" smtClean="0"/>
            </a:br>
            <a:r>
              <a:rPr lang="en-US" dirty="0" smtClean="0"/>
              <a:t>- build</a:t>
            </a:r>
            <a:br>
              <a:rPr lang="en-US" dirty="0" smtClean="0"/>
            </a:br>
            <a:r>
              <a:rPr lang="en-US" dirty="0" smtClean="0"/>
              <a:t>- notify</a:t>
            </a:r>
          </a:p>
          <a:p>
            <a:endParaRPr lang="fr-FR" b="0" dirty="0" smtClean="0"/>
          </a:p>
          <a:p>
            <a:r>
              <a:rPr lang="en-US" dirty="0" err="1" smtClean="0"/>
              <a:t>build_job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stage: build</a:t>
            </a:r>
            <a:br>
              <a:rPr lang="en-US" dirty="0" smtClean="0"/>
            </a:br>
            <a:r>
              <a:rPr lang="en-US" dirty="0" smtClean="0"/>
              <a:t>script:</a:t>
            </a:r>
            <a:br>
              <a:rPr lang="en-US" dirty="0" smtClean="0"/>
            </a:br>
            <a:r>
              <a:rPr lang="en-US" dirty="0" smtClean="0"/>
              <a:t>- exit 1</a:t>
            </a:r>
          </a:p>
          <a:p>
            <a:endParaRPr lang="fr-FR" b="0" dirty="0" smtClean="0"/>
          </a:p>
          <a:p>
            <a:r>
              <a:rPr lang="en-US" dirty="0" err="1" smtClean="0"/>
              <a:t>notify_job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stage: notify</a:t>
            </a:r>
            <a:br>
              <a:rPr lang="en-US" dirty="0" smtClean="0"/>
            </a:br>
            <a:r>
              <a:rPr lang="en-US" dirty="0" smtClean="0"/>
              <a:t>script:</a:t>
            </a:r>
            <a:br>
              <a:rPr lang="en-US" dirty="0" smtClean="0"/>
            </a:br>
            <a:r>
              <a:rPr lang="en-US" dirty="0" smtClean="0"/>
              <a:t>- echo "Notification </a:t>
            </a:r>
            <a:r>
              <a:rPr lang="en-US" dirty="0" err="1" smtClean="0"/>
              <a:t>envoyée</a:t>
            </a:r>
            <a:r>
              <a:rPr lang="en-US" dirty="0" smtClean="0"/>
              <a:t>"</a:t>
            </a:r>
            <a:br>
              <a:rPr lang="en-US" dirty="0" smtClean="0"/>
            </a:br>
            <a:r>
              <a:rPr lang="en-US" dirty="0" smtClean="0"/>
              <a:t>when: always</a:t>
            </a:r>
            <a:endParaRPr lang="fr-FR" b="0" dirty="0" smtClean="0"/>
          </a:p>
          <a:p>
            <a:endParaRPr lang="fr-FR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1691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6064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build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stage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deploy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stage: build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script: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echo "build a"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build_b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stage: build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script: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echo "build b"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build_c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stage: build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script: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echo "build c"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stage: stage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needs: [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build_a,build_b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script: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echo "stage a"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test_b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stage: stage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script: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echo "stage b"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deploy_a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stage: stage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needs: [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test_a,test_b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script: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echo "deploy a"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deploy_b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stage: stage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script: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echo "deploy b"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1776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50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826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02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97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60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406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55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284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3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79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5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29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58043" y="2543234"/>
            <a:ext cx="2993127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Formation Gitlab</a:t>
            </a:r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  <a:p>
            <a:pPr algn="ctr"/>
            <a:r>
              <a:rPr lang="fr-FR" sz="2800" b="1" dirty="0" smtClean="0">
                <a:solidFill>
                  <a:srgbClr val="1C3158"/>
                </a:solidFill>
                <a:latin typeface="Comic Sans MS" pitchFamily="66" charset="0"/>
              </a:rPr>
              <a:t> </a:t>
            </a:r>
          </a:p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Les pipelines</a:t>
            </a:r>
          </a:p>
          <a:p>
            <a:pPr algn="ctr"/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6266500" y="3227040"/>
            <a:ext cx="5176200" cy="17384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353" y="5376618"/>
            <a:ext cx="1552248" cy="154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4729466" y="6221574"/>
            <a:ext cx="4296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pic>
        <p:nvPicPr>
          <p:cNvPr id="1028" name="Picture 4" descr="https://www.wizcase.com/wp-content/uploads/2022/03/GiTlab-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99" y="539302"/>
            <a:ext cx="4870202" cy="441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35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59" y="917782"/>
            <a:ext cx="1059891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TYPES DE PIPELINES</a:t>
            </a:r>
            <a:endParaRPr lang="fr-FR" b="1" dirty="0">
              <a:solidFill>
                <a:srgbClr val="292929"/>
              </a:solidFill>
              <a:latin typeface="LATO"/>
            </a:endParaRP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/>
            </a:r>
            <a:br>
              <a:rPr lang="fr-FR" dirty="0">
                <a:solidFill>
                  <a:srgbClr val="292929"/>
                </a:solidFill>
                <a:latin typeface="LATO"/>
              </a:rPr>
            </a:br>
            <a:r>
              <a:rPr lang="fr-FR" dirty="0">
                <a:solidFill>
                  <a:srgbClr val="292929"/>
                </a:solidFill>
                <a:latin typeface="LATO"/>
              </a:rPr>
              <a:t>  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 * </a:t>
            </a:r>
            <a:r>
              <a:rPr lang="en-US" dirty="0">
                <a:latin typeface="LATO"/>
              </a:rPr>
              <a:t>Basic </a:t>
            </a:r>
            <a:r>
              <a:rPr lang="en-US" dirty="0" smtClean="0">
                <a:latin typeface="LATO"/>
              </a:rPr>
              <a:t>pipelines : </a:t>
            </a:r>
            <a:r>
              <a:rPr lang="fr-FR" dirty="0" smtClean="0">
                <a:latin typeface="LATO"/>
              </a:rPr>
              <a:t>Idéal </a:t>
            </a:r>
            <a:r>
              <a:rPr lang="fr-FR" dirty="0">
                <a:latin typeface="LATO"/>
              </a:rPr>
              <a:t>pour les projets simples où toute la configuration est au même endroit</a:t>
            </a:r>
            <a:endParaRPr lang="en-US" dirty="0">
              <a:latin typeface="LATO"/>
            </a:endParaRPr>
          </a:p>
          <a:p>
            <a:r>
              <a:rPr lang="en-US" dirty="0">
                <a:latin typeface="LATO"/>
              </a:rPr>
              <a:t/>
            </a:r>
            <a:br>
              <a:rPr lang="en-US" dirty="0">
                <a:latin typeface="LATO"/>
              </a:rPr>
            </a:br>
            <a:r>
              <a:rPr lang="en-US" dirty="0">
                <a:latin typeface="LATO"/>
              </a:rPr>
              <a:t>    </a:t>
            </a:r>
            <a:r>
              <a:rPr lang="en-US" dirty="0" smtClean="0">
                <a:latin typeface="LATO"/>
              </a:rPr>
              <a:t> * </a:t>
            </a:r>
            <a:r>
              <a:rPr lang="en-US" dirty="0">
                <a:latin typeface="LATO"/>
              </a:rPr>
              <a:t>Direct Acyclic Graph (DAG) </a:t>
            </a:r>
            <a:r>
              <a:rPr lang="en-US" dirty="0" smtClean="0">
                <a:latin typeface="LATO"/>
              </a:rPr>
              <a:t>pipelines : </a:t>
            </a:r>
            <a:r>
              <a:rPr lang="fr-FR" dirty="0">
                <a:latin typeface="LATO"/>
              </a:rPr>
              <a:t>I</a:t>
            </a:r>
            <a:r>
              <a:rPr lang="fr-FR" dirty="0" smtClean="0">
                <a:latin typeface="LATO"/>
              </a:rPr>
              <a:t>déal </a:t>
            </a:r>
            <a:r>
              <a:rPr lang="fr-FR" dirty="0">
                <a:latin typeface="LATO"/>
              </a:rPr>
              <a:t>pour les grands projets </a:t>
            </a:r>
            <a:r>
              <a:rPr lang="fr-FR" dirty="0" smtClean="0">
                <a:latin typeface="LATO"/>
              </a:rPr>
              <a:t>complexes qui ont des dépendances transversales souvent compliquées</a:t>
            </a:r>
          </a:p>
          <a:p>
            <a:endParaRPr lang="en-US" dirty="0">
              <a:latin typeface="LATO"/>
            </a:endParaRPr>
          </a:p>
          <a:p>
            <a:r>
              <a:rPr lang="en-US" dirty="0">
                <a:latin typeface="LATO"/>
              </a:rPr>
              <a:t> </a:t>
            </a:r>
            <a:r>
              <a:rPr lang="en-US" dirty="0" smtClean="0">
                <a:latin typeface="LATO"/>
              </a:rPr>
              <a:t>    * Hierarchic pipelines Parent/Enfant : </a:t>
            </a:r>
            <a:r>
              <a:rPr lang="fr-FR" dirty="0">
                <a:latin typeface="LATO"/>
              </a:rPr>
              <a:t>I</a:t>
            </a:r>
            <a:r>
              <a:rPr lang="fr-FR" dirty="0" smtClean="0">
                <a:latin typeface="LATO"/>
              </a:rPr>
              <a:t>déal </a:t>
            </a:r>
            <a:r>
              <a:rPr lang="fr-FR" dirty="0">
                <a:latin typeface="LATO"/>
              </a:rPr>
              <a:t>pour </a:t>
            </a:r>
            <a:r>
              <a:rPr lang="fr-FR" dirty="0" smtClean="0">
                <a:latin typeface="LATO"/>
              </a:rPr>
              <a:t>les </a:t>
            </a:r>
            <a:r>
              <a:rPr lang="fr-FR" dirty="0">
                <a:latin typeface="LATO"/>
              </a:rPr>
              <a:t>projets comportant de nombreux composants définis </a:t>
            </a:r>
            <a:r>
              <a:rPr lang="fr-FR" dirty="0" smtClean="0">
                <a:latin typeface="LATO"/>
              </a:rPr>
              <a:t>indépendamment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21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292929"/>
                </a:solidFill>
                <a:latin typeface="LATO"/>
              </a:rPr>
              <a:t>LES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PIPELINES (exemple simple)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6860" y="1461280"/>
            <a:ext cx="452787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E2E2E"/>
                </a:solidFill>
                <a:latin typeface="GitLab Mono"/>
              </a:rPr>
              <a:t>stages: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install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test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deploy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i="1" dirty="0">
                <a:solidFill>
                  <a:srgbClr val="999988"/>
                </a:solidFill>
                <a:latin typeface="GitLab Mono"/>
              </a:rPr>
              <a:t># Job pour </a:t>
            </a:r>
            <a:r>
              <a:rPr lang="en-US" i="1" dirty="0" err="1">
                <a:solidFill>
                  <a:srgbClr val="999988"/>
                </a:solidFill>
                <a:latin typeface="GitLab Mono"/>
              </a:rPr>
              <a:t>l'installation</a:t>
            </a:r>
            <a:r>
              <a:rPr lang="en-US" i="1" dirty="0">
                <a:solidFill>
                  <a:srgbClr val="999988"/>
                </a:solidFill>
                <a:latin typeface="GitLab Mono"/>
              </a:rPr>
              <a:t> des </a:t>
            </a:r>
            <a:r>
              <a:rPr lang="en-US" i="1" dirty="0" err="1">
                <a:solidFill>
                  <a:srgbClr val="999988"/>
                </a:solidFill>
                <a:latin typeface="GitLab Mono"/>
              </a:rPr>
              <a:t>dépendances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install_dependencies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install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"Installing dependencies..."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i="1" dirty="0">
                <a:solidFill>
                  <a:srgbClr val="999988"/>
                </a:solidFill>
                <a:latin typeface="GitLab Mono"/>
              </a:rPr>
              <a:t># Job pour les tests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run_tests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test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"Running tests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..."</a:t>
            </a:r>
            <a:endParaRPr lang="en-US" dirty="0">
              <a:solidFill>
                <a:srgbClr val="2E2E2E"/>
              </a:solidFill>
              <a:latin typeface="GitLab Mon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65800" y="162012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>
                <a:solidFill>
                  <a:srgbClr val="999988"/>
                </a:solidFill>
                <a:latin typeface="GitLab Mono"/>
              </a:rPr>
              <a:t># Job pour le </a:t>
            </a:r>
            <a:r>
              <a:rPr lang="en-US" i="1" dirty="0" err="1">
                <a:solidFill>
                  <a:srgbClr val="999988"/>
                </a:solidFill>
                <a:latin typeface="GitLab Mono"/>
              </a:rPr>
              <a:t>déploiement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deploy_application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deploy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"Deploying application..."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only: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main  </a:t>
            </a:r>
            <a:r>
              <a:rPr lang="en-US" i="1" dirty="0">
                <a:solidFill>
                  <a:srgbClr val="999988"/>
                </a:solidFill>
                <a:latin typeface="GitLab Mono"/>
              </a:rPr>
              <a:t># Ce job </a:t>
            </a:r>
            <a:r>
              <a:rPr lang="en-US" i="1" dirty="0" err="1">
                <a:solidFill>
                  <a:srgbClr val="999988"/>
                </a:solidFill>
                <a:latin typeface="GitLab Mono"/>
              </a:rPr>
              <a:t>s'exécute</a:t>
            </a:r>
            <a:r>
              <a:rPr lang="en-US" i="1" dirty="0">
                <a:solidFill>
                  <a:srgbClr val="999988"/>
                </a:solidFill>
                <a:latin typeface="GitLab Mono"/>
              </a:rPr>
              <a:t> </a:t>
            </a:r>
            <a:r>
              <a:rPr lang="en-US" i="1" dirty="0" err="1">
                <a:solidFill>
                  <a:srgbClr val="999988"/>
                </a:solidFill>
                <a:latin typeface="GitLab Mono"/>
              </a:rPr>
              <a:t>uniquement</a:t>
            </a:r>
            <a:r>
              <a:rPr lang="en-US" i="1" dirty="0">
                <a:solidFill>
                  <a:srgbClr val="999988"/>
                </a:solidFill>
                <a:latin typeface="GitLab Mono"/>
              </a:rPr>
              <a:t> sur la </a:t>
            </a:r>
            <a:r>
              <a:rPr lang="en-US" i="1" dirty="0" err="1">
                <a:solidFill>
                  <a:srgbClr val="999988"/>
                </a:solidFill>
                <a:latin typeface="GitLab Mono"/>
              </a:rPr>
              <a:t>branche</a:t>
            </a:r>
            <a:r>
              <a:rPr lang="en-US" i="1" dirty="0">
                <a:solidFill>
                  <a:srgbClr val="999988"/>
                </a:solidFill>
                <a:latin typeface="GitLab Mono"/>
              </a:rPr>
              <a:t> main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2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292929"/>
                </a:solidFill>
                <a:latin typeface="LATO"/>
              </a:rPr>
              <a:t>LES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PIPELINES (</a:t>
            </a:r>
            <a:r>
              <a:rPr lang="fr-FR" b="1" dirty="0" err="1" smtClean="0">
                <a:solidFill>
                  <a:srgbClr val="292929"/>
                </a:solidFill>
                <a:latin typeface="LATO"/>
              </a:rPr>
              <a:t>include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)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109658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Cette clause permet d'inclure des fichiers éditeurs d'intégration dans la pipeline pour que ensuite</a:t>
            </a:r>
          </a:p>
          <a:p>
            <a:r>
              <a:rPr lang="fr-FR" dirty="0" smtClean="0"/>
              <a:t>Il est possible d'exploiter les stages et les jobs qui se trouvent dans ces fichiers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746859" y="2196634"/>
            <a:ext cx="11098007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>
                <a:solidFill>
                  <a:srgbClr val="2E2E2E"/>
                </a:solidFill>
                <a:latin typeface="GitLab Mono"/>
              </a:rPr>
              <a:t>include</a:t>
            </a:r>
            <a:r>
              <a:rPr lang="fr-FR" dirty="0" smtClean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sz="2000" dirty="0" smtClean="0">
                <a:solidFill>
                  <a:srgbClr val="2E2E2E"/>
                </a:solidFill>
                <a:latin typeface="GitLab Mono"/>
              </a:rPr>
              <a:t># </a:t>
            </a:r>
            <a:r>
              <a:rPr lang="fr-FR" sz="2000" dirty="0" smtClean="0"/>
              <a:t>Permet </a:t>
            </a:r>
            <a:r>
              <a:rPr lang="fr-FR" sz="2000" dirty="0"/>
              <a:t>d'inclure un fichier directement depuis une URL</a:t>
            </a:r>
            <a:endParaRPr lang="fr-FR" sz="2000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- remote: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'https://gitlab.com/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awesome-project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/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raw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/master/.</a:t>
            </a:r>
            <a:r>
              <a:rPr lang="fr-FR" dirty="0" err="1" smtClean="0">
                <a:solidFill>
                  <a:srgbClr val="DD1144"/>
                </a:solidFill>
                <a:latin typeface="GitLab Mono"/>
              </a:rPr>
              <a:t>before</a:t>
            </a:r>
            <a:r>
              <a:rPr lang="fr-FR" dirty="0" smtClean="0">
                <a:solidFill>
                  <a:srgbClr val="DD1144"/>
                </a:solidFill>
                <a:latin typeface="GitLab Mono"/>
              </a:rPr>
              <a:t>-script-</a:t>
            </a:r>
            <a:r>
              <a:rPr lang="fr-FR" dirty="0" err="1" smtClean="0">
                <a:solidFill>
                  <a:srgbClr val="DD1144"/>
                </a:solidFill>
                <a:latin typeface="GitLab Mono"/>
              </a:rPr>
              <a:t>template.yml</a:t>
            </a:r>
            <a:r>
              <a:rPr lang="fr-FR" dirty="0" smtClean="0">
                <a:solidFill>
                  <a:srgbClr val="DD1144"/>
                </a:solidFill>
                <a:latin typeface="GitLab Mono"/>
              </a:rPr>
              <a:t>‘</a:t>
            </a:r>
          </a:p>
          <a:p>
            <a:r>
              <a:rPr lang="fr-FR" dirty="0" smtClean="0">
                <a:solidFill>
                  <a:srgbClr val="DD1144"/>
                </a:solidFill>
                <a:latin typeface="GitLab Mono"/>
              </a:rPr>
              <a:t> </a:t>
            </a:r>
            <a:r>
              <a:rPr lang="fr-FR" dirty="0" smtClean="0">
                <a:latin typeface="GitLab Mono"/>
              </a:rPr>
              <a:t>#</a:t>
            </a:r>
            <a:r>
              <a:rPr lang="fr-FR" sz="2000" dirty="0" smtClean="0"/>
              <a:t>Utilise un fichier local dans le même dépôt</a:t>
            </a:r>
            <a:endParaRPr lang="fr-FR" sz="2000" dirty="0" smtClean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- local: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'/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templates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/.</a:t>
            </a:r>
            <a:r>
              <a:rPr lang="fr-FR" dirty="0" err="1" smtClean="0">
                <a:solidFill>
                  <a:srgbClr val="DD1144"/>
                </a:solidFill>
                <a:latin typeface="GitLab Mono"/>
              </a:rPr>
              <a:t>after</a:t>
            </a:r>
            <a:r>
              <a:rPr lang="fr-FR" dirty="0" smtClean="0">
                <a:solidFill>
                  <a:srgbClr val="DD1144"/>
                </a:solidFill>
                <a:latin typeface="GitLab Mono"/>
              </a:rPr>
              <a:t>-script-</a:t>
            </a:r>
            <a:r>
              <a:rPr lang="fr-FR" dirty="0" err="1" smtClean="0">
                <a:solidFill>
                  <a:srgbClr val="DD1144"/>
                </a:solidFill>
                <a:latin typeface="GitLab Mono"/>
              </a:rPr>
              <a:t>template.yml</a:t>
            </a:r>
            <a:r>
              <a:rPr lang="fr-FR" dirty="0" smtClean="0">
                <a:solidFill>
                  <a:srgbClr val="DD1144"/>
                </a:solidFill>
                <a:latin typeface="GitLab Mono"/>
              </a:rPr>
              <a:t>‘</a:t>
            </a:r>
          </a:p>
          <a:p>
            <a:r>
              <a:rPr lang="fr-FR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fr-FR" dirty="0" smtClean="0">
                <a:latin typeface="GitLab Mono"/>
              </a:rPr>
              <a:t>#</a:t>
            </a:r>
            <a:r>
              <a:rPr lang="fr-FR" sz="2000" dirty="0" smtClean="0"/>
              <a:t>Intègre des modèles prédéfinis de </a:t>
            </a:r>
            <a:r>
              <a:rPr lang="fr-FR" sz="2000" dirty="0" err="1" smtClean="0"/>
              <a:t>GitLab</a:t>
            </a:r>
            <a:r>
              <a:rPr lang="fr-FR" sz="2000" dirty="0" smtClean="0"/>
              <a:t>, comme </a:t>
            </a:r>
            <a:r>
              <a:rPr lang="fr-FR" sz="2000" b="1" dirty="0" smtClean="0"/>
              <a:t>Auto-DevOps</a:t>
            </a:r>
            <a:r>
              <a:rPr lang="fr-FR" sz="2000" dirty="0" smtClean="0"/>
              <a:t> qui fournit une configuration par défaut pour un pipeline CI/CD</a:t>
            </a:r>
            <a:endParaRPr lang="fr-FR" sz="2000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template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fr-FR" dirty="0" smtClean="0">
                <a:solidFill>
                  <a:srgbClr val="DD1144"/>
                </a:solidFill>
                <a:latin typeface="GitLab Mono"/>
              </a:rPr>
              <a:t>Auto-</a:t>
            </a:r>
            <a:r>
              <a:rPr lang="fr-FR" dirty="0" err="1" smtClean="0">
                <a:solidFill>
                  <a:srgbClr val="DD1144"/>
                </a:solidFill>
                <a:latin typeface="GitLab Mono"/>
              </a:rPr>
              <a:t>DevOps.gitlab</a:t>
            </a:r>
            <a:r>
              <a:rPr lang="fr-FR" dirty="0" smtClean="0">
                <a:solidFill>
                  <a:srgbClr val="DD1144"/>
                </a:solidFill>
                <a:latin typeface="GitLab Mono"/>
              </a:rPr>
              <a:t>-</a:t>
            </a:r>
            <a:r>
              <a:rPr lang="fr-FR" dirty="0" err="1" smtClean="0">
                <a:solidFill>
                  <a:srgbClr val="DD1144"/>
                </a:solidFill>
                <a:latin typeface="GitLab Mono"/>
              </a:rPr>
              <a:t>ci.yml</a:t>
            </a:r>
            <a:endParaRPr lang="fr-FR" dirty="0" smtClean="0">
              <a:solidFill>
                <a:srgbClr val="DD1144"/>
              </a:solidFill>
              <a:latin typeface="GitLab Mono"/>
            </a:endParaRPr>
          </a:p>
          <a:p>
            <a:r>
              <a:rPr lang="fr-FR" dirty="0" smtClean="0">
                <a:latin typeface="GitLab Mono"/>
              </a:rPr>
              <a:t>Ou</a:t>
            </a:r>
          </a:p>
          <a:p>
            <a:r>
              <a:rPr lang="fr-FR" sz="2000" dirty="0" smtClean="0"/>
              <a:t># Permet </a:t>
            </a:r>
            <a:r>
              <a:rPr lang="fr-FR" sz="2000" dirty="0"/>
              <a:t>d'inclure un fichier depuis un autre projet </a:t>
            </a:r>
            <a:r>
              <a:rPr lang="fr-FR" sz="2000" dirty="0" err="1"/>
              <a:t>GitLab</a:t>
            </a:r>
            <a:endParaRPr lang="fr-FR" sz="2000" dirty="0"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project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'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my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-group/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my-project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'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ref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master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file: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'/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templates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/.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gitlab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-ci-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template.yml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'</a:t>
            </a:r>
            <a:endParaRPr lang="fr-FR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151072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292929"/>
                </a:solidFill>
                <a:latin typeface="LATO"/>
              </a:rPr>
              <a:t>LES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PIPELINES (</a:t>
            </a:r>
            <a:r>
              <a:rPr lang="fr-FR" b="1" dirty="0" err="1" smtClean="0">
                <a:solidFill>
                  <a:srgbClr val="292929"/>
                </a:solidFill>
                <a:latin typeface="LATO"/>
              </a:rPr>
              <a:t>include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 exemple)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4029" y="1287114"/>
            <a:ext cx="20283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Structure du </a:t>
            </a:r>
            <a:r>
              <a:rPr lang="fr-FR" dirty="0" smtClean="0"/>
              <a:t>dépôt:</a:t>
            </a:r>
            <a:endParaRPr lang="fr-FR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40" y="1727721"/>
            <a:ext cx="4287490" cy="123755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74194" y="3287688"/>
            <a:ext cx="38614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stages: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- deploy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  - </a:t>
            </a:r>
            <a:r>
              <a:rPr lang="en-US" sz="1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test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include: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-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local:</a:t>
            </a:r>
            <a:r>
              <a:rPr lang="en-US" sz="1400" dirty="0">
                <a:latin typeface="Consolas" panose="020B0609020204030204" pitchFamily="49" charset="0"/>
              </a:rPr>
              <a:t> 'ci-templates/</a:t>
            </a:r>
            <a:r>
              <a:rPr lang="en-US" sz="1400" dirty="0" err="1">
                <a:latin typeface="Consolas" panose="020B0609020204030204" pitchFamily="49" charset="0"/>
              </a:rPr>
              <a:t>tests.yml</a:t>
            </a:r>
            <a:r>
              <a:rPr lang="en-US" sz="1400" dirty="0">
                <a:latin typeface="Consolas" panose="020B0609020204030204" pitchFamily="49" charset="0"/>
              </a:rPr>
              <a:t>'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-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local:</a:t>
            </a:r>
            <a:r>
              <a:rPr lang="en-US" sz="1400" dirty="0">
                <a:latin typeface="Consolas" panose="020B0609020204030204" pitchFamily="49" charset="0"/>
              </a:rPr>
              <a:t> 'ci-templates/</a:t>
            </a:r>
            <a:r>
              <a:rPr lang="en-US" sz="1400" dirty="0" err="1">
                <a:latin typeface="Consolas" panose="020B0609020204030204" pitchFamily="49" charset="0"/>
              </a:rPr>
              <a:t>deploy.yml</a:t>
            </a:r>
            <a:r>
              <a:rPr lang="en-US" sz="1400" dirty="0" smtClean="0">
                <a:latin typeface="Consolas" panose="020B0609020204030204" pitchFamily="49" charset="0"/>
              </a:rPr>
              <a:t>'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90408" y="4995094"/>
            <a:ext cx="1415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.</a:t>
            </a:r>
            <a:r>
              <a:rPr lang="en-US" b="1" dirty="0" err="1"/>
              <a:t>gitlab-ci.yml</a:t>
            </a:r>
            <a:endParaRPr lang="en-US" b="1" dirty="0"/>
          </a:p>
        </p:txBody>
      </p:sp>
      <p:sp>
        <p:nvSpPr>
          <p:cNvPr id="16" name="Rectangle 15"/>
          <p:cNvSpPr/>
          <p:nvPr/>
        </p:nvSpPr>
        <p:spPr>
          <a:xfrm>
            <a:off x="4398405" y="3345905"/>
            <a:ext cx="335885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stages: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  - test</a:t>
            </a:r>
          </a:p>
          <a:p>
            <a:r>
              <a:rPr lang="en-US" sz="1400" dirty="0">
                <a:latin typeface="Consolas" panose="020B0609020204030204" pitchFamily="49" charset="0"/>
              </a:rPr>
              <a:t/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 err="1">
                <a:latin typeface="Consolas" panose="020B0609020204030204" pitchFamily="49" charset="0"/>
              </a:rPr>
              <a:t>test_app</a:t>
            </a:r>
            <a:r>
              <a:rPr lang="en-US" sz="1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stage:</a:t>
            </a:r>
            <a:r>
              <a:rPr lang="en-US" sz="1400" dirty="0">
                <a:latin typeface="Consolas" panose="020B0609020204030204" pitchFamily="49" charset="0"/>
              </a:rPr>
              <a:t> test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script: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- echo "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Lancement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des tests"</a:t>
            </a:r>
            <a:endParaRPr lang="en-US" sz="14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865626" y="5024068"/>
            <a:ext cx="2321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ci-templates/</a:t>
            </a:r>
            <a:r>
              <a:rPr lang="en-US" b="1" dirty="0" err="1"/>
              <a:t>tests.yml</a:t>
            </a:r>
            <a:endParaRPr lang="en-US" b="1" dirty="0"/>
          </a:p>
        </p:txBody>
      </p:sp>
      <p:sp>
        <p:nvSpPr>
          <p:cNvPr id="19" name="Rectangle 18"/>
          <p:cNvSpPr/>
          <p:nvPr/>
        </p:nvSpPr>
        <p:spPr>
          <a:xfrm>
            <a:off x="7862226" y="3394656"/>
            <a:ext cx="432977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  <a:latin typeface="Consolas" panose="020B0609020204030204" pitchFamily="49" charset="0"/>
              </a:rPr>
              <a:t>stages:</a:t>
            </a:r>
          </a:p>
          <a:p>
            <a:r>
              <a:rPr lang="fr-FR" sz="1400" dirty="0">
                <a:solidFill>
                  <a:srgbClr val="FF0000"/>
                </a:solidFill>
                <a:latin typeface="Consolas" panose="020B0609020204030204" pitchFamily="49" charset="0"/>
              </a:rPr>
              <a:t>  - </a:t>
            </a:r>
            <a:r>
              <a:rPr lang="fr-F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deploy</a:t>
            </a:r>
            <a:endParaRPr lang="fr-FR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292929"/>
                </a:solidFill>
                <a:latin typeface="Consolas" panose="020B0609020204030204" pitchFamily="49" charset="0"/>
              </a:rPr>
              <a:t/>
            </a:r>
            <a:br>
              <a:rPr lang="fr-FR" sz="1400" dirty="0">
                <a:solidFill>
                  <a:srgbClr val="292929"/>
                </a:solidFill>
                <a:latin typeface="Consolas" panose="020B0609020204030204" pitchFamily="49" charset="0"/>
              </a:rPr>
            </a:br>
            <a:r>
              <a:rPr lang="fr-FR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deploy_app</a:t>
            </a:r>
            <a:r>
              <a:rPr lang="fr-FR" sz="1400" dirty="0">
                <a:solidFill>
                  <a:srgbClr val="292929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fr-FR" sz="1400" dirty="0">
                <a:solidFill>
                  <a:srgbClr val="292929"/>
                </a:solidFill>
                <a:latin typeface="Consolas" panose="020B0609020204030204" pitchFamily="49" charset="0"/>
              </a:rPr>
              <a:t>  </a:t>
            </a:r>
            <a:r>
              <a:rPr lang="fr-FR" sz="1400" dirty="0">
                <a:solidFill>
                  <a:srgbClr val="FF0000"/>
                </a:solidFill>
                <a:latin typeface="Consolas" panose="020B0609020204030204" pitchFamily="49" charset="0"/>
              </a:rPr>
              <a:t>stage:</a:t>
            </a:r>
            <a:r>
              <a:rPr lang="fr-FR" sz="1400" dirty="0">
                <a:solidFill>
                  <a:srgbClr val="292929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 err="1">
                <a:solidFill>
                  <a:srgbClr val="0F4A85"/>
                </a:solidFill>
                <a:latin typeface="Consolas" panose="020B0609020204030204" pitchFamily="49" charset="0"/>
              </a:rPr>
              <a:t>deploy</a:t>
            </a:r>
            <a:endParaRPr lang="fr-FR" sz="1400" dirty="0">
              <a:solidFill>
                <a:srgbClr val="292929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292929"/>
                </a:solidFill>
                <a:latin typeface="Consolas" panose="020B0609020204030204" pitchFamily="49" charset="0"/>
              </a:rPr>
              <a:t>  </a:t>
            </a:r>
            <a:r>
              <a:rPr lang="fr-FR" sz="1400" dirty="0">
                <a:solidFill>
                  <a:srgbClr val="FF0000"/>
                </a:solidFill>
                <a:latin typeface="Consolas" panose="020B0609020204030204" pitchFamily="49" charset="0"/>
              </a:rPr>
              <a:t>script:</a:t>
            </a:r>
          </a:p>
          <a:p>
            <a:r>
              <a:rPr lang="fr-FR" sz="1400" dirty="0">
                <a:solidFill>
                  <a:srgbClr val="FF0000"/>
                </a:solidFill>
                <a:latin typeface="Consolas" panose="020B0609020204030204" pitchFamily="49" charset="0"/>
              </a:rPr>
              <a:t>    - </a:t>
            </a:r>
            <a:r>
              <a:rPr lang="fr-FR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echo</a:t>
            </a:r>
            <a:r>
              <a:rPr lang="fr-FR" sz="1400" dirty="0">
                <a:solidFill>
                  <a:srgbClr val="FF0000"/>
                </a:solidFill>
                <a:latin typeface="Consolas" panose="020B0609020204030204" pitchFamily="49" charset="0"/>
              </a:rPr>
              <a:t> "Déploiement de l'application"</a:t>
            </a:r>
            <a:endParaRPr lang="fr-FR" sz="14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567548" y="5024068"/>
            <a:ext cx="2503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ci-templates/</a:t>
            </a:r>
            <a:r>
              <a:rPr lang="en-US" b="1" dirty="0" err="1"/>
              <a:t>deploy.yml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5407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292929"/>
                </a:solidFill>
                <a:latin typeface="LATO"/>
              </a:rPr>
              <a:t>LES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PIPELINES (Les job qui </a:t>
            </a:r>
            <a:r>
              <a:rPr lang="fr-FR" b="1" dirty="0" err="1" smtClean="0">
                <a:solidFill>
                  <a:srgbClr val="292929"/>
                </a:solidFill>
                <a:latin typeface="LATO"/>
              </a:rPr>
              <a:t>refèrent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 d’autres jobs * ancrage ) 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109658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Cette clause permet de faire référence d'un Job à partir d'un autre Job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1663639" y="6097336"/>
            <a:ext cx="39923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Utilisation de * pour faire des références</a:t>
            </a:r>
            <a:endParaRPr lang="fr-FR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2852057" y="2209800"/>
            <a:ext cx="4909457" cy="63137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2852057" y="2841171"/>
            <a:ext cx="4909458" cy="41617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894689" y="2656505"/>
            <a:ext cx="11530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Les ancres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64018" y="2005710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.job_1: &amp;job_1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sz="1400" dirty="0">
                <a:solidFill>
                  <a:srgbClr val="DD1144"/>
                </a:solidFill>
                <a:latin typeface="GitLab Mono"/>
              </a:rPr>
              <a:t>echo "Job 1"</a:t>
            </a:r>
            <a:endParaRPr lang="en-US" sz="1400" dirty="0">
              <a:solidFill>
                <a:srgbClr val="2E2E2E"/>
              </a:solidFill>
              <a:latin typeface="GitLab Mono"/>
            </a:endParaRP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1400" dirty="0">
                <a:solidFill>
                  <a:srgbClr val="2E2E2E"/>
                </a:solidFill>
                <a:latin typeface="GitLab Mono"/>
              </a:rPr>
            </a:br>
            <a:r>
              <a:rPr lang="en-US" sz="1400" dirty="0">
                <a:solidFill>
                  <a:srgbClr val="2E2E2E"/>
                </a:solidFill>
                <a:latin typeface="GitLab Mono"/>
              </a:rPr>
              <a:t>.job_2: &amp;job_2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sz="1400" dirty="0">
                <a:solidFill>
                  <a:srgbClr val="DD1144"/>
                </a:solidFill>
                <a:latin typeface="GitLab Mono"/>
              </a:rPr>
              <a:t>echo "Job 2"</a:t>
            </a:r>
            <a:endParaRPr lang="en-US" sz="1400" dirty="0">
              <a:solidFill>
                <a:srgbClr val="2E2E2E"/>
              </a:solidFill>
              <a:latin typeface="GitLab Mono"/>
            </a:endParaRP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1400" dirty="0">
                <a:solidFill>
                  <a:srgbClr val="2E2E2E"/>
                </a:solidFill>
                <a:latin typeface="GitLab Mono"/>
              </a:rPr>
            </a:br>
            <a:r>
              <a:rPr lang="en-US" sz="1400" dirty="0">
                <a:solidFill>
                  <a:srgbClr val="2E2E2E"/>
                </a:solidFill>
                <a:latin typeface="GitLab Mono"/>
              </a:rPr>
              <a:t>stages: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sz="1400" dirty="0">
                <a:solidFill>
                  <a:srgbClr val="DD1144"/>
                </a:solidFill>
                <a:latin typeface="GitLab Mono"/>
              </a:rPr>
              <a:t>test</a:t>
            </a:r>
            <a:endParaRPr lang="en-US" sz="1400" dirty="0">
              <a:solidFill>
                <a:srgbClr val="2E2E2E"/>
              </a:solidFill>
              <a:latin typeface="GitLab Mono"/>
            </a:endParaRP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1400" dirty="0">
                <a:solidFill>
                  <a:srgbClr val="2E2E2E"/>
                </a:solidFill>
                <a:latin typeface="GitLab Mono"/>
              </a:rPr>
            </a:br>
            <a:r>
              <a:rPr lang="en-US" sz="1400" dirty="0">
                <a:solidFill>
                  <a:srgbClr val="2E2E2E"/>
                </a:solidFill>
                <a:latin typeface="GitLab Mono"/>
              </a:rPr>
              <a:t>test_1: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sz="1400" dirty="0">
                <a:solidFill>
                  <a:srgbClr val="DD1144"/>
                </a:solidFill>
                <a:latin typeface="GitLab Mono"/>
              </a:rPr>
              <a:t>test</a:t>
            </a:r>
            <a:endParaRPr lang="en-US" sz="1400" dirty="0">
              <a:solidFill>
                <a:srgbClr val="2E2E2E"/>
              </a:solidFill>
              <a:latin typeface="GitLab Mono"/>
            </a:endParaRP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&lt;&lt;: *job_1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1400" dirty="0">
                <a:solidFill>
                  <a:srgbClr val="2E2E2E"/>
                </a:solidFill>
                <a:latin typeface="GitLab Mono"/>
              </a:rPr>
            </a:br>
            <a:r>
              <a:rPr lang="en-US" sz="1400" dirty="0">
                <a:solidFill>
                  <a:srgbClr val="2E2E2E"/>
                </a:solidFill>
                <a:latin typeface="GitLab Mono"/>
              </a:rPr>
              <a:t>test_2: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sz="1400" dirty="0">
                <a:solidFill>
                  <a:srgbClr val="DD1144"/>
                </a:solidFill>
                <a:latin typeface="GitLab Mono"/>
              </a:rPr>
              <a:t>test</a:t>
            </a:r>
            <a:endParaRPr lang="en-US" sz="1400" dirty="0">
              <a:solidFill>
                <a:srgbClr val="2E2E2E"/>
              </a:solidFill>
              <a:latin typeface="GitLab Mono"/>
            </a:endParaRP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>  &lt;&lt;: *job_2</a:t>
            </a:r>
          </a:p>
          <a:p>
            <a:r>
              <a:rPr lang="en-US" sz="14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1400" dirty="0">
                <a:solidFill>
                  <a:srgbClr val="2E2E2E"/>
                </a:solidFill>
                <a:latin typeface="GitLab Mono"/>
              </a:rPr>
            </a:br>
            <a:endParaRPr lang="en-US" sz="1400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363738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BEFORE_SCRIPT et  AFTER_SCRIPT (Globaux)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109658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Il est possible d'ordonner les scripts en pré exécution, exécution et post exécution au niveau local et global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746860" y="2003266"/>
            <a:ext cx="425827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2E2E2E"/>
                </a:solidFill>
                <a:latin typeface="GitLab Mono"/>
              </a:rPr>
              <a:t>default: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before_script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"Ce script est global"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/>
            </a:r>
            <a:br>
              <a:rPr lang="fr-FR" dirty="0">
                <a:solidFill>
                  <a:srgbClr val="2E2E2E"/>
                </a:solidFill>
                <a:latin typeface="GitLab Mono"/>
              </a:rPr>
            </a:br>
            <a:r>
              <a:rPr lang="fr-FR" dirty="0">
                <a:solidFill>
                  <a:srgbClr val="2E2E2E"/>
                </a:solidFill>
                <a:latin typeface="GitLab Mono"/>
              </a:rPr>
              <a:t>job: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before_script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"Ce script est local "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"Le script principal"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after_script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"Ce script </a:t>
            </a:r>
            <a:r>
              <a:rPr lang="fr-FR" dirty="0" smtClean="0">
                <a:solidFill>
                  <a:srgbClr val="DD1144"/>
                </a:solidFill>
                <a:latin typeface="GitLab Mono"/>
              </a:rPr>
              <a:t>s'exécute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à la fin"</a:t>
            </a:r>
            <a:endParaRPr lang="fr-FR" b="0" dirty="0">
              <a:solidFill>
                <a:srgbClr val="2E2E2E"/>
              </a:solidFill>
              <a:effectLst/>
              <a:latin typeface="GitLab Mono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737" y="2126631"/>
            <a:ext cx="5622603" cy="301595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3059" y="5475592"/>
            <a:ext cx="109658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/>
              <a:t>Note: </a:t>
            </a:r>
            <a:r>
              <a:rPr lang="fr-FR" dirty="0" smtClean="0"/>
              <a:t>Les </a:t>
            </a:r>
            <a:r>
              <a:rPr lang="fr-FR" b="1" dirty="0" err="1" smtClean="0"/>
              <a:t>before_script</a:t>
            </a:r>
            <a:r>
              <a:rPr lang="fr-FR" dirty="0" smtClean="0"/>
              <a:t> et </a:t>
            </a:r>
            <a:r>
              <a:rPr lang="fr-FR" b="1" dirty="0" err="1" smtClean="0"/>
              <a:t>after_script</a:t>
            </a:r>
            <a:r>
              <a:rPr lang="fr-FR" dirty="0" smtClean="0"/>
              <a:t> locaux écrasent les </a:t>
            </a:r>
            <a:r>
              <a:rPr lang="fr-FR" b="1" dirty="0" err="1"/>
              <a:t>before_script</a:t>
            </a:r>
            <a:r>
              <a:rPr lang="fr-FR" dirty="0"/>
              <a:t> et </a:t>
            </a:r>
            <a:r>
              <a:rPr lang="fr-FR" b="1" dirty="0" err="1" smtClean="0"/>
              <a:t>after_script</a:t>
            </a:r>
            <a:r>
              <a:rPr lang="fr-FR" dirty="0" smtClean="0"/>
              <a:t> </a:t>
            </a:r>
            <a:r>
              <a:rPr lang="fr-FR" dirty="0" err="1" smtClean="0"/>
              <a:t>globeaux</a:t>
            </a:r>
            <a:r>
              <a:rPr lang="fr-FR" dirty="0" smtClean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152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PIPELINES (</a:t>
            </a:r>
            <a:r>
              <a:rPr lang="fr-FR" b="1" dirty="0" err="1" smtClean="0">
                <a:solidFill>
                  <a:srgbClr val="292929"/>
                </a:solidFill>
                <a:latin typeface="LATO"/>
              </a:rPr>
              <a:t>extends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)  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109658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Cette clause permet de définir la pièce commune séparément 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836428" y="212663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rgbClr val="2E2E2E"/>
                </a:solidFill>
                <a:latin typeface="GitLab Mono"/>
              </a:rPr>
              <a:t>.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common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script: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"Ce ci est un job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common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qui étend le job job1"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/>
            </a:r>
            <a:br>
              <a:rPr lang="fr-FR" dirty="0">
                <a:solidFill>
                  <a:srgbClr val="2E2E2E"/>
                </a:solidFill>
                <a:latin typeface="GitLab Mono"/>
              </a:rPr>
            </a:br>
            <a:r>
              <a:rPr lang="fr-FR" dirty="0">
                <a:solidFill>
                  <a:srgbClr val="2E2E2E"/>
                </a:solidFill>
                <a:latin typeface="GitLab Mono"/>
              </a:rPr>
              <a:t>job1: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extends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.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common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script: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"Ce ci est le script principal job1"</a:t>
            </a:r>
            <a:endParaRPr lang="fr-FR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3195693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JOBS (.)  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109658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Pour désactiver un JOB il suffit de mettre un point devant . 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746860" y="173916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2E2E2E"/>
                </a:solidFill>
                <a:latin typeface="GitLab Mono"/>
              </a:rPr>
              <a:t>.job_1: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" Le job 1 "</a:t>
            </a:r>
          </a:p>
          <a:p>
            <a:endParaRPr lang="en-US" dirty="0">
              <a:solidFill>
                <a:srgbClr val="DD1144"/>
              </a:solidFill>
              <a:latin typeface="GitLab Mono"/>
            </a:endParaRPr>
          </a:p>
          <a:p>
            <a:r>
              <a:rPr lang="en-US" dirty="0" smtClean="0">
                <a:solidFill>
                  <a:srgbClr val="2E2E2E"/>
                </a:solidFill>
                <a:latin typeface="GitLab Mono"/>
              </a:rPr>
              <a:t>job_2: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 Le job 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2 "</a:t>
            </a:r>
            <a:endParaRPr lang="en-US" dirty="0">
              <a:solidFill>
                <a:srgbClr val="DD1144"/>
              </a:solidFill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312284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VARIABLES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1096588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Les variables CI/CD sont </a:t>
            </a:r>
            <a:r>
              <a:rPr lang="fr-FR" dirty="0" smtClean="0"/>
              <a:t>utilisées </a:t>
            </a:r>
            <a:r>
              <a:rPr lang="fr-FR" dirty="0"/>
              <a:t>pour 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Stocker les valeurs que vous souhaitez réutiliser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Contrôler le comportement des tâches et des pipelines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Éviter de coder en dur les valeurs dans le fichier .</a:t>
            </a:r>
            <a:r>
              <a:rPr lang="fr-FR" dirty="0" err="1" smtClean="0"/>
              <a:t>gitlab-ci.yml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La définition de la variable </a:t>
            </a:r>
            <a:r>
              <a:rPr lang="fr-FR" b="1" dirty="0" smtClean="0"/>
              <a:t>nom: valeur  </a:t>
            </a:r>
            <a:endParaRPr lang="fr-FR" b="1" dirty="0"/>
          </a:p>
          <a:p>
            <a:endParaRPr lang="fr-FR" dirty="0"/>
          </a:p>
          <a:p>
            <a:r>
              <a:rPr lang="fr-FR" dirty="0" smtClean="0"/>
              <a:t>Lors de l'utilisation de la variable, il faut</a:t>
            </a:r>
          </a:p>
          <a:p>
            <a:r>
              <a:rPr lang="fr-FR" dirty="0" smtClean="0"/>
              <a:t>La précéder par </a:t>
            </a:r>
            <a:r>
              <a:rPr lang="fr-FR" b="1" dirty="0" smtClean="0"/>
              <a:t>$ </a:t>
            </a:r>
            <a:endParaRPr lang="fr-FR" b="1" dirty="0"/>
          </a:p>
        </p:txBody>
      </p:sp>
      <p:sp>
        <p:nvSpPr>
          <p:cNvPr id="9" name="Rectangle 8"/>
          <p:cNvSpPr/>
          <p:nvPr/>
        </p:nvSpPr>
        <p:spPr>
          <a:xfrm>
            <a:off x="5787487" y="3309149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variables:</a:t>
            </a: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  GLOBAL_VAR: </a:t>
            </a:r>
            <a:r>
              <a:rPr lang="fr-FR" sz="1200" dirty="0">
                <a:solidFill>
                  <a:srgbClr val="DD1144"/>
                </a:solidFill>
                <a:latin typeface="GitLab Mono"/>
              </a:rPr>
              <a:t>"A global variable"</a:t>
            </a:r>
            <a:endParaRPr lang="fr-FR" sz="1200" dirty="0">
              <a:solidFill>
                <a:srgbClr val="2E2E2E"/>
              </a:solidFill>
              <a:latin typeface="GitLab Mono"/>
            </a:endParaRP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/>
            </a:r>
            <a:br>
              <a:rPr lang="fr-FR" sz="1200" dirty="0">
                <a:solidFill>
                  <a:srgbClr val="2E2E2E"/>
                </a:solidFill>
                <a:latin typeface="GitLab Mono"/>
              </a:rPr>
            </a:br>
            <a:r>
              <a:rPr lang="fr-FR" sz="1200" dirty="0">
                <a:solidFill>
                  <a:srgbClr val="2E2E2E"/>
                </a:solidFill>
                <a:latin typeface="GitLab Mono"/>
              </a:rPr>
              <a:t>job1:</a:t>
            </a: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  variables:</a:t>
            </a: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    JOB_VAR: </a:t>
            </a:r>
            <a:r>
              <a:rPr lang="fr-FR" sz="1200" dirty="0">
                <a:solidFill>
                  <a:srgbClr val="DD1144"/>
                </a:solidFill>
                <a:latin typeface="GitLab Mono"/>
              </a:rPr>
              <a:t>"A job variable"</a:t>
            </a:r>
            <a:endParaRPr lang="fr-FR" sz="1200" dirty="0">
              <a:solidFill>
                <a:srgbClr val="2E2E2E"/>
              </a:solidFill>
              <a:latin typeface="GitLab Mono"/>
            </a:endParaRP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fr-FR" sz="1200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sz="1200" dirty="0">
                <a:solidFill>
                  <a:srgbClr val="DD1144"/>
                </a:solidFill>
                <a:latin typeface="GitLab Mono"/>
              </a:rPr>
              <a:t> "Variables are '$GLOBAL_VAR' and '$JOB_VAR'"</a:t>
            </a:r>
            <a:endParaRPr lang="fr-FR" sz="1200" dirty="0">
              <a:solidFill>
                <a:srgbClr val="2E2E2E"/>
              </a:solidFill>
              <a:latin typeface="GitLab Mono"/>
            </a:endParaRP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job2:</a:t>
            </a: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fr-FR" sz="12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fr-FR" sz="1200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sz="1200" dirty="0">
                <a:solidFill>
                  <a:srgbClr val="DD1144"/>
                </a:solidFill>
                <a:latin typeface="GitLab Mono"/>
              </a:rPr>
              <a:t> "Variables are '$GLOBAL_VAR' and '$JOB_VAR'"</a:t>
            </a:r>
            <a:endParaRPr lang="fr-FR" sz="1200" b="0" dirty="0">
              <a:solidFill>
                <a:srgbClr val="2E2E2E"/>
              </a:solidFill>
              <a:effectLst/>
              <a:latin typeface="GitLab Mono"/>
            </a:endParaRPr>
          </a:p>
        </p:txBody>
      </p:sp>
      <p:cxnSp>
        <p:nvCxnSpPr>
          <p:cNvPr id="11" name="Connecteur droit avec flèche 10"/>
          <p:cNvCxnSpPr/>
          <p:nvPr/>
        </p:nvCxnSpPr>
        <p:spPr>
          <a:xfrm>
            <a:off x="2579511" y="4086578"/>
            <a:ext cx="4927600" cy="6208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4549422" y="3268133"/>
            <a:ext cx="1388534" cy="3499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8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Utilisation des variables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1714" y="938829"/>
            <a:ext cx="1091022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latin typeface="LATO"/>
              </a:rPr>
              <a:t>DIFFERENT TYPES DE VARIABLES</a:t>
            </a:r>
          </a:p>
          <a:p>
            <a:endParaRPr lang="fr-FR" b="1" dirty="0">
              <a:latin typeface="LATO"/>
            </a:endParaRP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    *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Les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variables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prédéfinies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                   https://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docs.gitlab.com/ee/ci/variables/predefined_variables.html</a:t>
            </a:r>
            <a:endParaRPr lang="fr-FR" dirty="0">
              <a:solidFill>
                <a:srgbClr val="292929"/>
              </a:solidFill>
              <a:latin typeface="LATO"/>
            </a:endParaRP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    *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Les variables du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fichier </a:t>
            </a:r>
            <a:r>
              <a:rPr lang="fr-FR" dirty="0" err="1">
                <a:solidFill>
                  <a:srgbClr val="292929"/>
                </a:solidFill>
                <a:latin typeface="LATO"/>
              </a:rPr>
              <a:t>gitlab</a:t>
            </a:r>
            <a:r>
              <a:rPr lang="fr-FR" dirty="0">
                <a:solidFill>
                  <a:srgbClr val="292929"/>
                </a:solidFill>
                <a:latin typeface="LATO"/>
              </a:rPr>
              <a:t>-ci : local vs global (job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)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	     https://docs.gitlab.com/ee/ci/variables/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    *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Les variables du projet (instance)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(settings &gt; </a:t>
            </a:r>
            <a:r>
              <a:rPr lang="fr-FR" dirty="0" err="1">
                <a:solidFill>
                  <a:srgbClr val="292929"/>
                </a:solidFill>
                <a:latin typeface="LATO"/>
              </a:rPr>
              <a:t>cicd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)</a:t>
            </a:r>
          </a:p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	     https</a:t>
            </a:r>
            <a:r>
              <a:rPr lang="fr-FR" dirty="0">
                <a:solidFill>
                  <a:srgbClr val="292929"/>
                </a:solidFill>
                <a:latin typeface="LATO"/>
              </a:rPr>
              <a:t>://docs.gitlab.com/ee/api/project_level_variables.html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    *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Les variables du groupe</a:t>
            </a:r>
          </a:p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	     https</a:t>
            </a:r>
            <a:r>
              <a:rPr lang="fr-FR" dirty="0">
                <a:solidFill>
                  <a:srgbClr val="292929"/>
                </a:solidFill>
                <a:latin typeface="LATO"/>
              </a:rPr>
              <a:t>://docs.gitlab.com/ee/api/group_level_variables.html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   </a:t>
            </a:r>
            <a:endParaRPr lang="fr-FR" b="0" dirty="0">
              <a:solidFill>
                <a:srgbClr val="292929"/>
              </a:solidFill>
              <a:effectLst/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6000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Utilisation des variables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EXEMPLE DE VARIABLE PREDEFINIE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67" y="1698844"/>
            <a:ext cx="3963914" cy="25057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383" y="1698844"/>
            <a:ext cx="5753396" cy="25020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ZoneTexte 7"/>
          <p:cNvSpPr txBox="1"/>
          <p:nvPr/>
        </p:nvSpPr>
        <p:spPr>
          <a:xfrm>
            <a:off x="1818491" y="4565945"/>
            <a:ext cx="214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Exemple de fichier CI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7098748" y="4506398"/>
            <a:ext cx="1857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Exemple de sorite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1592630" y="3578877"/>
            <a:ext cx="1677410" cy="199836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5663022" y="3711082"/>
            <a:ext cx="1677410" cy="29774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208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65" y="2747821"/>
            <a:ext cx="5858214" cy="2580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478" y="2747821"/>
            <a:ext cx="4179705" cy="2580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Utilisation des variables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EXEMPLE DE VARIABLE DEFINIE DANS LE FICHIER CI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830602" y="5577235"/>
            <a:ext cx="214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Exemple de fichier CI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7855701" y="5577235"/>
            <a:ext cx="1857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Exemple de sorite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888950" y="2968614"/>
            <a:ext cx="2962430" cy="246925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7195145" y="4890920"/>
            <a:ext cx="1677410" cy="29774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1047761" y="4791385"/>
            <a:ext cx="2199419" cy="19906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746860" y="1469521"/>
            <a:ext cx="373692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Il y a deux catégories de variables 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	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Les variables globales</a:t>
            </a:r>
          </a:p>
          <a:p>
            <a:r>
              <a:rPr lang="fr-FR" dirty="0" smtClean="0"/>
              <a:t>                  Les variables locale</a:t>
            </a:r>
            <a:endParaRPr lang="fr-FR" dirty="0"/>
          </a:p>
        </p:txBody>
      </p:sp>
      <p:cxnSp>
        <p:nvCxnSpPr>
          <p:cNvPr id="17" name="Connecteur droit avec flèche 16"/>
          <p:cNvCxnSpPr>
            <a:stCxn id="19" idx="1"/>
          </p:cNvCxnSpPr>
          <p:nvPr/>
        </p:nvCxnSpPr>
        <p:spPr>
          <a:xfrm flipH="1">
            <a:off x="2615322" y="2517245"/>
            <a:ext cx="1191221" cy="5287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806543" y="2363356"/>
            <a:ext cx="13544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V</a:t>
            </a:r>
            <a:r>
              <a:rPr lang="fr-FR" sz="1400" dirty="0" smtClean="0"/>
              <a:t>ariable globale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99960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08" y="2781613"/>
            <a:ext cx="4416320" cy="2737601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478" y="2747821"/>
            <a:ext cx="4179705" cy="2580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Utilisation des variables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EXEMPLE DE VARIABLE DEFINIE DANS LE FICHIER CI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830602" y="5577235"/>
            <a:ext cx="214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Exemple de fichier CI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7855701" y="5577235"/>
            <a:ext cx="1857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Exemple de sorite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888950" y="2968614"/>
            <a:ext cx="2962430" cy="246925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7195145" y="4890920"/>
            <a:ext cx="1677410" cy="29774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1270455" y="4328513"/>
            <a:ext cx="3471103" cy="562407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746860" y="1469521"/>
            <a:ext cx="373692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Il y a deux catégories de variables 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>	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Les variables globales</a:t>
            </a:r>
          </a:p>
          <a:p>
            <a:r>
              <a:rPr lang="fr-FR" dirty="0" smtClean="0"/>
              <a:t>                  Les variables locale</a:t>
            </a:r>
            <a:endParaRPr lang="fr-FR" dirty="0"/>
          </a:p>
        </p:txBody>
      </p:sp>
      <p:cxnSp>
        <p:nvCxnSpPr>
          <p:cNvPr id="17" name="Connecteur droit avec flèche 16"/>
          <p:cNvCxnSpPr>
            <a:stCxn id="19" idx="2"/>
          </p:cNvCxnSpPr>
          <p:nvPr/>
        </p:nvCxnSpPr>
        <p:spPr>
          <a:xfrm flipH="1">
            <a:off x="2464641" y="2623147"/>
            <a:ext cx="2329642" cy="19125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169881" y="2315370"/>
            <a:ext cx="12488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V</a:t>
            </a:r>
            <a:r>
              <a:rPr lang="fr-FR" sz="1400" dirty="0" smtClean="0"/>
              <a:t>ariable locale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23708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VARIABLES PROJET</a:t>
            </a:r>
            <a:endParaRPr lang="fr-FR" dirty="0">
              <a:solidFill>
                <a:srgbClr val="292929"/>
              </a:solidFill>
              <a:latin typeface="LATO"/>
            </a:endParaRPr>
          </a:p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Il est également possible de les créer au niveau projet d’une manière graphique: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23" y="1682308"/>
            <a:ext cx="9104501" cy="30531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847274" y="3554655"/>
            <a:ext cx="950733" cy="2543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0" y="0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Utilisation des variables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35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VARIABLES PROJET</a:t>
            </a:r>
            <a:endParaRPr lang="fr-FR" dirty="0">
              <a:solidFill>
                <a:srgbClr val="292929"/>
              </a:solidFill>
              <a:latin typeface="LATO"/>
            </a:endParaRPr>
          </a:p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Il est également possible de les créer au niveau projet d’une manière graphique: 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/>
          <a:srcRect l="1431" t="2954"/>
          <a:stretch/>
        </p:blipFill>
        <p:spPr>
          <a:xfrm>
            <a:off x="2351051" y="1897120"/>
            <a:ext cx="5813404" cy="4257368"/>
          </a:xfrm>
          <a:prstGeom prst="rect">
            <a:avLst/>
          </a:prstGeom>
        </p:spPr>
      </p:pic>
      <p:sp>
        <p:nvSpPr>
          <p:cNvPr id="8" name="Ellipse 7"/>
          <p:cNvSpPr/>
          <p:nvPr/>
        </p:nvSpPr>
        <p:spPr>
          <a:xfrm>
            <a:off x="3294262" y="2216360"/>
            <a:ext cx="302782" cy="29067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9" name="Ellipse 8"/>
          <p:cNvSpPr/>
          <p:nvPr/>
        </p:nvSpPr>
        <p:spPr>
          <a:xfrm>
            <a:off x="3445653" y="2951837"/>
            <a:ext cx="302782" cy="29067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10" name="Ellipse 9"/>
          <p:cNvSpPr/>
          <p:nvPr/>
        </p:nvSpPr>
        <p:spPr>
          <a:xfrm>
            <a:off x="3373994" y="3735134"/>
            <a:ext cx="302782" cy="29067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11" name="Ellipse 10"/>
          <p:cNvSpPr/>
          <p:nvPr/>
        </p:nvSpPr>
        <p:spPr>
          <a:xfrm>
            <a:off x="6353364" y="3735134"/>
            <a:ext cx="302782" cy="29067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4</a:t>
            </a:r>
            <a:endParaRPr lang="fr-FR" dirty="0"/>
          </a:p>
        </p:txBody>
      </p:sp>
      <p:sp>
        <p:nvSpPr>
          <p:cNvPr id="12" name="Ellipse 11"/>
          <p:cNvSpPr/>
          <p:nvPr/>
        </p:nvSpPr>
        <p:spPr>
          <a:xfrm>
            <a:off x="3525385" y="4227761"/>
            <a:ext cx="302782" cy="29067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5</a:t>
            </a:r>
            <a:endParaRPr lang="fr-FR" dirty="0"/>
          </a:p>
        </p:txBody>
      </p:sp>
      <p:sp>
        <p:nvSpPr>
          <p:cNvPr id="13" name="Ellipse 12"/>
          <p:cNvSpPr/>
          <p:nvPr/>
        </p:nvSpPr>
        <p:spPr>
          <a:xfrm>
            <a:off x="3558095" y="4607495"/>
            <a:ext cx="302782" cy="29067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6</a:t>
            </a:r>
            <a:endParaRPr lang="fr-FR" dirty="0"/>
          </a:p>
        </p:txBody>
      </p:sp>
      <p:sp>
        <p:nvSpPr>
          <p:cNvPr id="14" name="Ellipse 13"/>
          <p:cNvSpPr/>
          <p:nvPr/>
        </p:nvSpPr>
        <p:spPr>
          <a:xfrm>
            <a:off x="4130510" y="5473453"/>
            <a:ext cx="302782" cy="29067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7</a:t>
            </a:r>
            <a:endParaRPr lang="fr-FR" dirty="0"/>
          </a:p>
        </p:txBody>
      </p:sp>
      <p:sp>
        <p:nvSpPr>
          <p:cNvPr id="15" name="Rectangle 14"/>
          <p:cNvSpPr/>
          <p:nvPr/>
        </p:nvSpPr>
        <p:spPr>
          <a:xfrm>
            <a:off x="3597044" y="2131504"/>
            <a:ext cx="28623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 smtClean="0">
                <a:solidFill>
                  <a:srgbClr val="292929"/>
                </a:solidFill>
                <a:latin typeface="LATO"/>
              </a:rPr>
              <a:t>Nom de variable</a:t>
            </a:r>
            <a:endParaRPr lang="fr-FR" sz="1200" dirty="0"/>
          </a:p>
        </p:txBody>
      </p:sp>
      <p:sp>
        <p:nvSpPr>
          <p:cNvPr id="16" name="Rectangle 15"/>
          <p:cNvSpPr/>
          <p:nvPr/>
        </p:nvSpPr>
        <p:spPr>
          <a:xfrm>
            <a:off x="3746097" y="3018598"/>
            <a:ext cx="28623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 smtClean="0">
                <a:solidFill>
                  <a:srgbClr val="292929"/>
                </a:solidFill>
                <a:latin typeface="LATO"/>
              </a:rPr>
              <a:t>Valeur de variable</a:t>
            </a:r>
            <a:endParaRPr lang="fr-FR" sz="1200" dirty="0"/>
          </a:p>
        </p:txBody>
      </p:sp>
      <p:sp>
        <p:nvSpPr>
          <p:cNvPr id="17" name="Rectangle 16"/>
          <p:cNvSpPr/>
          <p:nvPr/>
        </p:nvSpPr>
        <p:spPr>
          <a:xfrm>
            <a:off x="3709486" y="3748805"/>
            <a:ext cx="28623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 smtClean="0">
                <a:solidFill>
                  <a:srgbClr val="292929"/>
                </a:solidFill>
                <a:latin typeface="LATO"/>
              </a:rPr>
              <a:t>Type de variable</a:t>
            </a:r>
          </a:p>
          <a:p>
            <a:r>
              <a:rPr lang="fr-FR" sz="1200" dirty="0">
                <a:solidFill>
                  <a:srgbClr val="292929"/>
                </a:solidFill>
                <a:latin typeface="LATO"/>
              </a:rPr>
              <a:t> </a:t>
            </a:r>
            <a:r>
              <a:rPr lang="fr-FR" sz="1200" dirty="0" smtClean="0">
                <a:solidFill>
                  <a:srgbClr val="292929"/>
                </a:solidFill>
                <a:latin typeface="LATO"/>
              </a:rPr>
              <a:t>valeur ou fichier</a:t>
            </a:r>
            <a:endParaRPr lang="fr-FR" sz="1200" dirty="0"/>
          </a:p>
        </p:txBody>
      </p:sp>
      <p:sp>
        <p:nvSpPr>
          <p:cNvPr id="18" name="Rectangle 17"/>
          <p:cNvSpPr/>
          <p:nvPr/>
        </p:nvSpPr>
        <p:spPr>
          <a:xfrm>
            <a:off x="6665962" y="3712039"/>
            <a:ext cx="28623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 smtClean="0">
                <a:solidFill>
                  <a:srgbClr val="292929"/>
                </a:solidFill>
                <a:latin typeface="LATO"/>
              </a:rPr>
              <a:t>Portée de variable</a:t>
            </a:r>
            <a:endParaRPr lang="fr-FR" sz="1200" dirty="0"/>
          </a:p>
        </p:txBody>
      </p:sp>
      <p:sp>
        <p:nvSpPr>
          <p:cNvPr id="20" name="Rectangle 19"/>
          <p:cNvSpPr/>
          <p:nvPr/>
        </p:nvSpPr>
        <p:spPr>
          <a:xfrm>
            <a:off x="3911378" y="4220311"/>
            <a:ext cx="57138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 smtClean="0">
                <a:solidFill>
                  <a:srgbClr val="292929"/>
                </a:solidFill>
                <a:latin typeface="LATO"/>
              </a:rPr>
              <a:t>Variable utilisée que avec des branches et des tag protégées</a:t>
            </a:r>
            <a:endParaRPr lang="fr-FR" sz="1200" dirty="0"/>
          </a:p>
        </p:txBody>
      </p:sp>
      <p:sp>
        <p:nvSpPr>
          <p:cNvPr id="21" name="Rectangle 20"/>
          <p:cNvSpPr/>
          <p:nvPr/>
        </p:nvSpPr>
        <p:spPr>
          <a:xfrm>
            <a:off x="3828167" y="4697293"/>
            <a:ext cx="41908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 smtClean="0">
                <a:solidFill>
                  <a:srgbClr val="292929"/>
                </a:solidFill>
                <a:latin typeface="LATO"/>
              </a:rPr>
              <a:t>Masquer cette variable des logs  </a:t>
            </a:r>
            <a:endParaRPr lang="fr-FR" sz="1200" dirty="0"/>
          </a:p>
        </p:txBody>
      </p:sp>
      <p:sp>
        <p:nvSpPr>
          <p:cNvPr id="22" name="Rectangle 21"/>
          <p:cNvSpPr/>
          <p:nvPr/>
        </p:nvSpPr>
        <p:spPr>
          <a:xfrm>
            <a:off x="4433292" y="5461115"/>
            <a:ext cx="28623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 smtClean="0">
                <a:solidFill>
                  <a:srgbClr val="292929"/>
                </a:solidFill>
                <a:latin typeface="LATO"/>
              </a:rPr>
              <a:t>Peut être assignée à une variable</a:t>
            </a:r>
            <a:endParaRPr lang="fr-FR" sz="1200" dirty="0"/>
          </a:p>
        </p:txBody>
      </p:sp>
      <p:sp>
        <p:nvSpPr>
          <p:cNvPr id="23" name="ZoneTexte 22"/>
          <p:cNvSpPr txBox="1"/>
          <p:nvPr/>
        </p:nvSpPr>
        <p:spPr>
          <a:xfrm>
            <a:off x="0" y="0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Utilisation des variables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58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VARIABLES ET ENVIRONEMENT</a:t>
            </a:r>
          </a:p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 </a:t>
            </a:r>
            <a:endParaRPr lang="fr-FR" dirty="0">
              <a:solidFill>
                <a:srgbClr val="292929"/>
              </a:solidFill>
              <a:latin typeface="LATO"/>
            </a:endParaRPr>
          </a:p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Il est possible de définir des variables dans les portées des environnements bien particuliers</a:t>
            </a:r>
          </a:p>
          <a:p>
            <a:endParaRPr lang="fr-FR" dirty="0">
              <a:solidFill>
                <a:srgbClr val="292929"/>
              </a:solidFill>
              <a:latin typeface="LATO"/>
            </a:endParaRPr>
          </a:p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Si un environnement n'est pas définit, la variable appartient à tout les environnements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0" y="0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Utilisation des variables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71" y="2456363"/>
            <a:ext cx="3151959" cy="1387503"/>
          </a:xfrm>
          <a:prstGeom prst="rect">
            <a:avLst/>
          </a:prstGeom>
        </p:spPr>
      </p:pic>
      <p:cxnSp>
        <p:nvCxnSpPr>
          <p:cNvPr id="5" name="Connecteur droit avec flèche 4"/>
          <p:cNvCxnSpPr/>
          <p:nvPr/>
        </p:nvCxnSpPr>
        <p:spPr>
          <a:xfrm flipH="1" flipV="1">
            <a:off x="1490133" y="2703689"/>
            <a:ext cx="412045" cy="3330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540000" y="2573867"/>
            <a:ext cx="1382889" cy="2596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 rotWithShape="1">
          <a:blip r:embed="rId3"/>
          <a:srcRect l="1431" t="2954"/>
          <a:stretch/>
        </p:blipFill>
        <p:spPr>
          <a:xfrm>
            <a:off x="5049096" y="2456363"/>
            <a:ext cx="5813404" cy="4257368"/>
          </a:xfrm>
          <a:prstGeom prst="rect">
            <a:avLst/>
          </a:prstGeom>
        </p:spPr>
      </p:pic>
      <p:cxnSp>
        <p:nvCxnSpPr>
          <p:cNvPr id="26" name="Connecteur droit avec flèche 25"/>
          <p:cNvCxnSpPr/>
          <p:nvPr/>
        </p:nvCxnSpPr>
        <p:spPr>
          <a:xfrm>
            <a:off x="3793067" y="2754489"/>
            <a:ext cx="4162731" cy="15635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59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042080" y="1355377"/>
            <a:ext cx="23984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Qu’est-ce que 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rules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? </a:t>
            </a:r>
            <a:endParaRPr kumimoji="0" lang="en-US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044632" y="1792972"/>
            <a:ext cx="75829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 fonctionnalité pour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déterminer si un job doit s’exécuter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 non.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Remplace ou complète les anciennes directives comme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only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et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except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 une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logique conditionnelle dynamique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basée sur 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 variables d’environnement,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 changements ou existence de fichiers,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 branches, tags, pipelines manuels,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99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91" y="1976255"/>
            <a:ext cx="7076027" cy="375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80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46860" y="1536372"/>
            <a:ext cx="666400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condition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logique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Définir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condition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booléenne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à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évaluer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$CI_COMMIT_BRANCH == "main"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cibler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branches, tags, auteurs, etc.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⭐⭐⭐⭐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Très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4190" y="344370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job_if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"Job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exécuté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 sur main"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if: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'$CI_COMMIT_BRANCH == "main"'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84708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46860" y="1430494"/>
            <a:ext cx="661270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changes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détection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fichiers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modifiés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Lancer un job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fichiers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été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modifiés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src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/**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pipelines (ne lance que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pertinent).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⭐⭐⭐⭐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Très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3440" y="332820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 err="1">
                <a:solidFill>
                  <a:srgbClr val="2E2E2E"/>
                </a:solidFill>
                <a:latin typeface="GitLab Mono"/>
              </a:rPr>
              <a:t>job_changes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echo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 "Changements détectés dans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src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/"</a:t>
            </a:r>
            <a:endParaRPr lang="fr-FR" dirty="0">
              <a:solidFill>
                <a:srgbClr val="2E2E2E"/>
              </a:solidFill>
              <a:latin typeface="GitLab Mono"/>
            </a:endParaRP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</a:t>
            </a:r>
            <a:r>
              <a:rPr lang="fr-FR" dirty="0" err="1">
                <a:solidFill>
                  <a:srgbClr val="2E2E2E"/>
                </a:solidFill>
                <a:latin typeface="GitLab Mono"/>
              </a:rPr>
              <a:t>rules</a:t>
            </a:r>
            <a:r>
              <a:rPr lang="fr-FR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- changes:</a:t>
            </a:r>
          </a:p>
          <a:p>
            <a:r>
              <a:rPr lang="fr-FR" dirty="0">
                <a:solidFill>
                  <a:srgbClr val="2E2E2E"/>
                </a:solidFill>
                <a:latin typeface="GitLab Mono"/>
              </a:rPr>
              <a:t>        - </a:t>
            </a:r>
            <a:r>
              <a:rPr lang="fr-FR" dirty="0" err="1">
                <a:solidFill>
                  <a:srgbClr val="DD1144"/>
                </a:solidFill>
                <a:latin typeface="GitLab Mono"/>
              </a:rPr>
              <a:t>src</a:t>
            </a:r>
            <a:r>
              <a:rPr lang="fr-FR" dirty="0">
                <a:solidFill>
                  <a:srgbClr val="DD1144"/>
                </a:solidFill>
                <a:latin typeface="GitLab Mono"/>
              </a:rPr>
              <a:t>/**</a:t>
            </a:r>
            <a:endParaRPr lang="fr-FR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0601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46860" y="1555622"/>
            <a:ext cx="699742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exists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présence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fichiers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requis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Vérifie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plusieurs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fichiers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existent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dépôt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Dockerfile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Contrôle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l'exécution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structure du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⭐⭐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Modéré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341223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job_exists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Dockerfile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détecté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exists: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    -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Dockerfile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165712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73768" y="1620121"/>
            <a:ext cx="683071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when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moment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ou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mode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d'exécution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du job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Valeurs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on_success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manual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always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delayed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never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Spécifie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comportement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 job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règle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s’applique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Rend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jobs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manuels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systématiques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⭐⭐⭐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337444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job_manual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Exécuté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manuellement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- when: 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manual</a:t>
            </a:r>
            <a:endParaRPr lang="en-US" dirty="0">
              <a:solidFill>
                <a:srgbClr val="2E2E2E"/>
              </a:solidFill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523343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46860" y="1482365"/>
            <a:ext cx="657423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allow_failure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ne pas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échouer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le pipeline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à un job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d’échouer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sans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bloquer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pipeline.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les tests non critiques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expérimentaux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⭐⭐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Modéré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295969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job_allow_failure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exit 1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if: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'$CI_COMMIT_BRANCH'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  </a:t>
            </a:r>
            <a:r>
              <a:rPr lang="en-US" dirty="0" err="1">
                <a:solidFill>
                  <a:srgbClr val="2E2E2E"/>
                </a:solidFill>
                <a:latin typeface="GitLab Mono"/>
              </a:rPr>
              <a:t>allow_failure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en-US" b="1" dirty="0">
                <a:solidFill>
                  <a:srgbClr val="2E2E2E"/>
                </a:solidFill>
                <a:latin typeface="GitLab Mono"/>
              </a:rPr>
              <a:t>true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335722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37398" y="1453490"/>
            <a:ext cx="776687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interruptible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annule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un job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si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un nouveau pipeline commence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Supprime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jobs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obsolètes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Gagne du temps sur les branches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développement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⭐⭐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Modéré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à rare)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7398" y="293081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job_interruptible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sleep 300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interruptible: </a:t>
            </a:r>
            <a:r>
              <a:rPr lang="en-US" b="1" dirty="0">
                <a:solidFill>
                  <a:srgbClr val="2E2E2E"/>
                </a:solidFill>
                <a:latin typeface="GitLab Mono"/>
              </a:rPr>
              <a:t>true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if: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'$CI_COMMIT_BRANCH'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440012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46860" y="1459369"/>
            <a:ext cx="715997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start_in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délai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avant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exécution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Retarde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volontairement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l’exécution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d’un job.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start_in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 5 minutes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tâches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différées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à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ordonnancement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précis.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 (Rare)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3066" y="313897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job_delayed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Démarrage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différé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if: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'$CI_PIPELINE_SOURCE == "push"'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  when: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delayed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  </a:t>
            </a:r>
            <a:r>
              <a:rPr lang="en-US" dirty="0" err="1">
                <a:solidFill>
                  <a:srgbClr val="2E2E2E"/>
                </a:solidFill>
                <a:latin typeface="GitLab Mono"/>
              </a:rPr>
              <a:t>start_in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2 minutes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182219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46860" y="1405363"/>
            <a:ext cx="70487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variables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associer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des variables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d’environnement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au job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Déclarer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variables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spécifiques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règle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s’applique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Adapter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dynamiquement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comportement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 job.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⭐⭐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Modéré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30442" y="288269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job_variables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"VAR=$MESSAGE"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if: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'$CI_COMMIT_BRANCH == "main"'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  variables: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    MESSAGE: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"Bonjour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depuis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 main"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06345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9674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RULES  LES  REGLES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2084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REGLES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46860" y="1655620"/>
            <a:ext cx="784060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!reference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hériter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d’une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règle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définie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ailleurs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Réutiliser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règles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communes entre jobs.</a:t>
            </a:r>
          </a:p>
          <a:p>
            <a:pPr marL="457200"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Utilité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Favorise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DRY (Don't Repeat Yourself)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gitlab-ci.yml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Fréquence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⭐ (Rare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complexes)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6860" y="313294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2E2E2E"/>
                </a:solidFill>
                <a:latin typeface="GitLab Mono"/>
              </a:rPr>
              <a:t>.</a:t>
            </a:r>
            <a:r>
              <a:rPr lang="en-US" dirty="0" err="1">
                <a:solidFill>
                  <a:srgbClr val="2E2E2E"/>
                </a:solidFill>
                <a:latin typeface="GitLab Mono"/>
              </a:rPr>
              <a:t>default_rule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if: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'$CI_COMMIT_BRANCH == "main"'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err="1">
                <a:solidFill>
                  <a:srgbClr val="2E2E2E"/>
                </a:solidFill>
                <a:latin typeface="GitLab Mono"/>
              </a:rPr>
              <a:t>job_reference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Hérité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d’une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règle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rules: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000080"/>
                </a:solidFill>
                <a:latin typeface="GitLab Mono"/>
              </a:rPr>
              <a:t>!reference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 [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.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default_rule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,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rules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]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18086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PIPELINES BASIQUES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287114"/>
            <a:ext cx="3658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Voici un exemple de Pipeline basique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814237" y="1656446"/>
            <a:ext cx="347863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E2E2E"/>
                </a:solidFill>
                <a:latin typeface="GitLab Mono"/>
              </a:rPr>
              <a:t>stages: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stage1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stage2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job1: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stage1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"stage1 job1"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>
                <a:solidFill>
                  <a:srgbClr val="2E2E2E"/>
                </a:solidFill>
                <a:latin typeface="GitLab Mono"/>
              </a:rPr>
              <a:t>job2: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stage2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"stage2 job2"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smtClean="0">
                <a:solidFill>
                  <a:srgbClr val="2E2E2E"/>
                </a:solidFill>
                <a:latin typeface="GitLab Mono"/>
              </a:rPr>
              <a:t>job3:</a:t>
            </a:r>
          </a:p>
          <a:p>
            <a:r>
              <a:rPr lang="en-US" dirty="0" smtClean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stage1</a:t>
            </a:r>
            <a:endParaRPr lang="en-US" dirty="0" smtClean="0">
              <a:solidFill>
                <a:srgbClr val="2E2E2E"/>
              </a:solidFill>
              <a:latin typeface="GitLab Mono"/>
            </a:endParaRPr>
          </a:p>
          <a:p>
            <a:r>
              <a:rPr lang="en-US" dirty="0" smtClean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echo "stage1 job3"</a:t>
            </a:r>
            <a:endParaRPr lang="en-US" dirty="0" smtClean="0">
              <a:solidFill>
                <a:srgbClr val="2E2E2E"/>
              </a:solidFill>
              <a:latin typeface="GitLab Mono"/>
            </a:endParaRPr>
          </a:p>
          <a:p>
            <a:r>
              <a:rPr lang="en-US" dirty="0" smtClean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 smtClean="0">
                <a:solidFill>
                  <a:srgbClr val="2E2E2E"/>
                </a:solidFill>
                <a:latin typeface="GitLab Mono"/>
              </a:rPr>
            </a:br>
            <a:r>
              <a:rPr lang="en-US" dirty="0" smtClean="0">
                <a:solidFill>
                  <a:srgbClr val="2E2E2E"/>
                </a:solidFill>
                <a:latin typeface="GitLab Mono"/>
              </a:rPr>
              <a:t>job4:</a:t>
            </a:r>
          </a:p>
          <a:p>
            <a:r>
              <a:rPr lang="en-US" dirty="0" smtClean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stage2</a:t>
            </a:r>
            <a:endParaRPr lang="en-US" dirty="0" smtClean="0">
              <a:solidFill>
                <a:srgbClr val="2E2E2E"/>
              </a:solidFill>
              <a:latin typeface="GitLab Mono"/>
            </a:endParaRPr>
          </a:p>
          <a:p>
            <a:r>
              <a:rPr lang="en-US" dirty="0" smtClean="0">
                <a:solidFill>
                  <a:srgbClr val="2E2E2E"/>
                </a:solidFill>
                <a:latin typeface="GitLab Mono"/>
              </a:rPr>
              <a:t>  script: 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echo "stage2 job4"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66239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PIPELINES DAG Graphique Acrylique Dirigé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3393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Voici un exemple de Pipeline DAG 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664030" y="1930804"/>
            <a:ext cx="227511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E2E2E"/>
                </a:solidFill>
                <a:latin typeface="GitLab Mono"/>
              </a:rPr>
              <a:t>stages: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build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deploy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err="1">
                <a:solidFill>
                  <a:srgbClr val="2E2E2E"/>
                </a:solidFill>
                <a:latin typeface="GitLab Mono"/>
              </a:rPr>
              <a:t>build_a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build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"build a"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err="1">
                <a:solidFill>
                  <a:srgbClr val="2E2E2E"/>
                </a:solidFill>
                <a:latin typeface="GitLab Mono"/>
              </a:rPr>
              <a:t>build_b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build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"build b"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95057" y="1930804"/>
            <a:ext cx="278674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build_c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build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"build c"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err="1">
                <a:solidFill>
                  <a:srgbClr val="2E2E2E"/>
                </a:solidFill>
                <a:latin typeface="GitLab Mono"/>
              </a:rPr>
              <a:t>test_a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needs: [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build_a</a:t>
            </a:r>
            <a:r>
              <a:rPr lang="en-US" dirty="0" err="1">
                <a:solidFill>
                  <a:srgbClr val="2E2E2E"/>
                </a:solidFill>
                <a:latin typeface="GitLab Mono"/>
              </a:rPr>
              <a:t>,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build_b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]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"stage a"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err="1">
                <a:solidFill>
                  <a:srgbClr val="2E2E2E"/>
                </a:solidFill>
                <a:latin typeface="GitLab Mono"/>
              </a:rPr>
              <a:t>test_b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"stage b</a:t>
            </a:r>
            <a:r>
              <a:rPr lang="en-US" dirty="0" smtClean="0">
                <a:solidFill>
                  <a:srgbClr val="DD1144"/>
                </a:solidFill>
                <a:latin typeface="GitLab Mono"/>
              </a:rPr>
              <a:t>"</a:t>
            </a:r>
            <a:endParaRPr lang="en-US" dirty="0">
              <a:solidFill>
                <a:srgbClr val="2E2E2E"/>
              </a:solidFill>
              <a:latin typeface="GitLab Mon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837714" y="1930804"/>
            <a:ext cx="291737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deploy_a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needs: [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test_a</a:t>
            </a:r>
            <a:r>
              <a:rPr lang="en-US" dirty="0" err="1">
                <a:solidFill>
                  <a:srgbClr val="2E2E2E"/>
                </a:solidFill>
                <a:latin typeface="GitLab Mono"/>
              </a:rPr>
              <a:t>,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test_b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]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"deploy a"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err="1">
                <a:solidFill>
                  <a:srgbClr val="2E2E2E"/>
                </a:solidFill>
                <a:latin typeface="GitLab Mono"/>
              </a:rPr>
              <a:t>deploy_b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stage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"deploy b"</a:t>
            </a:r>
            <a:endParaRPr lang="en-US" dirty="0">
              <a:solidFill>
                <a:srgbClr val="2E2E2E"/>
              </a:solidFill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74346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2170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pipeline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LES PIPELINES DAG Graphique </a:t>
            </a:r>
            <a:r>
              <a:rPr lang="fr-FR" b="1" smtClean="0">
                <a:solidFill>
                  <a:srgbClr val="292929"/>
                </a:solidFill>
                <a:latin typeface="LATO"/>
              </a:rPr>
              <a:t>Acyclique Dirigée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424293"/>
            <a:ext cx="3393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Voici un exemple de Pipeline DAG 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60" y="2388208"/>
            <a:ext cx="1755709" cy="3353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935" y="1993151"/>
            <a:ext cx="5892923" cy="385547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811253" y="2478505"/>
            <a:ext cx="1816768" cy="385011"/>
          </a:xfrm>
          <a:prstGeom prst="rect">
            <a:avLst/>
          </a:prstGeom>
          <a:solidFill>
            <a:srgbClr val="FF0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271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16927</TotalTime>
  <Words>1117</Words>
  <Application>Microsoft Office PowerPoint</Application>
  <PresentationFormat>Widescreen</PresentationFormat>
  <Paragraphs>568</Paragraphs>
  <Slides>31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Arial Unicode MS</vt:lpstr>
      <vt:lpstr>Calibri</vt:lpstr>
      <vt:lpstr>Calibri Light</vt:lpstr>
      <vt:lpstr>Comic Sans MS</vt:lpstr>
      <vt:lpstr>Consolas</vt:lpstr>
      <vt:lpstr>GitLab Mono</vt:lpstr>
      <vt:lpstr>LATO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Alphorm</dc:creator>
  <cp:lastModifiedBy>DELL</cp:lastModifiedBy>
  <cp:revision>303</cp:revision>
  <dcterms:created xsi:type="dcterms:W3CDTF">2017-02-10T20:50:27Z</dcterms:created>
  <dcterms:modified xsi:type="dcterms:W3CDTF">2026-03-08T07:16:46Z</dcterms:modified>
</cp:coreProperties>
</file>