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3" r:id="rId3"/>
    <p:sldId id="262" r:id="rId4"/>
    <p:sldId id="264" r:id="rId5"/>
    <p:sldId id="265" r:id="rId6"/>
    <p:sldId id="266" r:id="rId7"/>
    <p:sldId id="267" r:id="rId8"/>
    <p:sldId id="269" r:id="rId9"/>
    <p:sldId id="268" r:id="rId10"/>
    <p:sldId id="271" r:id="rId11"/>
    <p:sldId id="270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1563" autoAdjust="0"/>
  </p:normalViewPr>
  <p:slideViewPr>
    <p:cSldViewPr snapToGrid="0">
      <p:cViewPr varScale="1">
        <p:scale>
          <a:sx n="59" d="100"/>
          <a:sy n="59" d="100"/>
        </p:scale>
        <p:origin x="8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92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8CC95-123F-4C93-9671-DB4382E81061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EDCAF-A2AE-4DD1-8317-9A1F0DBEA8D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614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9686D-C191-4786-9794-C7C6B779A858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1B5F8-6F57-4D93-B25D-B7F2C8AC7C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603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D60FDB-9ED3-4635-8771-6CAAA365A35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2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399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99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30824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3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fr-FR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	Installation docker</a:t>
            </a: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update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&amp;&amp; 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upgrade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–y</a:t>
            </a: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install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-y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ca-certificates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curl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gnupg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lsb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-reléase</a:t>
            </a: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install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-m 0755 -d 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etc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keyringscurl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-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fsSL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https://download.docker.com/linux/ubuntu/gpg | \sudo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gpg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--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dearmor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-o 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etc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keyrings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docker.gpgsudo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chmod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a+r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etc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keyrings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docker.gpg</a:t>
            </a: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echo \  "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deb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[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arch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=$(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dpkg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--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print-architecture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) \ 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signed-by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=/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etc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keyrings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docker.gpg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] \  https://download.docker.com/linux/ubuntu \  $(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lsb_release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-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cs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)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stable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" | \  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tee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etc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sources.list.d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docker.list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&gt; 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dev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/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null</a:t>
            </a: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update</a:t>
            </a: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apt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install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-y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-ce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-ce-cli containerd.io \ 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docker-buildx-plugin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docker-compose-plugin</a:t>
            </a: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baseline="0" dirty="0" smtClean="0">
                <a:latin typeface="Arial" panose="020B0604020202020204" pitchFamily="34" charset="0"/>
                <a:ea typeface="DejaVu Sans"/>
                <a:cs typeface="DejaVu Sans"/>
              </a:rPr>
              <a:t> --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version</a:t>
            </a: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sudo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run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hello-world</a:t>
            </a: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de-DE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sudo usermod -aG docker $USER</a:t>
            </a: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de-DE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newgrp</a:t>
            </a:r>
            <a:r>
              <a:rPr lang="es-ES" altLang="en-US" sz="2000" dirty="0" smtClean="0">
                <a:latin typeface="Arial" panose="020B0604020202020204" pitchFamily="34" charset="0"/>
                <a:ea typeface="DejaVu Sans"/>
                <a:cs typeface="DejaVu Sans"/>
              </a:rPr>
              <a:t> </a:t>
            </a:r>
            <a:r>
              <a:rPr lang="es-ES" altLang="en-US" sz="2000" dirty="0" err="1" smtClean="0">
                <a:latin typeface="Arial" panose="020B0604020202020204" pitchFamily="34" charset="0"/>
                <a:ea typeface="DejaVu Sans"/>
                <a:cs typeface="DejaVu Sans"/>
              </a:rPr>
              <a:t>docker</a:t>
            </a: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s-ES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3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12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4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4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976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D60FDB-9ED3-4635-8771-6CAAA365A35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5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399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99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28351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6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6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2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7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7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642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D60FDB-9ED3-4635-8771-6CAAA365A35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8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399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99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37973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9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9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297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D60FDB-9ED3-4635-8771-6CAAA365A35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10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399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99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66419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11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11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883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12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12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292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13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13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531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14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14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26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74B510-9BC0-4AB4-AE7A-D4EB3DC965CB}" type="slidenum">
              <a:rPr lang="en-US" altLang="en-US" sz="1400" smtClean="0">
                <a:ea typeface="DejaVu Sans"/>
                <a:cs typeface="DejaVu Sans"/>
              </a:rPr>
              <a:pPr>
                <a:spcBef>
                  <a:spcPct val="0"/>
                </a:spcBef>
              </a:pPr>
              <a:t>15</a:t>
            </a:fld>
            <a:endParaRPr lang="en-US" altLang="en-US" sz="1400" smtClean="0">
              <a:ea typeface="DejaVu Sans"/>
              <a:cs typeface="DejaVu Sans"/>
            </a:endParaRPr>
          </a:p>
        </p:txBody>
      </p:sp>
      <p:sp>
        <p:nvSpPr>
          <p:cNvPr id="3420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202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215900" indent="-214313" eaLnBrk="1"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fr-FR" altLang="en-US" sz="2000" dirty="0" smtClean="0"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009BD0FD-2531-44DC-B665-EB824C938A42}" type="slidenum">
              <a:rPr lang="fr-FR" altLang="en-US" sz="1200" smtClean="0">
                <a:latin typeface="+mn-lt" charset="0"/>
                <a:ea typeface="+mn-ea"/>
                <a:cs typeface="+mn-ea" charset="0"/>
              </a:rPr>
              <a:pPr algn="r"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  <a:defRPr/>
              </a:pPr>
              <a:t>15</a:t>
            </a:fld>
            <a:endParaRPr lang="fr-FR" altLang="en-US" sz="1200" smtClean="0">
              <a:latin typeface="+mn-lt" charset="0"/>
              <a:ea typeface="+mn-ea"/>
              <a:cs typeface="+mn-e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129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409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0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684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36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07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096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21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68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9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705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93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3D1D7-325F-46D8-B3AF-5D2A9231722A}" type="datetimeFigureOut">
              <a:rPr lang="fr-FR" smtClean="0"/>
              <a:t>30/05/2025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70D75-9D67-407C-AE47-84BA33C97B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9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../labs/securit&#233;%20reseau/vlan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22589" y="2543234"/>
            <a:ext cx="3264035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Jenkins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Sonar </a:t>
            </a:r>
            <a:r>
              <a:rPr lang="fr-FR" sz="2800" dirty="0" err="1" smtClean="0">
                <a:solidFill>
                  <a:srgbClr val="1C3158"/>
                </a:solidFill>
                <a:latin typeface="Comic Sans MS" pitchFamily="66" charset="0"/>
              </a:rPr>
              <a:t>Qube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6" name="Picture 2" descr="Jenkins Workflo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1" y="226498"/>
            <a:ext cx="3522523" cy="486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22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20035" y="2480983"/>
            <a:ext cx="6077113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fr-FR" altLang="en-US" sz="3600" dirty="0" smtClean="0">
                <a:solidFill>
                  <a:srgbClr val="A5300F"/>
                </a:solidFill>
                <a:latin typeface="Times New Roman" panose="02020603050405020304" pitchFamily="18" charset="0"/>
              </a:rPr>
              <a:t>Etape 1: Configuration du serveur </a:t>
            </a:r>
            <a:r>
              <a:rPr lang="fr-FR" altLang="en-US" sz="3600" dirty="0" err="1" smtClean="0">
                <a:solidFill>
                  <a:srgbClr val="A5300F"/>
                </a:solidFill>
                <a:latin typeface="Times New Roman" panose="02020603050405020304" pitchFamily="18" charset="0"/>
              </a:rPr>
              <a:t>SonarQube</a:t>
            </a:r>
            <a:r>
              <a:rPr lang="fr-FR" altLang="en-US" sz="3600" dirty="0" smtClean="0">
                <a:solidFill>
                  <a:srgbClr val="A5300F"/>
                </a:solidFill>
                <a:latin typeface="Times New Roman" panose="02020603050405020304" pitchFamily="18" charset="0"/>
              </a:rPr>
              <a:t> avec Docker</a:t>
            </a:r>
          </a:p>
        </p:txBody>
      </p:sp>
    </p:spTree>
    <p:extLst>
      <p:ext uri="{BB962C8B-B14F-4D97-AF65-F5344CB8AC3E}">
        <p14:creationId xmlns:p14="http://schemas.microsoft.com/office/powerpoint/2010/main" val="31194984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Installation sous Docker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3086" y="880692"/>
            <a:ext cx="113049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0D0D0D"/>
                </a:solidFill>
                <a:latin typeface="ui-sans-serif"/>
              </a:rPr>
              <a:t>Installer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Docker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: Si ce n'est pas déjà fait, installez Docker sur votre machine en suivant les instructions sur le site officiel de Docker</a:t>
            </a:r>
            <a:r>
              <a:rPr lang="fr-FR" dirty="0" smtClean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endParaRPr lang="fr-FR" dirty="0">
              <a:solidFill>
                <a:srgbClr val="0D0D0D"/>
              </a:solidFill>
              <a:latin typeface="ui-sans-serif"/>
            </a:endParaRPr>
          </a:p>
          <a:p>
            <a:r>
              <a:rPr lang="fr-FR" b="1" dirty="0">
                <a:solidFill>
                  <a:srgbClr val="0D0D0D"/>
                </a:solidFill>
                <a:latin typeface="ui-sans-serif"/>
              </a:rPr>
              <a:t>Télécharger l'image Docker de </a:t>
            </a:r>
            <a:r>
              <a:rPr lang="fr-FR" b="1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: Ouvrez votre terminal et exécutez la commande suivante pour télécharger l'image Docker de </a:t>
            </a:r>
            <a:r>
              <a:rPr lang="fr-FR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:</a:t>
            </a:r>
            <a:endParaRPr lang="fr-FR" b="0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0292" y="2432408"/>
            <a:ext cx="2505238" cy="40011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docker pull </a:t>
            </a:r>
            <a:r>
              <a:rPr lang="fr-FR" sz="2000" dirty="0" err="1">
                <a:solidFill>
                  <a:schemeClr val="bg1"/>
                </a:solidFill>
              </a:rPr>
              <a:t>sonarqube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085" y="2906906"/>
            <a:ext cx="113995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D0D0D"/>
                </a:solidFill>
                <a:latin typeface="ui-sans-serif"/>
              </a:rPr>
              <a:t>Lancer le conteneur </a:t>
            </a:r>
            <a:r>
              <a:rPr lang="fr-FR" b="1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: Exécutez la commande suivante pour lancer le conteneur </a:t>
            </a:r>
            <a:r>
              <a:rPr lang="fr-FR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:</a:t>
            </a:r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443536" y="3381404"/>
            <a:ext cx="7407691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docker </a:t>
            </a:r>
            <a:r>
              <a:rPr lang="fr-FR" dirty="0" err="1">
                <a:solidFill>
                  <a:schemeClr val="bg1"/>
                </a:solidFill>
              </a:rPr>
              <a:t>run</a:t>
            </a:r>
            <a:r>
              <a:rPr lang="fr-FR" dirty="0">
                <a:solidFill>
                  <a:schemeClr val="bg1"/>
                </a:solidFill>
              </a:rPr>
              <a:t> -d --</a:t>
            </a:r>
            <a:r>
              <a:rPr lang="fr-FR" dirty="0" err="1">
                <a:solidFill>
                  <a:schemeClr val="bg1"/>
                </a:solidFill>
              </a:rPr>
              <a:t>name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sonarqube</a:t>
            </a:r>
            <a:r>
              <a:rPr lang="fr-FR" dirty="0">
                <a:solidFill>
                  <a:schemeClr val="bg1"/>
                </a:solidFill>
              </a:rPr>
              <a:t> \</a:t>
            </a:r>
          </a:p>
          <a:p>
            <a:r>
              <a:rPr lang="fr-FR" dirty="0">
                <a:solidFill>
                  <a:schemeClr val="bg1"/>
                </a:solidFill>
              </a:rPr>
              <a:t>  -p 9000:9000 \</a:t>
            </a:r>
          </a:p>
          <a:p>
            <a:r>
              <a:rPr lang="fr-FR" dirty="0">
                <a:solidFill>
                  <a:schemeClr val="bg1"/>
                </a:solidFill>
              </a:rPr>
              <a:t>  -e SONAR_ES_BOOTSTRAP_CHECKS_DISABLE=</a:t>
            </a:r>
            <a:r>
              <a:rPr lang="fr-FR" dirty="0" err="1">
                <a:solidFill>
                  <a:schemeClr val="bg1"/>
                </a:solidFill>
              </a:rPr>
              <a:t>true</a:t>
            </a:r>
            <a:r>
              <a:rPr lang="fr-FR" dirty="0">
                <a:solidFill>
                  <a:schemeClr val="bg1"/>
                </a:solidFill>
              </a:rPr>
              <a:t> \</a:t>
            </a:r>
          </a:p>
          <a:p>
            <a:r>
              <a:rPr lang="fr-FR" dirty="0">
                <a:solidFill>
                  <a:schemeClr val="bg1"/>
                </a:solidFill>
              </a:rPr>
              <a:t>  -e JAVA_OPTS="-Xmx512m -Xms512m" \</a:t>
            </a:r>
          </a:p>
          <a:p>
            <a:r>
              <a:rPr lang="fr-FR" dirty="0">
                <a:solidFill>
                  <a:schemeClr val="bg1"/>
                </a:solidFill>
              </a:rPr>
              <a:t>  --memory="2g" \</a:t>
            </a:r>
          </a:p>
          <a:p>
            <a:r>
              <a:rPr lang="fr-FR" dirty="0">
                <a:solidFill>
                  <a:schemeClr val="bg1"/>
                </a:solidFill>
              </a:rPr>
              <a:t>  </a:t>
            </a:r>
            <a:r>
              <a:rPr lang="fr-FR" dirty="0" err="1">
                <a:solidFill>
                  <a:schemeClr val="bg1"/>
                </a:solidFill>
              </a:rPr>
              <a:t>sonarqube:lts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3536" y="5393122"/>
            <a:ext cx="10485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D0D0D"/>
                </a:solidFill>
                <a:latin typeface="ui-sans-serif"/>
              </a:rPr>
              <a:t>Cette commande démarre un conteneur Docker nommé "</a:t>
            </a:r>
            <a:r>
              <a:rPr lang="fr-FR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" et expose le port 9000 pour accéder à l'interface web de </a:t>
            </a:r>
            <a:r>
              <a:rPr lang="fr-FR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44227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Installation sous Docker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323718" y="760163"/>
            <a:ext cx="115697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Accéder au tableau de bord de </a:t>
            </a:r>
            <a:r>
              <a:rPr lang="fr-FR" dirty="0" err="1"/>
              <a:t>SonarQube</a:t>
            </a:r>
            <a:r>
              <a:rPr lang="fr-FR" dirty="0"/>
              <a:t> : Ouvrez votre navigateur web et accédez à </a:t>
            </a:r>
            <a:r>
              <a:rPr lang="fr-FR" b="1" dirty="0"/>
              <a:t>http://localhost:9000 </a:t>
            </a:r>
            <a:r>
              <a:rPr lang="fr-FR" dirty="0"/>
              <a:t>pour accéder au tableau de bord de </a:t>
            </a:r>
            <a:r>
              <a:rPr lang="fr-FR" dirty="0" err="1"/>
              <a:t>SonarQube</a:t>
            </a:r>
            <a:r>
              <a:rPr lang="fr-FR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718" y="146308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D0D0D"/>
                </a:solidFill>
                <a:latin typeface="ui-sans-serif"/>
              </a:rPr>
              <a:t>Identifiants par défaut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D0D0D"/>
                </a:solidFill>
                <a:latin typeface="ui-sans-serif"/>
              </a:rPr>
              <a:t>Nom d'utilisateur : admin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D0D0D"/>
                </a:solidFill>
                <a:latin typeface="ui-sans-serif"/>
              </a:rPr>
              <a:t>Mot de passe : admin</a:t>
            </a:r>
            <a:endParaRPr lang="fr-FR" b="0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42785910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20035" y="2480983"/>
            <a:ext cx="6077113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fr-FR" altLang="en-US" sz="3600" dirty="0" smtClean="0">
                <a:solidFill>
                  <a:srgbClr val="A5300F"/>
                </a:solidFill>
                <a:latin typeface="Times New Roman" panose="02020603050405020304" pitchFamily="18" charset="0"/>
              </a:rPr>
              <a:t>Etape 1: Configuration du serveur </a:t>
            </a:r>
            <a:r>
              <a:rPr lang="fr-FR" altLang="en-US" sz="3600" dirty="0" err="1" smtClean="0">
                <a:solidFill>
                  <a:srgbClr val="A5300F"/>
                </a:solidFill>
                <a:latin typeface="Times New Roman" panose="02020603050405020304" pitchFamily="18" charset="0"/>
              </a:rPr>
              <a:t>SonarQube</a:t>
            </a:r>
            <a:r>
              <a:rPr lang="fr-FR" altLang="en-US" sz="3600" dirty="0" smtClean="0">
                <a:solidFill>
                  <a:srgbClr val="A5300F"/>
                </a:solidFill>
                <a:latin typeface="Times New Roman" panose="02020603050405020304" pitchFamily="18" charset="0"/>
              </a:rPr>
              <a:t> avec Docker</a:t>
            </a:r>
          </a:p>
        </p:txBody>
      </p:sp>
    </p:spTree>
    <p:extLst>
      <p:ext uri="{BB962C8B-B14F-4D97-AF65-F5344CB8AC3E}">
        <p14:creationId xmlns:p14="http://schemas.microsoft.com/office/powerpoint/2010/main" val="41318214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Configuration du Scanner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30924" y="856179"/>
            <a:ext cx="104157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D0D0D"/>
                </a:solidFill>
                <a:latin typeface="ui-sans-serif"/>
              </a:rPr>
              <a:t>Installer le plugin </a:t>
            </a:r>
            <a:r>
              <a:rPr lang="fr-FR" b="1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 Scanner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: Dans Jenkins, accédez à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"Gérer Jenkins" 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-&gt;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"Gérer les plugins"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-&gt; onglet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"Disponible"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, recherchez le plugin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</a:t>
            </a:r>
            <a:r>
              <a:rPr lang="fr-FR" b="1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 Scanner",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et installez-le</a:t>
            </a:r>
            <a:r>
              <a:rPr lang="fr-FR" dirty="0" smtClean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pPr>
              <a:buFont typeface="+mj-lt"/>
              <a:buAutoNum type="arabicPeriod"/>
            </a:pPr>
            <a:endParaRPr lang="fr-FR" dirty="0">
              <a:solidFill>
                <a:srgbClr val="0D0D0D"/>
              </a:solidFill>
              <a:latin typeface="ui-sans-serif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32" y="1713548"/>
            <a:ext cx="9422746" cy="204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9191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Configuration du serveur </a:t>
            </a:r>
            <a:r>
              <a:rPr lang="fr-FR" altLang="en-US" b="1" dirty="0" err="1" smtClean="0"/>
              <a:t>SonarQube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5248" y="792168"/>
            <a:ext cx="106806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D0D0D"/>
                </a:solidFill>
                <a:latin typeface="ui-sans-serif"/>
              </a:rPr>
              <a:t>Configurer le serveur </a:t>
            </a:r>
            <a:r>
              <a:rPr lang="fr-FR" b="1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 dans Jenkins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: Accédez à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"Gérer Jenkins"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 -&gt;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"Configurer le système"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, faites défiler jusqu'à la section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"Serveurs </a:t>
            </a:r>
            <a:r>
              <a:rPr lang="fr-FR" b="1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, cliquez sur 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"Ajouter </a:t>
            </a:r>
            <a:r>
              <a:rPr lang="fr-FR" b="1" dirty="0" err="1">
                <a:solidFill>
                  <a:srgbClr val="0D0D0D"/>
                </a:solidFill>
                <a:latin typeface="ui-sans-serif"/>
              </a:rPr>
              <a:t>SonarQube</a:t>
            </a:r>
            <a:r>
              <a:rPr lang="fr-FR" b="1" dirty="0">
                <a:solidFill>
                  <a:srgbClr val="0D0D0D"/>
                </a:solidFill>
                <a:latin typeface="ui-sans-serif"/>
              </a:rPr>
              <a:t>"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, et fournissez les détails suivants :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536" y="1860392"/>
            <a:ext cx="6318820" cy="342776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6"/>
          <a:srcRect t="20591"/>
          <a:stretch/>
        </p:blipFill>
        <p:spPr>
          <a:xfrm>
            <a:off x="4802578" y="2783730"/>
            <a:ext cx="4480159" cy="11261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Ellipse 2"/>
          <p:cNvSpPr/>
          <p:nvPr/>
        </p:nvSpPr>
        <p:spPr>
          <a:xfrm>
            <a:off x="3487332" y="3726969"/>
            <a:ext cx="397291" cy="397291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1</a:t>
            </a:r>
            <a:endParaRPr lang="fr-FR" b="1" dirty="0"/>
          </a:p>
        </p:txBody>
      </p:sp>
      <p:sp>
        <p:nvSpPr>
          <p:cNvPr id="10" name="Ellipse 9"/>
          <p:cNvSpPr/>
          <p:nvPr/>
        </p:nvSpPr>
        <p:spPr>
          <a:xfrm>
            <a:off x="3487332" y="4781156"/>
            <a:ext cx="397291" cy="397291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2</a:t>
            </a:r>
            <a:endParaRPr lang="fr-FR" b="1" dirty="0"/>
          </a:p>
        </p:txBody>
      </p:sp>
      <p:sp>
        <p:nvSpPr>
          <p:cNvPr id="9" name="Rectangle 8"/>
          <p:cNvSpPr/>
          <p:nvPr/>
        </p:nvSpPr>
        <p:spPr>
          <a:xfrm>
            <a:off x="510475" y="5520828"/>
            <a:ext cx="5139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  <a:latin typeface="ui-sans-serif"/>
              </a:rPr>
              <a:t>Note: </a:t>
            </a:r>
            <a:r>
              <a:rPr lang="fr-FR" dirty="0" smtClean="0">
                <a:solidFill>
                  <a:srgbClr val="0D0D0D"/>
                </a:solidFill>
                <a:latin typeface="ui-sans-serif"/>
              </a:rPr>
              <a:t>N'oubliez pas le http/https au début du lien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71634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20035" y="2480983"/>
            <a:ext cx="6077113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fr-FR" altLang="en-US" sz="3600" dirty="0" smtClean="0">
                <a:solidFill>
                  <a:srgbClr val="A5300F"/>
                </a:solidFill>
                <a:latin typeface="Times New Roman" panose="02020603050405020304" pitchFamily="18" charset="0"/>
              </a:rPr>
              <a:t>Etape 3: Préparation de l'application Java</a:t>
            </a:r>
          </a:p>
        </p:txBody>
      </p:sp>
    </p:spTree>
    <p:extLst>
      <p:ext uri="{BB962C8B-B14F-4D97-AF65-F5344CB8AC3E}">
        <p14:creationId xmlns:p14="http://schemas.microsoft.com/office/powerpoint/2010/main" val="2456722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Configuration du serveur </a:t>
            </a:r>
            <a:r>
              <a:rPr lang="fr-FR" altLang="en-US" b="1" dirty="0" err="1" smtClean="0"/>
              <a:t>SonarQube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8760" y="760163"/>
            <a:ext cx="111283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D0D0D"/>
                </a:solidFill>
                <a:latin typeface="ui-sans-serif"/>
              </a:rPr>
              <a:t>Créez ou utilisez une application Java existante. À des fins de démonstration, créons une simple application "</a:t>
            </a:r>
            <a:r>
              <a:rPr lang="fr-FR" dirty="0" err="1">
                <a:solidFill>
                  <a:srgbClr val="0D0D0D"/>
                </a:solidFill>
                <a:latin typeface="ui-sans-serif"/>
              </a:rPr>
              <a:t>HelloWorld</a:t>
            </a:r>
            <a:r>
              <a:rPr lang="fr-FR" dirty="0">
                <a:solidFill>
                  <a:srgbClr val="0D0D0D"/>
                </a:solidFill>
                <a:latin typeface="ui-sans-serif"/>
              </a:rPr>
              <a:t>" en </a:t>
            </a:r>
            <a:r>
              <a:rPr lang="fr-FR" dirty="0" smtClean="0">
                <a:solidFill>
                  <a:srgbClr val="0D0D0D"/>
                </a:solidFill>
                <a:latin typeface="ui-sans-serif"/>
              </a:rPr>
              <a:t>Java et publiez la dans une plateforme comme </a:t>
            </a:r>
            <a:r>
              <a:rPr lang="fr-FR" dirty="0" err="1" smtClean="0">
                <a:solidFill>
                  <a:srgbClr val="0D0D0D"/>
                </a:solidFill>
                <a:latin typeface="ui-sans-serif"/>
              </a:rPr>
              <a:t>Github</a:t>
            </a:r>
            <a:r>
              <a:rPr lang="fr-FR" dirty="0" smtClean="0">
                <a:solidFill>
                  <a:srgbClr val="0D0D0D"/>
                </a:solidFill>
                <a:latin typeface="ui-sans-serif"/>
              </a:rPr>
              <a:t> ou Gitlab … 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16239" y="1560408"/>
            <a:ext cx="4206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https://gitlab.com/me780411/exercises.git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557" y="2052963"/>
            <a:ext cx="8706123" cy="427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582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420035" y="2480983"/>
            <a:ext cx="6077113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1" hangingPunct="1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fr-FR" altLang="en-US" sz="3600" dirty="0" smtClean="0">
                <a:solidFill>
                  <a:srgbClr val="A5300F"/>
                </a:solidFill>
                <a:latin typeface="Times New Roman" panose="02020603050405020304" pitchFamily="18" charset="0"/>
              </a:rPr>
              <a:t>Etape 4: Génération du Token </a:t>
            </a:r>
            <a:r>
              <a:rPr lang="fr-FR" altLang="en-US" sz="3600" dirty="0" err="1" smtClean="0">
                <a:solidFill>
                  <a:srgbClr val="A5300F"/>
                </a:solidFill>
                <a:latin typeface="Times New Roman" panose="02020603050405020304" pitchFamily="18" charset="0"/>
              </a:rPr>
              <a:t>SonarQube</a:t>
            </a:r>
            <a:endParaRPr lang="fr-FR" altLang="en-US" sz="3600" dirty="0" smtClean="0">
              <a:solidFill>
                <a:srgbClr val="A5300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01173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Configuration du serveur </a:t>
            </a:r>
            <a:r>
              <a:rPr lang="fr-FR" altLang="en-US" b="1" dirty="0" err="1" smtClean="0"/>
              <a:t>SonarQube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8760" y="760163"/>
            <a:ext cx="11128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0D0D0D"/>
                </a:solidFill>
                <a:latin typeface="ui-sans-serif"/>
              </a:rPr>
              <a:t>Générez le Token sur </a:t>
            </a:r>
            <a:r>
              <a:rPr lang="fr-FR" dirty="0" err="1" smtClean="0">
                <a:solidFill>
                  <a:srgbClr val="0D0D0D"/>
                </a:solidFill>
                <a:latin typeface="ui-sans-serif"/>
              </a:rPr>
              <a:t>SonarQube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349" y="1283409"/>
            <a:ext cx="9061916" cy="1816193"/>
          </a:xfrm>
          <a:prstGeom prst="rect">
            <a:avLst/>
          </a:prstGeom>
        </p:spPr>
      </p:pic>
      <p:cxnSp>
        <p:nvCxnSpPr>
          <p:cNvPr id="7" name="Connecteur droit avec flèche 6"/>
          <p:cNvCxnSpPr/>
          <p:nvPr/>
        </p:nvCxnSpPr>
        <p:spPr>
          <a:xfrm>
            <a:off x="7945821" y="2128443"/>
            <a:ext cx="447741" cy="2174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255" y="3006010"/>
            <a:ext cx="7468453" cy="266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Ellipse 11"/>
          <p:cNvSpPr/>
          <p:nvPr/>
        </p:nvSpPr>
        <p:spPr>
          <a:xfrm>
            <a:off x="1784656" y="3282804"/>
            <a:ext cx="397291" cy="397291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1</a:t>
            </a:r>
            <a:endParaRPr lang="fr-FR" b="1" dirty="0"/>
          </a:p>
        </p:txBody>
      </p:sp>
      <p:sp>
        <p:nvSpPr>
          <p:cNvPr id="13" name="Ellipse 12"/>
          <p:cNvSpPr/>
          <p:nvPr/>
        </p:nvSpPr>
        <p:spPr>
          <a:xfrm>
            <a:off x="3468412" y="3282804"/>
            <a:ext cx="397291" cy="397291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2</a:t>
            </a:r>
            <a:endParaRPr lang="fr-FR" b="1" dirty="0"/>
          </a:p>
        </p:txBody>
      </p:sp>
      <p:sp>
        <p:nvSpPr>
          <p:cNvPr id="14" name="Ellipse 13"/>
          <p:cNvSpPr/>
          <p:nvPr/>
        </p:nvSpPr>
        <p:spPr>
          <a:xfrm>
            <a:off x="5197364" y="3282804"/>
            <a:ext cx="397291" cy="397291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3</a:t>
            </a:r>
            <a:endParaRPr lang="fr-FR" b="1" dirty="0"/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6032936" y="3228714"/>
            <a:ext cx="189186" cy="4265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Ellipse 18"/>
          <p:cNvSpPr/>
          <p:nvPr/>
        </p:nvSpPr>
        <p:spPr>
          <a:xfrm>
            <a:off x="7500180" y="4690139"/>
            <a:ext cx="397291" cy="397291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8399133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Configuration du serveur </a:t>
            </a:r>
            <a:r>
              <a:rPr lang="fr-FR" altLang="en-US" b="1" dirty="0" err="1" smtClean="0"/>
              <a:t>SonarQube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8760" y="760163"/>
            <a:ext cx="11128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0D0D0D"/>
                </a:solidFill>
                <a:latin typeface="ui-sans-serif"/>
              </a:rPr>
              <a:t>Copiez le </a:t>
            </a:r>
            <a:r>
              <a:rPr lang="fr-FR" dirty="0" err="1" smtClean="0">
                <a:solidFill>
                  <a:srgbClr val="0D0D0D"/>
                </a:solidFill>
                <a:latin typeface="ui-sans-serif"/>
              </a:rPr>
              <a:t>token</a:t>
            </a:r>
            <a:r>
              <a:rPr lang="fr-FR" dirty="0" smtClean="0">
                <a:solidFill>
                  <a:srgbClr val="0D0D0D"/>
                </a:solidFill>
                <a:latin typeface="ui-sans-serif"/>
              </a:rPr>
              <a:t> et enregistrez le dans la section </a:t>
            </a:r>
            <a:r>
              <a:rPr lang="fr-FR" b="1" dirty="0" smtClean="0">
                <a:solidFill>
                  <a:srgbClr val="0D0D0D"/>
                </a:solidFill>
                <a:latin typeface="ui-sans-serif"/>
              </a:rPr>
              <a:t>Tableau de Bord </a:t>
            </a:r>
            <a:r>
              <a:rPr lang="fr-FR" dirty="0" smtClean="0">
                <a:solidFill>
                  <a:srgbClr val="0D0D0D"/>
                </a:solidFill>
                <a:latin typeface="ui-sans-serif"/>
              </a:rPr>
              <a:t>&gt; </a:t>
            </a:r>
            <a:r>
              <a:rPr lang="fr-FR" b="1" dirty="0" smtClean="0">
                <a:solidFill>
                  <a:srgbClr val="0D0D0D"/>
                </a:solidFill>
                <a:latin typeface="ui-sans-serif"/>
              </a:rPr>
              <a:t>Gérer Jenkins </a:t>
            </a:r>
            <a:r>
              <a:rPr lang="fr-FR" dirty="0" smtClean="0">
                <a:solidFill>
                  <a:srgbClr val="0D0D0D"/>
                </a:solidFill>
                <a:latin typeface="ui-sans-serif"/>
              </a:rPr>
              <a:t>&gt; </a:t>
            </a:r>
            <a:r>
              <a:rPr lang="fr-FR" b="1" dirty="0" smtClean="0">
                <a:solidFill>
                  <a:srgbClr val="0D0D0D"/>
                </a:solidFill>
                <a:latin typeface="ui-sans-serif"/>
              </a:rPr>
              <a:t>Paramètres d'accès </a:t>
            </a:r>
            <a:endParaRPr lang="fr-FR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709" y="1283409"/>
            <a:ext cx="5857621" cy="228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941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Création du pipeline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8760" y="760163"/>
            <a:ext cx="11128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Créer une  pipeline</a:t>
            </a:r>
            <a:r>
              <a:rPr lang="fr-FR" b="1" dirty="0" smtClean="0"/>
              <a:t> </a:t>
            </a:r>
            <a:endParaRPr lang="fr-FR" b="1" dirty="0"/>
          </a:p>
        </p:txBody>
      </p:sp>
      <p:sp>
        <p:nvSpPr>
          <p:cNvPr id="3" name="Rectangle 2"/>
          <p:cNvSpPr/>
          <p:nvPr/>
        </p:nvSpPr>
        <p:spPr>
          <a:xfrm>
            <a:off x="3174124" y="944829"/>
            <a:ext cx="6096000" cy="56784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100" dirty="0"/>
              <a:t>pipeline {</a:t>
            </a:r>
          </a:p>
          <a:p>
            <a:r>
              <a:rPr lang="fr-FR" sz="1100" dirty="0"/>
              <a:t>    agent </a:t>
            </a:r>
            <a:r>
              <a:rPr lang="fr-FR" sz="1100" dirty="0" err="1"/>
              <a:t>any</a:t>
            </a:r>
            <a:endParaRPr lang="fr-FR" sz="1100" dirty="0"/>
          </a:p>
          <a:p>
            <a:endParaRPr lang="fr-FR" sz="1100" dirty="0"/>
          </a:p>
          <a:p>
            <a:r>
              <a:rPr lang="fr-FR" sz="1100" dirty="0"/>
              <a:t>    </a:t>
            </a:r>
            <a:r>
              <a:rPr lang="fr-FR" sz="1100" dirty="0" err="1"/>
              <a:t>environment</a:t>
            </a:r>
            <a:r>
              <a:rPr lang="fr-FR" sz="1100" dirty="0"/>
              <a:t> {</a:t>
            </a:r>
          </a:p>
          <a:p>
            <a:r>
              <a:rPr lang="fr-FR" sz="1100" dirty="0"/>
              <a:t>        SONAR_TOKEN = </a:t>
            </a:r>
            <a:r>
              <a:rPr lang="fr-FR" sz="1100" dirty="0" err="1"/>
              <a:t>credentials</a:t>
            </a:r>
            <a:r>
              <a:rPr lang="fr-FR" sz="1100" dirty="0"/>
              <a:t>('SONAR_TOKEN_ID') // SONAR_TOKEN_ID est l'identifiant de votre jeton </a:t>
            </a:r>
            <a:r>
              <a:rPr lang="fr-FR" sz="1100" dirty="0" err="1"/>
              <a:t>SonarQube</a:t>
            </a:r>
            <a:r>
              <a:rPr lang="fr-FR" sz="1100" dirty="0"/>
              <a:t> dans les identifiants Jenkins</a:t>
            </a:r>
          </a:p>
          <a:p>
            <a:r>
              <a:rPr lang="fr-FR" sz="1100" dirty="0"/>
              <a:t>    }</a:t>
            </a:r>
          </a:p>
          <a:p>
            <a:endParaRPr lang="fr-FR" sz="1100" dirty="0"/>
          </a:p>
          <a:p>
            <a:r>
              <a:rPr lang="fr-FR" sz="1100" dirty="0"/>
              <a:t>    stages {</a:t>
            </a:r>
          </a:p>
          <a:p>
            <a:r>
              <a:rPr lang="fr-FR" sz="1100" dirty="0"/>
              <a:t>        stage('Git') {</a:t>
            </a:r>
          </a:p>
          <a:p>
            <a:r>
              <a:rPr lang="fr-FR" sz="1100" dirty="0"/>
              <a:t>            </a:t>
            </a:r>
            <a:r>
              <a:rPr lang="fr-FR" sz="1100" dirty="0" err="1"/>
              <a:t>steps</a:t>
            </a:r>
            <a:r>
              <a:rPr lang="fr-FR" sz="1100" dirty="0"/>
              <a:t> {</a:t>
            </a:r>
          </a:p>
          <a:p>
            <a:r>
              <a:rPr lang="fr-FR" sz="1100" dirty="0"/>
              <a:t>                git </a:t>
            </a:r>
            <a:r>
              <a:rPr lang="fr-FR" sz="1100" dirty="0" err="1"/>
              <a:t>branch</a:t>
            </a:r>
            <a:r>
              <a:rPr lang="fr-FR" sz="1100" dirty="0"/>
              <a:t>: 'main', url: 'https://gitlab.com/me780411/</a:t>
            </a:r>
            <a:r>
              <a:rPr lang="fr-FR" sz="1100" dirty="0" err="1"/>
              <a:t>exercises.git</a:t>
            </a:r>
            <a:r>
              <a:rPr lang="fr-FR" sz="1100" dirty="0"/>
              <a:t>'</a:t>
            </a:r>
          </a:p>
          <a:p>
            <a:r>
              <a:rPr lang="fr-FR" sz="1100" dirty="0"/>
              <a:t>                </a:t>
            </a:r>
            <a:r>
              <a:rPr lang="fr-FR" sz="1100" dirty="0" err="1"/>
              <a:t>echo</a:t>
            </a:r>
            <a:r>
              <a:rPr lang="fr-FR" sz="1100" dirty="0"/>
              <a:t> 'Code source importé'</a:t>
            </a:r>
          </a:p>
          <a:p>
            <a:r>
              <a:rPr lang="fr-FR" sz="1100" dirty="0"/>
              <a:t>            }</a:t>
            </a:r>
          </a:p>
          <a:p>
            <a:r>
              <a:rPr lang="fr-FR" sz="1100" dirty="0"/>
              <a:t>        }</a:t>
            </a:r>
          </a:p>
          <a:p>
            <a:r>
              <a:rPr lang="fr-FR" sz="1100" dirty="0"/>
              <a:t>        </a:t>
            </a:r>
          </a:p>
          <a:p>
            <a:r>
              <a:rPr lang="fr-FR" sz="1100" dirty="0"/>
              <a:t>        stage('</a:t>
            </a:r>
            <a:r>
              <a:rPr lang="fr-FR" sz="1100" dirty="0" err="1"/>
              <a:t>Build</a:t>
            </a:r>
            <a:r>
              <a:rPr lang="fr-FR" sz="1100" dirty="0"/>
              <a:t>') {</a:t>
            </a:r>
          </a:p>
          <a:p>
            <a:r>
              <a:rPr lang="fr-FR" sz="1100" dirty="0"/>
              <a:t>            </a:t>
            </a:r>
            <a:r>
              <a:rPr lang="fr-FR" sz="1100" dirty="0" err="1"/>
              <a:t>steps</a:t>
            </a:r>
            <a:r>
              <a:rPr lang="fr-FR" sz="1100" dirty="0"/>
              <a:t> {</a:t>
            </a:r>
          </a:p>
          <a:p>
            <a:r>
              <a:rPr lang="fr-FR" sz="1100" dirty="0"/>
              <a:t>                bat '</a:t>
            </a:r>
            <a:r>
              <a:rPr lang="fr-FR" sz="1100" dirty="0" err="1"/>
              <a:t>mvn</a:t>
            </a:r>
            <a:r>
              <a:rPr lang="fr-FR" sz="1100" dirty="0"/>
              <a:t> clean </a:t>
            </a:r>
            <a:r>
              <a:rPr lang="fr-FR" sz="1100" dirty="0" err="1"/>
              <a:t>install</a:t>
            </a:r>
            <a:r>
              <a:rPr lang="fr-FR" sz="1100" dirty="0"/>
              <a:t>'</a:t>
            </a:r>
          </a:p>
          <a:p>
            <a:r>
              <a:rPr lang="fr-FR" sz="1100" dirty="0"/>
              <a:t>            }</a:t>
            </a:r>
          </a:p>
          <a:p>
            <a:r>
              <a:rPr lang="fr-FR" sz="1100" dirty="0"/>
              <a:t>        }</a:t>
            </a:r>
          </a:p>
          <a:p>
            <a:r>
              <a:rPr lang="fr-FR" sz="1100" dirty="0"/>
              <a:t>        </a:t>
            </a:r>
          </a:p>
          <a:p>
            <a:r>
              <a:rPr lang="fr-FR" sz="1100" dirty="0"/>
              <a:t>        stage('Analyse </a:t>
            </a:r>
            <a:r>
              <a:rPr lang="fr-FR" sz="1100" dirty="0" err="1"/>
              <a:t>SonarQube</a:t>
            </a:r>
            <a:r>
              <a:rPr lang="fr-FR" sz="1100" dirty="0"/>
              <a:t>') {</a:t>
            </a:r>
          </a:p>
          <a:p>
            <a:r>
              <a:rPr lang="fr-FR" sz="1100" dirty="0"/>
              <a:t>            </a:t>
            </a:r>
            <a:r>
              <a:rPr lang="fr-FR" sz="1100" dirty="0" err="1"/>
              <a:t>steps</a:t>
            </a:r>
            <a:r>
              <a:rPr lang="fr-FR" sz="1100" dirty="0"/>
              <a:t> {</a:t>
            </a:r>
          </a:p>
          <a:p>
            <a:r>
              <a:rPr lang="fr-FR" sz="1100" dirty="0"/>
              <a:t>                </a:t>
            </a:r>
            <a:r>
              <a:rPr lang="fr-FR" sz="1100" dirty="0" err="1"/>
              <a:t>withSonarQubeEnv</a:t>
            </a:r>
            <a:r>
              <a:rPr lang="fr-FR" sz="1100" dirty="0"/>
              <a:t>('</a:t>
            </a:r>
            <a:r>
              <a:rPr lang="fr-FR" sz="1100" dirty="0" err="1"/>
              <a:t>SonarQubeServer</a:t>
            </a:r>
            <a:r>
              <a:rPr lang="fr-FR" sz="1100" dirty="0"/>
              <a:t>') {</a:t>
            </a:r>
          </a:p>
          <a:p>
            <a:r>
              <a:rPr lang="fr-FR" sz="1100" dirty="0"/>
              <a:t>                    </a:t>
            </a:r>
            <a:r>
              <a:rPr lang="fr-FR" sz="1100" dirty="0" err="1"/>
              <a:t>withCredentials</a:t>
            </a:r>
            <a:r>
              <a:rPr lang="fr-FR" sz="1100" dirty="0"/>
              <a:t>([string(</a:t>
            </a:r>
            <a:r>
              <a:rPr lang="fr-FR" sz="1100" dirty="0" err="1"/>
              <a:t>credentialsId</a:t>
            </a:r>
            <a:r>
              <a:rPr lang="fr-FR" sz="1100" dirty="0"/>
              <a:t>: 'SONAR_TOKEN_ID', variable: 'SONAR_TOKEN')]) {</a:t>
            </a:r>
          </a:p>
          <a:p>
            <a:r>
              <a:rPr lang="fr-FR" sz="1100" dirty="0"/>
              <a:t>                        bat "</a:t>
            </a:r>
            <a:r>
              <a:rPr lang="fr-FR" sz="1100" dirty="0" err="1" smtClean="0"/>
              <a:t>mvn</a:t>
            </a:r>
            <a:r>
              <a:rPr lang="fr-FR" sz="1100" dirty="0" smtClean="0"/>
              <a:t> </a:t>
            </a:r>
            <a:r>
              <a:rPr lang="fr-FR" sz="1100" dirty="0" err="1"/>
              <a:t>sonar:sonar</a:t>
            </a:r>
            <a:r>
              <a:rPr lang="fr-FR" sz="1100" dirty="0"/>
              <a:t> -</a:t>
            </a:r>
            <a:r>
              <a:rPr lang="fr-FR" sz="1100" dirty="0" err="1"/>
              <a:t>Dsonar.login</a:t>
            </a:r>
            <a:r>
              <a:rPr lang="fr-FR" sz="1100" dirty="0"/>
              <a:t>=$</a:t>
            </a:r>
            <a:r>
              <a:rPr lang="fr-FR" sz="1100" dirty="0" smtClean="0"/>
              <a:t>SONAR_TOKEN"</a:t>
            </a:r>
            <a:endParaRPr lang="fr-FR" sz="1100" dirty="0"/>
          </a:p>
          <a:p>
            <a:r>
              <a:rPr lang="fr-FR" sz="1100" dirty="0"/>
              <a:t>                    }</a:t>
            </a:r>
          </a:p>
          <a:p>
            <a:r>
              <a:rPr lang="fr-FR" sz="1100" dirty="0"/>
              <a:t>                }</a:t>
            </a:r>
          </a:p>
          <a:p>
            <a:r>
              <a:rPr lang="fr-FR" sz="1100" dirty="0"/>
              <a:t>            }</a:t>
            </a:r>
          </a:p>
          <a:p>
            <a:r>
              <a:rPr lang="fr-FR" sz="1100" dirty="0"/>
              <a:t>        }</a:t>
            </a:r>
          </a:p>
          <a:p>
            <a:r>
              <a:rPr lang="fr-FR" sz="1100" dirty="0"/>
              <a:t>    }</a:t>
            </a:r>
          </a:p>
          <a:p>
            <a:r>
              <a:rPr lang="fr-FR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13361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Le résultat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8760" y="760163"/>
            <a:ext cx="11128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Le résultat doit être</a:t>
            </a:r>
            <a:endParaRPr lang="fr-FR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5"/>
          <a:srcRect r="6220"/>
          <a:stretch/>
        </p:blipFill>
        <p:spPr>
          <a:xfrm>
            <a:off x="468760" y="1230965"/>
            <a:ext cx="6718187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782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204965" y="236361"/>
            <a:ext cx="482934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altLang="en-US" b="1" dirty="0" smtClean="0"/>
              <a:t>Le résultat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Jenkins Workflo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3214" y="5890160"/>
            <a:ext cx="641481" cy="88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68" y="2066113"/>
            <a:ext cx="9187877" cy="241759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8760" y="760163"/>
            <a:ext cx="111283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Le test doit être fait au niveau de </a:t>
            </a:r>
            <a:r>
              <a:rPr lang="fr-FR" smtClean="0"/>
              <a:t>SonarQube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79099994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15851</TotalTime>
  <Words>565</Words>
  <Application>Microsoft Office PowerPoint</Application>
  <PresentationFormat>Widescreen</PresentationFormat>
  <Paragraphs>135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Comic Sans MS</vt:lpstr>
      <vt:lpstr>DejaVu Sans</vt:lpstr>
      <vt:lpstr>Times New Roman</vt:lpstr>
      <vt:lpstr>ui-sans-serif</vt:lpstr>
      <vt:lpstr>Thème Office</vt:lpstr>
      <vt:lpstr>PowerPoint Presentation</vt:lpstr>
      <vt:lpstr>Etape 1: Configuration du serveur SonarQube avec Docker</vt:lpstr>
      <vt:lpstr>PowerPoint Presentation</vt:lpstr>
      <vt:lpstr>PowerPoint Presentation</vt:lpstr>
      <vt:lpstr>Etape 1: Configuration du serveur SonarQube avec Docker</vt:lpstr>
      <vt:lpstr>PowerPoint Presentation</vt:lpstr>
      <vt:lpstr>PowerPoint Presentation</vt:lpstr>
      <vt:lpstr>Etape 3: Préparation de l'application Java</vt:lpstr>
      <vt:lpstr>PowerPoint Presentation</vt:lpstr>
      <vt:lpstr>Etape 4: Génération du Token SonarQube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DELL</cp:lastModifiedBy>
  <cp:revision>171</cp:revision>
  <dcterms:created xsi:type="dcterms:W3CDTF">2024-04-11T08:14:00Z</dcterms:created>
  <dcterms:modified xsi:type="dcterms:W3CDTF">2025-05-31T06:39:10Z</dcterms:modified>
</cp:coreProperties>
</file>