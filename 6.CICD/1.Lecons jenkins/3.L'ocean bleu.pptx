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256"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89783" autoAdjust="0"/>
  </p:normalViewPr>
  <p:slideViewPr>
    <p:cSldViewPr snapToGrid="0">
      <p:cViewPr>
        <p:scale>
          <a:sx n="100" d="100"/>
          <a:sy n="100" d="100"/>
        </p:scale>
        <p:origin x="868" y="92"/>
      </p:cViewPr>
      <p:guideLst/>
    </p:cSldViewPr>
  </p:slideViewPr>
  <p:notesTextViewPr>
    <p:cViewPr>
      <p:scale>
        <a:sx n="1" d="1"/>
        <a:sy n="1" d="1"/>
      </p:scale>
      <p:origin x="0" y="0"/>
    </p:cViewPr>
  </p:notesTextViewPr>
  <p:notesViewPr>
    <p:cSldViewPr snapToGrid="0">
      <p:cViewPr varScale="1">
        <p:scale>
          <a:sx n="86" d="100"/>
          <a:sy n="86" d="100"/>
        </p:scale>
        <p:origin x="3792" y="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D88CC95-123F-4C93-9671-DB4382E81061}" type="datetimeFigureOut">
              <a:rPr lang="fr-FR" smtClean="0"/>
              <a:t>19/05/2024</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A3EDCAF-A2AE-4DD1-8317-9A1F0DBEA8DB}" type="slidenum">
              <a:rPr lang="fr-FR" smtClean="0"/>
              <a:t>‹N°›</a:t>
            </a:fld>
            <a:endParaRPr lang="fr-FR"/>
          </a:p>
        </p:txBody>
      </p:sp>
    </p:spTree>
    <p:extLst>
      <p:ext uri="{BB962C8B-B14F-4D97-AF65-F5344CB8AC3E}">
        <p14:creationId xmlns:p14="http://schemas.microsoft.com/office/powerpoint/2010/main" val="2488614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19686D-C191-4786-9794-C7C6B779A858}" type="datetimeFigureOut">
              <a:rPr lang="fr-FR" smtClean="0"/>
              <a:t>19/05/2024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01B5F8-6F57-4D93-B25D-B7F2C8AC7C7C}" type="slidenum">
              <a:rPr lang="fr-FR" smtClean="0"/>
              <a:t>‹N°›</a:t>
            </a:fld>
            <a:endParaRPr lang="fr-FR"/>
          </a:p>
        </p:txBody>
      </p:sp>
    </p:spTree>
    <p:extLst>
      <p:ext uri="{BB962C8B-B14F-4D97-AF65-F5344CB8AC3E}">
        <p14:creationId xmlns:p14="http://schemas.microsoft.com/office/powerpoint/2010/main" val="1494603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2</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367312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3</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3</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177121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4</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4</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0269100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5</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5</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9307156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6</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6</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602252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7</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7</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778593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8</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8</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931693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9</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9</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3915720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10</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10</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245936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11</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11</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0814328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12</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12</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4161898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13</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13</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42780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14</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14</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077753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15</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15</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40525646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16</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16</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8049418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17</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17</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2252751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18</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18</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444706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F233D1D7-325F-46D8-B3AF-5D2A9231722A}" type="datetimeFigureOut">
              <a:rPr lang="fr-FR" smtClean="0"/>
              <a:t>19/05/2024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3670D75-9D67-407C-AE47-84BA33C97B35}" type="slidenum">
              <a:rPr lang="fr-FR" smtClean="0"/>
              <a:t>‹N°›</a:t>
            </a:fld>
            <a:endParaRPr lang="fr-FR"/>
          </a:p>
        </p:txBody>
      </p:sp>
    </p:spTree>
    <p:extLst>
      <p:ext uri="{BB962C8B-B14F-4D97-AF65-F5344CB8AC3E}">
        <p14:creationId xmlns:p14="http://schemas.microsoft.com/office/powerpoint/2010/main" val="3081409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233D1D7-325F-46D8-B3AF-5D2A9231722A}" type="datetimeFigureOut">
              <a:rPr lang="fr-FR" smtClean="0"/>
              <a:t>19/05/2024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3670D75-9D67-407C-AE47-84BA33C97B35}" type="slidenum">
              <a:rPr lang="fr-FR" smtClean="0"/>
              <a:t>‹N°›</a:t>
            </a:fld>
            <a:endParaRPr lang="fr-FR"/>
          </a:p>
        </p:txBody>
      </p:sp>
    </p:spTree>
    <p:extLst>
      <p:ext uri="{BB962C8B-B14F-4D97-AF65-F5344CB8AC3E}">
        <p14:creationId xmlns:p14="http://schemas.microsoft.com/office/powerpoint/2010/main" val="283908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F233D1D7-325F-46D8-B3AF-5D2A9231722A}" type="datetimeFigureOut">
              <a:rPr lang="fr-FR" smtClean="0"/>
              <a:t>19/05/2024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3670D75-9D67-407C-AE47-84BA33C97B35}" type="slidenum">
              <a:rPr lang="fr-FR" smtClean="0"/>
              <a:t>‹N°›</a:t>
            </a:fld>
            <a:endParaRPr lang="fr-FR"/>
          </a:p>
        </p:txBody>
      </p:sp>
    </p:spTree>
    <p:extLst>
      <p:ext uri="{BB962C8B-B14F-4D97-AF65-F5344CB8AC3E}">
        <p14:creationId xmlns:p14="http://schemas.microsoft.com/office/powerpoint/2010/main" val="3616844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F233D1D7-325F-46D8-B3AF-5D2A9231722A}" type="datetimeFigureOut">
              <a:rPr lang="fr-FR" smtClean="0"/>
              <a:t>19/05/2024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3670D75-9D67-407C-AE47-84BA33C97B35}" type="slidenum">
              <a:rPr lang="fr-FR" smtClean="0"/>
              <a:t>‹N°›</a:t>
            </a:fld>
            <a:endParaRPr lang="fr-FR"/>
          </a:p>
        </p:txBody>
      </p:sp>
    </p:spTree>
    <p:extLst>
      <p:ext uri="{BB962C8B-B14F-4D97-AF65-F5344CB8AC3E}">
        <p14:creationId xmlns:p14="http://schemas.microsoft.com/office/powerpoint/2010/main" val="1612368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F233D1D7-325F-46D8-B3AF-5D2A9231722A}" type="datetimeFigureOut">
              <a:rPr lang="fr-FR" smtClean="0"/>
              <a:t>19/05/2024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33670D75-9D67-407C-AE47-84BA33C97B35}" type="slidenum">
              <a:rPr lang="fr-FR" smtClean="0"/>
              <a:t>‹N°›</a:t>
            </a:fld>
            <a:endParaRPr lang="fr-FR"/>
          </a:p>
        </p:txBody>
      </p:sp>
    </p:spTree>
    <p:extLst>
      <p:ext uri="{BB962C8B-B14F-4D97-AF65-F5344CB8AC3E}">
        <p14:creationId xmlns:p14="http://schemas.microsoft.com/office/powerpoint/2010/main" val="3965071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F233D1D7-325F-46D8-B3AF-5D2A9231722A}" type="datetimeFigureOut">
              <a:rPr lang="fr-FR" smtClean="0"/>
              <a:t>19/05/2024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33670D75-9D67-407C-AE47-84BA33C97B35}" type="slidenum">
              <a:rPr lang="fr-FR" smtClean="0"/>
              <a:t>‹N°›</a:t>
            </a:fld>
            <a:endParaRPr lang="fr-FR"/>
          </a:p>
        </p:txBody>
      </p:sp>
    </p:spTree>
    <p:extLst>
      <p:ext uri="{BB962C8B-B14F-4D97-AF65-F5344CB8AC3E}">
        <p14:creationId xmlns:p14="http://schemas.microsoft.com/office/powerpoint/2010/main" val="2889096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233D1D7-325F-46D8-B3AF-5D2A9231722A}" type="datetimeFigureOut">
              <a:rPr lang="fr-FR" smtClean="0"/>
              <a:t>19/05/2024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33670D75-9D67-407C-AE47-84BA33C97B35}" type="slidenum">
              <a:rPr lang="fr-FR" smtClean="0"/>
              <a:t>‹N°›</a:t>
            </a:fld>
            <a:endParaRPr lang="fr-FR"/>
          </a:p>
        </p:txBody>
      </p:sp>
    </p:spTree>
    <p:extLst>
      <p:ext uri="{BB962C8B-B14F-4D97-AF65-F5344CB8AC3E}">
        <p14:creationId xmlns:p14="http://schemas.microsoft.com/office/powerpoint/2010/main" val="865218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F233D1D7-325F-46D8-B3AF-5D2A9231722A}" type="datetimeFigureOut">
              <a:rPr lang="fr-FR" smtClean="0"/>
              <a:t>19/05/2024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3670D75-9D67-407C-AE47-84BA33C97B35}" type="slidenum">
              <a:rPr lang="fr-FR" smtClean="0"/>
              <a:t>‹N°›</a:t>
            </a:fld>
            <a:endParaRPr lang="fr-FR"/>
          </a:p>
        </p:txBody>
      </p:sp>
    </p:spTree>
    <p:extLst>
      <p:ext uri="{BB962C8B-B14F-4D97-AF65-F5344CB8AC3E}">
        <p14:creationId xmlns:p14="http://schemas.microsoft.com/office/powerpoint/2010/main" val="663686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F233D1D7-325F-46D8-B3AF-5D2A9231722A}" type="datetimeFigureOut">
              <a:rPr lang="fr-FR" smtClean="0"/>
              <a:t>19/05/2024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3670D75-9D67-407C-AE47-84BA33C97B35}" type="slidenum">
              <a:rPr lang="fr-FR" smtClean="0"/>
              <a:t>‹N°›</a:t>
            </a:fld>
            <a:endParaRPr lang="fr-FR"/>
          </a:p>
        </p:txBody>
      </p:sp>
    </p:spTree>
    <p:extLst>
      <p:ext uri="{BB962C8B-B14F-4D97-AF65-F5344CB8AC3E}">
        <p14:creationId xmlns:p14="http://schemas.microsoft.com/office/powerpoint/2010/main" val="222898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233D1D7-325F-46D8-B3AF-5D2A9231722A}" type="datetimeFigureOut">
              <a:rPr lang="fr-FR" smtClean="0"/>
              <a:t>19/05/2024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3670D75-9D67-407C-AE47-84BA33C97B35}" type="slidenum">
              <a:rPr lang="fr-FR" smtClean="0"/>
              <a:t>‹N°›</a:t>
            </a:fld>
            <a:endParaRPr lang="fr-FR"/>
          </a:p>
        </p:txBody>
      </p:sp>
    </p:spTree>
    <p:extLst>
      <p:ext uri="{BB962C8B-B14F-4D97-AF65-F5344CB8AC3E}">
        <p14:creationId xmlns:p14="http://schemas.microsoft.com/office/powerpoint/2010/main" val="4260705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233D1D7-325F-46D8-B3AF-5D2A9231722A}" type="datetimeFigureOut">
              <a:rPr lang="fr-FR" smtClean="0"/>
              <a:t>19/05/2024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3670D75-9D67-407C-AE47-84BA33C97B35}" type="slidenum">
              <a:rPr lang="fr-FR" smtClean="0"/>
              <a:t>‹N°›</a:t>
            </a:fld>
            <a:endParaRPr lang="fr-FR"/>
          </a:p>
        </p:txBody>
      </p:sp>
    </p:spTree>
    <p:extLst>
      <p:ext uri="{BB962C8B-B14F-4D97-AF65-F5344CB8AC3E}">
        <p14:creationId xmlns:p14="http://schemas.microsoft.com/office/powerpoint/2010/main" val="3121935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33D1D7-325F-46D8-B3AF-5D2A9231722A}" type="datetimeFigureOut">
              <a:rPr lang="fr-FR" smtClean="0"/>
              <a:t>19/05/2024</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670D75-9D67-407C-AE47-84BA33C97B35}" type="slidenum">
              <a:rPr lang="fr-FR" smtClean="0"/>
              <a:t>‹N°›</a:t>
            </a:fld>
            <a:endParaRPr lang="fr-FR"/>
          </a:p>
        </p:txBody>
      </p:sp>
    </p:spTree>
    <p:extLst>
      <p:ext uri="{BB962C8B-B14F-4D97-AF65-F5344CB8AC3E}">
        <p14:creationId xmlns:p14="http://schemas.microsoft.com/office/powerpoint/2010/main" val="82499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labs/securit&#233;%20reseau/vlans"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8.png"/><Relationship Id="rId5" Type="http://schemas.openxmlformats.org/officeDocument/2006/relationships/image" Target="../media/image3.png"/><Relationship Id="rId4" Type="http://schemas.openxmlformats.org/officeDocument/2006/relationships/hyperlink" Target="../labs/securit&#233;%20reseau/vlans"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0.png"/><Relationship Id="rId5" Type="http://schemas.openxmlformats.org/officeDocument/2006/relationships/image" Target="../media/image3.png"/><Relationship Id="rId4" Type="http://schemas.openxmlformats.org/officeDocument/2006/relationships/hyperlink" Target="../labs/securit&#233;%20reseau/vlans"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1.png"/><Relationship Id="rId5" Type="http://schemas.openxmlformats.org/officeDocument/2006/relationships/image" Target="../media/image3.png"/><Relationship Id="rId4" Type="http://schemas.openxmlformats.org/officeDocument/2006/relationships/hyperlink" Target="../labs/securit&#233;%20reseau/vlans"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22.png"/><Relationship Id="rId5" Type="http://schemas.openxmlformats.org/officeDocument/2006/relationships/image" Target="../media/image3.png"/><Relationship Id="rId4" Type="http://schemas.openxmlformats.org/officeDocument/2006/relationships/hyperlink" Target="../labs/securit&#233;%20reseau/vlans" TargetMode="Externa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3.png"/><Relationship Id="rId5" Type="http://schemas.openxmlformats.org/officeDocument/2006/relationships/image" Target="../media/image3.png"/><Relationship Id="rId4" Type="http://schemas.openxmlformats.org/officeDocument/2006/relationships/hyperlink" Target="../labs/securit&#233;%20reseau/vlans" TargetMode="Externa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4.png"/><Relationship Id="rId5" Type="http://schemas.openxmlformats.org/officeDocument/2006/relationships/image" Target="../media/image3.png"/><Relationship Id="rId4" Type="http://schemas.openxmlformats.org/officeDocument/2006/relationships/hyperlink" Target="../labs/securit&#233;%20reseau/vlans" TargetMode="Externa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3.png"/><Relationship Id="rId5" Type="http://schemas.openxmlformats.org/officeDocument/2006/relationships/hyperlink" Target="../labs/securit&#233;%20reseau/vlans" TargetMode="Externa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22589" y="2543234"/>
            <a:ext cx="3264035" cy="1384995"/>
          </a:xfrm>
          <a:prstGeom prst="rect">
            <a:avLst/>
          </a:prstGeom>
        </p:spPr>
        <p:txBody>
          <a:bodyPr wrap="none">
            <a:spAutoFit/>
          </a:bodyPr>
          <a:lstStyle/>
          <a:p>
            <a:pPr algn="ctr"/>
            <a:r>
              <a:rPr lang="fr-FR" sz="2800" dirty="0" smtClean="0">
                <a:solidFill>
                  <a:srgbClr val="1C3158"/>
                </a:solidFill>
                <a:latin typeface="Comic Sans MS" pitchFamily="66" charset="0"/>
              </a:rPr>
              <a:t>Formation Jenkins</a:t>
            </a:r>
            <a:endParaRPr lang="fr-FR" sz="2800" dirty="0">
              <a:solidFill>
                <a:srgbClr val="1C3158"/>
              </a:solidFill>
              <a:latin typeface="Comic Sans MS" pitchFamily="66" charset="0"/>
            </a:endParaRPr>
          </a:p>
          <a:p>
            <a:pPr algn="ctr"/>
            <a:r>
              <a:rPr lang="fr-FR" sz="2800" b="1" dirty="0" smtClean="0">
                <a:solidFill>
                  <a:srgbClr val="1C3158"/>
                </a:solidFill>
                <a:latin typeface="Comic Sans MS" pitchFamily="66" charset="0"/>
              </a:rPr>
              <a:t> </a:t>
            </a:r>
          </a:p>
          <a:p>
            <a:pPr algn="ctr"/>
            <a:r>
              <a:rPr lang="fr-FR" sz="2800" dirty="0" smtClean="0">
                <a:solidFill>
                  <a:srgbClr val="1C3158"/>
                </a:solidFill>
                <a:latin typeface="Comic Sans MS" pitchFamily="66" charset="0"/>
              </a:rPr>
              <a:t>Ocean </a:t>
            </a:r>
            <a:r>
              <a:rPr lang="fr-FR" sz="2800" dirty="0" err="1" smtClean="0">
                <a:solidFill>
                  <a:srgbClr val="1C3158"/>
                </a:solidFill>
                <a:latin typeface="Comic Sans MS" pitchFamily="66" charset="0"/>
              </a:rPr>
              <a:t>blue</a:t>
            </a:r>
            <a:endParaRPr lang="fr-FR" sz="2800" dirty="0">
              <a:solidFill>
                <a:srgbClr val="1C3158"/>
              </a:solidFill>
              <a:latin typeface="Comic Sans MS" pitchFamily="66" charset="0"/>
            </a:endParaRPr>
          </a:p>
        </p:txBody>
      </p:sp>
      <p:cxnSp>
        <p:nvCxnSpPr>
          <p:cNvPr id="4" name="Connecteur droit 3"/>
          <p:cNvCxnSpPr>
            <a:cxnSpLocks/>
          </p:cNvCxnSpPr>
          <p:nvPr/>
        </p:nvCxnSpPr>
        <p:spPr>
          <a:xfrm flipH="1">
            <a:off x="6266500" y="3227040"/>
            <a:ext cx="5176200" cy="17384"/>
          </a:xfrm>
          <a:prstGeom prst="line">
            <a:avLst/>
          </a:prstGeom>
          <a:ln w="22225">
            <a:solidFill>
              <a:srgbClr val="1C3158"/>
            </a:solidFill>
          </a:ln>
        </p:spPr>
        <p:style>
          <a:lnRef idx="1">
            <a:schemeClr val="accent1"/>
          </a:lnRef>
          <a:fillRef idx="0">
            <a:schemeClr val="accent1"/>
          </a:fillRef>
          <a:effectRef idx="0">
            <a:schemeClr val="accent1"/>
          </a:effectRef>
          <a:fontRef idx="minor">
            <a:schemeClr val="tx1"/>
          </a:fontRef>
        </p:style>
      </p:cxnSp>
      <p:pic>
        <p:nvPicPr>
          <p:cNvPr id="1027" name="Picture 3" descr="C:\Users\bepro-17\AppData\Roaming\Skype\live#3ambenalaya.bepro\media_messaging\media_cache_v3\^2DF5C670F0A42E46084157BFD3139AC68F80CB1B7C725AE391^pimgpsh_fullsize_dist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4353" y="5376618"/>
            <a:ext cx="1552248" cy="154641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4729466" y="6221574"/>
            <a:ext cx="4296872" cy="646331"/>
          </a:xfrm>
          <a:prstGeom prst="rect">
            <a:avLst/>
          </a:prstGeom>
        </p:spPr>
        <p:txBody>
          <a:bodyPr wrap="square">
            <a:spAutoFit/>
          </a:bodyPr>
          <a:lstStyle/>
          <a:p>
            <a:pPr algn="ctr"/>
            <a:r>
              <a:rPr lang="fr-FR" b="1" i="1" dirty="0">
                <a:solidFill>
                  <a:srgbClr val="1C3158"/>
                </a:solidFill>
              </a:rPr>
              <a:t>Béchir BEJAOUI</a:t>
            </a:r>
          </a:p>
          <a:p>
            <a:pPr algn="ctr"/>
            <a:r>
              <a:rPr lang="fr-FR" dirty="0">
                <a:solidFill>
                  <a:srgbClr val="1C3158"/>
                </a:solidFill>
              </a:rPr>
              <a:t>Formateur et consultant indépendant</a:t>
            </a:r>
          </a:p>
        </p:txBody>
      </p:sp>
      <p:pic>
        <p:nvPicPr>
          <p:cNvPr id="1026" name="Picture 2" descr="Jenkins Workflow"/>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0411" y="226498"/>
            <a:ext cx="3522523" cy="4862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32263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482934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b="1" dirty="0"/>
              <a:t>Introduction à </a:t>
            </a:r>
            <a:r>
              <a:rPr lang="fr-FR" b="1" dirty="0" smtClean="0"/>
              <a:t>Océan Bleu  pour Jenkins</a:t>
            </a:r>
            <a:endParaRPr lang="fr-FR" altLang="en-US"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 1"/>
          <p:cNvPicPr>
            <a:picLocks noChangeAspect="1"/>
          </p:cNvPicPr>
          <p:nvPr/>
        </p:nvPicPr>
        <p:blipFill>
          <a:blip r:embed="rId5"/>
          <a:stretch>
            <a:fillRect/>
          </a:stretch>
        </p:blipFill>
        <p:spPr>
          <a:xfrm>
            <a:off x="680383" y="869452"/>
            <a:ext cx="5489798" cy="3235188"/>
          </a:xfrm>
          <a:prstGeom prst="rect">
            <a:avLst/>
          </a:prstGeom>
        </p:spPr>
      </p:pic>
      <p:pic>
        <p:nvPicPr>
          <p:cNvPr id="6" name="Image 5"/>
          <p:cNvPicPr>
            <a:picLocks noChangeAspect="1"/>
          </p:cNvPicPr>
          <p:nvPr/>
        </p:nvPicPr>
        <p:blipFill>
          <a:blip r:embed="rId6"/>
          <a:stretch>
            <a:fillRect/>
          </a:stretch>
        </p:blipFill>
        <p:spPr>
          <a:xfrm>
            <a:off x="3584198" y="1973312"/>
            <a:ext cx="6906589" cy="3448531"/>
          </a:xfrm>
          <a:prstGeom prst="rect">
            <a:avLst/>
          </a:prstGeom>
        </p:spPr>
      </p:pic>
      <p:sp>
        <p:nvSpPr>
          <p:cNvPr id="8" name="Rectangle 7"/>
          <p:cNvSpPr/>
          <p:nvPr/>
        </p:nvSpPr>
        <p:spPr>
          <a:xfrm>
            <a:off x="602827" y="5774674"/>
            <a:ext cx="9502986" cy="646331"/>
          </a:xfrm>
          <a:prstGeom prst="rect">
            <a:avLst/>
          </a:prstGeom>
        </p:spPr>
        <p:txBody>
          <a:bodyPr wrap="square">
            <a:spAutoFit/>
          </a:bodyPr>
          <a:lstStyle/>
          <a:p>
            <a:r>
              <a:rPr lang="fr-FR" b="1" dirty="0" smtClean="0">
                <a:solidFill>
                  <a:srgbClr val="FF0000"/>
                </a:solidFill>
                <a:latin typeface="system-ui"/>
              </a:rPr>
              <a:t>Note:</a:t>
            </a:r>
            <a:r>
              <a:rPr lang="fr-FR" dirty="0" smtClean="0">
                <a:solidFill>
                  <a:srgbClr val="FF0000"/>
                </a:solidFill>
                <a:latin typeface="system-ui"/>
              </a:rPr>
              <a:t> </a:t>
            </a:r>
            <a:r>
              <a:rPr lang="fr-FR" dirty="0" smtClean="0">
                <a:solidFill>
                  <a:srgbClr val="000C1A"/>
                </a:solidFill>
                <a:latin typeface="system-ui"/>
              </a:rPr>
              <a:t>La </a:t>
            </a:r>
            <a:r>
              <a:rPr lang="fr-FR" dirty="0">
                <a:solidFill>
                  <a:srgbClr val="000C1A"/>
                </a:solidFill>
                <a:latin typeface="system-ui"/>
              </a:rPr>
              <a:t>suite de plugins Blue Ocean n'est pas fournie avec l'image officielle Jenkins Docker</a:t>
            </a:r>
            <a:endParaRPr lang="fr-FR" dirty="0"/>
          </a:p>
        </p:txBody>
      </p:sp>
    </p:spTree>
    <p:extLst>
      <p:ext uri="{BB962C8B-B14F-4D97-AF65-F5344CB8AC3E}">
        <p14:creationId xmlns:p14="http://schemas.microsoft.com/office/powerpoint/2010/main" val="220487482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482934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b="1" dirty="0"/>
              <a:t>Introduction à </a:t>
            </a:r>
            <a:r>
              <a:rPr lang="fr-FR" b="1" dirty="0" smtClean="0"/>
              <a:t>Océan Bleu  pour Jenkins</a:t>
            </a:r>
            <a:endParaRPr lang="fr-FR" altLang="en-US"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13172" y="887922"/>
            <a:ext cx="10690041" cy="1200329"/>
          </a:xfrm>
          <a:prstGeom prst="rect">
            <a:avLst/>
          </a:prstGeom>
        </p:spPr>
        <p:txBody>
          <a:bodyPr wrap="square">
            <a:spAutoFit/>
          </a:bodyPr>
          <a:lstStyle/>
          <a:p>
            <a:r>
              <a:rPr lang="fr-FR" dirty="0">
                <a:solidFill>
                  <a:srgbClr val="0D0D0D"/>
                </a:solidFill>
                <a:latin typeface="Söhne"/>
              </a:rPr>
              <a:t>Blue Ocean est une interface utilisateur </a:t>
            </a:r>
            <a:r>
              <a:rPr lang="fr-FR" dirty="0" smtClean="0">
                <a:solidFill>
                  <a:srgbClr val="0D0D0D"/>
                </a:solidFill>
                <a:latin typeface="Söhne"/>
              </a:rPr>
              <a:t>conçue </a:t>
            </a:r>
            <a:r>
              <a:rPr lang="fr-FR" dirty="0">
                <a:solidFill>
                  <a:srgbClr val="0D0D0D"/>
                </a:solidFill>
                <a:latin typeface="Söhne"/>
              </a:rPr>
              <a:t>pour améliorer l'expérience utilisateur </a:t>
            </a:r>
            <a:r>
              <a:rPr lang="fr-FR" dirty="0" smtClean="0">
                <a:solidFill>
                  <a:srgbClr val="0D0D0D"/>
                </a:solidFill>
                <a:latin typeface="Söhne"/>
              </a:rPr>
              <a:t>de Jenkins</a:t>
            </a:r>
          </a:p>
          <a:p>
            <a:endParaRPr lang="fr-FR" dirty="0">
              <a:solidFill>
                <a:srgbClr val="0D0D0D"/>
              </a:solidFill>
              <a:latin typeface="Söhne"/>
            </a:endParaRPr>
          </a:p>
          <a:p>
            <a:r>
              <a:rPr lang="fr-FR" dirty="0"/>
              <a:t>Blue Ocean vise à simplifier les workflows complexes, rendant Jenkins plus accessible, surtout pour ceux qui sont nouveaux dans Jenkins </a:t>
            </a:r>
            <a:endParaRPr lang="fr-FR" dirty="0"/>
          </a:p>
        </p:txBody>
      </p:sp>
      <p:sp>
        <p:nvSpPr>
          <p:cNvPr id="4" name="Rectangle 3"/>
          <p:cNvSpPr/>
          <p:nvPr/>
        </p:nvSpPr>
        <p:spPr>
          <a:xfrm>
            <a:off x="413172" y="2185258"/>
            <a:ext cx="4583306" cy="369332"/>
          </a:xfrm>
          <a:prstGeom prst="rect">
            <a:avLst/>
          </a:prstGeom>
        </p:spPr>
        <p:txBody>
          <a:bodyPr wrap="none">
            <a:spAutoFit/>
          </a:bodyPr>
          <a:lstStyle/>
          <a:p>
            <a:r>
              <a:rPr lang="fr-FR" dirty="0">
                <a:solidFill>
                  <a:srgbClr val="0D0D0D"/>
                </a:solidFill>
                <a:latin typeface="Söhne"/>
              </a:rPr>
              <a:t>Principales caractéristiques de Blue Ocean</a:t>
            </a:r>
            <a:endParaRPr lang="fr-FR" i="0" dirty="0">
              <a:solidFill>
                <a:srgbClr val="0D0D0D"/>
              </a:solidFill>
              <a:effectLst/>
              <a:latin typeface="Söhne"/>
            </a:endParaRPr>
          </a:p>
        </p:txBody>
      </p:sp>
      <p:sp>
        <p:nvSpPr>
          <p:cNvPr id="8" name="Rectangle 7"/>
          <p:cNvSpPr/>
          <p:nvPr/>
        </p:nvSpPr>
        <p:spPr>
          <a:xfrm>
            <a:off x="690879" y="2651597"/>
            <a:ext cx="10412333" cy="646331"/>
          </a:xfrm>
          <a:prstGeom prst="rect">
            <a:avLst/>
          </a:prstGeom>
        </p:spPr>
        <p:txBody>
          <a:bodyPr wrap="square">
            <a:spAutoFit/>
          </a:bodyPr>
          <a:lstStyle/>
          <a:p>
            <a:r>
              <a:rPr lang="fr-FR" b="1" dirty="0">
                <a:solidFill>
                  <a:srgbClr val="0D0D0D"/>
                </a:solidFill>
                <a:latin typeface="Söhne"/>
              </a:rPr>
              <a:t>Visualisation des pipelines </a:t>
            </a:r>
            <a:r>
              <a:rPr lang="fr-FR" b="1" dirty="0" smtClean="0">
                <a:solidFill>
                  <a:srgbClr val="0D0D0D"/>
                </a:solidFill>
                <a:latin typeface="Söhne"/>
              </a:rPr>
              <a:t>:</a:t>
            </a:r>
            <a:r>
              <a:rPr lang="fr-FR" dirty="0" smtClean="0">
                <a:solidFill>
                  <a:srgbClr val="0D0D0D"/>
                </a:solidFill>
                <a:latin typeface="Söhne"/>
              </a:rPr>
              <a:t> Blue </a:t>
            </a:r>
            <a:r>
              <a:rPr lang="fr-FR" dirty="0">
                <a:solidFill>
                  <a:srgbClr val="0D0D0D"/>
                </a:solidFill>
                <a:latin typeface="Söhne"/>
              </a:rPr>
              <a:t>Ocean propose une représentation claire et visuelle des pipelines Jenkins, affichant les étapes et les phases de manière facile à comprendre.</a:t>
            </a:r>
            <a:endParaRPr lang="fr-FR" b="0" i="0" dirty="0">
              <a:solidFill>
                <a:srgbClr val="0D0D0D"/>
              </a:solidFill>
              <a:effectLst/>
              <a:latin typeface="Söhne"/>
            </a:endParaRPr>
          </a:p>
        </p:txBody>
      </p:sp>
      <p:sp>
        <p:nvSpPr>
          <p:cNvPr id="9" name="Rectangle 8"/>
          <p:cNvSpPr/>
          <p:nvPr/>
        </p:nvSpPr>
        <p:spPr>
          <a:xfrm>
            <a:off x="690879" y="3527540"/>
            <a:ext cx="11501121" cy="646331"/>
          </a:xfrm>
          <a:prstGeom prst="rect">
            <a:avLst/>
          </a:prstGeom>
        </p:spPr>
        <p:txBody>
          <a:bodyPr wrap="square">
            <a:spAutoFit/>
          </a:bodyPr>
          <a:lstStyle/>
          <a:p>
            <a:r>
              <a:rPr lang="fr-FR" b="1" dirty="0">
                <a:solidFill>
                  <a:srgbClr val="0D0D0D"/>
                </a:solidFill>
                <a:latin typeface="Söhne"/>
              </a:rPr>
              <a:t>Support intégré pour les branches et les pull </a:t>
            </a:r>
            <a:r>
              <a:rPr lang="fr-FR" b="1" dirty="0" smtClean="0">
                <a:solidFill>
                  <a:srgbClr val="0D0D0D"/>
                </a:solidFill>
                <a:latin typeface="Söhne"/>
              </a:rPr>
              <a:t>requests:</a:t>
            </a:r>
            <a:r>
              <a:rPr lang="fr-FR" dirty="0" smtClean="0">
                <a:solidFill>
                  <a:srgbClr val="0D0D0D"/>
                </a:solidFill>
                <a:latin typeface="Söhne"/>
              </a:rPr>
              <a:t> Blue </a:t>
            </a:r>
            <a:r>
              <a:rPr lang="fr-FR" dirty="0">
                <a:solidFill>
                  <a:srgbClr val="0D0D0D"/>
                </a:solidFill>
                <a:latin typeface="Söhne"/>
              </a:rPr>
              <a:t>Ocean s'intègre avec les dépôts Git</a:t>
            </a:r>
            <a:r>
              <a:rPr lang="fr-FR" dirty="0" smtClean="0">
                <a:solidFill>
                  <a:srgbClr val="0D0D0D"/>
                </a:solidFill>
                <a:latin typeface="Söhne"/>
              </a:rPr>
              <a:t>,</a:t>
            </a:r>
          </a:p>
          <a:p>
            <a:r>
              <a:rPr lang="fr-FR" dirty="0" smtClean="0">
                <a:solidFill>
                  <a:srgbClr val="0D0D0D"/>
                </a:solidFill>
                <a:latin typeface="Söhne"/>
              </a:rPr>
              <a:t> </a:t>
            </a:r>
            <a:r>
              <a:rPr lang="fr-FR" dirty="0">
                <a:solidFill>
                  <a:srgbClr val="0D0D0D"/>
                </a:solidFill>
                <a:latin typeface="Söhne"/>
              </a:rPr>
              <a:t>facilitant la gestion des branches et des pull requests.</a:t>
            </a:r>
            <a:endParaRPr lang="fr-FR" b="0" i="0" dirty="0">
              <a:solidFill>
                <a:srgbClr val="0D0D0D"/>
              </a:solidFill>
              <a:effectLst/>
              <a:latin typeface="Söhne"/>
            </a:endParaRPr>
          </a:p>
        </p:txBody>
      </p:sp>
      <p:sp>
        <p:nvSpPr>
          <p:cNvPr id="10" name="Rectangle 9"/>
          <p:cNvSpPr/>
          <p:nvPr/>
        </p:nvSpPr>
        <p:spPr>
          <a:xfrm>
            <a:off x="690879" y="4403483"/>
            <a:ext cx="10674774" cy="923330"/>
          </a:xfrm>
          <a:prstGeom prst="rect">
            <a:avLst/>
          </a:prstGeom>
        </p:spPr>
        <p:txBody>
          <a:bodyPr wrap="square">
            <a:spAutoFit/>
          </a:bodyPr>
          <a:lstStyle/>
          <a:p>
            <a:r>
              <a:rPr lang="fr-FR" b="1" dirty="0">
                <a:solidFill>
                  <a:srgbClr val="0D0D0D"/>
                </a:solidFill>
                <a:latin typeface="Söhne"/>
              </a:rPr>
              <a:t>Fonctionnalités de collaboration </a:t>
            </a:r>
            <a:r>
              <a:rPr lang="fr-FR" b="1" dirty="0" smtClean="0">
                <a:solidFill>
                  <a:srgbClr val="0D0D0D"/>
                </a:solidFill>
                <a:latin typeface="Söhne"/>
              </a:rPr>
              <a:t>:</a:t>
            </a:r>
            <a:r>
              <a:rPr lang="fr-FR" dirty="0" smtClean="0">
                <a:solidFill>
                  <a:srgbClr val="0D0D0D"/>
                </a:solidFill>
                <a:latin typeface="Söhne"/>
              </a:rPr>
              <a:t> Blue </a:t>
            </a:r>
            <a:r>
              <a:rPr lang="fr-FR" dirty="0">
                <a:solidFill>
                  <a:srgbClr val="0D0D0D"/>
                </a:solidFill>
                <a:latin typeface="Söhne"/>
              </a:rPr>
              <a:t>Ocean comprend des fonctionnalités qui facilitent la collaboration en équipe, telles que la possibilité de commenter les exécutions et étapes de pipeline, et de partager des liens vers des parties spécifiques du pipeline</a:t>
            </a:r>
            <a:endParaRPr lang="fr-FR" b="0" i="0" dirty="0">
              <a:solidFill>
                <a:srgbClr val="0D0D0D"/>
              </a:solidFill>
              <a:effectLst/>
              <a:latin typeface="Söhne"/>
            </a:endParaRPr>
          </a:p>
        </p:txBody>
      </p:sp>
      <p:sp>
        <p:nvSpPr>
          <p:cNvPr id="11" name="Rectangle 10"/>
          <p:cNvSpPr/>
          <p:nvPr/>
        </p:nvSpPr>
        <p:spPr>
          <a:xfrm>
            <a:off x="690878" y="5556425"/>
            <a:ext cx="10220961" cy="646331"/>
          </a:xfrm>
          <a:prstGeom prst="rect">
            <a:avLst/>
          </a:prstGeom>
        </p:spPr>
        <p:txBody>
          <a:bodyPr wrap="square">
            <a:spAutoFit/>
          </a:bodyPr>
          <a:lstStyle/>
          <a:p>
            <a:r>
              <a:rPr lang="fr-FR" b="1" dirty="0" smtClean="0">
                <a:solidFill>
                  <a:srgbClr val="0D0D0D"/>
                </a:solidFill>
                <a:latin typeface="Söhne"/>
              </a:rPr>
              <a:t>Personnalisation:</a:t>
            </a:r>
            <a:r>
              <a:rPr lang="fr-FR" dirty="0" smtClean="0">
                <a:solidFill>
                  <a:srgbClr val="0D0D0D"/>
                </a:solidFill>
                <a:latin typeface="Söhne"/>
              </a:rPr>
              <a:t> Les </a:t>
            </a:r>
            <a:r>
              <a:rPr lang="fr-FR" dirty="0">
                <a:solidFill>
                  <a:srgbClr val="0D0D0D"/>
                </a:solidFill>
                <a:latin typeface="Söhne"/>
              </a:rPr>
              <a:t>utilisateurs peuvent personnaliser leur tableau de bord pour afficher les pipelines et vues les plus pertinents pour eux,</a:t>
            </a:r>
            <a:endParaRPr lang="fr-FR" b="0" i="0" dirty="0">
              <a:solidFill>
                <a:srgbClr val="0D0D0D"/>
              </a:solidFill>
              <a:effectLst/>
              <a:latin typeface="Söhne"/>
            </a:endParaRPr>
          </a:p>
        </p:txBody>
      </p:sp>
    </p:spTree>
    <p:extLst>
      <p:ext uri="{BB962C8B-B14F-4D97-AF65-F5344CB8AC3E}">
        <p14:creationId xmlns:p14="http://schemas.microsoft.com/office/powerpoint/2010/main" val="411442271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482934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b="1" dirty="0" smtClean="0"/>
              <a:t>Intégration du Océan Bleu</a:t>
            </a:r>
            <a:endParaRPr lang="fr-FR" altLang="en-US"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31893" y="777224"/>
            <a:ext cx="10058400" cy="2308324"/>
          </a:xfrm>
          <a:prstGeom prst="rect">
            <a:avLst/>
          </a:prstGeom>
        </p:spPr>
        <p:txBody>
          <a:bodyPr wrap="square">
            <a:spAutoFit/>
          </a:bodyPr>
          <a:lstStyle/>
          <a:p>
            <a:r>
              <a:rPr lang="fr-FR" b="1" dirty="0"/>
              <a:t>Installer le plugin Blue Ocean :</a:t>
            </a:r>
          </a:p>
          <a:p>
            <a:endParaRPr lang="fr-FR" dirty="0"/>
          </a:p>
          <a:p>
            <a:r>
              <a:rPr lang="fr-FR" dirty="0"/>
              <a:t>Allez dans </a:t>
            </a:r>
            <a:r>
              <a:rPr lang="fr-FR" b="1" dirty="0"/>
              <a:t>Gérer Jenkins </a:t>
            </a:r>
            <a:r>
              <a:rPr lang="fr-FR" dirty="0"/>
              <a:t>&gt; </a:t>
            </a:r>
            <a:r>
              <a:rPr lang="fr-FR" b="1" dirty="0"/>
              <a:t>Gérer les plugins</a:t>
            </a:r>
            <a:r>
              <a:rPr lang="fr-FR" dirty="0" smtClean="0"/>
              <a:t>.</a:t>
            </a:r>
          </a:p>
          <a:p>
            <a:endParaRPr lang="fr-FR" dirty="0"/>
          </a:p>
          <a:p>
            <a:r>
              <a:rPr lang="fr-FR" dirty="0"/>
              <a:t>Dans l'onglet </a:t>
            </a:r>
            <a:r>
              <a:rPr lang="fr-FR" b="1" dirty="0"/>
              <a:t>Disponible</a:t>
            </a:r>
            <a:r>
              <a:rPr lang="fr-FR" dirty="0"/>
              <a:t>, recherchez "Blue Ocean</a:t>
            </a:r>
            <a:r>
              <a:rPr lang="fr-FR" dirty="0" smtClean="0"/>
              <a:t>".</a:t>
            </a:r>
          </a:p>
          <a:p>
            <a:endParaRPr lang="fr-FR" dirty="0"/>
          </a:p>
          <a:p>
            <a:r>
              <a:rPr lang="fr-FR" dirty="0"/>
              <a:t>Sélectionnez le plugin Blue Ocean et cliquez </a:t>
            </a:r>
            <a:r>
              <a:rPr lang="fr-FR" dirty="0" smtClean="0"/>
              <a:t>sur</a:t>
            </a:r>
          </a:p>
          <a:p>
            <a:r>
              <a:rPr lang="fr-FR" dirty="0" smtClean="0"/>
              <a:t> </a:t>
            </a:r>
            <a:r>
              <a:rPr lang="fr-FR" b="1" dirty="0"/>
              <a:t>Installer sans redémarrage</a:t>
            </a:r>
            <a:r>
              <a:rPr lang="fr-FR" dirty="0"/>
              <a:t> (ou Installer et </a:t>
            </a:r>
            <a:r>
              <a:rPr lang="fr-FR" dirty="0" smtClean="0"/>
              <a:t>Redémarrer)</a:t>
            </a:r>
            <a:endParaRPr lang="fr-FR" dirty="0"/>
          </a:p>
        </p:txBody>
      </p:sp>
      <p:pic>
        <p:nvPicPr>
          <p:cNvPr id="7" name="Image 6"/>
          <p:cNvPicPr>
            <a:picLocks noChangeAspect="1"/>
          </p:cNvPicPr>
          <p:nvPr/>
        </p:nvPicPr>
        <p:blipFill>
          <a:blip r:embed="rId5"/>
          <a:stretch>
            <a:fillRect/>
          </a:stretch>
        </p:blipFill>
        <p:spPr>
          <a:xfrm>
            <a:off x="5277964" y="525689"/>
            <a:ext cx="3762900" cy="1295581"/>
          </a:xfrm>
          <a:prstGeom prst="rect">
            <a:avLst/>
          </a:prstGeom>
        </p:spPr>
      </p:pic>
      <p:pic>
        <p:nvPicPr>
          <p:cNvPr id="12" name="Image 11"/>
          <p:cNvPicPr>
            <a:picLocks noChangeAspect="1"/>
          </p:cNvPicPr>
          <p:nvPr/>
        </p:nvPicPr>
        <p:blipFill>
          <a:blip r:embed="rId6"/>
          <a:stretch>
            <a:fillRect/>
          </a:stretch>
        </p:blipFill>
        <p:spPr>
          <a:xfrm>
            <a:off x="1000547" y="3256523"/>
            <a:ext cx="8554834" cy="3184917"/>
          </a:xfrm>
          <a:prstGeom prst="rect">
            <a:avLst/>
          </a:prstGeom>
        </p:spPr>
      </p:pic>
      <p:pic>
        <p:nvPicPr>
          <p:cNvPr id="14" name="Image 13"/>
          <p:cNvPicPr>
            <a:picLocks noChangeAspect="1"/>
          </p:cNvPicPr>
          <p:nvPr/>
        </p:nvPicPr>
        <p:blipFill rotWithShape="1">
          <a:blip r:embed="rId7"/>
          <a:srcRect r="66996"/>
          <a:stretch/>
        </p:blipFill>
        <p:spPr>
          <a:xfrm>
            <a:off x="8446392" y="1396293"/>
            <a:ext cx="2302887" cy="411190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3161557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482934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b="1" dirty="0" smtClean="0"/>
              <a:t>Intégration du Océan Bleu</a:t>
            </a:r>
            <a:endParaRPr lang="fr-FR" altLang="en-US"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31893" y="777224"/>
            <a:ext cx="10058400" cy="2308324"/>
          </a:xfrm>
          <a:prstGeom prst="rect">
            <a:avLst/>
          </a:prstGeom>
        </p:spPr>
        <p:txBody>
          <a:bodyPr wrap="square">
            <a:spAutoFit/>
          </a:bodyPr>
          <a:lstStyle/>
          <a:p>
            <a:r>
              <a:rPr lang="fr-FR" b="1" dirty="0"/>
              <a:t>Installer le plugin Blue Ocean :</a:t>
            </a:r>
          </a:p>
          <a:p>
            <a:endParaRPr lang="fr-FR" dirty="0"/>
          </a:p>
          <a:p>
            <a:r>
              <a:rPr lang="fr-FR" dirty="0"/>
              <a:t>Allez dans </a:t>
            </a:r>
            <a:r>
              <a:rPr lang="fr-FR" b="1" dirty="0"/>
              <a:t>Gérer Jenkins </a:t>
            </a:r>
            <a:r>
              <a:rPr lang="fr-FR" dirty="0"/>
              <a:t>&gt; </a:t>
            </a:r>
            <a:r>
              <a:rPr lang="fr-FR" b="1" dirty="0"/>
              <a:t>Gérer les plugins</a:t>
            </a:r>
            <a:r>
              <a:rPr lang="fr-FR" dirty="0" smtClean="0"/>
              <a:t>.</a:t>
            </a:r>
          </a:p>
          <a:p>
            <a:endParaRPr lang="fr-FR" dirty="0"/>
          </a:p>
          <a:p>
            <a:r>
              <a:rPr lang="fr-FR" dirty="0"/>
              <a:t>Dans l'onglet </a:t>
            </a:r>
            <a:r>
              <a:rPr lang="fr-FR" b="1" dirty="0"/>
              <a:t>Disponible</a:t>
            </a:r>
            <a:r>
              <a:rPr lang="fr-FR" dirty="0"/>
              <a:t>, recherchez "Blue Ocean</a:t>
            </a:r>
            <a:r>
              <a:rPr lang="fr-FR" dirty="0" smtClean="0"/>
              <a:t>".</a:t>
            </a:r>
          </a:p>
          <a:p>
            <a:endParaRPr lang="fr-FR" dirty="0"/>
          </a:p>
          <a:p>
            <a:r>
              <a:rPr lang="fr-FR" dirty="0"/>
              <a:t>Sélectionnez le plugin Blue Ocean et cliquez </a:t>
            </a:r>
            <a:r>
              <a:rPr lang="fr-FR" dirty="0" smtClean="0"/>
              <a:t>sur</a:t>
            </a:r>
          </a:p>
          <a:p>
            <a:r>
              <a:rPr lang="fr-FR" dirty="0" smtClean="0"/>
              <a:t> </a:t>
            </a:r>
            <a:r>
              <a:rPr lang="fr-FR" b="1" dirty="0"/>
              <a:t>Installer sans redémarrage</a:t>
            </a:r>
            <a:r>
              <a:rPr lang="fr-FR" dirty="0"/>
              <a:t> (ou Installer et </a:t>
            </a:r>
            <a:r>
              <a:rPr lang="fr-FR" dirty="0" smtClean="0"/>
              <a:t>Redémarrer)</a:t>
            </a:r>
            <a:endParaRPr lang="fr-FR" dirty="0"/>
          </a:p>
        </p:txBody>
      </p:sp>
    </p:spTree>
    <p:extLst>
      <p:ext uri="{BB962C8B-B14F-4D97-AF65-F5344CB8AC3E}">
        <p14:creationId xmlns:p14="http://schemas.microsoft.com/office/powerpoint/2010/main" val="227947745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482934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b="1" dirty="0" smtClean="0"/>
              <a:t>Intégration du Océan Bleu</a:t>
            </a:r>
            <a:endParaRPr lang="fr-FR" altLang="en-US"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31893" y="777224"/>
            <a:ext cx="10058400" cy="923330"/>
          </a:xfrm>
          <a:prstGeom prst="rect">
            <a:avLst/>
          </a:prstGeom>
        </p:spPr>
        <p:txBody>
          <a:bodyPr wrap="square">
            <a:spAutoFit/>
          </a:bodyPr>
          <a:lstStyle/>
          <a:p>
            <a:r>
              <a:rPr lang="fr-FR" dirty="0" smtClean="0"/>
              <a:t>Il y a deux niveaux d'affichage </a:t>
            </a:r>
          </a:p>
          <a:p>
            <a:endParaRPr lang="fr-FR" dirty="0"/>
          </a:p>
          <a:p>
            <a:r>
              <a:rPr lang="fr-FR" dirty="0" smtClean="0"/>
              <a:t>Niveau tableau de bord </a:t>
            </a:r>
            <a:endParaRPr lang="fr-FR" dirty="0"/>
          </a:p>
        </p:txBody>
      </p:sp>
      <p:pic>
        <p:nvPicPr>
          <p:cNvPr id="3" name="Image 2"/>
          <p:cNvPicPr>
            <a:picLocks noChangeAspect="1"/>
          </p:cNvPicPr>
          <p:nvPr/>
        </p:nvPicPr>
        <p:blipFill>
          <a:blip r:embed="rId5"/>
          <a:stretch>
            <a:fillRect/>
          </a:stretch>
        </p:blipFill>
        <p:spPr>
          <a:xfrm>
            <a:off x="463259" y="2025225"/>
            <a:ext cx="10542877" cy="3230881"/>
          </a:xfrm>
          <a:prstGeom prst="rect">
            <a:avLst/>
          </a:prstGeom>
        </p:spPr>
      </p:pic>
      <p:sp>
        <p:nvSpPr>
          <p:cNvPr id="7" name="Ellipse 6"/>
          <p:cNvSpPr/>
          <p:nvPr/>
        </p:nvSpPr>
        <p:spPr>
          <a:xfrm>
            <a:off x="1914320" y="4206240"/>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1</a:t>
            </a:r>
            <a:endParaRPr lang="fr-FR" dirty="0"/>
          </a:p>
        </p:txBody>
      </p:sp>
      <p:sp>
        <p:nvSpPr>
          <p:cNvPr id="8" name="Ellipse 7"/>
          <p:cNvSpPr/>
          <p:nvPr/>
        </p:nvSpPr>
        <p:spPr>
          <a:xfrm>
            <a:off x="1548560" y="2429327"/>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2</a:t>
            </a:r>
            <a:endParaRPr lang="fr-FR" dirty="0"/>
          </a:p>
        </p:txBody>
      </p:sp>
      <p:sp>
        <p:nvSpPr>
          <p:cNvPr id="9" name="Ellipse 8"/>
          <p:cNvSpPr/>
          <p:nvPr/>
        </p:nvSpPr>
        <p:spPr>
          <a:xfrm>
            <a:off x="8477710" y="2261041"/>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3</a:t>
            </a:r>
            <a:endParaRPr lang="fr-FR" dirty="0"/>
          </a:p>
        </p:txBody>
      </p:sp>
      <p:sp>
        <p:nvSpPr>
          <p:cNvPr id="10" name="Ellipse 9"/>
          <p:cNvSpPr/>
          <p:nvPr/>
        </p:nvSpPr>
        <p:spPr>
          <a:xfrm>
            <a:off x="10823256" y="2506614"/>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4</a:t>
            </a:r>
            <a:endParaRPr lang="fr-FR" dirty="0"/>
          </a:p>
        </p:txBody>
      </p:sp>
      <p:sp>
        <p:nvSpPr>
          <p:cNvPr id="16" name="ZoneTexte 15"/>
          <p:cNvSpPr txBox="1"/>
          <p:nvPr/>
        </p:nvSpPr>
        <p:spPr>
          <a:xfrm>
            <a:off x="2353459" y="4206240"/>
            <a:ext cx="1512850" cy="307777"/>
          </a:xfrm>
          <a:prstGeom prst="rect">
            <a:avLst/>
          </a:prstGeom>
          <a:noFill/>
        </p:spPr>
        <p:txBody>
          <a:bodyPr wrap="none" rtlCol="0">
            <a:spAutoFit/>
          </a:bodyPr>
          <a:lstStyle/>
          <a:p>
            <a:r>
              <a:rPr lang="fr-FR" sz="1400" dirty="0" smtClean="0"/>
              <a:t>Liste des pipelines</a:t>
            </a:r>
            <a:endParaRPr lang="fr-FR" sz="1400" dirty="0"/>
          </a:p>
        </p:txBody>
      </p:sp>
      <p:sp>
        <p:nvSpPr>
          <p:cNvPr id="17" name="ZoneTexte 16"/>
          <p:cNvSpPr txBox="1"/>
          <p:nvPr/>
        </p:nvSpPr>
        <p:spPr>
          <a:xfrm>
            <a:off x="1914320" y="2465089"/>
            <a:ext cx="1841145" cy="307777"/>
          </a:xfrm>
          <a:prstGeom prst="rect">
            <a:avLst/>
          </a:prstGeom>
          <a:noFill/>
        </p:spPr>
        <p:txBody>
          <a:bodyPr wrap="none" rtlCol="0">
            <a:spAutoFit/>
          </a:bodyPr>
          <a:lstStyle/>
          <a:p>
            <a:r>
              <a:rPr lang="fr-FR" sz="1400" dirty="0" smtClean="0"/>
              <a:t>Chercher des pipelines</a:t>
            </a:r>
            <a:endParaRPr lang="fr-FR" sz="1400" dirty="0"/>
          </a:p>
        </p:txBody>
      </p:sp>
      <p:sp>
        <p:nvSpPr>
          <p:cNvPr id="18" name="ZoneTexte 17"/>
          <p:cNvSpPr txBox="1"/>
          <p:nvPr/>
        </p:nvSpPr>
        <p:spPr>
          <a:xfrm>
            <a:off x="7554252" y="2618977"/>
            <a:ext cx="1846916" cy="523220"/>
          </a:xfrm>
          <a:prstGeom prst="rect">
            <a:avLst/>
          </a:prstGeom>
          <a:noFill/>
        </p:spPr>
        <p:txBody>
          <a:bodyPr wrap="none" rtlCol="0">
            <a:spAutoFit/>
          </a:bodyPr>
          <a:lstStyle/>
          <a:p>
            <a:r>
              <a:rPr lang="fr-FR" sz="1400" dirty="0" smtClean="0"/>
              <a:t>Revenir vers l'interface</a:t>
            </a:r>
          </a:p>
          <a:p>
            <a:r>
              <a:rPr lang="fr-FR" sz="1400" dirty="0" smtClean="0"/>
              <a:t>Jenkins</a:t>
            </a:r>
            <a:endParaRPr lang="fr-FR" sz="1400" dirty="0"/>
          </a:p>
        </p:txBody>
      </p:sp>
      <p:sp>
        <p:nvSpPr>
          <p:cNvPr id="19" name="ZoneTexte 18"/>
          <p:cNvSpPr txBox="1"/>
          <p:nvPr/>
        </p:nvSpPr>
        <p:spPr>
          <a:xfrm>
            <a:off x="10082678" y="2880587"/>
            <a:ext cx="1530419" cy="307777"/>
          </a:xfrm>
          <a:prstGeom prst="rect">
            <a:avLst/>
          </a:prstGeom>
          <a:noFill/>
        </p:spPr>
        <p:txBody>
          <a:bodyPr wrap="none" rtlCol="0">
            <a:spAutoFit/>
          </a:bodyPr>
          <a:lstStyle/>
          <a:p>
            <a:r>
              <a:rPr lang="fr-FR" sz="1400" dirty="0" smtClean="0"/>
              <a:t>Créer une pipeline</a:t>
            </a:r>
            <a:endParaRPr lang="fr-FR" sz="1400" dirty="0"/>
          </a:p>
        </p:txBody>
      </p:sp>
      <p:sp>
        <p:nvSpPr>
          <p:cNvPr id="20" name="ZoneTexte 19"/>
          <p:cNvSpPr txBox="1"/>
          <p:nvPr/>
        </p:nvSpPr>
        <p:spPr>
          <a:xfrm>
            <a:off x="5514065" y="5193680"/>
            <a:ext cx="1368131" cy="307777"/>
          </a:xfrm>
          <a:prstGeom prst="rect">
            <a:avLst/>
          </a:prstGeom>
          <a:noFill/>
        </p:spPr>
        <p:txBody>
          <a:bodyPr wrap="none" rtlCol="0">
            <a:spAutoFit/>
          </a:bodyPr>
          <a:lstStyle/>
          <a:p>
            <a:r>
              <a:rPr lang="fr-FR" sz="1400" dirty="0" smtClean="0"/>
              <a:t>Etat de pipeline </a:t>
            </a:r>
            <a:endParaRPr lang="fr-FR" sz="1400" dirty="0"/>
          </a:p>
        </p:txBody>
      </p:sp>
      <p:sp>
        <p:nvSpPr>
          <p:cNvPr id="21" name="ZoneTexte 20"/>
          <p:cNvSpPr txBox="1"/>
          <p:nvPr/>
        </p:nvSpPr>
        <p:spPr>
          <a:xfrm>
            <a:off x="8033037" y="5491922"/>
            <a:ext cx="1828899" cy="307777"/>
          </a:xfrm>
          <a:prstGeom prst="rect">
            <a:avLst/>
          </a:prstGeom>
          <a:noFill/>
        </p:spPr>
        <p:txBody>
          <a:bodyPr wrap="none" rtlCol="0">
            <a:spAutoFit/>
          </a:bodyPr>
          <a:lstStyle/>
          <a:p>
            <a:r>
              <a:rPr lang="fr-FR" sz="1400" dirty="0" smtClean="0"/>
              <a:t>La branche git actuelle</a:t>
            </a:r>
            <a:endParaRPr lang="fr-FR" sz="1400" dirty="0"/>
          </a:p>
        </p:txBody>
      </p:sp>
      <p:sp>
        <p:nvSpPr>
          <p:cNvPr id="22" name="ZoneTexte 21"/>
          <p:cNvSpPr txBox="1"/>
          <p:nvPr/>
        </p:nvSpPr>
        <p:spPr>
          <a:xfrm>
            <a:off x="8740850" y="3997559"/>
            <a:ext cx="1401794" cy="307777"/>
          </a:xfrm>
          <a:prstGeom prst="rect">
            <a:avLst/>
          </a:prstGeom>
          <a:noFill/>
        </p:spPr>
        <p:txBody>
          <a:bodyPr wrap="none" rtlCol="0">
            <a:spAutoFit/>
          </a:bodyPr>
          <a:lstStyle/>
          <a:p>
            <a:r>
              <a:rPr lang="fr-FR" sz="1400" dirty="0" smtClean="0"/>
              <a:t>Les pull requests</a:t>
            </a:r>
            <a:endParaRPr lang="fr-FR" sz="1400" dirty="0"/>
          </a:p>
        </p:txBody>
      </p:sp>
      <p:cxnSp>
        <p:nvCxnSpPr>
          <p:cNvPr id="23" name="Connecteur droit avec flèche 22"/>
          <p:cNvCxnSpPr>
            <a:stCxn id="20" idx="3"/>
          </p:cNvCxnSpPr>
          <p:nvPr/>
        </p:nvCxnSpPr>
        <p:spPr>
          <a:xfrm flipV="1">
            <a:off x="6882196" y="4937760"/>
            <a:ext cx="900364" cy="409809"/>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27" name="Connecteur droit avec flèche 26"/>
          <p:cNvCxnSpPr>
            <a:stCxn id="21" idx="0"/>
          </p:cNvCxnSpPr>
          <p:nvPr/>
        </p:nvCxnSpPr>
        <p:spPr>
          <a:xfrm flipH="1" flipV="1">
            <a:off x="8740850" y="4043681"/>
            <a:ext cx="206637" cy="1448241"/>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29" name="Connecteur droit avec flèche 28"/>
          <p:cNvCxnSpPr>
            <a:stCxn id="22" idx="0"/>
          </p:cNvCxnSpPr>
          <p:nvPr/>
        </p:nvCxnSpPr>
        <p:spPr>
          <a:xfrm flipV="1">
            <a:off x="9441747" y="3630320"/>
            <a:ext cx="203480" cy="367239"/>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33" name="Connecteur droit avec flèche 32"/>
          <p:cNvCxnSpPr/>
          <p:nvPr/>
        </p:nvCxnSpPr>
        <p:spPr>
          <a:xfrm flipH="1" flipV="1">
            <a:off x="10564750" y="4097435"/>
            <a:ext cx="588782" cy="532572"/>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35" name="ZoneTexte 34"/>
          <p:cNvSpPr txBox="1"/>
          <p:nvPr/>
        </p:nvSpPr>
        <p:spPr>
          <a:xfrm>
            <a:off x="10681351" y="4594027"/>
            <a:ext cx="944361" cy="307777"/>
          </a:xfrm>
          <a:prstGeom prst="rect">
            <a:avLst/>
          </a:prstGeom>
          <a:noFill/>
        </p:spPr>
        <p:txBody>
          <a:bodyPr wrap="none" rtlCol="0">
            <a:spAutoFit/>
          </a:bodyPr>
          <a:lstStyle/>
          <a:p>
            <a:r>
              <a:rPr lang="fr-FR" sz="1400" dirty="0" smtClean="0"/>
              <a:t>Les favoris</a:t>
            </a:r>
            <a:endParaRPr lang="fr-FR" sz="1400" dirty="0"/>
          </a:p>
        </p:txBody>
      </p:sp>
      <p:sp>
        <p:nvSpPr>
          <p:cNvPr id="36" name="Ellipse 35"/>
          <p:cNvSpPr/>
          <p:nvPr/>
        </p:nvSpPr>
        <p:spPr>
          <a:xfrm>
            <a:off x="10524073" y="1754793"/>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4</a:t>
            </a:r>
            <a:endParaRPr lang="fr-FR" dirty="0"/>
          </a:p>
        </p:txBody>
      </p:sp>
      <p:sp>
        <p:nvSpPr>
          <p:cNvPr id="37" name="ZoneTexte 36"/>
          <p:cNvSpPr txBox="1"/>
          <p:nvPr/>
        </p:nvSpPr>
        <p:spPr>
          <a:xfrm>
            <a:off x="9972338" y="1408548"/>
            <a:ext cx="1451616" cy="307777"/>
          </a:xfrm>
          <a:prstGeom prst="rect">
            <a:avLst/>
          </a:prstGeom>
          <a:noFill/>
        </p:spPr>
        <p:txBody>
          <a:bodyPr wrap="none" rtlCol="0">
            <a:spAutoFit/>
          </a:bodyPr>
          <a:lstStyle/>
          <a:p>
            <a:r>
              <a:rPr lang="fr-FR" sz="1400" dirty="0" smtClean="0"/>
              <a:t>Fermer la session</a:t>
            </a:r>
            <a:endParaRPr lang="fr-FR" sz="1400" dirty="0"/>
          </a:p>
        </p:txBody>
      </p:sp>
    </p:spTree>
    <p:extLst>
      <p:ext uri="{BB962C8B-B14F-4D97-AF65-F5344CB8AC3E}">
        <p14:creationId xmlns:p14="http://schemas.microsoft.com/office/powerpoint/2010/main" val="66195494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482934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b="1" dirty="0" smtClean="0"/>
              <a:t>Intégration du Océan Bleu</a:t>
            </a:r>
            <a:endParaRPr lang="fr-FR" altLang="en-US"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77706" y="785613"/>
            <a:ext cx="2215286" cy="369332"/>
          </a:xfrm>
          <a:prstGeom prst="rect">
            <a:avLst/>
          </a:prstGeom>
        </p:spPr>
        <p:txBody>
          <a:bodyPr wrap="none">
            <a:spAutoFit/>
          </a:bodyPr>
          <a:lstStyle/>
          <a:p>
            <a:r>
              <a:rPr lang="fr-FR" dirty="0"/>
              <a:t>Niveau tableau </a:t>
            </a:r>
            <a:r>
              <a:rPr lang="fr-FR" dirty="0" smtClean="0"/>
              <a:t>projet</a:t>
            </a:r>
            <a:endParaRPr lang="fr-FR" dirty="0"/>
          </a:p>
        </p:txBody>
      </p:sp>
      <p:pic>
        <p:nvPicPr>
          <p:cNvPr id="3" name="Image 2"/>
          <p:cNvPicPr>
            <a:picLocks noChangeAspect="1"/>
          </p:cNvPicPr>
          <p:nvPr/>
        </p:nvPicPr>
        <p:blipFill>
          <a:blip r:embed="rId5"/>
          <a:stretch>
            <a:fillRect/>
          </a:stretch>
        </p:blipFill>
        <p:spPr>
          <a:xfrm>
            <a:off x="1288646" y="1678650"/>
            <a:ext cx="9278926" cy="3807750"/>
          </a:xfrm>
          <a:prstGeom prst="rect">
            <a:avLst/>
          </a:prstGeom>
        </p:spPr>
      </p:pic>
      <p:pic>
        <p:nvPicPr>
          <p:cNvPr id="4" name="Image 3"/>
          <p:cNvPicPr>
            <a:picLocks noChangeAspect="1"/>
          </p:cNvPicPr>
          <p:nvPr/>
        </p:nvPicPr>
        <p:blipFill>
          <a:blip r:embed="rId6"/>
          <a:stretch>
            <a:fillRect/>
          </a:stretch>
        </p:blipFill>
        <p:spPr>
          <a:xfrm>
            <a:off x="277706" y="3356711"/>
            <a:ext cx="3815095" cy="1448443"/>
          </a:xfrm>
          <a:prstGeom prst="rect">
            <a:avLst/>
          </a:prstGeom>
          <a:ln>
            <a:noFill/>
          </a:ln>
          <a:effectLst>
            <a:outerShdw blurRad="292100" dist="139700" dir="2700000" algn="tl" rotWithShape="0">
              <a:srgbClr val="333333">
                <a:alpha val="65000"/>
              </a:srgbClr>
            </a:outerShdw>
          </a:effectLst>
        </p:spPr>
      </p:pic>
      <p:cxnSp>
        <p:nvCxnSpPr>
          <p:cNvPr id="8" name="Connecteur droit avec flèche 7"/>
          <p:cNvCxnSpPr/>
          <p:nvPr/>
        </p:nvCxnSpPr>
        <p:spPr>
          <a:xfrm>
            <a:off x="8270240" y="4653280"/>
            <a:ext cx="399627" cy="243840"/>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0" name="Connecteur droit avec flèche 9"/>
          <p:cNvCxnSpPr/>
          <p:nvPr/>
        </p:nvCxnSpPr>
        <p:spPr>
          <a:xfrm flipV="1">
            <a:off x="8270240" y="2060143"/>
            <a:ext cx="0" cy="2593137"/>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12" name="ZoneTexte 11"/>
          <p:cNvSpPr txBox="1"/>
          <p:nvPr/>
        </p:nvSpPr>
        <p:spPr>
          <a:xfrm>
            <a:off x="5851885" y="4530281"/>
            <a:ext cx="2418354" cy="307777"/>
          </a:xfrm>
          <a:prstGeom prst="rect">
            <a:avLst/>
          </a:prstGeom>
          <a:noFill/>
        </p:spPr>
        <p:txBody>
          <a:bodyPr wrap="none" rtlCol="0">
            <a:spAutoFit/>
          </a:bodyPr>
          <a:lstStyle/>
          <a:p>
            <a:r>
              <a:rPr lang="fr-FR" sz="1400" dirty="0" smtClean="0"/>
              <a:t>Relancer l'exécution de l'étape</a:t>
            </a:r>
            <a:endParaRPr lang="fr-FR" sz="1400" dirty="0"/>
          </a:p>
        </p:txBody>
      </p:sp>
      <p:cxnSp>
        <p:nvCxnSpPr>
          <p:cNvPr id="14" name="Connecteur droit avec flèche 13"/>
          <p:cNvCxnSpPr/>
          <p:nvPr/>
        </p:nvCxnSpPr>
        <p:spPr>
          <a:xfrm flipH="1" flipV="1">
            <a:off x="1876213" y="4260427"/>
            <a:ext cx="743423" cy="999068"/>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16" name="ZoneTexte 15"/>
          <p:cNvSpPr txBox="1"/>
          <p:nvPr/>
        </p:nvSpPr>
        <p:spPr>
          <a:xfrm>
            <a:off x="2929192" y="5185805"/>
            <a:ext cx="1707647" cy="307777"/>
          </a:xfrm>
          <a:prstGeom prst="rect">
            <a:avLst/>
          </a:prstGeom>
          <a:noFill/>
        </p:spPr>
        <p:txBody>
          <a:bodyPr wrap="none" rtlCol="0">
            <a:spAutoFit/>
          </a:bodyPr>
          <a:lstStyle/>
          <a:p>
            <a:r>
              <a:rPr lang="fr-FR" sz="1400" dirty="0" smtClean="0"/>
              <a:t>Les détails de l'étape</a:t>
            </a:r>
            <a:endParaRPr lang="fr-FR" sz="1400" dirty="0"/>
          </a:p>
        </p:txBody>
      </p:sp>
      <p:sp>
        <p:nvSpPr>
          <p:cNvPr id="18" name="ZoneTexte 17"/>
          <p:cNvSpPr txBox="1"/>
          <p:nvPr/>
        </p:nvSpPr>
        <p:spPr>
          <a:xfrm>
            <a:off x="5034307" y="3927043"/>
            <a:ext cx="718530" cy="307777"/>
          </a:xfrm>
          <a:prstGeom prst="rect">
            <a:avLst/>
          </a:prstGeom>
          <a:noFill/>
        </p:spPr>
        <p:txBody>
          <a:bodyPr wrap="none" rtlCol="0">
            <a:spAutoFit/>
          </a:bodyPr>
          <a:lstStyle/>
          <a:p>
            <a:r>
              <a:rPr lang="fr-FR" sz="1400" dirty="0" smtClean="0"/>
              <a:t>L'étape</a:t>
            </a:r>
            <a:endParaRPr lang="fr-FR" sz="1400" dirty="0"/>
          </a:p>
        </p:txBody>
      </p:sp>
      <p:sp>
        <p:nvSpPr>
          <p:cNvPr id="17" name="Ellipse 16"/>
          <p:cNvSpPr/>
          <p:nvPr/>
        </p:nvSpPr>
        <p:spPr>
          <a:xfrm>
            <a:off x="1785626" y="2037428"/>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1</a:t>
            </a:r>
            <a:endParaRPr lang="fr-FR" dirty="0"/>
          </a:p>
        </p:txBody>
      </p:sp>
      <p:sp>
        <p:nvSpPr>
          <p:cNvPr id="20" name="Ellipse 19"/>
          <p:cNvSpPr/>
          <p:nvPr/>
        </p:nvSpPr>
        <p:spPr>
          <a:xfrm>
            <a:off x="1785626" y="2418079"/>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2</a:t>
            </a:r>
            <a:endParaRPr lang="fr-FR" dirty="0"/>
          </a:p>
        </p:txBody>
      </p:sp>
      <p:sp>
        <p:nvSpPr>
          <p:cNvPr id="21" name="Ellipse 20"/>
          <p:cNvSpPr/>
          <p:nvPr/>
        </p:nvSpPr>
        <p:spPr>
          <a:xfrm>
            <a:off x="5210692" y="1389582"/>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3</a:t>
            </a:r>
            <a:endParaRPr lang="fr-FR" dirty="0"/>
          </a:p>
        </p:txBody>
      </p:sp>
      <p:sp>
        <p:nvSpPr>
          <p:cNvPr id="22" name="Ellipse 21"/>
          <p:cNvSpPr/>
          <p:nvPr/>
        </p:nvSpPr>
        <p:spPr>
          <a:xfrm>
            <a:off x="6014719" y="1355148"/>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4</a:t>
            </a:r>
            <a:endParaRPr lang="fr-FR" dirty="0"/>
          </a:p>
        </p:txBody>
      </p:sp>
      <p:sp>
        <p:nvSpPr>
          <p:cNvPr id="23" name="Ellipse 22"/>
          <p:cNvSpPr/>
          <p:nvPr/>
        </p:nvSpPr>
        <p:spPr>
          <a:xfrm>
            <a:off x="6802665" y="1389582"/>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5</a:t>
            </a:r>
            <a:endParaRPr lang="fr-FR" dirty="0"/>
          </a:p>
        </p:txBody>
      </p:sp>
      <p:sp>
        <p:nvSpPr>
          <p:cNvPr id="24" name="Ellipse 23"/>
          <p:cNvSpPr/>
          <p:nvPr/>
        </p:nvSpPr>
        <p:spPr>
          <a:xfrm>
            <a:off x="7488238" y="1391098"/>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6</a:t>
            </a:r>
            <a:endParaRPr lang="fr-FR" dirty="0"/>
          </a:p>
        </p:txBody>
      </p:sp>
      <p:sp>
        <p:nvSpPr>
          <p:cNvPr id="25" name="Ellipse 24"/>
          <p:cNvSpPr/>
          <p:nvPr/>
        </p:nvSpPr>
        <p:spPr>
          <a:xfrm>
            <a:off x="8104293" y="1346490"/>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7</a:t>
            </a:r>
            <a:endParaRPr lang="fr-FR" dirty="0"/>
          </a:p>
        </p:txBody>
      </p:sp>
      <p:sp>
        <p:nvSpPr>
          <p:cNvPr id="26" name="Ellipse 25"/>
          <p:cNvSpPr/>
          <p:nvPr/>
        </p:nvSpPr>
        <p:spPr>
          <a:xfrm>
            <a:off x="8843470" y="1356764"/>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8</a:t>
            </a:r>
            <a:endParaRPr lang="fr-FR" dirty="0"/>
          </a:p>
        </p:txBody>
      </p:sp>
      <p:sp>
        <p:nvSpPr>
          <p:cNvPr id="28" name="Ellipse 27"/>
          <p:cNvSpPr/>
          <p:nvPr/>
        </p:nvSpPr>
        <p:spPr>
          <a:xfrm>
            <a:off x="9522641" y="1355147"/>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9</a:t>
            </a:r>
            <a:endParaRPr lang="fr-FR" dirty="0"/>
          </a:p>
        </p:txBody>
      </p:sp>
    </p:spTree>
    <p:extLst>
      <p:ext uri="{BB962C8B-B14F-4D97-AF65-F5344CB8AC3E}">
        <p14:creationId xmlns:p14="http://schemas.microsoft.com/office/powerpoint/2010/main" val="699676716"/>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482934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b="1" dirty="0" smtClean="0"/>
              <a:t>Intégration du Océan Bleu</a:t>
            </a:r>
            <a:endParaRPr lang="fr-FR" altLang="en-US"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77706" y="785613"/>
            <a:ext cx="2133597" cy="369332"/>
          </a:xfrm>
          <a:prstGeom prst="rect">
            <a:avLst/>
          </a:prstGeom>
        </p:spPr>
        <p:txBody>
          <a:bodyPr wrap="none">
            <a:spAutoFit/>
          </a:bodyPr>
          <a:lstStyle/>
          <a:p>
            <a:r>
              <a:rPr lang="fr-FR" dirty="0" smtClean="0"/>
              <a:t>Création de pipeline </a:t>
            </a:r>
            <a:endParaRPr lang="fr-FR" dirty="0"/>
          </a:p>
        </p:txBody>
      </p:sp>
      <p:sp>
        <p:nvSpPr>
          <p:cNvPr id="6" name="Rectangle 5"/>
          <p:cNvSpPr/>
          <p:nvPr/>
        </p:nvSpPr>
        <p:spPr>
          <a:xfrm>
            <a:off x="330024" y="1226586"/>
            <a:ext cx="10434671" cy="584775"/>
          </a:xfrm>
          <a:prstGeom prst="rect">
            <a:avLst/>
          </a:prstGeom>
        </p:spPr>
        <p:txBody>
          <a:bodyPr wrap="square">
            <a:spAutoFit/>
          </a:bodyPr>
          <a:lstStyle/>
          <a:p>
            <a:r>
              <a:rPr lang="fr-FR" sz="1600" dirty="0">
                <a:solidFill>
                  <a:srgbClr val="000C1A"/>
                </a:solidFill>
                <a:latin typeface="system-ui"/>
              </a:rPr>
              <a:t>Pour commencer à configurer </a:t>
            </a:r>
            <a:r>
              <a:rPr lang="fr-FR" sz="1600" dirty="0" smtClean="0">
                <a:solidFill>
                  <a:srgbClr val="000C1A"/>
                </a:solidFill>
                <a:latin typeface="system-ui"/>
              </a:rPr>
              <a:t>le projet </a:t>
            </a:r>
            <a:r>
              <a:rPr lang="fr-FR" sz="1600" dirty="0">
                <a:solidFill>
                  <a:srgbClr val="000C1A"/>
                </a:solidFill>
                <a:latin typeface="system-ui"/>
              </a:rPr>
              <a:t>Pipeline dans Blue </a:t>
            </a:r>
            <a:r>
              <a:rPr lang="fr-FR" sz="1600" dirty="0" smtClean="0">
                <a:solidFill>
                  <a:srgbClr val="000C1A"/>
                </a:solidFill>
                <a:latin typeface="system-ui"/>
              </a:rPr>
              <a:t>Ocean, il faut tout d'abord avoir un compte dans une plateforme git </a:t>
            </a:r>
            <a:endParaRPr lang="fr-FR" sz="1600" dirty="0"/>
          </a:p>
        </p:txBody>
      </p:sp>
      <p:pic>
        <p:nvPicPr>
          <p:cNvPr id="2050" name="Picture 2" descr="Bouton Nouveau pipelin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024" y="2065558"/>
            <a:ext cx="4231569" cy="115537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3272921" y="2711624"/>
            <a:ext cx="1299078" cy="3279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Image 8"/>
          <p:cNvPicPr>
            <a:picLocks noChangeAspect="1"/>
          </p:cNvPicPr>
          <p:nvPr/>
        </p:nvPicPr>
        <p:blipFill>
          <a:blip r:embed="rId6"/>
          <a:stretch>
            <a:fillRect/>
          </a:stretch>
        </p:blipFill>
        <p:spPr>
          <a:xfrm>
            <a:off x="287113" y="3769632"/>
            <a:ext cx="5887272" cy="2781688"/>
          </a:xfrm>
          <a:prstGeom prst="rect">
            <a:avLst/>
          </a:prstGeom>
        </p:spPr>
      </p:pic>
    </p:spTree>
    <p:extLst>
      <p:ext uri="{BB962C8B-B14F-4D97-AF65-F5344CB8AC3E}">
        <p14:creationId xmlns:p14="http://schemas.microsoft.com/office/powerpoint/2010/main" val="144592499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3"/>
          <a:stretch>
            <a:fillRect/>
          </a:stretch>
        </p:blipFill>
        <p:spPr>
          <a:xfrm>
            <a:off x="5810978" y="1154945"/>
            <a:ext cx="4896102" cy="5251720"/>
          </a:xfrm>
          <a:prstGeom prst="rect">
            <a:avLst/>
          </a:prstGeom>
        </p:spPr>
      </p:pic>
      <p:sp>
        <p:nvSpPr>
          <p:cNvPr id="340994" name="Rectangle 1">
            <a:hlinkClick r:id="rId4" action="ppaction://hlinkfile"/>
          </p:cNvPr>
          <p:cNvSpPr>
            <a:spLocks noChangeArrowheads="1"/>
          </p:cNvSpPr>
          <p:nvPr/>
        </p:nvSpPr>
        <p:spPr bwMode="auto">
          <a:xfrm>
            <a:off x="204965" y="236361"/>
            <a:ext cx="482934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b="1" dirty="0" smtClean="0"/>
              <a:t>Intégration du Océan Bleu</a:t>
            </a:r>
            <a:endParaRPr lang="fr-FR" altLang="en-US"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77706" y="785613"/>
            <a:ext cx="2133597" cy="369332"/>
          </a:xfrm>
          <a:prstGeom prst="rect">
            <a:avLst/>
          </a:prstGeom>
        </p:spPr>
        <p:txBody>
          <a:bodyPr wrap="none">
            <a:spAutoFit/>
          </a:bodyPr>
          <a:lstStyle/>
          <a:p>
            <a:r>
              <a:rPr lang="fr-FR" dirty="0" smtClean="0"/>
              <a:t>Création de pipeline </a:t>
            </a:r>
            <a:endParaRPr lang="fr-FR" dirty="0"/>
          </a:p>
        </p:txBody>
      </p:sp>
      <p:sp>
        <p:nvSpPr>
          <p:cNvPr id="10" name="Rectangle 9"/>
          <p:cNvSpPr/>
          <p:nvPr/>
        </p:nvSpPr>
        <p:spPr>
          <a:xfrm>
            <a:off x="330025" y="1226586"/>
            <a:ext cx="4349182" cy="1815882"/>
          </a:xfrm>
          <a:prstGeom prst="rect">
            <a:avLst/>
          </a:prstGeom>
        </p:spPr>
        <p:txBody>
          <a:bodyPr wrap="square">
            <a:spAutoFit/>
          </a:bodyPr>
          <a:lstStyle/>
          <a:p>
            <a:r>
              <a:rPr lang="fr-FR" sz="1600" dirty="0" smtClean="0">
                <a:solidFill>
                  <a:srgbClr val="000C1A"/>
                </a:solidFill>
                <a:latin typeface="system-ui"/>
              </a:rPr>
              <a:t>Pour se connecter à Gitlab, la meilleure </a:t>
            </a:r>
          </a:p>
          <a:p>
            <a:r>
              <a:rPr lang="fr-FR" sz="1600" dirty="0" smtClean="0">
                <a:solidFill>
                  <a:srgbClr val="000C1A"/>
                </a:solidFill>
                <a:latin typeface="system-ui"/>
              </a:rPr>
              <a:t>manière est de créer un Token au niveau </a:t>
            </a:r>
          </a:p>
          <a:p>
            <a:r>
              <a:rPr lang="fr-FR" sz="1600" dirty="0" smtClean="0">
                <a:solidFill>
                  <a:srgbClr val="000C1A"/>
                </a:solidFill>
                <a:latin typeface="system-ui"/>
              </a:rPr>
              <a:t>de Gitlab</a:t>
            </a:r>
          </a:p>
          <a:p>
            <a:endParaRPr lang="fr-FR" sz="1600" dirty="0">
              <a:solidFill>
                <a:srgbClr val="000C1A"/>
              </a:solidFill>
              <a:latin typeface="system-ui"/>
            </a:endParaRPr>
          </a:p>
          <a:p>
            <a:r>
              <a:rPr lang="fr-FR" sz="1600" dirty="0" smtClean="0">
                <a:solidFill>
                  <a:srgbClr val="000C1A"/>
                </a:solidFill>
                <a:latin typeface="system-ui"/>
              </a:rPr>
              <a:t>Au niveau de </a:t>
            </a:r>
            <a:r>
              <a:rPr lang="fr-FR" sz="1600" b="1" dirty="0" err="1" smtClean="0">
                <a:solidFill>
                  <a:srgbClr val="000C1A"/>
                </a:solidFill>
                <a:latin typeface="system-ui"/>
              </a:rPr>
              <a:t>username</a:t>
            </a:r>
            <a:r>
              <a:rPr lang="fr-FR" sz="1600" b="1" dirty="0" smtClean="0">
                <a:solidFill>
                  <a:srgbClr val="000C1A"/>
                </a:solidFill>
                <a:latin typeface="system-ui"/>
              </a:rPr>
              <a:t> </a:t>
            </a:r>
            <a:r>
              <a:rPr lang="fr-FR" sz="1600" dirty="0" smtClean="0">
                <a:solidFill>
                  <a:srgbClr val="000C1A"/>
                </a:solidFill>
                <a:latin typeface="system-ui"/>
              </a:rPr>
              <a:t>il faut mettre le nom</a:t>
            </a:r>
          </a:p>
          <a:p>
            <a:r>
              <a:rPr lang="fr-FR" sz="1600" dirty="0" smtClean="0">
                <a:solidFill>
                  <a:srgbClr val="000C1A"/>
                </a:solidFill>
                <a:latin typeface="system-ui"/>
              </a:rPr>
              <a:t>D'utilisateur du compte Gitlab et au niveau du mot de passe il faut mettre le Token 3 et 4</a:t>
            </a:r>
            <a:endParaRPr lang="fr-FR" sz="1600" dirty="0"/>
          </a:p>
        </p:txBody>
      </p:sp>
      <p:sp>
        <p:nvSpPr>
          <p:cNvPr id="11" name="Ellipse 10"/>
          <p:cNvSpPr/>
          <p:nvPr/>
        </p:nvSpPr>
        <p:spPr>
          <a:xfrm>
            <a:off x="6559425" y="2176164"/>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1</a:t>
            </a:r>
            <a:endParaRPr lang="fr-FR" dirty="0"/>
          </a:p>
        </p:txBody>
      </p:sp>
      <p:sp>
        <p:nvSpPr>
          <p:cNvPr id="12" name="Ellipse 11"/>
          <p:cNvSpPr/>
          <p:nvPr/>
        </p:nvSpPr>
        <p:spPr>
          <a:xfrm>
            <a:off x="7467519" y="3502747"/>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2</a:t>
            </a:r>
            <a:endParaRPr lang="fr-FR" dirty="0"/>
          </a:p>
        </p:txBody>
      </p:sp>
      <p:sp>
        <p:nvSpPr>
          <p:cNvPr id="13" name="Ellipse 12"/>
          <p:cNvSpPr/>
          <p:nvPr/>
        </p:nvSpPr>
        <p:spPr>
          <a:xfrm>
            <a:off x="7101759" y="4292453"/>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3</a:t>
            </a:r>
            <a:endParaRPr lang="fr-FR" dirty="0"/>
          </a:p>
        </p:txBody>
      </p:sp>
      <p:sp>
        <p:nvSpPr>
          <p:cNvPr id="14" name="Ellipse 13"/>
          <p:cNvSpPr/>
          <p:nvPr/>
        </p:nvSpPr>
        <p:spPr>
          <a:xfrm>
            <a:off x="7168755" y="4987523"/>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4</a:t>
            </a:r>
            <a:endParaRPr lang="fr-FR" dirty="0"/>
          </a:p>
        </p:txBody>
      </p:sp>
      <p:sp>
        <p:nvSpPr>
          <p:cNvPr id="15" name="Ellipse 14"/>
          <p:cNvSpPr/>
          <p:nvPr/>
        </p:nvSpPr>
        <p:spPr>
          <a:xfrm>
            <a:off x="7284639" y="5952506"/>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5</a:t>
            </a:r>
            <a:endParaRPr lang="fr-FR" dirty="0"/>
          </a:p>
        </p:txBody>
      </p:sp>
    </p:spTree>
    <p:extLst>
      <p:ext uri="{BB962C8B-B14F-4D97-AF65-F5344CB8AC3E}">
        <p14:creationId xmlns:p14="http://schemas.microsoft.com/office/powerpoint/2010/main" val="274916810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482934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b="1" dirty="0" smtClean="0"/>
              <a:t>Intégration du Océan Bleu</a:t>
            </a:r>
            <a:endParaRPr lang="fr-FR" altLang="en-US"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77706" y="785613"/>
            <a:ext cx="2133597" cy="369332"/>
          </a:xfrm>
          <a:prstGeom prst="rect">
            <a:avLst/>
          </a:prstGeom>
        </p:spPr>
        <p:txBody>
          <a:bodyPr wrap="none">
            <a:spAutoFit/>
          </a:bodyPr>
          <a:lstStyle/>
          <a:p>
            <a:r>
              <a:rPr lang="fr-FR" dirty="0" smtClean="0"/>
              <a:t>Création de pipeline </a:t>
            </a:r>
            <a:endParaRPr lang="fr-FR" dirty="0"/>
          </a:p>
        </p:txBody>
      </p:sp>
      <p:sp>
        <p:nvSpPr>
          <p:cNvPr id="10" name="Rectangle 9"/>
          <p:cNvSpPr/>
          <p:nvPr/>
        </p:nvSpPr>
        <p:spPr>
          <a:xfrm>
            <a:off x="330024" y="1226586"/>
            <a:ext cx="10838267" cy="338554"/>
          </a:xfrm>
          <a:prstGeom prst="rect">
            <a:avLst/>
          </a:prstGeom>
        </p:spPr>
        <p:txBody>
          <a:bodyPr wrap="square">
            <a:spAutoFit/>
          </a:bodyPr>
          <a:lstStyle/>
          <a:p>
            <a:r>
              <a:rPr lang="fr-FR" sz="1600" dirty="0" smtClean="0">
                <a:solidFill>
                  <a:srgbClr val="000C1A"/>
                </a:solidFill>
                <a:latin typeface="system-ui"/>
              </a:rPr>
              <a:t>Océan bleu va créer un projet multi branches par défaut avec une implémentation préliminaire de pipe line  </a:t>
            </a:r>
            <a:endParaRPr lang="fr-FR" sz="1600" dirty="0"/>
          </a:p>
        </p:txBody>
      </p:sp>
      <p:pic>
        <p:nvPicPr>
          <p:cNvPr id="3" name="Image 2"/>
          <p:cNvPicPr>
            <a:picLocks noChangeAspect="1"/>
          </p:cNvPicPr>
          <p:nvPr/>
        </p:nvPicPr>
        <p:blipFill>
          <a:blip r:embed="rId5"/>
          <a:stretch>
            <a:fillRect/>
          </a:stretch>
        </p:blipFill>
        <p:spPr>
          <a:xfrm>
            <a:off x="400601" y="1722881"/>
            <a:ext cx="8010831" cy="2023006"/>
          </a:xfrm>
          <a:prstGeom prst="rect">
            <a:avLst/>
          </a:prstGeom>
        </p:spPr>
      </p:pic>
      <p:pic>
        <p:nvPicPr>
          <p:cNvPr id="7" name="Image 6"/>
          <p:cNvPicPr>
            <a:picLocks noChangeAspect="1"/>
          </p:cNvPicPr>
          <p:nvPr/>
        </p:nvPicPr>
        <p:blipFill>
          <a:blip r:embed="rId6"/>
          <a:stretch>
            <a:fillRect/>
          </a:stretch>
        </p:blipFill>
        <p:spPr>
          <a:xfrm>
            <a:off x="7814217" y="2002241"/>
            <a:ext cx="3930478" cy="3802773"/>
          </a:xfrm>
          <a:prstGeom prst="rect">
            <a:avLst/>
          </a:prstGeom>
          <a:ln>
            <a:noFill/>
          </a:ln>
          <a:effectLst>
            <a:outerShdw blurRad="292100" dist="139700" dir="2700000" algn="tl" rotWithShape="0">
              <a:srgbClr val="333333">
                <a:alpha val="65000"/>
              </a:srgbClr>
            </a:outerShdw>
          </a:effectLst>
        </p:spPr>
      </p:pic>
      <p:pic>
        <p:nvPicPr>
          <p:cNvPr id="8" name="Image 7"/>
          <p:cNvPicPr>
            <a:picLocks noChangeAspect="1"/>
          </p:cNvPicPr>
          <p:nvPr/>
        </p:nvPicPr>
        <p:blipFill>
          <a:blip r:embed="rId7"/>
          <a:stretch>
            <a:fillRect/>
          </a:stretch>
        </p:blipFill>
        <p:spPr>
          <a:xfrm>
            <a:off x="668458" y="3826636"/>
            <a:ext cx="6500800" cy="2590319"/>
          </a:xfrm>
          <a:prstGeom prst="rect">
            <a:avLst/>
          </a:prstGeom>
        </p:spPr>
      </p:pic>
      <p:cxnSp>
        <p:nvCxnSpPr>
          <p:cNvPr id="16" name="Connecteur droit avec flèche 15"/>
          <p:cNvCxnSpPr/>
          <p:nvPr/>
        </p:nvCxnSpPr>
        <p:spPr>
          <a:xfrm>
            <a:off x="3525170" y="3481026"/>
            <a:ext cx="208104" cy="2661220"/>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2863717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482934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b="1" dirty="0" smtClean="0"/>
              <a:t>Intégration du Océan Bleu</a:t>
            </a:r>
            <a:endParaRPr lang="fr-FR" altLang="en-US"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77706" y="785613"/>
            <a:ext cx="3885359" cy="369332"/>
          </a:xfrm>
          <a:prstGeom prst="rect">
            <a:avLst/>
          </a:prstGeom>
        </p:spPr>
        <p:txBody>
          <a:bodyPr wrap="none">
            <a:spAutoFit/>
          </a:bodyPr>
          <a:lstStyle/>
          <a:p>
            <a:r>
              <a:rPr lang="fr-FR" dirty="0" smtClean="0"/>
              <a:t>Création de pipeline (Tableau de bord) </a:t>
            </a:r>
            <a:endParaRPr lang="fr-FR" dirty="0"/>
          </a:p>
        </p:txBody>
      </p:sp>
      <p:sp>
        <p:nvSpPr>
          <p:cNvPr id="4" name="Rectangle 3"/>
          <p:cNvSpPr/>
          <p:nvPr/>
        </p:nvSpPr>
        <p:spPr>
          <a:xfrm>
            <a:off x="277706" y="1154945"/>
            <a:ext cx="11546432" cy="646331"/>
          </a:xfrm>
          <a:prstGeom prst="rect">
            <a:avLst/>
          </a:prstGeom>
        </p:spPr>
        <p:txBody>
          <a:bodyPr wrap="square">
            <a:spAutoFit/>
          </a:bodyPr>
          <a:lstStyle/>
          <a:p>
            <a:r>
              <a:rPr lang="fr-FR" dirty="0"/>
              <a:t>Le « Tableau de bord » de Blue Ocean est la vue par défaut lors de l'ouverture de Blue Ocean. Il affiche un aperçu de tous les projets Pipeline configurés sur une instance Jenkins</a:t>
            </a:r>
          </a:p>
        </p:txBody>
      </p:sp>
      <p:pic>
        <p:nvPicPr>
          <p:cNvPr id="6146" name="Picture 2" descr="Présentation du tableau de bord Blue Ocean"/>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74030" y="2079350"/>
            <a:ext cx="7153784" cy="4253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958445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4" action="ppaction://hlinkfile"/>
          </p:cNvPr>
          <p:cNvSpPr>
            <a:spLocks noChangeArrowheads="1"/>
          </p:cNvSpPr>
          <p:nvPr/>
        </p:nvSpPr>
        <p:spPr bwMode="auto">
          <a:xfrm>
            <a:off x="204965" y="236361"/>
            <a:ext cx="482934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b="1" dirty="0" smtClean="0"/>
              <a:t>Intégration du Océan Bleu</a:t>
            </a:r>
            <a:endParaRPr lang="fr-FR" altLang="en-US"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77706" y="785613"/>
            <a:ext cx="3990195" cy="369332"/>
          </a:xfrm>
          <a:prstGeom prst="rect">
            <a:avLst/>
          </a:prstGeom>
        </p:spPr>
        <p:txBody>
          <a:bodyPr wrap="none">
            <a:spAutoFit/>
          </a:bodyPr>
          <a:lstStyle/>
          <a:p>
            <a:r>
              <a:rPr lang="fr-FR" dirty="0" smtClean="0"/>
              <a:t>Création de pipeline (L'état d'exécution) </a:t>
            </a:r>
            <a:endParaRPr lang="fr-FR" dirty="0"/>
          </a:p>
        </p:txBody>
      </p:sp>
      <p:sp>
        <p:nvSpPr>
          <p:cNvPr id="4" name="Rectangle 3"/>
          <p:cNvSpPr/>
          <p:nvPr/>
        </p:nvSpPr>
        <p:spPr>
          <a:xfrm>
            <a:off x="277706" y="1154945"/>
            <a:ext cx="11546432" cy="646331"/>
          </a:xfrm>
          <a:prstGeom prst="rect">
            <a:avLst/>
          </a:prstGeom>
        </p:spPr>
        <p:txBody>
          <a:bodyPr wrap="square">
            <a:spAutoFit/>
          </a:bodyPr>
          <a:lstStyle/>
          <a:p>
            <a:r>
              <a:rPr lang="fr-FR" dirty="0"/>
              <a:t>Les icônes d'état du tableau de bord représentent l'état global du pipeline, tandis que les icônes d'état dans l' onglet Branches de la vue Activité représentent l'état global de chaque branche</a:t>
            </a:r>
            <a:endParaRPr lang="fr-FR" dirty="0"/>
          </a:p>
        </p:txBody>
      </p:sp>
      <p:pic>
        <p:nvPicPr>
          <p:cNvPr id="12" name="Image 11"/>
          <p:cNvPicPr>
            <a:picLocks noChangeAspect="1"/>
          </p:cNvPicPr>
          <p:nvPr/>
        </p:nvPicPr>
        <p:blipFill>
          <a:blip r:embed="rId6"/>
          <a:stretch>
            <a:fillRect/>
          </a:stretch>
        </p:blipFill>
        <p:spPr>
          <a:xfrm>
            <a:off x="5412197" y="2003721"/>
            <a:ext cx="3264068" cy="4000706"/>
          </a:xfrm>
          <a:prstGeom prst="rect">
            <a:avLst/>
          </a:prstGeom>
        </p:spPr>
      </p:pic>
      <p:pic>
        <p:nvPicPr>
          <p:cNvPr id="13" name="Image 12"/>
          <p:cNvPicPr>
            <a:picLocks noChangeAspect="1"/>
          </p:cNvPicPr>
          <p:nvPr/>
        </p:nvPicPr>
        <p:blipFill>
          <a:blip r:embed="rId7"/>
          <a:stretch>
            <a:fillRect/>
          </a:stretch>
        </p:blipFill>
        <p:spPr>
          <a:xfrm>
            <a:off x="3242727" y="2003721"/>
            <a:ext cx="1304373" cy="3938205"/>
          </a:xfrm>
          <a:prstGeom prst="rect">
            <a:avLst/>
          </a:prstGeom>
        </p:spPr>
      </p:pic>
      <p:sp>
        <p:nvSpPr>
          <p:cNvPr id="14" name="Rectangle 13"/>
          <p:cNvSpPr/>
          <p:nvPr/>
        </p:nvSpPr>
        <p:spPr>
          <a:xfrm>
            <a:off x="6050922" y="6065981"/>
            <a:ext cx="1408206" cy="307777"/>
          </a:xfrm>
          <a:prstGeom prst="rect">
            <a:avLst/>
          </a:prstGeom>
        </p:spPr>
        <p:txBody>
          <a:bodyPr wrap="none">
            <a:spAutoFit/>
          </a:bodyPr>
          <a:lstStyle/>
          <a:p>
            <a:r>
              <a:rPr lang="fr-FR" sz="1400" dirty="0" smtClean="0"/>
              <a:t>Etat de pipe line </a:t>
            </a:r>
            <a:endParaRPr lang="fr-FR" sz="1400" dirty="0"/>
          </a:p>
        </p:txBody>
      </p:sp>
      <p:sp>
        <p:nvSpPr>
          <p:cNvPr id="17" name="Rectangle 16"/>
          <p:cNvSpPr/>
          <p:nvPr/>
        </p:nvSpPr>
        <p:spPr>
          <a:xfrm>
            <a:off x="3102901" y="6065982"/>
            <a:ext cx="1584023" cy="307777"/>
          </a:xfrm>
          <a:prstGeom prst="rect">
            <a:avLst/>
          </a:prstGeom>
        </p:spPr>
        <p:txBody>
          <a:bodyPr wrap="none">
            <a:spAutoFit/>
          </a:bodyPr>
          <a:lstStyle/>
          <a:p>
            <a:r>
              <a:rPr lang="fr-FR" sz="1400" dirty="0" smtClean="0"/>
              <a:t>Statuts d'exécution</a:t>
            </a:r>
            <a:endParaRPr lang="fr-FR" sz="1400" dirty="0"/>
          </a:p>
        </p:txBody>
      </p:sp>
    </p:spTree>
    <p:extLst>
      <p:ext uri="{BB962C8B-B14F-4D97-AF65-F5344CB8AC3E}">
        <p14:creationId xmlns:p14="http://schemas.microsoft.com/office/powerpoint/2010/main" val="188934035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4" action="ppaction://hlinkfile"/>
          </p:cNvPr>
          <p:cNvSpPr>
            <a:spLocks noChangeArrowheads="1"/>
          </p:cNvSpPr>
          <p:nvPr/>
        </p:nvSpPr>
        <p:spPr bwMode="auto">
          <a:xfrm>
            <a:off x="204965" y="236361"/>
            <a:ext cx="482934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b="1" dirty="0" smtClean="0"/>
              <a:t>Intégration du Océan Bleu</a:t>
            </a:r>
            <a:endParaRPr lang="fr-FR" altLang="en-US"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77706" y="785613"/>
            <a:ext cx="3161828" cy="369332"/>
          </a:xfrm>
          <a:prstGeom prst="rect">
            <a:avLst/>
          </a:prstGeom>
        </p:spPr>
        <p:txBody>
          <a:bodyPr wrap="none">
            <a:spAutoFit/>
          </a:bodyPr>
          <a:lstStyle/>
          <a:p>
            <a:r>
              <a:rPr lang="fr-FR" dirty="0" smtClean="0"/>
              <a:t>Création de pipeline (L'activité) </a:t>
            </a:r>
            <a:endParaRPr lang="fr-FR" dirty="0"/>
          </a:p>
        </p:txBody>
      </p:sp>
      <p:sp>
        <p:nvSpPr>
          <p:cNvPr id="4" name="Rectangle 3"/>
          <p:cNvSpPr/>
          <p:nvPr/>
        </p:nvSpPr>
        <p:spPr>
          <a:xfrm>
            <a:off x="277706" y="1154945"/>
            <a:ext cx="11546432" cy="369332"/>
          </a:xfrm>
          <a:prstGeom prst="rect">
            <a:avLst/>
          </a:prstGeom>
        </p:spPr>
        <p:txBody>
          <a:bodyPr wrap="square">
            <a:spAutoFit/>
          </a:bodyPr>
          <a:lstStyle/>
          <a:p>
            <a:r>
              <a:rPr lang="fr-FR" dirty="0"/>
              <a:t>L'onglet par défaut de la vue Activité affiche une liste des dernières exécutions terminées ou actives</a:t>
            </a:r>
            <a:endParaRPr lang="fr-FR" dirty="0"/>
          </a:p>
        </p:txBody>
      </p:sp>
      <p:pic>
        <p:nvPicPr>
          <p:cNvPr id="3" name="Image 2"/>
          <p:cNvPicPr>
            <a:picLocks noChangeAspect="1"/>
          </p:cNvPicPr>
          <p:nvPr/>
        </p:nvPicPr>
        <p:blipFill>
          <a:blip r:embed="rId6"/>
          <a:stretch>
            <a:fillRect/>
          </a:stretch>
        </p:blipFill>
        <p:spPr>
          <a:xfrm>
            <a:off x="476251" y="1703641"/>
            <a:ext cx="6953706" cy="2436559"/>
          </a:xfrm>
          <a:prstGeom prst="rect">
            <a:avLst/>
          </a:prstGeom>
        </p:spPr>
      </p:pic>
      <p:sp>
        <p:nvSpPr>
          <p:cNvPr id="6" name="Rectangle 5"/>
          <p:cNvSpPr/>
          <p:nvPr/>
        </p:nvSpPr>
        <p:spPr>
          <a:xfrm>
            <a:off x="419100" y="4525139"/>
            <a:ext cx="10071100" cy="1754326"/>
          </a:xfrm>
          <a:prstGeom prst="rect">
            <a:avLst/>
          </a:prstGeom>
        </p:spPr>
        <p:txBody>
          <a:bodyPr wrap="square">
            <a:spAutoFit/>
          </a:bodyPr>
          <a:lstStyle/>
          <a:p>
            <a:pPr>
              <a:buFont typeface="Arial" panose="020B0604020202020204" pitchFamily="34" charset="0"/>
              <a:buChar char="•"/>
            </a:pPr>
            <a:r>
              <a:rPr lang="fr-FR" dirty="0">
                <a:solidFill>
                  <a:srgbClr val="000C1A"/>
                </a:solidFill>
              </a:rPr>
              <a:t>La sélection d'une exécution fera apparaître </a:t>
            </a:r>
            <a:r>
              <a:rPr lang="fr-FR" b="1" dirty="0">
                <a:solidFill>
                  <a:srgbClr val="000C1A"/>
                </a:solidFill>
              </a:rPr>
              <a:t>les détails de l'exécution du Pipeline</a:t>
            </a:r>
            <a:r>
              <a:rPr lang="fr-FR" dirty="0">
                <a:solidFill>
                  <a:srgbClr val="000C1A"/>
                </a:solidFill>
              </a:rPr>
              <a:t> pour fournir une visualisation du Pipeline</a:t>
            </a:r>
            <a:r>
              <a:rPr lang="fr-FR" dirty="0" smtClean="0">
                <a:solidFill>
                  <a:srgbClr val="000C1A"/>
                </a:solidFill>
              </a:rPr>
              <a:t>.</a:t>
            </a:r>
            <a:endParaRPr lang="fr-FR" dirty="0">
              <a:solidFill>
                <a:srgbClr val="000C1A"/>
              </a:solidFill>
            </a:endParaRPr>
          </a:p>
          <a:p>
            <a:pPr>
              <a:buFont typeface="Arial" panose="020B0604020202020204" pitchFamily="34" charset="0"/>
              <a:buChar char="•"/>
            </a:pPr>
            <a:r>
              <a:rPr lang="fr-FR" dirty="0">
                <a:solidFill>
                  <a:srgbClr val="000C1A"/>
                </a:solidFill>
              </a:rPr>
              <a:t>Les exécutions actives peuvent être interrompues dans cette liste en sélectionnant l' icône </a:t>
            </a:r>
            <a:r>
              <a:rPr lang="fr-FR" b="1" dirty="0">
                <a:solidFill>
                  <a:srgbClr val="000C1A"/>
                </a:solidFill>
              </a:rPr>
              <a:t>d'arrêt</a:t>
            </a:r>
            <a:r>
              <a:rPr lang="fr-FR" dirty="0">
                <a:solidFill>
                  <a:srgbClr val="000C1A"/>
                </a:solidFill>
              </a:rPr>
              <a:t> , représentée par un ◾ dans un cercle.</a:t>
            </a:r>
          </a:p>
          <a:p>
            <a:pPr>
              <a:buFont typeface="Arial" panose="020B0604020202020204" pitchFamily="34" charset="0"/>
              <a:buChar char="•"/>
            </a:pPr>
            <a:r>
              <a:rPr lang="fr-FR" dirty="0">
                <a:solidFill>
                  <a:srgbClr val="000C1A"/>
                </a:solidFill>
              </a:rPr>
              <a:t>Les analyses terminées peuvent être </a:t>
            </a:r>
            <a:r>
              <a:rPr lang="fr-FR" dirty="0" smtClean="0">
                <a:solidFill>
                  <a:srgbClr val="000C1A"/>
                </a:solidFill>
              </a:rPr>
              <a:t>ré exécutées </a:t>
            </a:r>
            <a:r>
              <a:rPr lang="fr-FR" dirty="0">
                <a:solidFill>
                  <a:srgbClr val="000C1A"/>
                </a:solidFill>
              </a:rPr>
              <a:t>en sélectionnant l' icône </a:t>
            </a:r>
            <a:r>
              <a:rPr lang="fr-FR" b="1" dirty="0">
                <a:solidFill>
                  <a:srgbClr val="000C1A"/>
                </a:solidFill>
              </a:rPr>
              <a:t>de réexécution</a:t>
            </a:r>
            <a:r>
              <a:rPr lang="fr-FR" dirty="0">
                <a:solidFill>
                  <a:srgbClr val="000C1A"/>
                </a:solidFill>
              </a:rPr>
              <a:t> ↺.</a:t>
            </a:r>
          </a:p>
          <a:p>
            <a:pPr>
              <a:buFont typeface="Arial" panose="020B0604020202020204" pitchFamily="34" charset="0"/>
              <a:buChar char="•"/>
            </a:pPr>
            <a:r>
              <a:rPr lang="fr-FR" dirty="0">
                <a:solidFill>
                  <a:srgbClr val="000C1A"/>
                </a:solidFill>
              </a:rPr>
              <a:t>La liste peut être filtrée par branche à l'aide de la liste déroulante « Branche » dans l'en-tête de la liste. </a:t>
            </a:r>
            <a:endParaRPr lang="fr-FR" b="0" i="0" dirty="0">
              <a:solidFill>
                <a:srgbClr val="000C1A"/>
              </a:solidFill>
              <a:effectLst/>
            </a:endParaRPr>
          </a:p>
        </p:txBody>
      </p:sp>
    </p:spTree>
    <p:extLst>
      <p:ext uri="{BB962C8B-B14F-4D97-AF65-F5344CB8AC3E}">
        <p14:creationId xmlns:p14="http://schemas.microsoft.com/office/powerpoint/2010/main" val="30509699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4" action="ppaction://hlinkfile"/>
          </p:cNvPr>
          <p:cNvSpPr>
            <a:spLocks noChangeArrowheads="1"/>
          </p:cNvSpPr>
          <p:nvPr/>
        </p:nvSpPr>
        <p:spPr bwMode="auto">
          <a:xfrm>
            <a:off x="204965" y="236361"/>
            <a:ext cx="482934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b="1" dirty="0" smtClean="0"/>
              <a:t>Intégration du Océan Bleu</a:t>
            </a:r>
            <a:endParaRPr lang="fr-FR" altLang="en-US"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77706" y="785613"/>
            <a:ext cx="3095463" cy="369332"/>
          </a:xfrm>
          <a:prstGeom prst="rect">
            <a:avLst/>
          </a:prstGeom>
        </p:spPr>
        <p:txBody>
          <a:bodyPr wrap="none">
            <a:spAutoFit/>
          </a:bodyPr>
          <a:lstStyle/>
          <a:p>
            <a:r>
              <a:rPr lang="fr-FR" dirty="0" smtClean="0"/>
              <a:t>Création de pipeline (Branche) </a:t>
            </a:r>
            <a:endParaRPr lang="fr-FR" dirty="0"/>
          </a:p>
        </p:txBody>
      </p:sp>
      <p:sp>
        <p:nvSpPr>
          <p:cNvPr id="4" name="Rectangle 3"/>
          <p:cNvSpPr/>
          <p:nvPr/>
        </p:nvSpPr>
        <p:spPr>
          <a:xfrm>
            <a:off x="277706" y="1154945"/>
            <a:ext cx="11546432" cy="646331"/>
          </a:xfrm>
          <a:prstGeom prst="rect">
            <a:avLst/>
          </a:prstGeom>
        </p:spPr>
        <p:txBody>
          <a:bodyPr wrap="square">
            <a:spAutoFit/>
          </a:bodyPr>
          <a:lstStyle/>
          <a:p>
            <a:r>
              <a:rPr lang="fr-FR" dirty="0"/>
              <a:t>L' onglet </a:t>
            </a:r>
            <a:r>
              <a:rPr lang="fr-FR" b="1" dirty="0"/>
              <a:t>Branches</a:t>
            </a:r>
            <a:r>
              <a:rPr lang="fr-FR" dirty="0"/>
              <a:t> affiche une liste de toutes les branches qui ont une exécution terminée ou active dans le pipeline actuel. </a:t>
            </a:r>
            <a:endParaRPr lang="fr-FR" dirty="0"/>
          </a:p>
        </p:txBody>
      </p:sp>
      <p:sp>
        <p:nvSpPr>
          <p:cNvPr id="6" name="Rectangle 5"/>
          <p:cNvSpPr/>
          <p:nvPr/>
        </p:nvSpPr>
        <p:spPr>
          <a:xfrm>
            <a:off x="419099" y="4525139"/>
            <a:ext cx="10301431" cy="1754326"/>
          </a:xfrm>
          <a:prstGeom prst="rect">
            <a:avLst/>
          </a:prstGeom>
        </p:spPr>
        <p:txBody>
          <a:bodyPr wrap="square">
            <a:spAutoFit/>
          </a:bodyPr>
          <a:lstStyle/>
          <a:p>
            <a:pPr>
              <a:buFont typeface="Arial" panose="020B0604020202020204" pitchFamily="34" charset="0"/>
              <a:buChar char="•"/>
            </a:pPr>
            <a:r>
              <a:rPr lang="fr-FR" dirty="0">
                <a:solidFill>
                  <a:srgbClr val="000C1A"/>
                </a:solidFill>
              </a:rPr>
              <a:t>La sélection d'une exécution fera apparaître </a:t>
            </a:r>
            <a:r>
              <a:rPr lang="fr-FR" b="1" dirty="0">
                <a:solidFill>
                  <a:srgbClr val="000C1A"/>
                </a:solidFill>
              </a:rPr>
              <a:t>les détails de l'exécution du Pipeline</a:t>
            </a:r>
            <a:r>
              <a:rPr lang="fr-FR" dirty="0">
                <a:solidFill>
                  <a:srgbClr val="000C1A"/>
                </a:solidFill>
              </a:rPr>
              <a:t> </a:t>
            </a:r>
          </a:p>
          <a:p>
            <a:r>
              <a:rPr lang="fr-FR" dirty="0" smtClean="0">
                <a:solidFill>
                  <a:srgbClr val="000C1A"/>
                </a:solidFill>
              </a:rPr>
              <a:t>  pour </a:t>
            </a:r>
            <a:r>
              <a:rPr lang="fr-FR" dirty="0">
                <a:solidFill>
                  <a:srgbClr val="000C1A"/>
                </a:solidFill>
              </a:rPr>
              <a:t>fournir une visualisation du Pipeline</a:t>
            </a:r>
            <a:r>
              <a:rPr lang="fr-FR" dirty="0" smtClean="0">
                <a:solidFill>
                  <a:srgbClr val="000C1A"/>
                </a:solidFill>
              </a:rPr>
              <a:t>.</a:t>
            </a:r>
            <a:endParaRPr lang="fr-FR" dirty="0">
              <a:solidFill>
                <a:srgbClr val="000C1A"/>
              </a:solidFill>
            </a:endParaRPr>
          </a:p>
          <a:p>
            <a:pPr>
              <a:buFont typeface="Arial" panose="020B0604020202020204" pitchFamily="34" charset="0"/>
              <a:buChar char="•"/>
            </a:pPr>
            <a:r>
              <a:rPr lang="fr-FR" dirty="0">
                <a:solidFill>
                  <a:srgbClr val="000C1A"/>
                </a:solidFill>
              </a:rPr>
              <a:t>Les exécutions actives peuvent être interrompues dans cette liste en sélectionnant l' icône </a:t>
            </a:r>
            <a:r>
              <a:rPr lang="fr-FR" b="1" dirty="0">
                <a:solidFill>
                  <a:srgbClr val="000C1A"/>
                </a:solidFill>
              </a:rPr>
              <a:t>d'arrêt</a:t>
            </a:r>
            <a:r>
              <a:rPr lang="fr-FR" dirty="0">
                <a:solidFill>
                  <a:srgbClr val="000C1A"/>
                </a:solidFill>
              </a:rPr>
              <a:t> , </a:t>
            </a:r>
            <a:r>
              <a:rPr lang="fr-FR" dirty="0" smtClean="0">
                <a:solidFill>
                  <a:srgbClr val="000C1A"/>
                </a:solidFill>
              </a:rPr>
              <a:t> </a:t>
            </a:r>
          </a:p>
          <a:p>
            <a:r>
              <a:rPr lang="fr-FR" dirty="0" smtClean="0">
                <a:solidFill>
                  <a:srgbClr val="000C1A"/>
                </a:solidFill>
              </a:rPr>
              <a:t>  représentée </a:t>
            </a:r>
            <a:r>
              <a:rPr lang="fr-FR" dirty="0">
                <a:solidFill>
                  <a:srgbClr val="000C1A"/>
                </a:solidFill>
              </a:rPr>
              <a:t>par un ◾ dans un cercle.</a:t>
            </a:r>
          </a:p>
          <a:p>
            <a:pPr>
              <a:buFont typeface="Arial" panose="020B0604020202020204" pitchFamily="34" charset="0"/>
              <a:buChar char="•"/>
            </a:pPr>
            <a:r>
              <a:rPr lang="fr-FR" dirty="0">
                <a:solidFill>
                  <a:srgbClr val="000C1A"/>
                </a:solidFill>
              </a:rPr>
              <a:t>Les analyses terminées peuvent être </a:t>
            </a:r>
            <a:r>
              <a:rPr lang="fr-FR" dirty="0" smtClean="0">
                <a:solidFill>
                  <a:srgbClr val="000C1A"/>
                </a:solidFill>
              </a:rPr>
              <a:t>ré exécutées </a:t>
            </a:r>
            <a:r>
              <a:rPr lang="fr-FR" dirty="0">
                <a:solidFill>
                  <a:srgbClr val="000C1A"/>
                </a:solidFill>
              </a:rPr>
              <a:t>en sélectionnant l' icône </a:t>
            </a:r>
            <a:r>
              <a:rPr lang="fr-FR" b="1" dirty="0">
                <a:solidFill>
                  <a:srgbClr val="000C1A"/>
                </a:solidFill>
              </a:rPr>
              <a:t>de réexécution</a:t>
            </a:r>
            <a:r>
              <a:rPr lang="fr-FR" dirty="0">
                <a:solidFill>
                  <a:srgbClr val="000C1A"/>
                </a:solidFill>
              </a:rPr>
              <a:t> ↺.</a:t>
            </a:r>
          </a:p>
          <a:p>
            <a:pPr>
              <a:buFont typeface="Arial" panose="020B0604020202020204" pitchFamily="34" charset="0"/>
              <a:buChar char="•"/>
            </a:pPr>
            <a:r>
              <a:rPr lang="fr-FR" dirty="0">
                <a:solidFill>
                  <a:srgbClr val="000C1A"/>
                </a:solidFill>
              </a:rPr>
              <a:t>La liste peut être filtrée par branche à l'aide de la liste déroulante « Branche » dans l'en-tête de la liste. </a:t>
            </a:r>
            <a:endParaRPr lang="fr-FR" b="0" i="0" dirty="0">
              <a:solidFill>
                <a:srgbClr val="000C1A"/>
              </a:solidFill>
              <a:effectLst/>
            </a:endParaRPr>
          </a:p>
        </p:txBody>
      </p:sp>
      <p:pic>
        <p:nvPicPr>
          <p:cNvPr id="7" name="Image 6"/>
          <p:cNvPicPr>
            <a:picLocks noChangeAspect="1"/>
          </p:cNvPicPr>
          <p:nvPr/>
        </p:nvPicPr>
        <p:blipFill>
          <a:blip r:embed="rId6"/>
          <a:stretch>
            <a:fillRect/>
          </a:stretch>
        </p:blipFill>
        <p:spPr>
          <a:xfrm>
            <a:off x="952500" y="2131637"/>
            <a:ext cx="9768031" cy="2063140"/>
          </a:xfrm>
          <a:prstGeom prst="rect">
            <a:avLst/>
          </a:prstGeom>
        </p:spPr>
      </p:pic>
      <p:cxnSp>
        <p:nvCxnSpPr>
          <p:cNvPr id="9" name="Connecteur droit avec flèche 8"/>
          <p:cNvCxnSpPr/>
          <p:nvPr/>
        </p:nvCxnSpPr>
        <p:spPr>
          <a:xfrm>
            <a:off x="6146800" y="2794000"/>
            <a:ext cx="3492500" cy="111760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p:cNvCxnSpPr/>
          <p:nvPr/>
        </p:nvCxnSpPr>
        <p:spPr>
          <a:xfrm>
            <a:off x="6896100" y="2003721"/>
            <a:ext cx="3086100" cy="190787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eur droit avec flèche 15"/>
          <p:cNvCxnSpPr/>
          <p:nvPr/>
        </p:nvCxnSpPr>
        <p:spPr>
          <a:xfrm>
            <a:off x="8150225" y="1873250"/>
            <a:ext cx="1997075" cy="203835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p:cNvCxnSpPr/>
          <p:nvPr/>
        </p:nvCxnSpPr>
        <p:spPr>
          <a:xfrm>
            <a:off x="9982200" y="1801275"/>
            <a:ext cx="330200" cy="211032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ZoneTexte 21"/>
          <p:cNvSpPr txBox="1"/>
          <p:nvPr/>
        </p:nvSpPr>
        <p:spPr>
          <a:xfrm>
            <a:off x="4439153" y="2640111"/>
            <a:ext cx="1655966" cy="307777"/>
          </a:xfrm>
          <a:prstGeom prst="rect">
            <a:avLst/>
          </a:prstGeom>
          <a:noFill/>
        </p:spPr>
        <p:txBody>
          <a:bodyPr wrap="none" rtlCol="0">
            <a:spAutoFit/>
          </a:bodyPr>
          <a:lstStyle/>
          <a:p>
            <a:r>
              <a:rPr lang="fr-FR" sz="1400" dirty="0" smtClean="0"/>
              <a:t>Exécuter la pipeline</a:t>
            </a:r>
            <a:endParaRPr lang="fr-FR" sz="1400" dirty="0"/>
          </a:p>
        </p:txBody>
      </p:sp>
      <p:sp>
        <p:nvSpPr>
          <p:cNvPr id="23" name="ZoneTexte 22"/>
          <p:cNvSpPr txBox="1"/>
          <p:nvPr/>
        </p:nvSpPr>
        <p:spPr>
          <a:xfrm>
            <a:off x="5554130" y="1748610"/>
            <a:ext cx="1341970" cy="307777"/>
          </a:xfrm>
          <a:prstGeom prst="rect">
            <a:avLst/>
          </a:prstGeom>
          <a:noFill/>
        </p:spPr>
        <p:txBody>
          <a:bodyPr wrap="none" rtlCol="0">
            <a:spAutoFit/>
          </a:bodyPr>
          <a:lstStyle/>
          <a:p>
            <a:r>
              <a:rPr lang="fr-FR" sz="1400" dirty="0" smtClean="0"/>
              <a:t>Voir l'historique</a:t>
            </a:r>
            <a:endParaRPr lang="fr-FR" sz="1400" dirty="0"/>
          </a:p>
        </p:txBody>
      </p:sp>
      <p:sp>
        <p:nvSpPr>
          <p:cNvPr id="24" name="ZoneTexte 23"/>
          <p:cNvSpPr txBox="1"/>
          <p:nvPr/>
        </p:nvSpPr>
        <p:spPr>
          <a:xfrm>
            <a:off x="7050576" y="1554181"/>
            <a:ext cx="1414426" cy="307777"/>
          </a:xfrm>
          <a:prstGeom prst="rect">
            <a:avLst/>
          </a:prstGeom>
          <a:noFill/>
        </p:spPr>
        <p:txBody>
          <a:bodyPr wrap="none" rtlCol="0">
            <a:spAutoFit/>
          </a:bodyPr>
          <a:lstStyle/>
          <a:p>
            <a:r>
              <a:rPr lang="fr-FR" sz="1400" dirty="0" smtClean="0"/>
              <a:t>Editer la pipeline</a:t>
            </a:r>
            <a:endParaRPr lang="fr-FR" sz="1400" dirty="0"/>
          </a:p>
        </p:txBody>
      </p:sp>
      <p:sp>
        <p:nvSpPr>
          <p:cNvPr id="25" name="ZoneTexte 24"/>
          <p:cNvSpPr txBox="1"/>
          <p:nvPr/>
        </p:nvSpPr>
        <p:spPr>
          <a:xfrm>
            <a:off x="8812651" y="1527848"/>
            <a:ext cx="2290563" cy="307777"/>
          </a:xfrm>
          <a:prstGeom prst="rect">
            <a:avLst/>
          </a:prstGeom>
          <a:noFill/>
        </p:spPr>
        <p:txBody>
          <a:bodyPr wrap="none" rtlCol="0">
            <a:spAutoFit/>
          </a:bodyPr>
          <a:lstStyle/>
          <a:p>
            <a:r>
              <a:rPr lang="fr-FR" sz="1400" dirty="0" smtClean="0"/>
              <a:t>Ajoute la pipeline aux favoris</a:t>
            </a:r>
            <a:endParaRPr lang="fr-FR" sz="1400" dirty="0"/>
          </a:p>
        </p:txBody>
      </p:sp>
    </p:spTree>
    <p:extLst>
      <p:ext uri="{BB962C8B-B14F-4D97-AF65-F5344CB8AC3E}">
        <p14:creationId xmlns:p14="http://schemas.microsoft.com/office/powerpoint/2010/main" val="261903237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4" action="ppaction://hlinkfile"/>
          </p:cNvPr>
          <p:cNvSpPr>
            <a:spLocks noChangeArrowheads="1"/>
          </p:cNvSpPr>
          <p:nvPr/>
        </p:nvSpPr>
        <p:spPr bwMode="auto">
          <a:xfrm>
            <a:off x="204965" y="236361"/>
            <a:ext cx="482934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b="1" dirty="0" smtClean="0"/>
              <a:t>Intégration du Océan Bleu</a:t>
            </a:r>
            <a:endParaRPr lang="fr-FR" altLang="en-US"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77706" y="785613"/>
            <a:ext cx="3486339" cy="369332"/>
          </a:xfrm>
          <a:prstGeom prst="rect">
            <a:avLst/>
          </a:prstGeom>
        </p:spPr>
        <p:txBody>
          <a:bodyPr wrap="none">
            <a:spAutoFit/>
          </a:bodyPr>
          <a:lstStyle/>
          <a:p>
            <a:r>
              <a:rPr lang="fr-FR" dirty="0" smtClean="0"/>
              <a:t>Création de pipeline (Pull </a:t>
            </a:r>
            <a:r>
              <a:rPr lang="fr-FR" dirty="0" err="1" smtClean="0"/>
              <a:t>Request</a:t>
            </a:r>
            <a:r>
              <a:rPr lang="fr-FR" dirty="0" smtClean="0"/>
              <a:t>) </a:t>
            </a:r>
            <a:endParaRPr lang="fr-FR" dirty="0"/>
          </a:p>
        </p:txBody>
      </p:sp>
      <p:sp>
        <p:nvSpPr>
          <p:cNvPr id="4" name="Rectangle 3"/>
          <p:cNvSpPr/>
          <p:nvPr/>
        </p:nvSpPr>
        <p:spPr>
          <a:xfrm>
            <a:off x="277706" y="1154945"/>
            <a:ext cx="11546432" cy="646331"/>
          </a:xfrm>
          <a:prstGeom prst="rect">
            <a:avLst/>
          </a:prstGeom>
        </p:spPr>
        <p:txBody>
          <a:bodyPr wrap="square">
            <a:spAutoFit/>
          </a:bodyPr>
          <a:lstStyle/>
          <a:p>
            <a:r>
              <a:rPr lang="fr-FR" dirty="0"/>
              <a:t>L'onglet Pull Requests affiche une liste de toutes les demandes d'extraction pour le pipeline actuel, dont l'exécution est terminée ou active. </a:t>
            </a:r>
            <a:endParaRPr lang="fr-FR" dirty="0"/>
          </a:p>
        </p:txBody>
      </p:sp>
      <p:pic>
        <p:nvPicPr>
          <p:cNvPr id="12296" name="Picture 8" descr="Vue Demandes d'extraction d'activité"/>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4050" y="1920875"/>
            <a:ext cx="9753600" cy="26765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77851" y="4950874"/>
            <a:ext cx="9753600" cy="1477328"/>
          </a:xfrm>
          <a:prstGeom prst="rect">
            <a:avLst/>
          </a:prstGeom>
        </p:spPr>
        <p:txBody>
          <a:bodyPr wrap="square">
            <a:spAutoFit/>
          </a:bodyPr>
          <a:lstStyle/>
          <a:p>
            <a:pPr>
              <a:buFont typeface="Arial" panose="020B0604020202020204" pitchFamily="34" charset="0"/>
              <a:buChar char="•"/>
            </a:pPr>
            <a:r>
              <a:rPr lang="fr-FR" dirty="0">
                <a:solidFill>
                  <a:srgbClr val="000C1A"/>
                </a:solidFill>
              </a:rPr>
              <a:t>Les exécutions actives peuvent être interrompues dans cette liste en sélectionnant l' icône </a:t>
            </a:r>
            <a:r>
              <a:rPr lang="fr-FR" b="1" dirty="0">
                <a:solidFill>
                  <a:srgbClr val="000C1A"/>
                </a:solidFill>
              </a:rPr>
              <a:t>d'arrêt</a:t>
            </a:r>
            <a:r>
              <a:rPr lang="fr-FR" dirty="0">
                <a:solidFill>
                  <a:srgbClr val="000C1A"/>
                </a:solidFill>
              </a:rPr>
              <a:t> , représentée par un ◾ dans un cercle</a:t>
            </a:r>
            <a:r>
              <a:rPr lang="fr-FR" dirty="0" smtClean="0">
                <a:solidFill>
                  <a:srgbClr val="000C1A"/>
                </a:solidFill>
              </a:rPr>
              <a:t>.</a:t>
            </a:r>
          </a:p>
          <a:p>
            <a:pPr>
              <a:buFont typeface="Arial" panose="020B0604020202020204" pitchFamily="34" charset="0"/>
              <a:buChar char="•"/>
            </a:pPr>
            <a:endParaRPr lang="fr-FR" dirty="0">
              <a:solidFill>
                <a:srgbClr val="000C1A"/>
              </a:solidFill>
            </a:endParaRPr>
          </a:p>
          <a:p>
            <a:pPr>
              <a:buFont typeface="Arial" panose="020B0604020202020204" pitchFamily="34" charset="0"/>
              <a:buChar char="•"/>
            </a:pPr>
            <a:r>
              <a:rPr lang="fr-FR" dirty="0">
                <a:solidFill>
                  <a:srgbClr val="000C1A"/>
                </a:solidFill>
              </a:rPr>
              <a:t>Les demandes d'extraction dont la dernière exécution est terminée peuvent être </a:t>
            </a:r>
            <a:r>
              <a:rPr lang="fr-FR" dirty="0" smtClean="0">
                <a:solidFill>
                  <a:srgbClr val="000C1A"/>
                </a:solidFill>
              </a:rPr>
              <a:t>ré exécutées </a:t>
            </a:r>
            <a:r>
              <a:rPr lang="fr-FR" dirty="0">
                <a:solidFill>
                  <a:srgbClr val="000C1A"/>
                </a:solidFill>
              </a:rPr>
              <a:t>en sélectionnant l' icône </a:t>
            </a:r>
            <a:r>
              <a:rPr lang="fr-FR" b="1" dirty="0">
                <a:solidFill>
                  <a:srgbClr val="000C1A"/>
                </a:solidFill>
              </a:rPr>
              <a:t>d'exécution</a:t>
            </a:r>
            <a:r>
              <a:rPr lang="fr-FR" dirty="0">
                <a:solidFill>
                  <a:srgbClr val="000C1A"/>
                </a:solidFill>
              </a:rPr>
              <a:t> , représentée par </a:t>
            </a:r>
            <a:r>
              <a:rPr lang="fr-FR" dirty="0" err="1">
                <a:solidFill>
                  <a:srgbClr val="000C1A"/>
                </a:solidFill>
              </a:rPr>
              <a:t>undans</a:t>
            </a:r>
            <a:r>
              <a:rPr lang="fr-FR" dirty="0">
                <a:solidFill>
                  <a:srgbClr val="000C1A"/>
                </a:solidFill>
              </a:rPr>
              <a:t> un cercle.</a:t>
            </a:r>
            <a:endParaRPr lang="fr-FR" b="0" i="0" dirty="0">
              <a:solidFill>
                <a:srgbClr val="000C1A"/>
              </a:solidFill>
              <a:effectLst/>
            </a:endParaRPr>
          </a:p>
        </p:txBody>
      </p:sp>
    </p:spTree>
    <p:extLst>
      <p:ext uri="{BB962C8B-B14F-4D97-AF65-F5344CB8AC3E}">
        <p14:creationId xmlns:p14="http://schemas.microsoft.com/office/powerpoint/2010/main" val="128985283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4" action="ppaction://hlinkfile"/>
          </p:cNvPr>
          <p:cNvSpPr>
            <a:spLocks noChangeArrowheads="1"/>
          </p:cNvSpPr>
          <p:nvPr/>
        </p:nvSpPr>
        <p:spPr bwMode="auto">
          <a:xfrm>
            <a:off x="204965" y="236361"/>
            <a:ext cx="482934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b="1" dirty="0" smtClean="0"/>
              <a:t>Intégration du Océan Bleu</a:t>
            </a:r>
            <a:endParaRPr lang="fr-FR" altLang="en-US"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77706" y="785613"/>
            <a:ext cx="4450706" cy="369332"/>
          </a:xfrm>
          <a:prstGeom prst="rect">
            <a:avLst/>
          </a:prstGeom>
        </p:spPr>
        <p:txBody>
          <a:bodyPr wrap="none">
            <a:spAutoFit/>
          </a:bodyPr>
          <a:lstStyle/>
          <a:p>
            <a:r>
              <a:rPr lang="fr-FR" dirty="0" smtClean="0"/>
              <a:t>Création de pipeline (Les détails de pipe line) </a:t>
            </a:r>
            <a:endParaRPr lang="fr-FR" dirty="0"/>
          </a:p>
        </p:txBody>
      </p:sp>
      <p:sp>
        <p:nvSpPr>
          <p:cNvPr id="4" name="Rectangle 3"/>
          <p:cNvSpPr/>
          <p:nvPr/>
        </p:nvSpPr>
        <p:spPr>
          <a:xfrm>
            <a:off x="277706" y="1154945"/>
            <a:ext cx="11546432" cy="646331"/>
          </a:xfrm>
          <a:prstGeom prst="rect">
            <a:avLst/>
          </a:prstGeom>
        </p:spPr>
        <p:txBody>
          <a:bodyPr wrap="square">
            <a:spAutoFit/>
          </a:bodyPr>
          <a:lstStyle/>
          <a:p>
            <a:r>
              <a:rPr lang="fr-FR" dirty="0"/>
              <a:t>La vue Détails de l'exécution du pipeline Blue Ocean affiche les informations relatives à une seule exécution du pipeline et permet aux utilisateurs de modifier ou de rejouer cette exécution. </a:t>
            </a:r>
            <a:endParaRPr lang="fr-FR" dirty="0"/>
          </a:p>
        </p:txBody>
      </p:sp>
      <p:pic>
        <p:nvPicPr>
          <p:cNvPr id="7" name="Image 6"/>
          <p:cNvPicPr>
            <a:picLocks noChangeAspect="1"/>
          </p:cNvPicPr>
          <p:nvPr/>
        </p:nvPicPr>
        <p:blipFill>
          <a:blip r:embed="rId6"/>
          <a:stretch>
            <a:fillRect/>
          </a:stretch>
        </p:blipFill>
        <p:spPr>
          <a:xfrm>
            <a:off x="729348" y="2349972"/>
            <a:ext cx="10643147" cy="3086259"/>
          </a:xfrm>
          <a:prstGeom prst="rect">
            <a:avLst/>
          </a:prstGeom>
        </p:spPr>
      </p:pic>
      <p:cxnSp>
        <p:nvCxnSpPr>
          <p:cNvPr id="10" name="Connecteur droit avec flèche 9"/>
          <p:cNvCxnSpPr/>
          <p:nvPr/>
        </p:nvCxnSpPr>
        <p:spPr>
          <a:xfrm>
            <a:off x="9201150" y="2003721"/>
            <a:ext cx="412750" cy="49904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4709126"/>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4" action="ppaction://hlinkfile"/>
          </p:cNvPr>
          <p:cNvSpPr>
            <a:spLocks noChangeArrowheads="1"/>
          </p:cNvSpPr>
          <p:nvPr/>
        </p:nvSpPr>
        <p:spPr bwMode="auto">
          <a:xfrm>
            <a:off x="204965" y="236361"/>
            <a:ext cx="482934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b="1" dirty="0" smtClean="0"/>
              <a:t>Intégration du Océan Bleu</a:t>
            </a:r>
            <a:endParaRPr lang="fr-FR" altLang="en-US"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77706" y="785613"/>
            <a:ext cx="4450706" cy="369332"/>
          </a:xfrm>
          <a:prstGeom prst="rect">
            <a:avLst/>
          </a:prstGeom>
        </p:spPr>
        <p:txBody>
          <a:bodyPr wrap="none">
            <a:spAutoFit/>
          </a:bodyPr>
          <a:lstStyle/>
          <a:p>
            <a:r>
              <a:rPr lang="fr-FR" dirty="0" smtClean="0"/>
              <a:t>Création de pipeline (Les détails de pipe line) </a:t>
            </a:r>
            <a:endParaRPr lang="fr-FR" dirty="0"/>
          </a:p>
        </p:txBody>
      </p:sp>
      <p:sp>
        <p:nvSpPr>
          <p:cNvPr id="4" name="Rectangle 3"/>
          <p:cNvSpPr/>
          <p:nvPr/>
        </p:nvSpPr>
        <p:spPr>
          <a:xfrm>
            <a:off x="277706" y="1154945"/>
            <a:ext cx="11546432" cy="646331"/>
          </a:xfrm>
          <a:prstGeom prst="rect">
            <a:avLst/>
          </a:prstGeom>
        </p:spPr>
        <p:txBody>
          <a:bodyPr wrap="square">
            <a:spAutoFit/>
          </a:bodyPr>
          <a:lstStyle/>
          <a:p>
            <a:r>
              <a:rPr lang="fr-FR" dirty="0"/>
              <a:t>La vue Détails de l'exécution du pipeline Blue Ocean affiche les informations relatives à une seule exécution du pipeline et permet aux utilisateurs de modifier ou de rejouer cette exécution. </a:t>
            </a:r>
            <a:endParaRPr lang="fr-FR" dirty="0"/>
          </a:p>
        </p:txBody>
      </p:sp>
      <p:pic>
        <p:nvPicPr>
          <p:cNvPr id="3" name="Image 2"/>
          <p:cNvPicPr>
            <a:picLocks noChangeAspect="1"/>
          </p:cNvPicPr>
          <p:nvPr/>
        </p:nvPicPr>
        <p:blipFill>
          <a:blip r:embed="rId6"/>
          <a:stretch>
            <a:fillRect/>
          </a:stretch>
        </p:blipFill>
        <p:spPr>
          <a:xfrm>
            <a:off x="1478721" y="2349972"/>
            <a:ext cx="8849729" cy="3616407"/>
          </a:xfrm>
          <a:prstGeom prst="rect">
            <a:avLst/>
          </a:prstGeom>
        </p:spPr>
      </p:pic>
      <p:sp>
        <p:nvSpPr>
          <p:cNvPr id="9" name="Ellipse 8"/>
          <p:cNvSpPr/>
          <p:nvPr/>
        </p:nvSpPr>
        <p:spPr>
          <a:xfrm>
            <a:off x="3918248" y="4705786"/>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1</a:t>
            </a:r>
            <a:endParaRPr lang="fr-FR" dirty="0"/>
          </a:p>
        </p:txBody>
      </p:sp>
      <p:sp>
        <p:nvSpPr>
          <p:cNvPr id="11" name="Ellipse 10"/>
          <p:cNvSpPr/>
          <p:nvPr/>
        </p:nvSpPr>
        <p:spPr>
          <a:xfrm>
            <a:off x="8477169" y="4156890"/>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2</a:t>
            </a:r>
            <a:endParaRPr lang="fr-FR" dirty="0"/>
          </a:p>
        </p:txBody>
      </p:sp>
      <p:sp>
        <p:nvSpPr>
          <p:cNvPr id="12" name="Ellipse 11"/>
          <p:cNvSpPr/>
          <p:nvPr/>
        </p:nvSpPr>
        <p:spPr>
          <a:xfrm>
            <a:off x="8477169" y="5251303"/>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3</a:t>
            </a:r>
            <a:endParaRPr lang="fr-FR" dirty="0"/>
          </a:p>
        </p:txBody>
      </p:sp>
      <p:sp>
        <p:nvSpPr>
          <p:cNvPr id="13" name="Ellipse 12"/>
          <p:cNvSpPr/>
          <p:nvPr/>
        </p:nvSpPr>
        <p:spPr>
          <a:xfrm>
            <a:off x="8248255" y="2809473"/>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4</a:t>
            </a:r>
            <a:endParaRPr lang="fr-FR" dirty="0"/>
          </a:p>
        </p:txBody>
      </p:sp>
      <p:cxnSp>
        <p:nvCxnSpPr>
          <p:cNvPr id="15" name="Connecteur droit avec flèche 14"/>
          <p:cNvCxnSpPr/>
          <p:nvPr/>
        </p:nvCxnSpPr>
        <p:spPr>
          <a:xfrm flipV="1">
            <a:off x="3371850" y="4648201"/>
            <a:ext cx="336550" cy="60310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p:cNvCxnSpPr/>
          <p:nvPr/>
        </p:nvCxnSpPr>
        <p:spPr>
          <a:xfrm>
            <a:off x="2857500" y="3568700"/>
            <a:ext cx="682625" cy="20320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ZoneTexte 19"/>
          <p:cNvSpPr txBox="1"/>
          <p:nvPr/>
        </p:nvSpPr>
        <p:spPr>
          <a:xfrm>
            <a:off x="1660063" y="3362523"/>
            <a:ext cx="1216423" cy="307777"/>
          </a:xfrm>
          <a:prstGeom prst="rect">
            <a:avLst/>
          </a:prstGeom>
          <a:noFill/>
        </p:spPr>
        <p:txBody>
          <a:bodyPr wrap="none" rtlCol="0">
            <a:spAutoFit/>
          </a:bodyPr>
          <a:lstStyle/>
          <a:p>
            <a:r>
              <a:rPr lang="fr-FR" sz="1400" dirty="0" smtClean="0"/>
              <a:t>Editer le stage</a:t>
            </a:r>
            <a:endParaRPr lang="fr-FR" sz="1400" dirty="0"/>
          </a:p>
        </p:txBody>
      </p:sp>
      <p:sp>
        <p:nvSpPr>
          <p:cNvPr id="21" name="ZoneTexte 20"/>
          <p:cNvSpPr txBox="1"/>
          <p:nvPr/>
        </p:nvSpPr>
        <p:spPr>
          <a:xfrm>
            <a:off x="2231333" y="5206854"/>
            <a:ext cx="1653466" cy="523220"/>
          </a:xfrm>
          <a:prstGeom prst="rect">
            <a:avLst/>
          </a:prstGeom>
          <a:noFill/>
        </p:spPr>
        <p:txBody>
          <a:bodyPr wrap="none" rtlCol="0">
            <a:spAutoFit/>
          </a:bodyPr>
          <a:lstStyle/>
          <a:p>
            <a:r>
              <a:rPr lang="fr-FR" sz="1400" dirty="0" smtClean="0"/>
              <a:t>Ajouter un stage en </a:t>
            </a:r>
          </a:p>
          <a:p>
            <a:r>
              <a:rPr lang="fr-FR" sz="1400" dirty="0" smtClean="0"/>
              <a:t>parallèle</a:t>
            </a:r>
            <a:endParaRPr lang="fr-FR" sz="1400" dirty="0"/>
          </a:p>
        </p:txBody>
      </p:sp>
      <p:sp>
        <p:nvSpPr>
          <p:cNvPr id="22" name="ZoneTexte 21"/>
          <p:cNvSpPr txBox="1"/>
          <p:nvPr/>
        </p:nvSpPr>
        <p:spPr>
          <a:xfrm>
            <a:off x="8865415" y="4001667"/>
            <a:ext cx="1221873" cy="307777"/>
          </a:xfrm>
          <a:prstGeom prst="rect">
            <a:avLst/>
          </a:prstGeom>
          <a:noFill/>
        </p:spPr>
        <p:txBody>
          <a:bodyPr wrap="none" rtlCol="0">
            <a:spAutoFit/>
          </a:bodyPr>
          <a:lstStyle/>
          <a:p>
            <a:r>
              <a:rPr lang="fr-FR" sz="1400" dirty="0" smtClean="0"/>
              <a:t>Choisir l'agent</a:t>
            </a:r>
            <a:endParaRPr lang="fr-FR" sz="1400" dirty="0"/>
          </a:p>
        </p:txBody>
      </p:sp>
      <p:sp>
        <p:nvSpPr>
          <p:cNvPr id="23" name="ZoneTexte 22"/>
          <p:cNvSpPr txBox="1"/>
          <p:nvPr/>
        </p:nvSpPr>
        <p:spPr>
          <a:xfrm>
            <a:off x="8832380" y="5350418"/>
            <a:ext cx="1995098" cy="738664"/>
          </a:xfrm>
          <a:prstGeom prst="rect">
            <a:avLst/>
          </a:prstGeom>
          <a:noFill/>
        </p:spPr>
        <p:txBody>
          <a:bodyPr wrap="none" rtlCol="0">
            <a:spAutoFit/>
          </a:bodyPr>
          <a:lstStyle/>
          <a:p>
            <a:r>
              <a:rPr lang="fr-FR" sz="1400" dirty="0" smtClean="0"/>
              <a:t>Ajouter des variables</a:t>
            </a:r>
          </a:p>
          <a:p>
            <a:r>
              <a:rPr lang="fr-FR" sz="1400" dirty="0" smtClean="0"/>
              <a:t>D'environnement en cas </a:t>
            </a:r>
          </a:p>
          <a:p>
            <a:r>
              <a:rPr lang="fr-FR" sz="1400" dirty="0" smtClean="0"/>
              <a:t>du besoin</a:t>
            </a:r>
            <a:endParaRPr lang="fr-FR" sz="1400" dirty="0"/>
          </a:p>
        </p:txBody>
      </p:sp>
      <p:sp>
        <p:nvSpPr>
          <p:cNvPr id="24" name="ZoneTexte 23"/>
          <p:cNvSpPr txBox="1"/>
          <p:nvPr/>
        </p:nvSpPr>
        <p:spPr>
          <a:xfrm>
            <a:off x="8614015" y="2842250"/>
            <a:ext cx="1952714" cy="307777"/>
          </a:xfrm>
          <a:prstGeom prst="rect">
            <a:avLst/>
          </a:prstGeom>
          <a:noFill/>
        </p:spPr>
        <p:txBody>
          <a:bodyPr wrap="none" rtlCol="0">
            <a:spAutoFit/>
          </a:bodyPr>
          <a:lstStyle/>
          <a:p>
            <a:r>
              <a:rPr lang="fr-FR" sz="1400" dirty="0" smtClean="0"/>
              <a:t>Sauver les modifications</a:t>
            </a:r>
            <a:endParaRPr lang="fr-FR" sz="1400" dirty="0"/>
          </a:p>
        </p:txBody>
      </p:sp>
    </p:spTree>
    <p:extLst>
      <p:ext uri="{BB962C8B-B14F-4D97-AF65-F5344CB8AC3E}">
        <p14:creationId xmlns:p14="http://schemas.microsoft.com/office/powerpoint/2010/main" val="329327405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4"/>
          <a:stretch>
            <a:fillRect/>
          </a:stretch>
        </p:blipFill>
        <p:spPr>
          <a:xfrm>
            <a:off x="8042185" y="2445579"/>
            <a:ext cx="3781953" cy="3419952"/>
          </a:xfrm>
          <a:prstGeom prst="rect">
            <a:avLst/>
          </a:prstGeom>
        </p:spPr>
      </p:pic>
      <p:sp>
        <p:nvSpPr>
          <p:cNvPr id="340994" name="Rectangle 1">
            <a:hlinkClick r:id="rId5" action="ppaction://hlinkfile"/>
          </p:cNvPr>
          <p:cNvSpPr>
            <a:spLocks noChangeArrowheads="1"/>
          </p:cNvSpPr>
          <p:nvPr/>
        </p:nvSpPr>
        <p:spPr bwMode="auto">
          <a:xfrm>
            <a:off x="204965" y="236361"/>
            <a:ext cx="482934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b="1" dirty="0" smtClean="0"/>
              <a:t>Intégration du Océan Bleu</a:t>
            </a:r>
            <a:endParaRPr lang="fr-FR" altLang="en-US"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77706" y="785613"/>
            <a:ext cx="4450706" cy="369332"/>
          </a:xfrm>
          <a:prstGeom prst="rect">
            <a:avLst/>
          </a:prstGeom>
        </p:spPr>
        <p:txBody>
          <a:bodyPr wrap="none">
            <a:spAutoFit/>
          </a:bodyPr>
          <a:lstStyle/>
          <a:p>
            <a:r>
              <a:rPr lang="fr-FR" dirty="0" smtClean="0"/>
              <a:t>Création de pipeline (Les détails de pipe line) </a:t>
            </a:r>
            <a:endParaRPr lang="fr-FR" dirty="0"/>
          </a:p>
        </p:txBody>
      </p:sp>
      <p:sp>
        <p:nvSpPr>
          <p:cNvPr id="4" name="Rectangle 3"/>
          <p:cNvSpPr/>
          <p:nvPr/>
        </p:nvSpPr>
        <p:spPr>
          <a:xfrm>
            <a:off x="277706" y="1154945"/>
            <a:ext cx="11546432" cy="646331"/>
          </a:xfrm>
          <a:prstGeom prst="rect">
            <a:avLst/>
          </a:prstGeom>
        </p:spPr>
        <p:txBody>
          <a:bodyPr wrap="square">
            <a:spAutoFit/>
          </a:bodyPr>
          <a:lstStyle/>
          <a:p>
            <a:r>
              <a:rPr lang="fr-FR" dirty="0"/>
              <a:t>La vue Détails de l'exécution du pipeline Blue Ocean affiche les informations relatives à une seule exécution du pipeline et permet aux utilisateurs de modifier ou de rejouer cette exécution. </a:t>
            </a:r>
            <a:endParaRPr lang="fr-FR" dirty="0"/>
          </a:p>
        </p:txBody>
      </p:sp>
      <p:sp>
        <p:nvSpPr>
          <p:cNvPr id="11" name="Ellipse 10"/>
          <p:cNvSpPr/>
          <p:nvPr/>
        </p:nvSpPr>
        <p:spPr>
          <a:xfrm>
            <a:off x="8477169" y="3908258"/>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1</a:t>
            </a:r>
            <a:endParaRPr lang="fr-FR" dirty="0"/>
          </a:p>
        </p:txBody>
      </p:sp>
      <p:sp>
        <p:nvSpPr>
          <p:cNvPr id="13" name="Ellipse 12"/>
          <p:cNvSpPr/>
          <p:nvPr/>
        </p:nvSpPr>
        <p:spPr>
          <a:xfrm>
            <a:off x="11103214" y="2506019"/>
            <a:ext cx="365760" cy="357937"/>
          </a:xfrm>
          <a:prstGeom prst="ellipse">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2</a:t>
            </a:r>
            <a:endParaRPr lang="fr-FR" dirty="0"/>
          </a:p>
        </p:txBody>
      </p:sp>
      <p:sp>
        <p:nvSpPr>
          <p:cNvPr id="22" name="ZoneTexte 21"/>
          <p:cNvSpPr txBox="1"/>
          <p:nvPr/>
        </p:nvSpPr>
        <p:spPr>
          <a:xfrm>
            <a:off x="8842929" y="3933339"/>
            <a:ext cx="2343783" cy="307777"/>
          </a:xfrm>
          <a:prstGeom prst="rect">
            <a:avLst/>
          </a:prstGeom>
          <a:noFill/>
        </p:spPr>
        <p:txBody>
          <a:bodyPr wrap="none" rtlCol="0">
            <a:spAutoFit/>
          </a:bodyPr>
          <a:lstStyle/>
          <a:p>
            <a:r>
              <a:rPr lang="fr-FR" sz="1400" dirty="0" smtClean="0"/>
              <a:t>Configurer et gérer les étapes</a:t>
            </a:r>
            <a:endParaRPr lang="fr-FR" sz="1400" dirty="0"/>
          </a:p>
        </p:txBody>
      </p:sp>
      <p:sp>
        <p:nvSpPr>
          <p:cNvPr id="24" name="ZoneTexte 23"/>
          <p:cNvSpPr txBox="1"/>
          <p:nvPr/>
        </p:nvSpPr>
        <p:spPr>
          <a:xfrm>
            <a:off x="10329220" y="2148684"/>
            <a:ext cx="1547988" cy="307777"/>
          </a:xfrm>
          <a:prstGeom prst="rect">
            <a:avLst/>
          </a:prstGeom>
          <a:noFill/>
        </p:spPr>
        <p:txBody>
          <a:bodyPr wrap="none" rtlCol="0">
            <a:spAutoFit/>
          </a:bodyPr>
          <a:lstStyle/>
          <a:p>
            <a:r>
              <a:rPr lang="fr-FR" sz="1400" dirty="0" smtClean="0"/>
              <a:t>Supprimer le stage</a:t>
            </a:r>
            <a:endParaRPr lang="fr-FR" sz="1400" dirty="0"/>
          </a:p>
        </p:txBody>
      </p:sp>
      <p:pic>
        <p:nvPicPr>
          <p:cNvPr id="19" name="Image 18"/>
          <p:cNvPicPr>
            <a:picLocks noChangeAspect="1"/>
          </p:cNvPicPr>
          <p:nvPr/>
        </p:nvPicPr>
        <p:blipFill rotWithShape="1">
          <a:blip r:embed="rId7"/>
          <a:srcRect r="39072"/>
          <a:stretch/>
        </p:blipFill>
        <p:spPr>
          <a:xfrm>
            <a:off x="658943" y="2349972"/>
            <a:ext cx="5391979" cy="3616407"/>
          </a:xfrm>
          <a:prstGeom prst="rect">
            <a:avLst/>
          </a:prstGeom>
        </p:spPr>
      </p:pic>
      <p:pic>
        <p:nvPicPr>
          <p:cNvPr id="25" name="Image 24"/>
          <p:cNvPicPr>
            <a:picLocks noChangeAspect="1"/>
          </p:cNvPicPr>
          <p:nvPr/>
        </p:nvPicPr>
        <p:blipFill rotWithShape="1">
          <a:blip r:embed="rId7"/>
          <a:srcRect l="20251" t="34578" r="65470" b="33640"/>
          <a:stretch/>
        </p:blipFill>
        <p:spPr>
          <a:xfrm>
            <a:off x="3464762" y="4337049"/>
            <a:ext cx="2281988" cy="2075579"/>
          </a:xfrm>
          <a:prstGeom prst="rect">
            <a:avLst/>
          </a:prstGeom>
          <a:ln>
            <a:noFill/>
          </a:ln>
          <a:effectLst>
            <a:outerShdw blurRad="292100" dist="139700" dir="2700000" algn="tl" rotWithShape="0">
              <a:srgbClr val="333333">
                <a:alpha val="65000"/>
              </a:srgbClr>
            </a:outerShdw>
          </a:effectLst>
        </p:spPr>
      </p:pic>
      <p:cxnSp>
        <p:nvCxnSpPr>
          <p:cNvPr id="17" name="Connecteur droit avec flèche 16"/>
          <p:cNvCxnSpPr/>
          <p:nvPr/>
        </p:nvCxnSpPr>
        <p:spPr>
          <a:xfrm>
            <a:off x="3464762" y="3625850"/>
            <a:ext cx="669566" cy="138275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ZoneTexte 19"/>
          <p:cNvSpPr txBox="1"/>
          <p:nvPr/>
        </p:nvSpPr>
        <p:spPr>
          <a:xfrm>
            <a:off x="2392168" y="3391333"/>
            <a:ext cx="3062505" cy="307777"/>
          </a:xfrm>
          <a:prstGeom prst="rect">
            <a:avLst/>
          </a:prstGeom>
          <a:noFill/>
        </p:spPr>
        <p:txBody>
          <a:bodyPr wrap="none" rtlCol="0">
            <a:spAutoFit/>
          </a:bodyPr>
          <a:lstStyle/>
          <a:p>
            <a:r>
              <a:rPr lang="fr-FR" sz="1400" dirty="0" smtClean="0"/>
              <a:t>Double cliquer sur le stage pour l'éditer</a:t>
            </a:r>
            <a:endParaRPr lang="fr-FR" sz="1400" dirty="0"/>
          </a:p>
        </p:txBody>
      </p:sp>
      <p:cxnSp>
        <p:nvCxnSpPr>
          <p:cNvPr id="27" name="Connecteur droit avec flèche 26"/>
          <p:cNvCxnSpPr/>
          <p:nvPr/>
        </p:nvCxnSpPr>
        <p:spPr>
          <a:xfrm>
            <a:off x="2451100" y="5593971"/>
            <a:ext cx="1651956" cy="47224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ZoneTexte 28"/>
          <p:cNvSpPr txBox="1"/>
          <p:nvPr/>
        </p:nvSpPr>
        <p:spPr>
          <a:xfrm>
            <a:off x="200621" y="5247559"/>
            <a:ext cx="2492221" cy="523220"/>
          </a:xfrm>
          <a:prstGeom prst="rect">
            <a:avLst/>
          </a:prstGeom>
          <a:noFill/>
        </p:spPr>
        <p:txBody>
          <a:bodyPr wrap="none" rtlCol="0">
            <a:spAutoFit/>
          </a:bodyPr>
          <a:lstStyle/>
          <a:p>
            <a:r>
              <a:rPr lang="fr-FR" sz="1400" dirty="0" smtClean="0"/>
              <a:t>Double cliquer sur + pour créer </a:t>
            </a:r>
          </a:p>
          <a:p>
            <a:r>
              <a:rPr lang="fr-FR" sz="1400" dirty="0" smtClean="0"/>
              <a:t>un nouveau Stage</a:t>
            </a:r>
            <a:endParaRPr lang="fr-FR" sz="1400" dirty="0"/>
          </a:p>
        </p:txBody>
      </p:sp>
    </p:spTree>
    <p:extLst>
      <p:ext uri="{BB962C8B-B14F-4D97-AF65-F5344CB8AC3E}">
        <p14:creationId xmlns:p14="http://schemas.microsoft.com/office/powerpoint/2010/main" val="193927830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11659</TotalTime>
  <Words>892</Words>
  <Application>Microsoft Office PowerPoint</Application>
  <PresentationFormat>Grand écran</PresentationFormat>
  <Paragraphs>183</Paragraphs>
  <Slides>18</Slides>
  <Notes>17</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18</vt:i4>
      </vt:variant>
    </vt:vector>
  </HeadingPairs>
  <TitlesOfParts>
    <vt:vector size="27" baseType="lpstr">
      <vt:lpstr>Arial</vt:lpstr>
      <vt:lpstr>Calibri</vt:lpstr>
      <vt:lpstr>Calibri Light</vt:lpstr>
      <vt:lpstr>Comic Sans MS</vt:lpstr>
      <vt:lpstr>DejaVu Sans</vt:lpstr>
      <vt:lpstr>Söhne</vt:lpstr>
      <vt:lpstr>system-ui</vt:lpstr>
      <vt:lpstr>Times New Roman</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DELL</dc:creator>
  <cp:lastModifiedBy>DELL</cp:lastModifiedBy>
  <cp:revision>156</cp:revision>
  <dcterms:created xsi:type="dcterms:W3CDTF">2024-04-11T08:14:00Z</dcterms:created>
  <dcterms:modified xsi:type="dcterms:W3CDTF">2024-05-19T19:08:41Z</dcterms:modified>
</cp:coreProperties>
</file>