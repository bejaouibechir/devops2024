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4" r:id="rId15"/>
    <p:sldId id="275" r:id="rId16"/>
    <p:sldId id="278" r:id="rId17"/>
    <p:sldId id="279" r:id="rId18"/>
    <p:sldId id="280" r:id="rId19"/>
    <p:sldId id="269" r:id="rId20"/>
    <p:sldId id="270" r:id="rId21"/>
    <p:sldId id="271" r:id="rId22"/>
    <p:sldId id="272" r:id="rId23"/>
    <p:sldId id="273" r:id="rId24"/>
    <p:sldId id="276" r:id="rId25"/>
    <p:sldId id="277" r:id="rId26"/>
    <p:sldId id="281" r:id="rId27"/>
    <p:sldId id="282" r:id="rId28"/>
    <p:sldId id="283" r:id="rId29"/>
    <p:sldId id="284" r:id="rId30"/>
    <p:sldId id="286" r:id="rId31"/>
    <p:sldId id="285"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532" autoAdjust="0"/>
    <p:restoredTop sz="96440" autoAdjust="0"/>
  </p:normalViewPr>
  <p:slideViewPr>
    <p:cSldViewPr snapToGrid="0">
      <p:cViewPr varScale="1">
        <p:scale>
          <a:sx n="60" d="100"/>
          <a:sy n="60" d="100"/>
        </p:scale>
        <p:origin x="89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19686D-C191-4786-9794-C7C6B779A858}" type="datetimeFigureOut">
              <a:rPr lang="fr-FR" smtClean="0"/>
              <a:t>02/05/2026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01B5F8-6F57-4D93-B25D-B7F2C8AC7C7C}" type="slidenum">
              <a:rPr lang="fr-FR" smtClean="0"/>
              <a:t>‹#›</a:t>
            </a:fld>
            <a:endParaRPr lang="fr-FR"/>
          </a:p>
        </p:txBody>
      </p:sp>
    </p:spTree>
    <p:extLst>
      <p:ext uri="{BB962C8B-B14F-4D97-AF65-F5344CB8AC3E}">
        <p14:creationId xmlns:p14="http://schemas.microsoft.com/office/powerpoint/2010/main" val="14946035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pkg.origin.jenkins.io/debian-stable/"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99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3CD60FDB-9ED3-4635-8771-6CAAA365A35B}" type="slidenum">
              <a:rPr lang="en-US" altLang="en-US" sz="1400" smtClean="0">
                <a:ea typeface="DejaVu Sans"/>
                <a:cs typeface="DejaVu Sans"/>
              </a:rPr>
              <a:pPr>
                <a:spcBef>
                  <a:spcPct val="0"/>
                </a:spcBef>
              </a:pPr>
              <a:t>2</a:t>
            </a:fld>
            <a:endParaRPr lang="en-US" altLang="en-US" sz="1400" smtClean="0">
              <a:ea typeface="DejaVu Sans"/>
              <a:cs typeface="DejaVu Sans"/>
            </a:endParaRPr>
          </a:p>
        </p:txBody>
      </p:sp>
      <p:sp>
        <p:nvSpPr>
          <p:cNvPr id="339971" name="Rectangle 1"/>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9972" name="Rectangle 2"/>
          <p:cNvSpPr>
            <a:spLocks noGrp="1" noChangeArrowheads="1"/>
          </p:cNvSpPr>
          <p:nvPr>
            <p:ph type="body" idx="1"/>
          </p:nvPr>
        </p:nvSpPr>
        <p:spPr>
          <a:xfrm>
            <a:off x="777875" y="4776788"/>
            <a:ext cx="6218238" cy="452596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extLst>
      <p:ext uri="{BB962C8B-B14F-4D97-AF65-F5344CB8AC3E}">
        <p14:creationId xmlns:p14="http://schemas.microsoft.com/office/powerpoint/2010/main" val="37916290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3</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3</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38859278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4</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4</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32513298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5</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5</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29187715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6</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6</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19512514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99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3CD60FDB-9ED3-4635-8771-6CAAA365A35B}" type="slidenum">
              <a:rPr lang="en-US" altLang="en-US" sz="1400" smtClean="0">
                <a:ea typeface="DejaVu Sans"/>
                <a:cs typeface="DejaVu Sans"/>
              </a:rPr>
              <a:pPr>
                <a:spcBef>
                  <a:spcPct val="0"/>
                </a:spcBef>
              </a:pPr>
              <a:t>7</a:t>
            </a:fld>
            <a:endParaRPr lang="en-US" altLang="en-US" sz="1400" smtClean="0">
              <a:ea typeface="DejaVu Sans"/>
              <a:cs typeface="DejaVu Sans"/>
            </a:endParaRPr>
          </a:p>
        </p:txBody>
      </p:sp>
      <p:sp>
        <p:nvSpPr>
          <p:cNvPr id="339971" name="Rectangle 1"/>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9972" name="Rectangle 2"/>
          <p:cNvSpPr>
            <a:spLocks noGrp="1" noChangeArrowheads="1"/>
          </p:cNvSpPr>
          <p:nvPr>
            <p:ph type="body" idx="1"/>
          </p:nvPr>
        </p:nvSpPr>
        <p:spPr>
          <a:xfrm>
            <a:off x="777875" y="4776788"/>
            <a:ext cx="6218238" cy="452596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extLst>
      <p:ext uri="{BB962C8B-B14F-4D97-AF65-F5344CB8AC3E}">
        <p14:creationId xmlns:p14="http://schemas.microsoft.com/office/powerpoint/2010/main" val="17227387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8</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https://www.jenkins.io/download/thank-you-downloading-windows-installer-stable/</a:t>
            </a: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8</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30175197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9</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https://www.jenkins.io/download/thank-you-downloading-windows-installer-stable/</a:t>
            </a: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9</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8342221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10</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10</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1338897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11</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11</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11879048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12</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12</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30888106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13</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13</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17848381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99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3CD60FDB-9ED3-4635-8771-6CAAA365A35B}" type="slidenum">
              <a:rPr lang="en-US" altLang="en-US" sz="1400" smtClean="0">
                <a:ea typeface="DejaVu Sans"/>
                <a:cs typeface="DejaVu Sans"/>
              </a:rPr>
              <a:pPr>
                <a:spcBef>
                  <a:spcPct val="0"/>
                </a:spcBef>
              </a:pPr>
              <a:t>14</a:t>
            </a:fld>
            <a:endParaRPr lang="en-US" altLang="en-US" sz="1400" smtClean="0">
              <a:ea typeface="DejaVu Sans"/>
              <a:cs typeface="DejaVu Sans"/>
            </a:endParaRPr>
          </a:p>
        </p:txBody>
      </p:sp>
      <p:sp>
        <p:nvSpPr>
          <p:cNvPr id="339971" name="Rectangle 1"/>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9972" name="Rectangle 2"/>
          <p:cNvSpPr>
            <a:spLocks noGrp="1" noChangeArrowheads="1"/>
          </p:cNvSpPr>
          <p:nvPr>
            <p:ph type="body" idx="1"/>
          </p:nvPr>
        </p:nvSpPr>
        <p:spPr>
          <a:xfrm>
            <a:off x="777875" y="4776788"/>
            <a:ext cx="6218238" cy="452596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extLst>
      <p:ext uri="{BB962C8B-B14F-4D97-AF65-F5344CB8AC3E}">
        <p14:creationId xmlns:p14="http://schemas.microsoft.com/office/powerpoint/2010/main" val="38842952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15</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2000" dirty="0" smtClean="0">
                <a:hlinkClick r:id="rId3" tooltip="https://pkg.origin.jenkins.io/debian-stable/"/>
              </a:rPr>
              <a:t>https://pkg.origin.jenkins.io/debian-stable/</a:t>
            </a:r>
            <a:endParaRPr lang="fr-FR" altLang="en-US" sz="2000" dirty="0" smtClean="0">
              <a:latin typeface="Arial" panose="020B0604020202020204" pitchFamily="34" charset="0"/>
              <a:ea typeface="DejaVu Sans"/>
              <a:cs typeface="DejaVu Sans"/>
            </a:endParaRP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export JAVA_HOME=/</a:t>
            </a:r>
            <a:r>
              <a:rPr lang="fr-FR" altLang="en-US" sz="2000" dirty="0" err="1" smtClean="0">
                <a:latin typeface="Arial" panose="020B0604020202020204" pitchFamily="34" charset="0"/>
                <a:ea typeface="DejaVu Sans"/>
                <a:cs typeface="DejaVu Sans"/>
              </a:rPr>
              <a:t>path</a:t>
            </a:r>
            <a:r>
              <a:rPr lang="fr-FR" altLang="en-US" sz="2000" dirty="0" smtClean="0">
                <a:latin typeface="Arial" panose="020B0604020202020204" pitchFamily="34" charset="0"/>
                <a:ea typeface="DejaVu Sans"/>
                <a:cs typeface="DejaVu Sans"/>
              </a:rPr>
              <a:t>/to/java</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https://pkg.origin.jenkins.io/debian-stable/</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a:p>
            <a:r>
              <a:rPr lang="en-US" sz="2000" b="1" dirty="0" smtClean="0"/>
              <a:t>Installation avec </a:t>
            </a:r>
            <a:r>
              <a:rPr lang="en-US" sz="2000" b="1" dirty="0" err="1" smtClean="0"/>
              <a:t>dpkg</a:t>
            </a:r>
            <a:r>
              <a:rPr lang="en-US" sz="2000" b="1" dirty="0" smtClean="0"/>
              <a:t> (</a:t>
            </a:r>
            <a:r>
              <a:rPr lang="en-US" sz="2000" b="1" dirty="0" err="1" smtClean="0"/>
              <a:t>méthode</a:t>
            </a:r>
            <a:r>
              <a:rPr lang="en-US" sz="2000" b="1" dirty="0" smtClean="0"/>
              <a:t> alternative)</a:t>
            </a:r>
            <a:r>
              <a:rPr lang="en-US" sz="2000" dirty="0" smtClean="0"/>
              <a:t> : </a:t>
            </a:r>
          </a:p>
          <a:p>
            <a:r>
              <a:rPr lang="en-US" sz="2000" dirty="0" err="1" smtClean="0"/>
              <a:t>Téléchargez</a:t>
            </a:r>
            <a:r>
              <a:rPr lang="en-US" sz="2000" dirty="0" smtClean="0"/>
              <a:t> le package :bash</a:t>
            </a:r>
          </a:p>
          <a:p>
            <a:r>
              <a:rPr lang="en-US" sz="2000" dirty="0" smtClean="0"/>
              <a:t>Copy code</a:t>
            </a:r>
          </a:p>
          <a:p>
            <a:pPr rtl="0"/>
            <a:r>
              <a:rPr lang="en-US" sz="2000" dirty="0" err="1" smtClean="0"/>
              <a:t>wget</a:t>
            </a:r>
            <a:r>
              <a:rPr lang="en-US" sz="2000" dirty="0" smtClean="0"/>
              <a:t> https://pkg.jenkins.io/debian-stable/binary/jenkins_2.401.2_all.deb </a:t>
            </a:r>
          </a:p>
          <a:p>
            <a:r>
              <a:rPr lang="en-US" sz="2000" dirty="0" err="1" smtClean="0"/>
              <a:t>Installez</a:t>
            </a:r>
            <a:r>
              <a:rPr lang="en-US" sz="2000" dirty="0" smtClean="0"/>
              <a:t>-le avec </a:t>
            </a:r>
            <a:r>
              <a:rPr lang="en-US" sz="2000" dirty="0" err="1" smtClean="0"/>
              <a:t>dpkg</a:t>
            </a:r>
            <a:r>
              <a:rPr lang="en-US" sz="2000" dirty="0" smtClean="0"/>
              <a:t> :bash</a:t>
            </a:r>
          </a:p>
          <a:p>
            <a:r>
              <a:rPr lang="en-US" sz="2000" dirty="0" smtClean="0"/>
              <a:t>Copy code</a:t>
            </a:r>
          </a:p>
          <a:p>
            <a:pPr rtl="0"/>
            <a:r>
              <a:rPr lang="en-US" sz="2000" dirty="0" err="1" smtClean="0"/>
              <a:t>sudo</a:t>
            </a:r>
            <a:r>
              <a:rPr lang="en-US" sz="2000" dirty="0" smtClean="0"/>
              <a:t> </a:t>
            </a:r>
            <a:r>
              <a:rPr lang="en-US" sz="2000" dirty="0" err="1" smtClean="0"/>
              <a:t>dpkg</a:t>
            </a:r>
            <a:r>
              <a:rPr lang="en-US" sz="2000" dirty="0" smtClean="0"/>
              <a:t> -</a:t>
            </a:r>
            <a:r>
              <a:rPr lang="en-US" sz="2000" dirty="0" err="1" smtClean="0"/>
              <a:t>i</a:t>
            </a:r>
            <a:r>
              <a:rPr lang="en-US" sz="2000" dirty="0" smtClean="0"/>
              <a:t> jenkins_2.401.2_all.deb </a:t>
            </a:r>
          </a:p>
          <a:p>
            <a:r>
              <a:rPr lang="en-US" sz="2000" dirty="0" smtClean="0"/>
              <a:t>Si des </a:t>
            </a:r>
            <a:r>
              <a:rPr lang="en-US" sz="2000" dirty="0" err="1" smtClean="0"/>
              <a:t>dépendances</a:t>
            </a:r>
            <a:r>
              <a:rPr lang="en-US" sz="2000" dirty="0" smtClean="0"/>
              <a:t> </a:t>
            </a:r>
            <a:r>
              <a:rPr lang="en-US" sz="2000" dirty="0" err="1" smtClean="0"/>
              <a:t>manquent</a:t>
            </a:r>
            <a:r>
              <a:rPr lang="en-US" sz="2000" dirty="0" smtClean="0"/>
              <a:t>, </a:t>
            </a:r>
            <a:r>
              <a:rPr lang="en-US" sz="2000" dirty="0" err="1" smtClean="0"/>
              <a:t>corrigez</a:t>
            </a:r>
            <a:r>
              <a:rPr lang="en-US" sz="2000" dirty="0" smtClean="0"/>
              <a:t>-les :bash</a:t>
            </a:r>
          </a:p>
          <a:p>
            <a:r>
              <a:rPr lang="en-US" sz="2000" dirty="0" smtClean="0"/>
              <a:t>Copy code</a:t>
            </a:r>
          </a:p>
          <a:p>
            <a:pPr rtl="0"/>
            <a:r>
              <a:rPr lang="en-US" sz="2000" dirty="0" err="1" smtClean="0"/>
              <a:t>sudo</a:t>
            </a:r>
            <a:r>
              <a:rPr lang="en-US" sz="2000" dirty="0" smtClean="0"/>
              <a:t> apt --fix-broken install</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15</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30658964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16</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export JAVA_HOME=/</a:t>
            </a:r>
            <a:r>
              <a:rPr lang="fr-FR" altLang="en-US" sz="2000" dirty="0" err="1" smtClean="0">
                <a:latin typeface="Arial" panose="020B0604020202020204" pitchFamily="34" charset="0"/>
                <a:ea typeface="DejaVu Sans"/>
                <a:cs typeface="DejaVu Sans"/>
              </a:rPr>
              <a:t>path</a:t>
            </a:r>
            <a:r>
              <a:rPr lang="fr-FR" altLang="en-US" sz="2000" dirty="0" smtClean="0">
                <a:latin typeface="Arial" panose="020B0604020202020204" pitchFamily="34" charset="0"/>
                <a:ea typeface="DejaVu Sans"/>
                <a:cs typeface="DejaVu Sans"/>
              </a:rPr>
              <a:t>/to/java</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16</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32634272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99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3CD60FDB-9ED3-4635-8771-6CAAA365A35B}" type="slidenum">
              <a:rPr lang="en-US" altLang="en-US" sz="1400" smtClean="0">
                <a:ea typeface="DejaVu Sans"/>
                <a:cs typeface="DejaVu Sans"/>
              </a:rPr>
              <a:pPr>
                <a:spcBef>
                  <a:spcPct val="0"/>
                </a:spcBef>
              </a:pPr>
              <a:t>17</a:t>
            </a:fld>
            <a:endParaRPr lang="en-US" altLang="en-US" sz="1400" smtClean="0">
              <a:ea typeface="DejaVu Sans"/>
              <a:cs typeface="DejaVu Sans"/>
            </a:endParaRPr>
          </a:p>
        </p:txBody>
      </p:sp>
      <p:sp>
        <p:nvSpPr>
          <p:cNvPr id="339971" name="Rectangle 1"/>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9972" name="Rectangle 2"/>
          <p:cNvSpPr>
            <a:spLocks noGrp="1" noChangeArrowheads="1"/>
          </p:cNvSpPr>
          <p:nvPr>
            <p:ph type="body" idx="1"/>
          </p:nvPr>
        </p:nvSpPr>
        <p:spPr>
          <a:xfrm>
            <a:off x="777875" y="4776788"/>
            <a:ext cx="6218238" cy="452596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extLst>
      <p:ext uri="{BB962C8B-B14F-4D97-AF65-F5344CB8AC3E}">
        <p14:creationId xmlns:p14="http://schemas.microsoft.com/office/powerpoint/2010/main" val="12544479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18</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export JAVA_HOME=/</a:t>
            </a:r>
            <a:r>
              <a:rPr lang="fr-FR" altLang="en-US" sz="2000" dirty="0" err="1" smtClean="0">
                <a:latin typeface="Arial" panose="020B0604020202020204" pitchFamily="34" charset="0"/>
                <a:ea typeface="DejaVu Sans"/>
                <a:cs typeface="DejaVu Sans"/>
              </a:rPr>
              <a:t>path</a:t>
            </a:r>
            <a:r>
              <a:rPr lang="fr-FR" altLang="en-US" sz="2000" dirty="0" smtClean="0">
                <a:latin typeface="Arial" panose="020B0604020202020204" pitchFamily="34" charset="0"/>
                <a:ea typeface="DejaVu Sans"/>
                <a:cs typeface="DejaVu Sans"/>
              </a:rPr>
              <a:t>/to/java</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18</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6969786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19</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19</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27569044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20</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20</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22904482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21</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sz="1200" b="0" i="0" kern="1200" dirty="0" smtClean="0">
                <a:solidFill>
                  <a:schemeClr val="tx1"/>
                </a:solidFill>
                <a:effectLst/>
                <a:latin typeface="+mn-lt"/>
                <a:ea typeface="+mn-ea"/>
                <a:cs typeface="+mn-cs"/>
              </a:rPr>
              <a:t>Le</a:t>
            </a:r>
            <a:r>
              <a:rPr lang="fr-FR" sz="1200" b="0" i="0" kern="1200" baseline="0" dirty="0" smtClean="0">
                <a:solidFill>
                  <a:schemeClr val="tx1"/>
                </a:solidFill>
                <a:effectLst/>
                <a:latin typeface="+mn-lt"/>
                <a:ea typeface="+mn-ea"/>
                <a:cs typeface="+mn-cs"/>
              </a:rPr>
              <a:t> chemin vers l'interface web </a:t>
            </a:r>
            <a:endParaRPr lang="fr-FR" sz="1200" b="0" i="0" kern="1200" dirty="0" smtClean="0">
              <a:solidFill>
                <a:schemeClr val="tx1"/>
              </a:solidFill>
              <a:effectLst/>
              <a:latin typeface="+mn-lt"/>
              <a:ea typeface="+mn-ea"/>
              <a:cs typeface="+mn-cs"/>
            </a:endParaRP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sz="1200" b="0" i="0" kern="1200" dirty="0" smtClean="0">
                <a:solidFill>
                  <a:schemeClr val="tx1"/>
                </a:solidFill>
                <a:effectLst/>
                <a:latin typeface="+mn-lt"/>
                <a:ea typeface="+mn-ea"/>
                <a:cs typeface="+mn-cs"/>
              </a:rPr>
              <a:t>/</a:t>
            </a:r>
            <a:r>
              <a:rPr lang="fr-FR" sz="1200" b="0" i="0" kern="1200" dirty="0" err="1" smtClean="0">
                <a:solidFill>
                  <a:schemeClr val="tx1"/>
                </a:solidFill>
                <a:effectLst/>
                <a:latin typeface="+mn-lt"/>
                <a:ea typeface="+mn-ea"/>
                <a:cs typeface="+mn-cs"/>
              </a:rPr>
              <a:t>usr</a:t>
            </a:r>
            <a:r>
              <a:rPr lang="fr-FR" sz="1200" b="0" i="0" kern="1200" dirty="0" smtClean="0">
                <a:solidFill>
                  <a:schemeClr val="tx1"/>
                </a:solidFill>
                <a:effectLst/>
                <a:latin typeface="+mn-lt"/>
                <a:ea typeface="+mn-ea"/>
                <a:cs typeface="+mn-cs"/>
              </a:rPr>
              <a:t>/</a:t>
            </a:r>
            <a:r>
              <a:rPr lang="fr-FR" sz="1200" b="0" i="0" kern="1200" dirty="0" err="1" smtClean="0">
                <a:solidFill>
                  <a:schemeClr val="tx1"/>
                </a:solidFill>
                <a:effectLst/>
                <a:latin typeface="+mn-lt"/>
                <a:ea typeface="+mn-ea"/>
                <a:cs typeface="+mn-cs"/>
              </a:rPr>
              <a:t>share</a:t>
            </a:r>
            <a:r>
              <a:rPr lang="fr-FR" sz="1200" b="0" i="0" kern="1200" dirty="0" smtClean="0">
                <a:solidFill>
                  <a:schemeClr val="tx1"/>
                </a:solidFill>
                <a:effectLst/>
                <a:latin typeface="+mn-lt"/>
                <a:ea typeface="+mn-ea"/>
                <a:cs typeface="+mn-cs"/>
              </a:rPr>
              <a:t>/</a:t>
            </a:r>
            <a:r>
              <a:rPr lang="fr-FR" sz="1200" b="0" i="0" kern="1200" dirty="0" err="1" smtClean="0">
                <a:solidFill>
                  <a:schemeClr val="tx1"/>
                </a:solidFill>
                <a:effectLst/>
                <a:latin typeface="+mn-lt"/>
                <a:ea typeface="+mn-ea"/>
                <a:cs typeface="+mn-cs"/>
              </a:rPr>
              <a:t>jenkins</a:t>
            </a:r>
            <a:r>
              <a:rPr lang="fr-FR" sz="1200" b="0" i="0" kern="1200" dirty="0" smtClean="0">
                <a:solidFill>
                  <a:schemeClr val="tx1"/>
                </a:solidFill>
                <a:effectLst/>
                <a:latin typeface="+mn-lt"/>
                <a:ea typeface="+mn-ea"/>
                <a:cs typeface="+mn-cs"/>
              </a:rPr>
              <a:t>/</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1200" b="0" i="0" kern="1200" dirty="0" smtClean="0">
              <a:solidFill>
                <a:schemeClr val="tx1"/>
              </a:solidFill>
              <a:effectLst/>
              <a:latin typeface="+mn-lt"/>
              <a:ea typeface="+mn-ea"/>
              <a:cs typeface="+mn-cs"/>
            </a:endParaRPr>
          </a:p>
          <a:p>
            <a:pPr marL="215900" marR="0" lvl="0" indent="-214313" algn="l" defTabSz="914400" rtl="0" eaLnBrk="1" fontAlgn="auto" latinLnBrk="0" hangingPunct="1">
              <a:lnSpc>
                <a:spcPct val="100000"/>
              </a:lnSpc>
              <a:spcBef>
                <a:spcPct val="0"/>
              </a:spcBef>
              <a:spcAft>
                <a:spcPts val="0"/>
              </a:spcAft>
              <a:buClrTx/>
              <a:buSz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a:pPr>
            <a:r>
              <a:rPr lang="fi-FI" sz="1200" b="0" i="0" kern="1200" dirty="0" smtClean="0">
                <a:solidFill>
                  <a:schemeClr val="tx1"/>
                </a:solidFill>
                <a:effectLst/>
                <a:latin typeface="+mn-lt"/>
                <a:ea typeface="+mn-ea"/>
                <a:cs typeface="+mn-cs"/>
              </a:rPr>
              <a:t>Run java -jar jenkins.war --httpPort=8080</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21</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29449774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22</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22</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10449060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23</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23</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19281975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99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3CD60FDB-9ED3-4635-8771-6CAAA365A35B}" type="slidenum">
              <a:rPr lang="en-US" altLang="en-US" sz="1400" smtClean="0">
                <a:ea typeface="DejaVu Sans"/>
                <a:cs typeface="DejaVu Sans"/>
              </a:rPr>
              <a:pPr>
                <a:spcBef>
                  <a:spcPct val="0"/>
                </a:spcBef>
              </a:pPr>
              <a:t>24</a:t>
            </a:fld>
            <a:endParaRPr lang="en-US" altLang="en-US" sz="1400" smtClean="0">
              <a:ea typeface="DejaVu Sans"/>
              <a:cs typeface="DejaVu Sans"/>
            </a:endParaRPr>
          </a:p>
        </p:txBody>
      </p:sp>
      <p:sp>
        <p:nvSpPr>
          <p:cNvPr id="339971" name="Rectangle 1"/>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9972" name="Rectangle 2"/>
          <p:cNvSpPr>
            <a:spLocks noGrp="1" noChangeArrowheads="1"/>
          </p:cNvSpPr>
          <p:nvPr>
            <p:ph type="body" idx="1"/>
          </p:nvPr>
        </p:nvSpPr>
        <p:spPr>
          <a:xfrm>
            <a:off x="777875" y="4776788"/>
            <a:ext cx="6218238" cy="452596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extLst>
      <p:ext uri="{BB962C8B-B14F-4D97-AF65-F5344CB8AC3E}">
        <p14:creationId xmlns:p14="http://schemas.microsoft.com/office/powerpoint/2010/main" val="42007692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25</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25</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38372091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26</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fr-FR" sz="2000" dirty="0" smtClean="0">
                <a:effectLst/>
              </a:rPr>
              <a:t>Accédez à la page "Manage Jenkins" (Gérer Jenkins) depuis le tableau de bord principal.</a:t>
            </a:r>
          </a:p>
          <a:p>
            <a:r>
              <a:rPr lang="fr-FR" sz="2000" dirty="0" smtClean="0">
                <a:effectLst/>
              </a:rPr>
              <a:t>Sélectionnez l'option "Manage </a:t>
            </a:r>
            <a:r>
              <a:rPr lang="fr-FR" sz="2000" dirty="0" err="1" smtClean="0">
                <a:effectLst/>
              </a:rPr>
              <a:t>Nodes</a:t>
            </a:r>
            <a:r>
              <a:rPr lang="fr-FR" sz="2000" dirty="0" smtClean="0">
                <a:effectLst/>
              </a:rPr>
              <a:t>" (Gérer les nœuds).</a:t>
            </a:r>
          </a:p>
          <a:p>
            <a:r>
              <a:rPr lang="fr-FR" sz="2000" dirty="0" smtClean="0">
                <a:effectLst/>
              </a:rPr>
              <a:t>Cliquez sur "New </a:t>
            </a:r>
            <a:r>
              <a:rPr lang="fr-FR" sz="2000" dirty="0" err="1" smtClean="0">
                <a:effectLst/>
              </a:rPr>
              <a:t>Node</a:t>
            </a:r>
            <a:r>
              <a:rPr lang="fr-FR" sz="2000" dirty="0" smtClean="0">
                <a:effectLst/>
              </a:rPr>
              <a:t>" (Nouveau nœud) pour créer un nouvel agent.</a:t>
            </a:r>
          </a:p>
          <a:p>
            <a:r>
              <a:rPr lang="fr-FR" sz="2000" dirty="0" smtClean="0">
                <a:effectLst/>
              </a:rPr>
              <a:t>Spécifiez un nom pour l'agent et choisissez le type d'agent que vous souhaitez configurer (par exemple, "Permanent Agent" pour un agent toujours disponible ou "SSH" pour un agent accessible via SSH).</a:t>
            </a:r>
          </a:p>
          <a:p>
            <a:r>
              <a:rPr lang="fr-FR" sz="2000" dirty="0" smtClean="0">
                <a:effectLst/>
              </a:rPr>
              <a:t>Configurez les détails spécifiques à votre type d'agent (par exemple, le nombre d'exécuteurs, les informations d'identification, l'emplacement de l'agent, etc.).</a:t>
            </a:r>
          </a:p>
          <a:p>
            <a:r>
              <a:rPr lang="fr-FR" sz="2000" dirty="0" smtClean="0">
                <a:effectLst/>
              </a:rPr>
              <a:t>Enregistrez la configuration de l'agent.</a:t>
            </a:r>
          </a:p>
          <a:p>
            <a:r>
              <a:rPr lang="fr-FR" sz="2000" dirty="0" smtClean="0">
                <a:effectLst/>
              </a:rPr>
              <a:t>Une fois que l'agent est configuré, il apparaîtra dans la liste des nœuds gérés par Jenkins. Vous pourrez alors l'utiliser pour exécuter des constructions, distribuer des tâches et étendre la capacité de traitement de votre instance Jenkins. Assurez-vous que l'agent est correctement configuré et qu'il dispose des ressources nécessaires pour exécuter les constructions prévues.</a:t>
            </a:r>
          </a:p>
          <a:p>
            <a:r>
              <a:rPr lang="fr-FR" sz="1200" b="0" i="0" kern="1200" dirty="0" smtClean="0">
                <a:solidFill>
                  <a:schemeClr val="tx1"/>
                </a:solidFill>
                <a:effectLst/>
                <a:latin typeface="+mn-lt"/>
                <a:ea typeface="+mn-ea"/>
                <a:cs typeface="+mn-cs"/>
              </a:rPr>
              <a:t/>
            </a:r>
            <a:br>
              <a:rPr lang="fr-FR" sz="1200" b="0" i="0" kern="1200" dirty="0" smtClean="0">
                <a:solidFill>
                  <a:schemeClr val="tx1"/>
                </a:solidFill>
                <a:effectLst/>
                <a:latin typeface="+mn-lt"/>
                <a:ea typeface="+mn-ea"/>
                <a:cs typeface="+mn-cs"/>
              </a:rPr>
            </a:b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26</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25458689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99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3CD60FDB-9ED3-4635-8771-6CAAA365A35B}" type="slidenum">
              <a:rPr lang="en-US" altLang="en-US" sz="1400" smtClean="0">
                <a:ea typeface="DejaVu Sans"/>
                <a:cs typeface="DejaVu Sans"/>
              </a:rPr>
              <a:pPr>
                <a:spcBef>
                  <a:spcPct val="0"/>
                </a:spcBef>
              </a:pPr>
              <a:t>27</a:t>
            </a:fld>
            <a:endParaRPr lang="en-US" altLang="en-US" sz="1400" smtClean="0">
              <a:ea typeface="DejaVu Sans"/>
              <a:cs typeface="DejaVu Sans"/>
            </a:endParaRPr>
          </a:p>
        </p:txBody>
      </p:sp>
      <p:sp>
        <p:nvSpPr>
          <p:cNvPr id="339971" name="Rectangle 1"/>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9972" name="Rectangle 2"/>
          <p:cNvSpPr>
            <a:spLocks noGrp="1" noChangeArrowheads="1"/>
          </p:cNvSpPr>
          <p:nvPr>
            <p:ph type="body" idx="1"/>
          </p:nvPr>
        </p:nvSpPr>
        <p:spPr>
          <a:xfrm>
            <a:off x="777875" y="4776788"/>
            <a:ext cx="6218238" cy="452596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extLst>
      <p:ext uri="{BB962C8B-B14F-4D97-AF65-F5344CB8AC3E}">
        <p14:creationId xmlns:p14="http://schemas.microsoft.com/office/powerpoint/2010/main" val="33498155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99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3CD60FDB-9ED3-4635-8771-6CAAA365A35B}" type="slidenum">
              <a:rPr lang="en-US" altLang="en-US" sz="1400" smtClean="0">
                <a:ea typeface="DejaVu Sans"/>
                <a:cs typeface="DejaVu Sans"/>
              </a:rPr>
              <a:pPr>
                <a:spcBef>
                  <a:spcPct val="0"/>
                </a:spcBef>
              </a:pPr>
              <a:t>28</a:t>
            </a:fld>
            <a:endParaRPr lang="en-US" altLang="en-US" sz="1400" smtClean="0">
              <a:ea typeface="DejaVu Sans"/>
              <a:cs typeface="DejaVu Sans"/>
            </a:endParaRPr>
          </a:p>
        </p:txBody>
      </p:sp>
      <p:sp>
        <p:nvSpPr>
          <p:cNvPr id="339971" name="Rectangle 1"/>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9972" name="Rectangle 2"/>
          <p:cNvSpPr>
            <a:spLocks noGrp="1" noChangeArrowheads="1"/>
          </p:cNvSpPr>
          <p:nvPr>
            <p:ph type="body" idx="1"/>
          </p:nvPr>
        </p:nvSpPr>
        <p:spPr>
          <a:xfrm>
            <a:off x="777875" y="4776788"/>
            <a:ext cx="6218238" cy="452596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extLst>
      <p:ext uri="{BB962C8B-B14F-4D97-AF65-F5344CB8AC3E}">
        <p14:creationId xmlns:p14="http://schemas.microsoft.com/office/powerpoint/2010/main" val="26325238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99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3CD60FDB-9ED3-4635-8771-6CAAA365A35B}" type="slidenum">
              <a:rPr lang="en-US" altLang="en-US" sz="1400" smtClean="0">
                <a:ea typeface="DejaVu Sans"/>
                <a:cs typeface="DejaVu Sans"/>
              </a:rPr>
              <a:pPr>
                <a:spcBef>
                  <a:spcPct val="0"/>
                </a:spcBef>
              </a:pPr>
              <a:t>29</a:t>
            </a:fld>
            <a:endParaRPr lang="en-US" altLang="en-US" sz="1400" smtClean="0">
              <a:ea typeface="DejaVu Sans"/>
              <a:cs typeface="DejaVu Sans"/>
            </a:endParaRPr>
          </a:p>
        </p:txBody>
      </p:sp>
      <p:sp>
        <p:nvSpPr>
          <p:cNvPr id="339971" name="Rectangle 1"/>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9972" name="Rectangle 2"/>
          <p:cNvSpPr>
            <a:spLocks noGrp="1" noChangeArrowheads="1"/>
          </p:cNvSpPr>
          <p:nvPr>
            <p:ph type="body" idx="1"/>
          </p:nvPr>
        </p:nvSpPr>
        <p:spPr>
          <a:xfrm>
            <a:off x="777875" y="4776788"/>
            <a:ext cx="6218238" cy="452596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extLst>
      <p:ext uri="{BB962C8B-B14F-4D97-AF65-F5344CB8AC3E}">
        <p14:creationId xmlns:p14="http://schemas.microsoft.com/office/powerpoint/2010/main" val="429968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99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3CD60FDB-9ED3-4635-8771-6CAAA365A35B}" type="slidenum">
              <a:rPr lang="en-US" altLang="en-US" sz="1400" smtClean="0">
                <a:ea typeface="DejaVu Sans"/>
                <a:cs typeface="DejaVu Sans"/>
              </a:rPr>
              <a:pPr>
                <a:spcBef>
                  <a:spcPct val="0"/>
                </a:spcBef>
              </a:pPr>
              <a:t>30</a:t>
            </a:fld>
            <a:endParaRPr lang="en-US" altLang="en-US" sz="1400" smtClean="0">
              <a:ea typeface="DejaVu Sans"/>
              <a:cs typeface="DejaVu Sans"/>
            </a:endParaRPr>
          </a:p>
        </p:txBody>
      </p:sp>
      <p:sp>
        <p:nvSpPr>
          <p:cNvPr id="339971" name="Rectangle 1"/>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9972" name="Rectangle 2"/>
          <p:cNvSpPr>
            <a:spLocks noGrp="1" noChangeArrowheads="1"/>
          </p:cNvSpPr>
          <p:nvPr>
            <p:ph type="body" idx="1"/>
          </p:nvPr>
        </p:nvSpPr>
        <p:spPr>
          <a:xfrm>
            <a:off x="777875" y="4776788"/>
            <a:ext cx="6218238" cy="452596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extLst>
      <p:ext uri="{BB962C8B-B14F-4D97-AF65-F5344CB8AC3E}">
        <p14:creationId xmlns:p14="http://schemas.microsoft.com/office/powerpoint/2010/main" val="6838826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99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3CD60FDB-9ED3-4635-8771-6CAAA365A35B}" type="slidenum">
              <a:rPr lang="en-US" altLang="en-US" sz="1400" smtClean="0">
                <a:ea typeface="DejaVu Sans"/>
                <a:cs typeface="DejaVu Sans"/>
              </a:rPr>
              <a:pPr>
                <a:spcBef>
                  <a:spcPct val="0"/>
                </a:spcBef>
              </a:pPr>
              <a:t>31</a:t>
            </a:fld>
            <a:endParaRPr lang="en-US" altLang="en-US" sz="1400" smtClean="0">
              <a:ea typeface="DejaVu Sans"/>
              <a:cs typeface="DejaVu Sans"/>
            </a:endParaRPr>
          </a:p>
        </p:txBody>
      </p:sp>
      <p:sp>
        <p:nvSpPr>
          <p:cNvPr id="339971" name="Rectangle 1"/>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9972" name="Rectangle 2"/>
          <p:cNvSpPr>
            <a:spLocks noGrp="1" noChangeArrowheads="1"/>
          </p:cNvSpPr>
          <p:nvPr>
            <p:ph type="body" idx="1"/>
          </p:nvPr>
        </p:nvSpPr>
        <p:spPr>
          <a:xfrm>
            <a:off x="777875" y="4776788"/>
            <a:ext cx="6218238" cy="452596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extLst>
      <p:ext uri="{BB962C8B-B14F-4D97-AF65-F5344CB8AC3E}">
        <p14:creationId xmlns:p14="http://schemas.microsoft.com/office/powerpoint/2010/main" val="41541883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99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3CD60FDB-9ED3-4635-8771-6CAAA365A35B}" type="slidenum">
              <a:rPr lang="en-US" altLang="en-US" sz="1400" smtClean="0">
                <a:ea typeface="DejaVu Sans"/>
                <a:cs typeface="DejaVu Sans"/>
              </a:rPr>
              <a:pPr>
                <a:spcBef>
                  <a:spcPct val="0"/>
                </a:spcBef>
              </a:pPr>
              <a:t>32</a:t>
            </a:fld>
            <a:endParaRPr lang="en-US" altLang="en-US" sz="1400" smtClean="0">
              <a:ea typeface="DejaVu Sans"/>
              <a:cs typeface="DejaVu Sans"/>
            </a:endParaRPr>
          </a:p>
        </p:txBody>
      </p:sp>
      <p:sp>
        <p:nvSpPr>
          <p:cNvPr id="339971" name="Rectangle 1"/>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9972" name="Rectangle 2"/>
          <p:cNvSpPr>
            <a:spLocks noGrp="1" noChangeArrowheads="1"/>
          </p:cNvSpPr>
          <p:nvPr>
            <p:ph type="body" idx="1"/>
          </p:nvPr>
        </p:nvSpPr>
        <p:spPr>
          <a:xfrm>
            <a:off x="777875" y="4776788"/>
            <a:ext cx="6218238" cy="452596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extLst>
      <p:ext uri="{BB962C8B-B14F-4D97-AF65-F5344CB8AC3E}">
        <p14:creationId xmlns:p14="http://schemas.microsoft.com/office/powerpoint/2010/main" val="42870316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99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3CD60FDB-9ED3-4635-8771-6CAAA365A35B}" type="slidenum">
              <a:rPr lang="en-US" altLang="en-US" sz="1400" smtClean="0">
                <a:ea typeface="DejaVu Sans"/>
                <a:cs typeface="DejaVu Sans"/>
              </a:rPr>
              <a:pPr>
                <a:spcBef>
                  <a:spcPct val="0"/>
                </a:spcBef>
              </a:pPr>
              <a:t>33</a:t>
            </a:fld>
            <a:endParaRPr lang="en-US" altLang="en-US" sz="1400" smtClean="0">
              <a:ea typeface="DejaVu Sans"/>
              <a:cs typeface="DejaVu Sans"/>
            </a:endParaRPr>
          </a:p>
        </p:txBody>
      </p:sp>
      <p:sp>
        <p:nvSpPr>
          <p:cNvPr id="339971" name="Rectangle 1"/>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9972" name="Rectangle 2"/>
          <p:cNvSpPr>
            <a:spLocks noGrp="1" noChangeArrowheads="1"/>
          </p:cNvSpPr>
          <p:nvPr>
            <p:ph type="body" idx="1"/>
          </p:nvPr>
        </p:nvSpPr>
        <p:spPr>
          <a:xfrm>
            <a:off x="777875" y="4776788"/>
            <a:ext cx="6218238" cy="452596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extLst>
      <p:ext uri="{BB962C8B-B14F-4D97-AF65-F5344CB8AC3E}">
        <p14:creationId xmlns:p14="http://schemas.microsoft.com/office/powerpoint/2010/main" val="33719007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99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3CD60FDB-9ED3-4635-8771-6CAAA365A35B}" type="slidenum">
              <a:rPr lang="en-US" altLang="en-US" sz="1400" smtClean="0">
                <a:ea typeface="DejaVu Sans"/>
                <a:cs typeface="DejaVu Sans"/>
              </a:rPr>
              <a:pPr>
                <a:spcBef>
                  <a:spcPct val="0"/>
                </a:spcBef>
              </a:pPr>
              <a:t>34</a:t>
            </a:fld>
            <a:endParaRPr lang="en-US" altLang="en-US" sz="1400" smtClean="0">
              <a:ea typeface="DejaVu Sans"/>
              <a:cs typeface="DejaVu Sans"/>
            </a:endParaRPr>
          </a:p>
        </p:txBody>
      </p:sp>
      <p:sp>
        <p:nvSpPr>
          <p:cNvPr id="339971" name="Rectangle 1"/>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9972" name="Rectangle 2"/>
          <p:cNvSpPr>
            <a:spLocks noGrp="1" noChangeArrowheads="1"/>
          </p:cNvSpPr>
          <p:nvPr>
            <p:ph type="body" idx="1"/>
          </p:nvPr>
        </p:nvSpPr>
        <p:spPr>
          <a:xfrm>
            <a:off x="777875" y="4776788"/>
            <a:ext cx="6218238" cy="452596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extLst>
      <p:ext uri="{BB962C8B-B14F-4D97-AF65-F5344CB8AC3E}">
        <p14:creationId xmlns:p14="http://schemas.microsoft.com/office/powerpoint/2010/main" val="202157061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99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3CD60FDB-9ED3-4635-8771-6CAAA365A35B}" type="slidenum">
              <a:rPr lang="en-US" altLang="en-US" sz="1400" smtClean="0">
                <a:ea typeface="DejaVu Sans"/>
                <a:cs typeface="DejaVu Sans"/>
              </a:rPr>
              <a:pPr>
                <a:spcBef>
                  <a:spcPct val="0"/>
                </a:spcBef>
              </a:pPr>
              <a:t>35</a:t>
            </a:fld>
            <a:endParaRPr lang="en-US" altLang="en-US" sz="1400" smtClean="0">
              <a:ea typeface="DejaVu Sans"/>
              <a:cs typeface="DejaVu Sans"/>
            </a:endParaRPr>
          </a:p>
        </p:txBody>
      </p:sp>
      <p:sp>
        <p:nvSpPr>
          <p:cNvPr id="339971" name="Rectangle 1"/>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9972" name="Rectangle 2"/>
          <p:cNvSpPr>
            <a:spLocks noGrp="1" noChangeArrowheads="1"/>
          </p:cNvSpPr>
          <p:nvPr>
            <p:ph type="body" idx="1"/>
          </p:nvPr>
        </p:nvSpPr>
        <p:spPr>
          <a:xfrm>
            <a:off x="777875" y="4776788"/>
            <a:ext cx="6218238" cy="452596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extLst>
      <p:ext uri="{BB962C8B-B14F-4D97-AF65-F5344CB8AC3E}">
        <p14:creationId xmlns:p14="http://schemas.microsoft.com/office/powerpoint/2010/main" val="405735770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99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3CD60FDB-9ED3-4635-8771-6CAAA365A35B}" type="slidenum">
              <a:rPr lang="en-US" altLang="en-US" sz="1400" smtClean="0">
                <a:ea typeface="DejaVu Sans"/>
                <a:cs typeface="DejaVu Sans"/>
              </a:rPr>
              <a:pPr>
                <a:spcBef>
                  <a:spcPct val="0"/>
                </a:spcBef>
              </a:pPr>
              <a:t>36</a:t>
            </a:fld>
            <a:endParaRPr lang="en-US" altLang="en-US" sz="1400" smtClean="0">
              <a:ea typeface="DejaVu Sans"/>
              <a:cs typeface="DejaVu Sans"/>
            </a:endParaRPr>
          </a:p>
        </p:txBody>
      </p:sp>
      <p:sp>
        <p:nvSpPr>
          <p:cNvPr id="339971" name="Rectangle 1"/>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9972" name="Rectangle 2"/>
          <p:cNvSpPr>
            <a:spLocks noGrp="1" noChangeArrowheads="1"/>
          </p:cNvSpPr>
          <p:nvPr>
            <p:ph type="body" idx="1"/>
          </p:nvPr>
        </p:nvSpPr>
        <p:spPr>
          <a:xfrm>
            <a:off x="777875" y="4776788"/>
            <a:ext cx="6218238" cy="452596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extLst>
      <p:ext uri="{BB962C8B-B14F-4D97-AF65-F5344CB8AC3E}">
        <p14:creationId xmlns:p14="http://schemas.microsoft.com/office/powerpoint/2010/main" val="422238873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99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3CD60FDB-9ED3-4635-8771-6CAAA365A35B}" type="slidenum">
              <a:rPr lang="en-US" altLang="en-US" sz="1400" smtClean="0">
                <a:ea typeface="DejaVu Sans"/>
                <a:cs typeface="DejaVu Sans"/>
              </a:rPr>
              <a:pPr>
                <a:spcBef>
                  <a:spcPct val="0"/>
                </a:spcBef>
              </a:pPr>
              <a:t>37</a:t>
            </a:fld>
            <a:endParaRPr lang="en-US" altLang="en-US" sz="1400" smtClean="0">
              <a:ea typeface="DejaVu Sans"/>
              <a:cs typeface="DejaVu Sans"/>
            </a:endParaRPr>
          </a:p>
        </p:txBody>
      </p:sp>
      <p:sp>
        <p:nvSpPr>
          <p:cNvPr id="339971" name="Rectangle 1"/>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9972" name="Rectangle 2"/>
          <p:cNvSpPr>
            <a:spLocks noGrp="1" noChangeArrowheads="1"/>
          </p:cNvSpPr>
          <p:nvPr>
            <p:ph type="body" idx="1"/>
          </p:nvPr>
        </p:nvSpPr>
        <p:spPr>
          <a:xfrm>
            <a:off x="777875" y="4776788"/>
            <a:ext cx="6218238" cy="452596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extLst>
      <p:ext uri="{BB962C8B-B14F-4D97-AF65-F5344CB8AC3E}">
        <p14:creationId xmlns:p14="http://schemas.microsoft.com/office/powerpoint/2010/main" val="299069619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99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3CD60FDB-9ED3-4635-8771-6CAAA365A35B}" type="slidenum">
              <a:rPr lang="en-US" altLang="en-US" sz="1400" smtClean="0">
                <a:ea typeface="DejaVu Sans"/>
                <a:cs typeface="DejaVu Sans"/>
              </a:rPr>
              <a:pPr>
                <a:spcBef>
                  <a:spcPct val="0"/>
                </a:spcBef>
              </a:pPr>
              <a:t>38</a:t>
            </a:fld>
            <a:endParaRPr lang="en-US" altLang="en-US" sz="1400" smtClean="0">
              <a:ea typeface="DejaVu Sans"/>
              <a:cs typeface="DejaVu Sans"/>
            </a:endParaRPr>
          </a:p>
        </p:txBody>
      </p:sp>
      <p:sp>
        <p:nvSpPr>
          <p:cNvPr id="339971" name="Rectangle 1"/>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9972" name="Rectangle 2"/>
          <p:cNvSpPr>
            <a:spLocks noGrp="1" noChangeArrowheads="1"/>
          </p:cNvSpPr>
          <p:nvPr>
            <p:ph type="body" idx="1"/>
          </p:nvPr>
        </p:nvSpPr>
        <p:spPr>
          <a:xfrm>
            <a:off x="777875" y="4776788"/>
            <a:ext cx="6218238" cy="452596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extLst>
      <p:ext uri="{BB962C8B-B14F-4D97-AF65-F5344CB8AC3E}">
        <p14:creationId xmlns:p14="http://schemas.microsoft.com/office/powerpoint/2010/main" val="311144452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99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3CD60FDB-9ED3-4635-8771-6CAAA365A35B}" type="slidenum">
              <a:rPr lang="en-US" altLang="en-US" sz="1400" smtClean="0">
                <a:ea typeface="DejaVu Sans"/>
                <a:cs typeface="DejaVu Sans"/>
              </a:rPr>
              <a:pPr>
                <a:spcBef>
                  <a:spcPct val="0"/>
                </a:spcBef>
              </a:pPr>
              <a:t>39</a:t>
            </a:fld>
            <a:endParaRPr lang="en-US" altLang="en-US" sz="1400" smtClean="0">
              <a:ea typeface="DejaVu Sans"/>
              <a:cs typeface="DejaVu Sans"/>
            </a:endParaRPr>
          </a:p>
        </p:txBody>
      </p:sp>
      <p:sp>
        <p:nvSpPr>
          <p:cNvPr id="339971" name="Rectangle 1"/>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9972" name="Rectangle 2"/>
          <p:cNvSpPr>
            <a:spLocks noGrp="1" noChangeArrowheads="1"/>
          </p:cNvSpPr>
          <p:nvPr>
            <p:ph type="body" idx="1"/>
          </p:nvPr>
        </p:nvSpPr>
        <p:spPr>
          <a:xfrm>
            <a:off x="777875" y="4776788"/>
            <a:ext cx="6218238" cy="452596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extLst>
      <p:ext uri="{BB962C8B-B14F-4D97-AF65-F5344CB8AC3E}">
        <p14:creationId xmlns:p14="http://schemas.microsoft.com/office/powerpoint/2010/main" val="210169813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99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3CD60FDB-9ED3-4635-8771-6CAAA365A35B}" type="slidenum">
              <a:rPr lang="en-US" altLang="en-US" sz="1400" smtClean="0">
                <a:ea typeface="DejaVu Sans"/>
                <a:cs typeface="DejaVu Sans"/>
              </a:rPr>
              <a:pPr>
                <a:spcBef>
                  <a:spcPct val="0"/>
                </a:spcBef>
              </a:pPr>
              <a:t>40</a:t>
            </a:fld>
            <a:endParaRPr lang="en-US" altLang="en-US" sz="1400" smtClean="0">
              <a:ea typeface="DejaVu Sans"/>
              <a:cs typeface="DejaVu Sans"/>
            </a:endParaRPr>
          </a:p>
        </p:txBody>
      </p:sp>
      <p:sp>
        <p:nvSpPr>
          <p:cNvPr id="339971" name="Rectangle 1"/>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9972" name="Rectangle 2"/>
          <p:cNvSpPr>
            <a:spLocks noGrp="1" noChangeArrowheads="1"/>
          </p:cNvSpPr>
          <p:nvPr>
            <p:ph type="body" idx="1"/>
          </p:nvPr>
        </p:nvSpPr>
        <p:spPr>
          <a:xfrm>
            <a:off x="777875" y="4776788"/>
            <a:ext cx="6218238" cy="452596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extLst>
      <p:ext uri="{BB962C8B-B14F-4D97-AF65-F5344CB8AC3E}">
        <p14:creationId xmlns:p14="http://schemas.microsoft.com/office/powerpoint/2010/main" val="68058850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99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3CD60FDB-9ED3-4635-8771-6CAAA365A35B}" type="slidenum">
              <a:rPr lang="en-US" altLang="en-US" sz="1400" smtClean="0">
                <a:ea typeface="DejaVu Sans"/>
                <a:cs typeface="DejaVu Sans"/>
              </a:rPr>
              <a:pPr>
                <a:spcBef>
                  <a:spcPct val="0"/>
                </a:spcBef>
              </a:pPr>
              <a:t>41</a:t>
            </a:fld>
            <a:endParaRPr lang="en-US" altLang="en-US" sz="1400" smtClean="0">
              <a:ea typeface="DejaVu Sans"/>
              <a:cs typeface="DejaVu Sans"/>
            </a:endParaRPr>
          </a:p>
        </p:txBody>
      </p:sp>
      <p:sp>
        <p:nvSpPr>
          <p:cNvPr id="339971" name="Rectangle 1"/>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9972" name="Rectangle 2"/>
          <p:cNvSpPr>
            <a:spLocks noGrp="1" noChangeArrowheads="1"/>
          </p:cNvSpPr>
          <p:nvPr>
            <p:ph type="body" idx="1"/>
          </p:nvPr>
        </p:nvSpPr>
        <p:spPr>
          <a:xfrm>
            <a:off x="777875" y="4776788"/>
            <a:ext cx="6218238" cy="452596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extLst>
      <p:ext uri="{BB962C8B-B14F-4D97-AF65-F5344CB8AC3E}">
        <p14:creationId xmlns:p14="http://schemas.microsoft.com/office/powerpoint/2010/main" val="84206673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99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3CD60FDB-9ED3-4635-8771-6CAAA365A35B}" type="slidenum">
              <a:rPr lang="en-US" altLang="en-US" sz="1400" smtClean="0">
                <a:ea typeface="DejaVu Sans"/>
                <a:cs typeface="DejaVu Sans"/>
              </a:rPr>
              <a:pPr>
                <a:spcBef>
                  <a:spcPct val="0"/>
                </a:spcBef>
              </a:pPr>
              <a:t>42</a:t>
            </a:fld>
            <a:endParaRPr lang="en-US" altLang="en-US" sz="1400" smtClean="0">
              <a:ea typeface="DejaVu Sans"/>
              <a:cs typeface="DejaVu Sans"/>
            </a:endParaRPr>
          </a:p>
        </p:txBody>
      </p:sp>
      <p:sp>
        <p:nvSpPr>
          <p:cNvPr id="339971" name="Rectangle 1"/>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9972" name="Rectangle 2"/>
          <p:cNvSpPr>
            <a:spLocks noGrp="1" noChangeArrowheads="1"/>
          </p:cNvSpPr>
          <p:nvPr>
            <p:ph type="body" idx="1"/>
          </p:nvPr>
        </p:nvSpPr>
        <p:spPr>
          <a:xfrm>
            <a:off x="777875" y="4776788"/>
            <a:ext cx="6218238" cy="452596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extLst>
      <p:ext uri="{BB962C8B-B14F-4D97-AF65-F5344CB8AC3E}">
        <p14:creationId xmlns:p14="http://schemas.microsoft.com/office/powerpoint/2010/main" val="384990865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99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3CD60FDB-9ED3-4635-8771-6CAAA365A35B}" type="slidenum">
              <a:rPr lang="en-US" altLang="en-US" sz="1400" smtClean="0">
                <a:ea typeface="DejaVu Sans"/>
                <a:cs typeface="DejaVu Sans"/>
              </a:rPr>
              <a:pPr>
                <a:spcBef>
                  <a:spcPct val="0"/>
                </a:spcBef>
              </a:pPr>
              <a:t>43</a:t>
            </a:fld>
            <a:endParaRPr lang="en-US" altLang="en-US" sz="1400" smtClean="0">
              <a:ea typeface="DejaVu Sans"/>
              <a:cs typeface="DejaVu Sans"/>
            </a:endParaRPr>
          </a:p>
        </p:txBody>
      </p:sp>
      <p:sp>
        <p:nvSpPr>
          <p:cNvPr id="339971" name="Rectangle 1"/>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9972" name="Rectangle 2"/>
          <p:cNvSpPr>
            <a:spLocks noGrp="1" noChangeArrowheads="1"/>
          </p:cNvSpPr>
          <p:nvPr>
            <p:ph type="body" idx="1"/>
          </p:nvPr>
        </p:nvSpPr>
        <p:spPr>
          <a:xfrm>
            <a:off x="777875" y="4776788"/>
            <a:ext cx="6218238" cy="452596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extLst>
      <p:ext uri="{BB962C8B-B14F-4D97-AF65-F5344CB8AC3E}">
        <p14:creationId xmlns:p14="http://schemas.microsoft.com/office/powerpoint/2010/main" val="331141612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99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3CD60FDB-9ED3-4635-8771-6CAAA365A35B}" type="slidenum">
              <a:rPr lang="en-US" altLang="en-US" sz="1400" smtClean="0">
                <a:ea typeface="DejaVu Sans"/>
                <a:cs typeface="DejaVu Sans"/>
              </a:rPr>
              <a:pPr>
                <a:spcBef>
                  <a:spcPct val="0"/>
                </a:spcBef>
              </a:pPr>
              <a:t>44</a:t>
            </a:fld>
            <a:endParaRPr lang="en-US" altLang="en-US" sz="1400" smtClean="0">
              <a:ea typeface="DejaVu Sans"/>
              <a:cs typeface="DejaVu Sans"/>
            </a:endParaRPr>
          </a:p>
        </p:txBody>
      </p:sp>
      <p:sp>
        <p:nvSpPr>
          <p:cNvPr id="339971" name="Rectangle 1"/>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9972" name="Rectangle 2"/>
          <p:cNvSpPr>
            <a:spLocks noGrp="1" noChangeArrowheads="1"/>
          </p:cNvSpPr>
          <p:nvPr>
            <p:ph type="body" idx="1"/>
          </p:nvPr>
        </p:nvSpPr>
        <p:spPr>
          <a:xfrm>
            <a:off x="777875" y="4776788"/>
            <a:ext cx="6218238" cy="452596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extLst>
      <p:ext uri="{BB962C8B-B14F-4D97-AF65-F5344CB8AC3E}">
        <p14:creationId xmlns:p14="http://schemas.microsoft.com/office/powerpoint/2010/main" val="354185271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99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3CD60FDB-9ED3-4635-8771-6CAAA365A35B}" type="slidenum">
              <a:rPr lang="en-US" altLang="en-US" sz="1400" smtClean="0">
                <a:ea typeface="DejaVu Sans"/>
                <a:cs typeface="DejaVu Sans"/>
              </a:rPr>
              <a:pPr>
                <a:spcBef>
                  <a:spcPct val="0"/>
                </a:spcBef>
              </a:pPr>
              <a:t>45</a:t>
            </a:fld>
            <a:endParaRPr lang="en-US" altLang="en-US" sz="1400" smtClean="0">
              <a:ea typeface="DejaVu Sans"/>
              <a:cs typeface="DejaVu Sans"/>
            </a:endParaRPr>
          </a:p>
        </p:txBody>
      </p:sp>
      <p:sp>
        <p:nvSpPr>
          <p:cNvPr id="339971" name="Rectangle 1"/>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9972" name="Rectangle 2"/>
          <p:cNvSpPr>
            <a:spLocks noGrp="1" noChangeArrowheads="1"/>
          </p:cNvSpPr>
          <p:nvPr>
            <p:ph type="body" idx="1"/>
          </p:nvPr>
        </p:nvSpPr>
        <p:spPr>
          <a:xfrm>
            <a:off x="777875" y="4776788"/>
            <a:ext cx="6218238" cy="452596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extLst>
      <p:ext uri="{BB962C8B-B14F-4D97-AF65-F5344CB8AC3E}">
        <p14:creationId xmlns:p14="http://schemas.microsoft.com/office/powerpoint/2010/main" val="356238865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99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3CD60FDB-9ED3-4635-8771-6CAAA365A35B}" type="slidenum">
              <a:rPr lang="en-US" altLang="en-US" sz="1400" smtClean="0">
                <a:ea typeface="DejaVu Sans"/>
                <a:cs typeface="DejaVu Sans"/>
              </a:rPr>
              <a:pPr>
                <a:spcBef>
                  <a:spcPct val="0"/>
                </a:spcBef>
              </a:pPr>
              <a:t>46</a:t>
            </a:fld>
            <a:endParaRPr lang="en-US" altLang="en-US" sz="1400" smtClean="0">
              <a:ea typeface="DejaVu Sans"/>
              <a:cs typeface="DejaVu Sans"/>
            </a:endParaRPr>
          </a:p>
        </p:txBody>
      </p:sp>
      <p:sp>
        <p:nvSpPr>
          <p:cNvPr id="339971" name="Rectangle 1"/>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9972" name="Rectangle 2"/>
          <p:cNvSpPr>
            <a:spLocks noGrp="1" noChangeArrowheads="1"/>
          </p:cNvSpPr>
          <p:nvPr>
            <p:ph type="body" idx="1"/>
          </p:nvPr>
        </p:nvSpPr>
        <p:spPr>
          <a:xfrm>
            <a:off x="777875" y="4776788"/>
            <a:ext cx="6218238" cy="452596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extLst>
      <p:ext uri="{BB962C8B-B14F-4D97-AF65-F5344CB8AC3E}">
        <p14:creationId xmlns:p14="http://schemas.microsoft.com/office/powerpoint/2010/main" val="388321200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99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3CD60FDB-9ED3-4635-8771-6CAAA365A35B}" type="slidenum">
              <a:rPr lang="en-US" altLang="en-US" sz="1400" smtClean="0">
                <a:ea typeface="DejaVu Sans"/>
                <a:cs typeface="DejaVu Sans"/>
              </a:rPr>
              <a:pPr>
                <a:spcBef>
                  <a:spcPct val="0"/>
                </a:spcBef>
              </a:pPr>
              <a:t>47</a:t>
            </a:fld>
            <a:endParaRPr lang="en-US" altLang="en-US" sz="1400" smtClean="0">
              <a:ea typeface="DejaVu Sans"/>
              <a:cs typeface="DejaVu Sans"/>
            </a:endParaRPr>
          </a:p>
        </p:txBody>
      </p:sp>
      <p:sp>
        <p:nvSpPr>
          <p:cNvPr id="339971" name="Rectangle 1"/>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9972" name="Rectangle 2"/>
          <p:cNvSpPr>
            <a:spLocks noGrp="1" noChangeArrowheads="1"/>
          </p:cNvSpPr>
          <p:nvPr>
            <p:ph type="body" idx="1"/>
          </p:nvPr>
        </p:nvSpPr>
        <p:spPr>
          <a:xfrm>
            <a:off x="777875" y="4776788"/>
            <a:ext cx="6218238" cy="452596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extLst>
      <p:ext uri="{BB962C8B-B14F-4D97-AF65-F5344CB8AC3E}">
        <p14:creationId xmlns:p14="http://schemas.microsoft.com/office/powerpoint/2010/main" val="376309742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99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3CD60FDB-9ED3-4635-8771-6CAAA365A35B}" type="slidenum">
              <a:rPr lang="en-US" altLang="en-US" sz="1400" smtClean="0">
                <a:ea typeface="DejaVu Sans"/>
                <a:cs typeface="DejaVu Sans"/>
              </a:rPr>
              <a:pPr>
                <a:spcBef>
                  <a:spcPct val="0"/>
                </a:spcBef>
              </a:pPr>
              <a:t>48</a:t>
            </a:fld>
            <a:endParaRPr lang="en-US" altLang="en-US" sz="1400" smtClean="0">
              <a:ea typeface="DejaVu Sans"/>
              <a:cs typeface="DejaVu Sans"/>
            </a:endParaRPr>
          </a:p>
        </p:txBody>
      </p:sp>
      <p:sp>
        <p:nvSpPr>
          <p:cNvPr id="339971" name="Rectangle 1"/>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9972" name="Rectangle 2"/>
          <p:cNvSpPr>
            <a:spLocks noGrp="1" noChangeArrowheads="1"/>
          </p:cNvSpPr>
          <p:nvPr>
            <p:ph type="body" idx="1"/>
          </p:nvPr>
        </p:nvSpPr>
        <p:spPr>
          <a:xfrm>
            <a:off x="777875" y="4776788"/>
            <a:ext cx="6218238" cy="452596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extLst>
      <p:ext uri="{BB962C8B-B14F-4D97-AF65-F5344CB8AC3E}">
        <p14:creationId xmlns:p14="http://schemas.microsoft.com/office/powerpoint/2010/main" val="27888911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fr-F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Modifier le style des sous-titres du masque</a:t>
            </a:r>
            <a:endParaRPr lang="fr-FR"/>
          </a:p>
        </p:txBody>
      </p:sp>
      <p:sp>
        <p:nvSpPr>
          <p:cNvPr id="4" name="Espace réservé de la date 3"/>
          <p:cNvSpPr>
            <a:spLocks noGrp="1"/>
          </p:cNvSpPr>
          <p:nvPr>
            <p:ph type="dt" sz="half" idx="10"/>
          </p:nvPr>
        </p:nvSpPr>
        <p:spPr/>
        <p:txBody>
          <a:bodyPr/>
          <a:lstStyle/>
          <a:p>
            <a:fld id="{F233D1D7-325F-46D8-B3AF-5D2A9231722A}" type="datetimeFigureOut">
              <a:rPr lang="fr-FR" smtClean="0"/>
              <a:t>02/05/2026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33670D75-9D67-407C-AE47-84BA33C97B35}" type="slidenum">
              <a:rPr lang="fr-FR" smtClean="0"/>
              <a:t>‹#›</a:t>
            </a:fld>
            <a:endParaRPr lang="fr-FR"/>
          </a:p>
        </p:txBody>
      </p:sp>
    </p:spTree>
    <p:extLst>
      <p:ext uri="{BB962C8B-B14F-4D97-AF65-F5344CB8AC3E}">
        <p14:creationId xmlns:p14="http://schemas.microsoft.com/office/powerpoint/2010/main" val="30814096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F233D1D7-325F-46D8-B3AF-5D2A9231722A}" type="datetimeFigureOut">
              <a:rPr lang="fr-FR" smtClean="0"/>
              <a:t>02/05/2026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33670D75-9D67-407C-AE47-84BA33C97B35}" type="slidenum">
              <a:rPr lang="fr-FR" smtClean="0"/>
              <a:t>‹#›</a:t>
            </a:fld>
            <a:endParaRPr lang="fr-FR"/>
          </a:p>
        </p:txBody>
      </p:sp>
    </p:spTree>
    <p:extLst>
      <p:ext uri="{BB962C8B-B14F-4D97-AF65-F5344CB8AC3E}">
        <p14:creationId xmlns:p14="http://schemas.microsoft.com/office/powerpoint/2010/main" val="2839080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fr-F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Modifier les styles du texte du masque</a:t>
            </a:r>
          </a:p>
        </p:txBody>
      </p:sp>
      <p:sp>
        <p:nvSpPr>
          <p:cNvPr id="4" name="Espace réservé de la date 3"/>
          <p:cNvSpPr>
            <a:spLocks noGrp="1"/>
          </p:cNvSpPr>
          <p:nvPr>
            <p:ph type="dt" sz="half" idx="10"/>
          </p:nvPr>
        </p:nvSpPr>
        <p:spPr/>
        <p:txBody>
          <a:bodyPr/>
          <a:lstStyle/>
          <a:p>
            <a:fld id="{F233D1D7-325F-46D8-B3AF-5D2A9231722A}" type="datetimeFigureOut">
              <a:rPr lang="fr-FR" smtClean="0"/>
              <a:t>02/05/2026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33670D75-9D67-407C-AE47-84BA33C97B35}" type="slidenum">
              <a:rPr lang="fr-FR" smtClean="0"/>
              <a:t>‹#›</a:t>
            </a:fld>
            <a:endParaRPr lang="fr-FR"/>
          </a:p>
        </p:txBody>
      </p:sp>
    </p:spTree>
    <p:extLst>
      <p:ext uri="{BB962C8B-B14F-4D97-AF65-F5344CB8AC3E}">
        <p14:creationId xmlns:p14="http://schemas.microsoft.com/office/powerpoint/2010/main" val="3616844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F233D1D7-325F-46D8-B3AF-5D2A9231722A}" type="datetimeFigureOut">
              <a:rPr lang="fr-FR" smtClean="0"/>
              <a:t>02/05/2026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33670D75-9D67-407C-AE47-84BA33C97B35}" type="slidenum">
              <a:rPr lang="fr-FR" smtClean="0"/>
              <a:t>‹#›</a:t>
            </a:fld>
            <a:endParaRPr lang="fr-FR"/>
          </a:p>
        </p:txBody>
      </p:sp>
    </p:spTree>
    <p:extLst>
      <p:ext uri="{BB962C8B-B14F-4D97-AF65-F5344CB8AC3E}">
        <p14:creationId xmlns:p14="http://schemas.microsoft.com/office/powerpoint/2010/main" val="16123687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fr-F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F233D1D7-325F-46D8-B3AF-5D2A9231722A}" type="datetimeFigureOut">
              <a:rPr lang="fr-FR" smtClean="0"/>
              <a:t>02/05/2026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33670D75-9D67-407C-AE47-84BA33C97B35}" type="slidenum">
              <a:rPr lang="fr-FR" smtClean="0"/>
              <a:t>‹#›</a:t>
            </a:fld>
            <a:endParaRPr lang="fr-FR"/>
          </a:p>
        </p:txBody>
      </p:sp>
    </p:spTree>
    <p:extLst>
      <p:ext uri="{BB962C8B-B14F-4D97-AF65-F5344CB8AC3E}">
        <p14:creationId xmlns:p14="http://schemas.microsoft.com/office/powerpoint/2010/main" val="3965071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F233D1D7-325F-46D8-B3AF-5D2A9231722A}" type="datetimeFigureOut">
              <a:rPr lang="fr-FR" smtClean="0"/>
              <a:t>02/05/2026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33670D75-9D67-407C-AE47-84BA33C97B35}" type="slidenum">
              <a:rPr lang="fr-FR" smtClean="0"/>
              <a:t>‹#›</a:t>
            </a:fld>
            <a:endParaRPr lang="fr-FR"/>
          </a:p>
        </p:txBody>
      </p:sp>
    </p:spTree>
    <p:extLst>
      <p:ext uri="{BB962C8B-B14F-4D97-AF65-F5344CB8AC3E}">
        <p14:creationId xmlns:p14="http://schemas.microsoft.com/office/powerpoint/2010/main" val="28890968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F233D1D7-325F-46D8-B3AF-5D2A9231722A}" type="datetimeFigureOut">
              <a:rPr lang="fr-FR" smtClean="0"/>
              <a:t>02/05/2026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33670D75-9D67-407C-AE47-84BA33C97B35}" type="slidenum">
              <a:rPr lang="fr-FR" smtClean="0"/>
              <a:t>‹#›</a:t>
            </a:fld>
            <a:endParaRPr lang="fr-FR"/>
          </a:p>
        </p:txBody>
      </p:sp>
    </p:spTree>
    <p:extLst>
      <p:ext uri="{BB962C8B-B14F-4D97-AF65-F5344CB8AC3E}">
        <p14:creationId xmlns:p14="http://schemas.microsoft.com/office/powerpoint/2010/main" val="8652182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F233D1D7-325F-46D8-B3AF-5D2A9231722A}" type="datetimeFigureOut">
              <a:rPr lang="fr-FR" smtClean="0"/>
              <a:t>02/05/2026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33670D75-9D67-407C-AE47-84BA33C97B35}" type="slidenum">
              <a:rPr lang="fr-FR" smtClean="0"/>
              <a:t>‹#›</a:t>
            </a:fld>
            <a:endParaRPr lang="fr-FR"/>
          </a:p>
        </p:txBody>
      </p:sp>
    </p:spTree>
    <p:extLst>
      <p:ext uri="{BB962C8B-B14F-4D97-AF65-F5344CB8AC3E}">
        <p14:creationId xmlns:p14="http://schemas.microsoft.com/office/powerpoint/2010/main" val="6636866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F233D1D7-325F-46D8-B3AF-5D2A9231722A}" type="datetimeFigureOut">
              <a:rPr lang="fr-FR" smtClean="0"/>
              <a:t>02/05/2026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33670D75-9D67-407C-AE47-84BA33C97B35}" type="slidenum">
              <a:rPr lang="fr-FR" smtClean="0"/>
              <a:t>‹#›</a:t>
            </a:fld>
            <a:endParaRPr lang="fr-FR"/>
          </a:p>
        </p:txBody>
      </p:sp>
    </p:spTree>
    <p:extLst>
      <p:ext uri="{BB962C8B-B14F-4D97-AF65-F5344CB8AC3E}">
        <p14:creationId xmlns:p14="http://schemas.microsoft.com/office/powerpoint/2010/main" val="2228989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F233D1D7-325F-46D8-B3AF-5D2A9231722A}" type="datetimeFigureOut">
              <a:rPr lang="fr-FR" smtClean="0"/>
              <a:t>02/05/2026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33670D75-9D67-407C-AE47-84BA33C97B35}" type="slidenum">
              <a:rPr lang="fr-FR" smtClean="0"/>
              <a:t>‹#›</a:t>
            </a:fld>
            <a:endParaRPr lang="fr-FR"/>
          </a:p>
        </p:txBody>
      </p:sp>
    </p:spTree>
    <p:extLst>
      <p:ext uri="{BB962C8B-B14F-4D97-AF65-F5344CB8AC3E}">
        <p14:creationId xmlns:p14="http://schemas.microsoft.com/office/powerpoint/2010/main" val="42607050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F233D1D7-325F-46D8-B3AF-5D2A9231722A}" type="datetimeFigureOut">
              <a:rPr lang="fr-FR" smtClean="0"/>
              <a:t>02/05/2026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33670D75-9D67-407C-AE47-84BA33C97B35}" type="slidenum">
              <a:rPr lang="fr-FR" smtClean="0"/>
              <a:t>‹#›</a:t>
            </a:fld>
            <a:endParaRPr lang="fr-FR"/>
          </a:p>
        </p:txBody>
      </p:sp>
    </p:spTree>
    <p:extLst>
      <p:ext uri="{BB962C8B-B14F-4D97-AF65-F5344CB8AC3E}">
        <p14:creationId xmlns:p14="http://schemas.microsoft.com/office/powerpoint/2010/main" val="3121935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33D1D7-325F-46D8-B3AF-5D2A9231722A}" type="datetimeFigureOut">
              <a:rPr lang="fr-FR" smtClean="0"/>
              <a:t>02/05/2026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670D75-9D67-407C-AE47-84BA33C97B35}" type="slidenum">
              <a:rPr lang="fr-FR" smtClean="0"/>
              <a:t>‹#›</a:t>
            </a:fld>
            <a:endParaRPr lang="fr-FR"/>
          </a:p>
        </p:txBody>
      </p:sp>
    </p:spTree>
    <p:extLst>
      <p:ext uri="{BB962C8B-B14F-4D97-AF65-F5344CB8AC3E}">
        <p14:creationId xmlns:p14="http://schemas.microsoft.com/office/powerpoint/2010/main" val="824999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hyperlink" Target="http://adresse_ip_de_votre_serveur:8080/" TargetMode="Externa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40.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4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5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098355" y="2543234"/>
            <a:ext cx="3512500" cy="1384995"/>
          </a:xfrm>
          <a:prstGeom prst="rect">
            <a:avLst/>
          </a:prstGeom>
        </p:spPr>
        <p:txBody>
          <a:bodyPr wrap="none">
            <a:spAutoFit/>
          </a:bodyPr>
          <a:lstStyle/>
          <a:p>
            <a:pPr algn="ctr"/>
            <a:r>
              <a:rPr lang="fr-FR" sz="2800" dirty="0" smtClean="0">
                <a:solidFill>
                  <a:srgbClr val="1C3158"/>
                </a:solidFill>
                <a:latin typeface="Comic Sans MS" pitchFamily="66" charset="0"/>
              </a:rPr>
              <a:t>Formation Jenkins</a:t>
            </a:r>
            <a:endParaRPr lang="fr-FR" sz="2800" dirty="0">
              <a:solidFill>
                <a:srgbClr val="1C3158"/>
              </a:solidFill>
              <a:latin typeface="Comic Sans MS" pitchFamily="66" charset="0"/>
            </a:endParaRPr>
          </a:p>
          <a:p>
            <a:pPr algn="ctr"/>
            <a:r>
              <a:rPr lang="fr-FR" sz="2800" b="1" dirty="0" smtClean="0">
                <a:solidFill>
                  <a:srgbClr val="1C3158"/>
                </a:solidFill>
                <a:latin typeface="Comic Sans MS" pitchFamily="66" charset="0"/>
              </a:rPr>
              <a:t> </a:t>
            </a:r>
          </a:p>
          <a:p>
            <a:pPr algn="ctr"/>
            <a:r>
              <a:rPr lang="fr-FR" sz="2800" dirty="0" smtClean="0">
                <a:solidFill>
                  <a:srgbClr val="1C3158"/>
                </a:solidFill>
                <a:latin typeface="Comic Sans MS" pitchFamily="66" charset="0"/>
              </a:rPr>
              <a:t>Installation Jenkins</a:t>
            </a:r>
            <a:endParaRPr lang="fr-FR" sz="2800" dirty="0">
              <a:solidFill>
                <a:srgbClr val="1C3158"/>
              </a:solidFill>
              <a:latin typeface="Comic Sans MS" pitchFamily="66" charset="0"/>
            </a:endParaRPr>
          </a:p>
        </p:txBody>
      </p:sp>
      <p:cxnSp>
        <p:nvCxnSpPr>
          <p:cNvPr id="4" name="Connecteur droit 3"/>
          <p:cNvCxnSpPr>
            <a:cxnSpLocks/>
          </p:cNvCxnSpPr>
          <p:nvPr/>
        </p:nvCxnSpPr>
        <p:spPr>
          <a:xfrm flipH="1">
            <a:off x="6266500" y="3227040"/>
            <a:ext cx="5176200" cy="17384"/>
          </a:xfrm>
          <a:prstGeom prst="line">
            <a:avLst/>
          </a:prstGeom>
          <a:ln w="22225">
            <a:solidFill>
              <a:srgbClr val="1C3158"/>
            </a:solidFill>
          </a:ln>
        </p:spPr>
        <p:style>
          <a:lnRef idx="1">
            <a:schemeClr val="accent1"/>
          </a:lnRef>
          <a:fillRef idx="0">
            <a:schemeClr val="accent1"/>
          </a:fillRef>
          <a:effectRef idx="0">
            <a:schemeClr val="accent1"/>
          </a:effectRef>
          <a:fontRef idx="minor">
            <a:schemeClr val="tx1"/>
          </a:fontRef>
        </p:style>
      </p:cxnSp>
      <p:pic>
        <p:nvPicPr>
          <p:cNvPr id="1027" name="Picture 3" descr="C:\Users\bepro-17\AppData\Roaming\Skype\live#3ambenalaya.bepro\media_messaging\media_cache_v3\^2DF5C670F0A42E46084157BFD3139AC68F80CB1B7C725AE391^pimgpsh_fullsize_dist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94353" y="5376618"/>
            <a:ext cx="1552248" cy="154641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4729466" y="6221574"/>
            <a:ext cx="4296872" cy="646331"/>
          </a:xfrm>
          <a:prstGeom prst="rect">
            <a:avLst/>
          </a:prstGeom>
        </p:spPr>
        <p:txBody>
          <a:bodyPr wrap="square">
            <a:spAutoFit/>
          </a:bodyPr>
          <a:lstStyle/>
          <a:p>
            <a:pPr algn="ctr"/>
            <a:r>
              <a:rPr lang="fr-FR" b="1" i="1" dirty="0">
                <a:solidFill>
                  <a:srgbClr val="1C3158"/>
                </a:solidFill>
              </a:rPr>
              <a:t>Béchir BEJAOUI</a:t>
            </a:r>
          </a:p>
          <a:p>
            <a:pPr algn="ctr"/>
            <a:r>
              <a:rPr lang="fr-FR" dirty="0">
                <a:solidFill>
                  <a:srgbClr val="1C3158"/>
                </a:solidFill>
              </a:rPr>
              <a:t>Formateur et consultant indépendant</a:t>
            </a:r>
          </a:p>
        </p:txBody>
      </p:sp>
      <p:pic>
        <p:nvPicPr>
          <p:cNvPr id="1026" name="Picture 2" descr="Jenkins Workflow"/>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60411" y="226498"/>
            <a:ext cx="3522523" cy="48629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32263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1"/>
          <p:cNvSpPr>
            <a:spLocks noGrp="1" noChangeArrowheads="1"/>
          </p:cNvSpPr>
          <p:nvPr>
            <p:ph type="title" idx="4294967295"/>
          </p:nvPr>
        </p:nvSpPr>
        <p:spPr bwMode="auto">
          <a:xfrm>
            <a:off x="3420035" y="2480983"/>
            <a:ext cx="5286935" cy="1320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00000"/>
              </a:lnSpc>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pPr>
            <a:r>
              <a:rPr lang="fr-FR" altLang="en-US" sz="3600" dirty="0" smtClean="0">
                <a:solidFill>
                  <a:srgbClr val="A5300F"/>
                </a:solidFill>
                <a:latin typeface="Times New Roman" panose="02020603050405020304" pitchFamily="18" charset="0"/>
              </a:rPr>
              <a:t>Introduction &amp; installation </a:t>
            </a:r>
          </a:p>
        </p:txBody>
      </p:sp>
    </p:spTree>
    <p:extLst>
      <p:ext uri="{BB962C8B-B14F-4D97-AF65-F5344CB8AC3E}">
        <p14:creationId xmlns:p14="http://schemas.microsoft.com/office/powerpoint/2010/main" val="1701985422"/>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smtClean="0">
                <a:latin typeface="Times New Roman" panose="02020603050405020304" pitchFamily="18" charset="0"/>
                <a:cs typeface="Times New Roman" panose="02020603050405020304" pitchFamily="18" charset="0"/>
              </a:rPr>
              <a:t>Pourquoi Jenkins </a:t>
            </a:r>
            <a:r>
              <a:rPr lang="fr-FR" altLang="fr-FR" b="1" dirty="0">
                <a:latin typeface="Times New Roman" panose="02020603050405020304" pitchFamily="18" charset="0"/>
                <a:cs typeface="Times New Roman" panose="02020603050405020304" pitchFamily="18" charset="0"/>
              </a:rPr>
              <a:t>?</a:t>
            </a:r>
            <a:endParaRPr lang="fr-FR" altLang="en-US" b="1" dirty="0">
              <a:latin typeface="Times New Roman" panose="02020603050405020304" pitchFamily="18" charset="0"/>
              <a:cs typeface="Times New Roman" panose="02020603050405020304" pitchFamily="18" charset="0"/>
            </a:endParaRPr>
          </a:p>
        </p:txBody>
      </p:sp>
      <p:sp>
        <p:nvSpPr>
          <p:cNvPr id="49155" name="Rectangle 1"/>
          <p:cNvSpPr>
            <a:spLocks noChangeArrowheads="1"/>
          </p:cNvSpPr>
          <p:nvPr/>
        </p:nvSpPr>
        <p:spPr bwMode="auto">
          <a:xfrm>
            <a:off x="650875" y="1143000"/>
            <a:ext cx="11229975" cy="50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buFont typeface="Wingdings" panose="05000000000000000000" pitchFamily="2" charset="2"/>
              <a:buChar char="Ø"/>
              <a:defRPr/>
            </a:pPr>
            <a:r>
              <a:rPr lang="fr-FR" b="1" dirty="0"/>
              <a:t>Facilité d'utilisation : </a:t>
            </a:r>
            <a:r>
              <a:rPr lang="fr-FR" dirty="0"/>
              <a:t>Bien que puissant, Jenkins est relativement simple à installer, configurer et utiliser</a:t>
            </a:r>
            <a:endParaRPr lang="fr" dirty="0"/>
          </a:p>
          <a:p>
            <a:pPr marL="285750" indent="-285750">
              <a:buFont typeface="Wingdings" panose="05000000000000000000" pitchFamily="2" charset="2"/>
              <a:buChar char="Ø"/>
              <a:defRPr/>
            </a:pPr>
            <a:r>
              <a:rPr lang="fr-FR" b="1" dirty="0">
                <a:cs typeface="DejaVu Sans" charset="0"/>
              </a:rPr>
              <a:t>Scalabilité : </a:t>
            </a:r>
            <a:r>
              <a:rPr lang="fr-FR" dirty="0">
                <a:cs typeface="DejaVu Sans" charset="0"/>
              </a:rPr>
              <a:t>Jenkins est conçu pour s'adapter aux besoins des équipes de toutes tailles, des petites startups aux grandes entreprises</a:t>
            </a:r>
            <a:r>
              <a:rPr lang="fr-FR" dirty="0" smtClean="0">
                <a:cs typeface="DejaVu Sans" charset="0"/>
              </a:rPr>
              <a:t>.</a:t>
            </a:r>
          </a:p>
          <a:p>
            <a:pPr marL="285750" indent="-285750">
              <a:buFont typeface="Wingdings" panose="05000000000000000000" pitchFamily="2" charset="2"/>
              <a:buChar char="Ø"/>
              <a:defRPr/>
            </a:pPr>
            <a:r>
              <a:rPr lang="fr-FR" b="1" dirty="0">
                <a:cs typeface="DejaVu Sans" charset="0"/>
              </a:rPr>
              <a:t>Support multiplateforme : </a:t>
            </a:r>
            <a:r>
              <a:rPr lang="fr-FR" dirty="0">
                <a:cs typeface="DejaVu Sans" charset="0"/>
              </a:rPr>
              <a:t>Jenkins est compatible avec une variété de systèmes d'exploitation, notamment Windows, </a:t>
            </a:r>
            <a:r>
              <a:rPr lang="fr-FR" dirty="0" smtClean="0">
                <a:cs typeface="DejaVu Sans" charset="0"/>
              </a:rPr>
              <a:t>MacOs </a:t>
            </a:r>
            <a:r>
              <a:rPr lang="fr-FR" dirty="0">
                <a:cs typeface="DejaVu Sans" charset="0"/>
              </a:rPr>
              <a:t>et </a:t>
            </a:r>
            <a:r>
              <a:rPr lang="fr-FR" dirty="0" smtClean="0">
                <a:cs typeface="DejaVu Sans" charset="0"/>
              </a:rPr>
              <a:t>Linux</a:t>
            </a:r>
          </a:p>
          <a:p>
            <a:pPr marL="285750" indent="-285750">
              <a:buFont typeface="Wingdings" panose="05000000000000000000" pitchFamily="2" charset="2"/>
              <a:buChar char="Ø"/>
              <a:defRPr/>
            </a:pPr>
            <a:r>
              <a:rPr lang="fr-FR" b="1" dirty="0">
                <a:cs typeface="DejaVu Sans" charset="0"/>
              </a:rPr>
              <a:t>Sécurité : </a:t>
            </a:r>
            <a:r>
              <a:rPr lang="fr-FR" dirty="0">
                <a:cs typeface="DejaVu Sans" charset="0"/>
              </a:rPr>
              <a:t>Jenkins offre des fonctionnalités avancées de sécurité, telles que l'authentification des utilisateurs, la gestion des autorisations et le cryptage des données, garantissant ainsi la protection des informations sensibles et la conformité aux normes de sécurité</a:t>
            </a:r>
            <a:r>
              <a:rPr lang="fr-FR" dirty="0" smtClean="0">
                <a:cs typeface="DejaVu Sans" charset="0"/>
              </a:rPr>
              <a:t>.</a:t>
            </a:r>
          </a:p>
          <a:p>
            <a:pPr marL="285750" indent="-285750">
              <a:buFont typeface="Wingdings" panose="05000000000000000000" pitchFamily="2" charset="2"/>
              <a:buChar char="Ø"/>
              <a:defRPr/>
            </a:pPr>
            <a:r>
              <a:rPr lang="fr-FR" b="1" dirty="0">
                <a:cs typeface="DejaVu Sans" charset="0"/>
              </a:rPr>
              <a:t>Monitoring et </a:t>
            </a:r>
            <a:r>
              <a:rPr lang="fr-FR" b="1" dirty="0" err="1">
                <a:cs typeface="DejaVu Sans" charset="0"/>
              </a:rPr>
              <a:t>reporting</a:t>
            </a:r>
            <a:r>
              <a:rPr lang="fr-FR" b="1" dirty="0">
                <a:cs typeface="DejaVu Sans" charset="0"/>
              </a:rPr>
              <a:t> : </a:t>
            </a:r>
            <a:r>
              <a:rPr lang="fr-FR" dirty="0">
                <a:cs typeface="DejaVu Sans" charset="0"/>
              </a:rPr>
              <a:t>Jenkins offre des fonctionnalités avancées de surveillance et de </a:t>
            </a:r>
            <a:r>
              <a:rPr lang="fr-FR" dirty="0" err="1">
                <a:cs typeface="DejaVu Sans" charset="0"/>
              </a:rPr>
              <a:t>reporting</a:t>
            </a:r>
            <a:r>
              <a:rPr lang="fr-FR" dirty="0">
                <a:cs typeface="DejaVu Sans" charset="0"/>
              </a:rPr>
              <a:t>, ce qui permet aux équipes de suivre l'état de leurs pipelines, de détecter les problèmes </a:t>
            </a:r>
            <a:r>
              <a:rPr lang="fr-FR" dirty="0" smtClean="0">
                <a:cs typeface="DejaVu Sans" charset="0"/>
              </a:rPr>
              <a:t>rapidement</a:t>
            </a:r>
          </a:p>
          <a:p>
            <a:pPr marL="285750" indent="-285750">
              <a:buFont typeface="Wingdings" panose="05000000000000000000" pitchFamily="2" charset="2"/>
              <a:buChar char="Ø"/>
              <a:defRPr/>
            </a:pPr>
            <a:r>
              <a:rPr lang="fr-FR" b="1" dirty="0"/>
              <a:t>Facilité d'utilisation</a:t>
            </a:r>
            <a:r>
              <a:rPr lang="fr-FR" dirty="0"/>
              <a:t> : Bien que puissant, Jenkins est relativement simple à installer, configurer et </a:t>
            </a:r>
            <a:r>
              <a:rPr lang="fr-FR" dirty="0" smtClean="0"/>
              <a:t>utiliser</a:t>
            </a:r>
          </a:p>
          <a:p>
            <a:pPr marL="285750" indent="-285750">
              <a:buFont typeface="Wingdings" panose="05000000000000000000" pitchFamily="2" charset="2"/>
              <a:buChar char="Ø"/>
              <a:defRPr/>
            </a:pPr>
            <a:r>
              <a:rPr lang="fr-FR" b="1" dirty="0">
                <a:cs typeface="DejaVu Sans" charset="0"/>
              </a:rPr>
              <a:t>Communauté active : </a:t>
            </a:r>
            <a:r>
              <a:rPr lang="fr-FR" dirty="0">
                <a:cs typeface="DejaVu Sans" charset="0"/>
              </a:rPr>
              <a:t>Jenkins bénéficie d'une communauté d'utilisateurs active et engagée, ce qui signifie qu'il existe une abondance de </a:t>
            </a:r>
            <a:r>
              <a:rPr lang="fr-FR" dirty="0" smtClean="0">
                <a:cs typeface="DejaVu Sans" charset="0"/>
              </a:rPr>
              <a:t>ressources</a:t>
            </a:r>
          </a:p>
          <a:p>
            <a:pPr marL="285750" indent="-285750">
              <a:buFont typeface="Wingdings" panose="05000000000000000000" pitchFamily="2" charset="2"/>
              <a:buChar char="Ø"/>
              <a:defRPr/>
            </a:pPr>
            <a:r>
              <a:rPr lang="fr-FR" b="1" dirty="0">
                <a:cs typeface="DejaVu Sans" charset="0"/>
              </a:rPr>
              <a:t>Gratuit et open source : </a:t>
            </a:r>
            <a:r>
              <a:rPr lang="fr-FR" dirty="0">
                <a:cs typeface="DejaVu Sans" charset="0"/>
              </a:rPr>
              <a:t>Jenkins est un logiciel open source distribué gratuitement, ce qui le rend accessible à tous, quel que soit le budget de </a:t>
            </a:r>
            <a:r>
              <a:rPr lang="fr-FR" dirty="0" smtClean="0">
                <a:cs typeface="DejaVu Sans" charset="0"/>
              </a:rPr>
              <a:t>l'entreprise</a:t>
            </a:r>
          </a:p>
          <a:p>
            <a:pPr marL="285750" indent="-285750">
              <a:buFont typeface="Wingdings" panose="05000000000000000000" pitchFamily="2" charset="2"/>
              <a:buChar char="Ø"/>
              <a:defRPr/>
            </a:pPr>
            <a:r>
              <a:rPr lang="fr-FR" b="1" dirty="0" smtClean="0">
                <a:cs typeface="DejaVu Sans" charset="0"/>
              </a:rPr>
              <a:t>Intégration </a:t>
            </a:r>
            <a:r>
              <a:rPr lang="fr-FR" b="1" dirty="0">
                <a:cs typeface="DejaVu Sans" charset="0"/>
              </a:rPr>
              <a:t>avec des outils tiers : </a:t>
            </a:r>
            <a:r>
              <a:rPr lang="fr-FR" dirty="0">
                <a:cs typeface="DejaVu Sans" charset="0"/>
              </a:rPr>
              <a:t>Jenkins s'intègre facilement avec un large éventail d'outils de développement, de test et de déploiement, tels que Git, Docker, </a:t>
            </a:r>
            <a:r>
              <a:rPr lang="fr-FR" dirty="0" err="1">
                <a:cs typeface="DejaVu Sans" charset="0"/>
              </a:rPr>
              <a:t>Jira</a:t>
            </a:r>
            <a:r>
              <a:rPr lang="fr-FR" dirty="0">
                <a:cs typeface="DejaVu Sans" charset="0"/>
              </a:rPr>
              <a:t>, </a:t>
            </a:r>
            <a:r>
              <a:rPr lang="fr-FR" dirty="0" err="1">
                <a:cs typeface="DejaVu Sans" charset="0"/>
              </a:rPr>
              <a:t>Selenium</a:t>
            </a:r>
            <a:r>
              <a:rPr lang="fr-FR" dirty="0">
                <a:cs typeface="DejaVu Sans" charset="0"/>
              </a:rPr>
              <a:t>, </a:t>
            </a:r>
            <a:r>
              <a:rPr lang="fr-FR" dirty="0" err="1" smtClean="0">
                <a:cs typeface="DejaVu Sans" charset="0"/>
              </a:rPr>
              <a:t>etc</a:t>
            </a:r>
            <a:endParaRPr lang="fr-FR" dirty="0" smtClean="0">
              <a:cs typeface="DejaVu Sans" charset="0"/>
            </a:endParaRPr>
          </a:p>
          <a:p>
            <a:pPr marL="285750" indent="-285750">
              <a:buFont typeface="Wingdings" panose="05000000000000000000" pitchFamily="2" charset="2"/>
              <a:buChar char="Ø"/>
              <a:defRPr/>
            </a:pPr>
            <a:r>
              <a:rPr lang="fr-FR" b="1" dirty="0">
                <a:cs typeface="DejaVu Sans" charset="0"/>
              </a:rPr>
              <a:t>Flexibilité :</a:t>
            </a:r>
            <a:r>
              <a:rPr lang="fr-FR" dirty="0">
                <a:cs typeface="DejaVu Sans" charset="0"/>
              </a:rPr>
              <a:t> Jenkins est extrêmement flexible et peut être étendu grâce à un large éventail de plugins</a:t>
            </a:r>
            <a:endParaRPr lang="fr-FR" dirty="0">
              <a:ea typeface="+mn-ea"/>
              <a:cs typeface="DejaVu Sans" charset="0"/>
            </a:endParaRPr>
          </a:p>
        </p:txBody>
      </p:sp>
      <p:pic>
        <p:nvPicPr>
          <p:cNvPr id="5" name="Picture 2" descr="Jenkins Workflow"/>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103214" y="5890160"/>
            <a:ext cx="641481" cy="8855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6928289"/>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smtClean="0">
                <a:latin typeface="Times New Roman" panose="02020603050405020304" pitchFamily="18" charset="0"/>
                <a:cs typeface="Times New Roman" panose="02020603050405020304" pitchFamily="18" charset="0"/>
              </a:rPr>
              <a:t>Pourquoi Jenkins </a:t>
            </a:r>
            <a:r>
              <a:rPr lang="fr-FR" altLang="fr-FR" b="1" dirty="0">
                <a:latin typeface="Times New Roman" panose="02020603050405020304" pitchFamily="18" charset="0"/>
                <a:cs typeface="Times New Roman" panose="02020603050405020304" pitchFamily="18" charset="0"/>
              </a:rPr>
              <a:t>?</a:t>
            </a:r>
            <a:endParaRPr lang="fr-FR" altLang="en-US" b="1" dirty="0">
              <a:latin typeface="Times New Roman" panose="02020603050405020304" pitchFamily="18" charset="0"/>
              <a:cs typeface="Times New Roman" panose="02020603050405020304" pitchFamily="18" charset="0"/>
            </a:endParaRPr>
          </a:p>
        </p:txBody>
      </p:sp>
      <p:sp>
        <p:nvSpPr>
          <p:cNvPr id="2" name="Rectangle 1"/>
          <p:cNvSpPr/>
          <p:nvPr/>
        </p:nvSpPr>
        <p:spPr>
          <a:xfrm>
            <a:off x="595746" y="1089101"/>
            <a:ext cx="11077698" cy="523220"/>
          </a:xfrm>
          <a:prstGeom prst="rect">
            <a:avLst/>
          </a:prstGeom>
        </p:spPr>
        <p:txBody>
          <a:bodyPr wrap="square">
            <a:spAutoFit/>
          </a:bodyPr>
          <a:lstStyle/>
          <a:p>
            <a:pPr marL="285750" indent="-285750">
              <a:buFont typeface="Wingdings" panose="05000000000000000000" pitchFamily="2" charset="2"/>
              <a:buChar char="Ø"/>
            </a:pPr>
            <a:r>
              <a:rPr lang="fr-FR" sz="1400" b="0" i="0" dirty="0" smtClean="0">
                <a:solidFill>
                  <a:srgbClr val="0D0D0D"/>
                </a:solidFill>
                <a:effectLst/>
                <a:latin typeface="Söhne"/>
              </a:rPr>
              <a:t>Cette comparaison succincte met en évidence les points forts et les points faibles de chaque outil, ce qui peut aider à orienter le choix en fonction des besoins spécifiques du projet et de l'équipe</a:t>
            </a:r>
            <a:endParaRPr lang="fr-FR" sz="1400" dirty="0"/>
          </a:p>
        </p:txBody>
      </p:sp>
      <p:graphicFrame>
        <p:nvGraphicFramePr>
          <p:cNvPr id="3" name="Tableau 2"/>
          <p:cNvGraphicFramePr>
            <a:graphicFrameLocks noGrp="1"/>
          </p:cNvGraphicFramePr>
          <p:nvPr>
            <p:extLst>
              <p:ext uri="{D42A27DB-BD31-4B8C-83A1-F6EECF244321}">
                <p14:modId xmlns:p14="http://schemas.microsoft.com/office/powerpoint/2010/main" val="1948124114"/>
              </p:ext>
            </p:extLst>
          </p:nvPr>
        </p:nvGraphicFramePr>
        <p:xfrm>
          <a:off x="973351" y="1779084"/>
          <a:ext cx="9868819" cy="4502815"/>
        </p:xfrm>
        <a:graphic>
          <a:graphicData uri="http://schemas.openxmlformats.org/drawingml/2006/table">
            <a:tbl>
              <a:tblPr/>
              <a:tblGrid>
                <a:gridCol w="1831148">
                  <a:extLst>
                    <a:ext uri="{9D8B030D-6E8A-4147-A177-3AD203B41FA5}">
                      <a16:colId xmlns:a16="http://schemas.microsoft.com/office/drawing/2014/main" val="3899672775"/>
                    </a:ext>
                  </a:extLst>
                </a:gridCol>
                <a:gridCol w="3922482">
                  <a:extLst>
                    <a:ext uri="{9D8B030D-6E8A-4147-A177-3AD203B41FA5}">
                      <a16:colId xmlns:a16="http://schemas.microsoft.com/office/drawing/2014/main" val="3164139798"/>
                    </a:ext>
                  </a:extLst>
                </a:gridCol>
                <a:gridCol w="4115189">
                  <a:extLst>
                    <a:ext uri="{9D8B030D-6E8A-4147-A177-3AD203B41FA5}">
                      <a16:colId xmlns:a16="http://schemas.microsoft.com/office/drawing/2014/main" val="2901503946"/>
                    </a:ext>
                  </a:extLst>
                </a:gridCol>
              </a:tblGrid>
              <a:tr h="108783">
                <a:tc>
                  <a:txBody>
                    <a:bodyPr/>
                    <a:lstStyle/>
                    <a:p>
                      <a:pPr fontAlgn="b"/>
                      <a:r>
                        <a:rPr lang="fr-FR" sz="1200" b="1" dirty="0">
                          <a:solidFill>
                            <a:schemeClr val="bg1"/>
                          </a:solidFill>
                          <a:effectLst/>
                        </a:rPr>
                        <a:t>Outil</a:t>
                      </a:r>
                    </a:p>
                  </a:txBody>
                  <a:tcPr marL="27196" marR="27196" marT="13598" marB="13598" anchor="b">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0000"/>
                    </a:solidFill>
                  </a:tcPr>
                </a:tc>
                <a:tc>
                  <a:txBody>
                    <a:bodyPr/>
                    <a:lstStyle/>
                    <a:p>
                      <a:pPr fontAlgn="b"/>
                      <a:r>
                        <a:rPr lang="fr-FR" sz="1200" b="1" dirty="0">
                          <a:solidFill>
                            <a:schemeClr val="bg1"/>
                          </a:solidFill>
                          <a:effectLst/>
                        </a:rPr>
                        <a:t>Points forts</a:t>
                      </a:r>
                    </a:p>
                  </a:txBody>
                  <a:tcPr marL="27196" marR="27196" marT="13598" marB="13598" anchor="b">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0000"/>
                    </a:solidFill>
                  </a:tcPr>
                </a:tc>
                <a:tc>
                  <a:txBody>
                    <a:bodyPr/>
                    <a:lstStyle/>
                    <a:p>
                      <a:pPr fontAlgn="b"/>
                      <a:r>
                        <a:rPr lang="fr-FR" sz="1200" b="1" dirty="0">
                          <a:solidFill>
                            <a:schemeClr val="bg1"/>
                          </a:solidFill>
                          <a:effectLst/>
                        </a:rPr>
                        <a:t>Points faibles</a:t>
                      </a:r>
                    </a:p>
                  </a:txBody>
                  <a:tcPr marL="27196" marR="27196" marT="13598" marB="13598" anchor="b">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0000"/>
                    </a:solidFill>
                  </a:tcPr>
                </a:tc>
                <a:extLst>
                  <a:ext uri="{0D108BD9-81ED-4DB2-BD59-A6C34878D82A}">
                    <a16:rowId xmlns:a16="http://schemas.microsoft.com/office/drawing/2014/main" val="3761489262"/>
                  </a:ext>
                </a:extLst>
              </a:tr>
              <a:tr h="353546">
                <a:tc>
                  <a:txBody>
                    <a:bodyPr/>
                    <a:lstStyle/>
                    <a:p>
                      <a:pPr fontAlgn="base"/>
                      <a:r>
                        <a:rPr lang="fr-FR" sz="1400" dirty="0">
                          <a:effectLst/>
                        </a:rPr>
                        <a:t>Jenkins</a:t>
                      </a:r>
                    </a:p>
                  </a:txBody>
                  <a:tcPr marL="27196" marR="27196" marT="13598" marB="13598"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fr-FR" sz="1400">
                          <a:effectLst/>
                        </a:rPr>
                        <a:t>- Flexibilité grâce aux plugins</a:t>
                      </a:r>
                    </a:p>
                  </a:txBody>
                  <a:tcPr marL="27196" marR="27196" marT="13598" marB="13598"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fr-FR" sz="1400" dirty="0">
                          <a:effectLst/>
                        </a:rPr>
                        <a:t>- Configuration parfois complexe</a:t>
                      </a:r>
                    </a:p>
                  </a:txBody>
                  <a:tcPr marL="27196" marR="27196" marT="13598" marB="13598"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4107356675"/>
                  </a:ext>
                </a:extLst>
              </a:tr>
              <a:tr h="353546">
                <a:tc>
                  <a:txBody>
                    <a:bodyPr/>
                    <a:lstStyle/>
                    <a:p>
                      <a:pPr fontAlgn="base"/>
                      <a:endParaRPr lang="fr-FR" sz="1400" dirty="0">
                        <a:effectLst/>
                      </a:endParaRPr>
                    </a:p>
                  </a:txBody>
                  <a:tcPr marL="27196" marR="27196" marT="13598" marB="13598"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fr-FR" sz="1400" dirty="0">
                          <a:effectLst/>
                        </a:rPr>
                        <a:t>- Grande communauté et support actif</a:t>
                      </a:r>
                    </a:p>
                  </a:txBody>
                  <a:tcPr marL="27196" marR="27196" marT="13598" marB="13598"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fr-FR" sz="1400" dirty="0">
                          <a:effectLst/>
                        </a:rPr>
                        <a:t>- Interface utilisateur peut être déroutante</a:t>
                      </a:r>
                    </a:p>
                  </a:txBody>
                  <a:tcPr marL="27196" marR="27196" marT="13598" marB="13598"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3734972558"/>
                  </a:ext>
                </a:extLst>
              </a:tr>
              <a:tr h="190371">
                <a:tc>
                  <a:txBody>
                    <a:bodyPr/>
                    <a:lstStyle/>
                    <a:p>
                      <a:pPr fontAlgn="base"/>
                      <a:endParaRPr lang="fr-FR" sz="1400">
                        <a:effectLst/>
                      </a:endParaRPr>
                    </a:p>
                  </a:txBody>
                  <a:tcPr marL="27196" marR="27196" marT="13598" marB="13598"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fr-FR" sz="1400" dirty="0">
                          <a:effectLst/>
                        </a:rPr>
                        <a:t>- Gratuit et open source</a:t>
                      </a:r>
                    </a:p>
                  </a:txBody>
                  <a:tcPr marL="27196" marR="27196" marT="13598" marB="13598"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endParaRPr lang="fr-FR" sz="1400">
                        <a:effectLst/>
                      </a:endParaRPr>
                    </a:p>
                  </a:txBody>
                  <a:tcPr marL="27196" marR="27196" marT="13598" marB="13598"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730442279"/>
                  </a:ext>
                </a:extLst>
              </a:tr>
              <a:tr h="271959">
                <a:tc>
                  <a:txBody>
                    <a:bodyPr/>
                    <a:lstStyle/>
                    <a:p>
                      <a:pPr fontAlgn="base"/>
                      <a:r>
                        <a:rPr lang="fr-FR" sz="1400">
                          <a:effectLst/>
                        </a:rPr>
                        <a:t>GitLab CI/CD</a:t>
                      </a:r>
                    </a:p>
                  </a:txBody>
                  <a:tcPr marL="27196" marR="27196" marT="13598" marB="13598"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fr-FR" sz="1400" dirty="0">
                          <a:effectLst/>
                        </a:rPr>
                        <a:t>- Intégration native avec </a:t>
                      </a:r>
                      <a:r>
                        <a:rPr lang="fr-FR" sz="1400" dirty="0" err="1">
                          <a:effectLst/>
                        </a:rPr>
                        <a:t>GitLab</a:t>
                      </a:r>
                      <a:endParaRPr lang="fr-FR" sz="1400" dirty="0">
                        <a:effectLst/>
                      </a:endParaRPr>
                    </a:p>
                  </a:txBody>
                  <a:tcPr marL="27196" marR="27196" marT="13598" marB="13598"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fr-FR" sz="1400">
                          <a:effectLst/>
                        </a:rPr>
                        <a:t>- Moins de flexibilité que Jenkins</a:t>
                      </a:r>
                    </a:p>
                  </a:txBody>
                  <a:tcPr marL="27196" marR="27196" marT="13598" marB="13598"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253684858"/>
                  </a:ext>
                </a:extLst>
              </a:tr>
              <a:tr h="435134">
                <a:tc>
                  <a:txBody>
                    <a:bodyPr/>
                    <a:lstStyle/>
                    <a:p>
                      <a:pPr fontAlgn="base"/>
                      <a:endParaRPr lang="fr-FR" sz="1400">
                        <a:effectLst/>
                      </a:endParaRPr>
                    </a:p>
                  </a:txBody>
                  <a:tcPr marL="27196" marR="27196" marT="13598" marB="13598"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fr-FR" sz="1400" dirty="0">
                          <a:effectLst/>
                        </a:rPr>
                        <a:t>- Pipeline as code pour une configuration claire</a:t>
                      </a:r>
                    </a:p>
                  </a:txBody>
                  <a:tcPr marL="27196" marR="27196" marT="13598" marB="13598"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fr-FR" sz="1400">
                          <a:effectLst/>
                        </a:rPr>
                        <a:t>- Plus adapté aux écosystèmes GitLab</a:t>
                      </a:r>
                    </a:p>
                  </a:txBody>
                  <a:tcPr marL="27196" marR="27196" marT="13598" marB="13598"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191380117"/>
                  </a:ext>
                </a:extLst>
              </a:tr>
              <a:tr h="271959">
                <a:tc>
                  <a:txBody>
                    <a:bodyPr/>
                    <a:lstStyle/>
                    <a:p>
                      <a:pPr fontAlgn="base"/>
                      <a:endParaRPr lang="fr-FR" sz="1400">
                        <a:effectLst/>
                      </a:endParaRPr>
                    </a:p>
                  </a:txBody>
                  <a:tcPr marL="27196" marR="27196" marT="13598" marB="13598"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fr-FR" sz="1400" dirty="0">
                          <a:effectLst/>
                        </a:rPr>
                        <a:t>- Intégration continue avec le SCM</a:t>
                      </a:r>
                    </a:p>
                  </a:txBody>
                  <a:tcPr marL="27196" marR="27196" marT="13598" marB="13598"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endParaRPr lang="fr-FR" sz="1400">
                        <a:effectLst/>
                      </a:endParaRPr>
                    </a:p>
                  </a:txBody>
                  <a:tcPr marL="27196" marR="27196" marT="13598" marB="13598"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161823628"/>
                  </a:ext>
                </a:extLst>
              </a:tr>
              <a:tr h="435134">
                <a:tc>
                  <a:txBody>
                    <a:bodyPr/>
                    <a:lstStyle/>
                    <a:p>
                      <a:pPr fontAlgn="base"/>
                      <a:r>
                        <a:rPr lang="fr-FR" sz="1400">
                          <a:effectLst/>
                        </a:rPr>
                        <a:t>Travis CI</a:t>
                      </a:r>
                    </a:p>
                  </a:txBody>
                  <a:tcPr marL="27196" marR="27196" marT="13598" marB="13598"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fr-FR" sz="1400" dirty="0">
                          <a:effectLst/>
                        </a:rPr>
                        <a:t>- Facilité d'utilisation et configuration rapide</a:t>
                      </a:r>
                    </a:p>
                  </a:txBody>
                  <a:tcPr marL="27196" marR="27196" marT="13598" marB="13598"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fr-FR" sz="1400">
                          <a:effectLst/>
                        </a:rPr>
                        <a:t>- Limitations sur les builds simultanées</a:t>
                      </a:r>
                    </a:p>
                  </a:txBody>
                  <a:tcPr marL="27196" marR="27196" marT="13598" marB="13598"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3921472343"/>
                  </a:ext>
                </a:extLst>
              </a:tr>
              <a:tr h="353546">
                <a:tc>
                  <a:txBody>
                    <a:bodyPr/>
                    <a:lstStyle/>
                    <a:p>
                      <a:pPr fontAlgn="base"/>
                      <a:endParaRPr lang="fr-FR" sz="1400">
                        <a:effectLst/>
                      </a:endParaRPr>
                    </a:p>
                  </a:txBody>
                  <a:tcPr marL="27196" marR="27196" marT="13598" marB="13598"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fr-FR" sz="1400" dirty="0">
                          <a:effectLst/>
                        </a:rPr>
                        <a:t>- Intégration native avec GitHub</a:t>
                      </a:r>
                    </a:p>
                  </a:txBody>
                  <a:tcPr marL="27196" marR="27196" marT="13598" marB="13598"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fr-FR" sz="1400" dirty="0">
                          <a:effectLst/>
                        </a:rPr>
                        <a:t>- Coût associé pour les projets privés</a:t>
                      </a:r>
                    </a:p>
                  </a:txBody>
                  <a:tcPr marL="27196" marR="27196" marT="13598" marB="13598"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2535080"/>
                  </a:ext>
                </a:extLst>
              </a:tr>
              <a:tr h="516721">
                <a:tc>
                  <a:txBody>
                    <a:bodyPr/>
                    <a:lstStyle/>
                    <a:p>
                      <a:pPr fontAlgn="base"/>
                      <a:endParaRPr lang="fr-FR" sz="1400">
                        <a:effectLst/>
                      </a:endParaRPr>
                    </a:p>
                  </a:txBody>
                  <a:tcPr marL="27196" marR="27196" marT="13598" marB="13598"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fr-FR" sz="1400">
                          <a:effectLst/>
                        </a:rPr>
                        <a:t>- Environnement hébergé pour une prise en charge</a:t>
                      </a:r>
                    </a:p>
                  </a:txBody>
                  <a:tcPr marL="27196" marR="27196" marT="13598" marB="13598"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endParaRPr lang="fr-FR" sz="1400" dirty="0">
                        <a:effectLst/>
                      </a:endParaRPr>
                    </a:p>
                  </a:txBody>
                  <a:tcPr marL="27196" marR="27196" marT="13598" marB="13598"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2269772455"/>
                  </a:ext>
                </a:extLst>
              </a:tr>
              <a:tr h="353546">
                <a:tc>
                  <a:txBody>
                    <a:bodyPr/>
                    <a:lstStyle/>
                    <a:p>
                      <a:pPr fontAlgn="base"/>
                      <a:r>
                        <a:rPr lang="fr-FR" sz="1400">
                          <a:effectLst/>
                        </a:rPr>
                        <a:t>CircleCI</a:t>
                      </a:r>
                    </a:p>
                  </a:txBody>
                  <a:tcPr marL="27196" marR="27196" marT="13598" marB="13598"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fr-FR" sz="1400">
                          <a:effectLst/>
                        </a:rPr>
                        <a:t>- Configuration simple et sans serveur</a:t>
                      </a:r>
                    </a:p>
                  </a:txBody>
                  <a:tcPr marL="27196" marR="27196" marT="13598" marB="13598"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fr-FR" sz="1400" dirty="0">
                          <a:effectLst/>
                        </a:rPr>
                        <a:t>- Plus cher pour les grands déploiements</a:t>
                      </a:r>
                    </a:p>
                  </a:txBody>
                  <a:tcPr marL="27196" marR="27196" marT="13598" marB="13598"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2761993061"/>
                  </a:ext>
                </a:extLst>
              </a:tr>
              <a:tr h="353546">
                <a:tc>
                  <a:txBody>
                    <a:bodyPr/>
                    <a:lstStyle/>
                    <a:p>
                      <a:pPr fontAlgn="base"/>
                      <a:endParaRPr lang="fr-FR" sz="1400">
                        <a:effectLst/>
                      </a:endParaRPr>
                    </a:p>
                  </a:txBody>
                  <a:tcPr marL="27196" marR="27196" marT="13598" marB="13598"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fr-FR" sz="1400">
                          <a:effectLst/>
                        </a:rPr>
                        <a:t>- Détection automatique des pipelines</a:t>
                      </a:r>
                    </a:p>
                  </a:txBody>
                  <a:tcPr marL="27196" marR="27196" marT="13598" marB="13598"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fr-FR" sz="1400" dirty="0">
                          <a:effectLst/>
                        </a:rPr>
                        <a:t>- Certaines fonctionnalités réservées aux</a:t>
                      </a:r>
                    </a:p>
                  </a:txBody>
                  <a:tcPr marL="27196" marR="27196" marT="13598" marB="13598"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2751025450"/>
                  </a:ext>
                </a:extLst>
              </a:tr>
              <a:tr h="353546">
                <a:tc>
                  <a:txBody>
                    <a:bodyPr/>
                    <a:lstStyle/>
                    <a:p>
                      <a:pPr fontAlgn="base"/>
                      <a:endParaRPr lang="fr-FR" sz="1400">
                        <a:effectLst/>
                      </a:endParaRPr>
                    </a:p>
                  </a:txBody>
                  <a:tcPr marL="27196" marR="27196" marT="13598" marB="13598"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fontAlgn="base"/>
                      <a:r>
                        <a:rPr lang="fr-FR" sz="1400">
                          <a:effectLst/>
                        </a:rPr>
                        <a:t>- Parallélisme des builds pour une performance</a:t>
                      </a:r>
                    </a:p>
                  </a:txBody>
                  <a:tcPr marL="27196" marR="27196" marT="13598" marB="13598"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fontAlgn="base"/>
                      <a:r>
                        <a:rPr lang="fr-FR" sz="1400" dirty="0">
                          <a:effectLst/>
                        </a:rPr>
                        <a:t>plans payants</a:t>
                      </a:r>
                    </a:p>
                  </a:txBody>
                  <a:tcPr marL="27196" marR="27196" marT="13598" marB="13598"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3618305651"/>
                  </a:ext>
                </a:extLst>
              </a:tr>
            </a:tbl>
          </a:graphicData>
        </a:graphic>
      </p:graphicFrame>
      <p:pic>
        <p:nvPicPr>
          <p:cNvPr id="7" name="Picture 2" descr="Jenkins Workflow"/>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103214" y="5890160"/>
            <a:ext cx="641481" cy="8855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0620613"/>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smtClean="0">
                <a:latin typeface="Times New Roman" panose="02020603050405020304" pitchFamily="18" charset="0"/>
                <a:cs typeface="Times New Roman" panose="02020603050405020304" pitchFamily="18" charset="0"/>
              </a:rPr>
              <a:t>Architecture Jenkins</a:t>
            </a:r>
            <a:endParaRPr lang="fr-FR" altLang="en-US" b="1" dirty="0">
              <a:latin typeface="Times New Roman" panose="02020603050405020304" pitchFamily="18" charset="0"/>
              <a:cs typeface="Times New Roman" panose="02020603050405020304" pitchFamily="18" charset="0"/>
            </a:endParaRPr>
          </a:p>
        </p:txBody>
      </p:sp>
      <p:pic>
        <p:nvPicPr>
          <p:cNvPr id="3" name="Image 2"/>
          <p:cNvPicPr>
            <a:picLocks noChangeAspect="1"/>
          </p:cNvPicPr>
          <p:nvPr/>
        </p:nvPicPr>
        <p:blipFill>
          <a:blip r:embed="rId4"/>
          <a:stretch>
            <a:fillRect/>
          </a:stretch>
        </p:blipFill>
        <p:spPr>
          <a:xfrm>
            <a:off x="3272455" y="654266"/>
            <a:ext cx="5670841" cy="6039160"/>
          </a:xfrm>
          <a:prstGeom prst="rect">
            <a:avLst/>
          </a:prstGeom>
        </p:spPr>
      </p:pic>
      <p:pic>
        <p:nvPicPr>
          <p:cNvPr id="8" name="Picture 2" descr="Jenkins Workflow"/>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103214" y="5890160"/>
            <a:ext cx="641481" cy="8855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5280240"/>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smtClean="0">
                <a:latin typeface="Times New Roman" panose="02020603050405020304" pitchFamily="18" charset="0"/>
                <a:cs typeface="Times New Roman" panose="02020603050405020304" pitchFamily="18" charset="0"/>
              </a:rPr>
              <a:t>Architecture Jenkins</a:t>
            </a:r>
            <a:endParaRPr lang="fr-FR" altLang="en-US" b="1" dirty="0">
              <a:latin typeface="Times New Roman" panose="02020603050405020304" pitchFamily="18" charset="0"/>
              <a:cs typeface="Times New Roman" panose="02020603050405020304" pitchFamily="18" charset="0"/>
            </a:endParaRPr>
          </a:p>
        </p:txBody>
      </p:sp>
      <p:pic>
        <p:nvPicPr>
          <p:cNvPr id="3074" name="Picture 2" descr="How to Configure Jenkins Master Slave Setup. - Digital Vary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40379" y="1305152"/>
            <a:ext cx="7380720" cy="466108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5048968" y="6164385"/>
            <a:ext cx="2163541" cy="369332"/>
          </a:xfrm>
          <a:prstGeom prst="rect">
            <a:avLst/>
          </a:prstGeom>
        </p:spPr>
        <p:txBody>
          <a:bodyPr wrap="none">
            <a:spAutoFit/>
          </a:bodyPr>
          <a:lstStyle/>
          <a:p>
            <a:r>
              <a:rPr lang="fr-FR" dirty="0" smtClean="0">
                <a:cs typeface="DejaVu Sans" charset="0"/>
              </a:rPr>
              <a:t>Les agents de </a:t>
            </a:r>
            <a:r>
              <a:rPr lang="fr-FR" dirty="0">
                <a:cs typeface="DejaVu Sans" charset="0"/>
              </a:rPr>
              <a:t>J</a:t>
            </a:r>
            <a:r>
              <a:rPr lang="fr-FR" dirty="0" smtClean="0">
                <a:cs typeface="DejaVu Sans" charset="0"/>
              </a:rPr>
              <a:t>enkins</a:t>
            </a:r>
            <a:endParaRPr lang="fr-FR" dirty="0"/>
          </a:p>
        </p:txBody>
      </p:sp>
      <p:pic>
        <p:nvPicPr>
          <p:cNvPr id="7" name="Picture 2" descr="Jenkins Workflow"/>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103214" y="5890160"/>
            <a:ext cx="641481" cy="8855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4499341"/>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1"/>
          <p:cNvSpPr>
            <a:spLocks noGrp="1" noChangeArrowheads="1"/>
          </p:cNvSpPr>
          <p:nvPr>
            <p:ph type="title" idx="4294967295"/>
          </p:nvPr>
        </p:nvSpPr>
        <p:spPr bwMode="auto">
          <a:xfrm>
            <a:off x="3420035" y="2480983"/>
            <a:ext cx="5286935" cy="1320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1" hangingPunct="1">
              <a:lnSpc>
                <a:spcPct val="100000"/>
              </a:lnSpc>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pPr>
            <a:r>
              <a:rPr lang="fr-FR" altLang="en-US" sz="3600" dirty="0">
                <a:solidFill>
                  <a:srgbClr val="A5300F"/>
                </a:solidFill>
                <a:latin typeface="Times New Roman" panose="02020603050405020304" pitchFamily="18" charset="0"/>
              </a:rPr>
              <a:t>I</a:t>
            </a:r>
            <a:r>
              <a:rPr lang="fr-FR" altLang="en-US" sz="3600" dirty="0" smtClean="0">
                <a:solidFill>
                  <a:srgbClr val="A5300F"/>
                </a:solidFill>
                <a:latin typeface="Times New Roman" panose="02020603050405020304" pitchFamily="18" charset="0"/>
              </a:rPr>
              <a:t>nstallation de Jenkins sous Windows</a:t>
            </a:r>
          </a:p>
        </p:txBody>
      </p:sp>
    </p:spTree>
    <p:extLst>
      <p:ext uri="{BB962C8B-B14F-4D97-AF65-F5344CB8AC3E}">
        <p14:creationId xmlns:p14="http://schemas.microsoft.com/office/powerpoint/2010/main" val="762285309"/>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smtClean="0">
                <a:latin typeface="Times New Roman" panose="02020603050405020304" pitchFamily="18" charset="0"/>
                <a:cs typeface="Times New Roman" panose="02020603050405020304" pitchFamily="18" charset="0"/>
              </a:rPr>
              <a:t>Installation Jenkins (Windows)</a:t>
            </a:r>
            <a:endParaRPr lang="fr-FR" altLang="en-US" b="1" dirty="0">
              <a:latin typeface="Times New Roman" panose="02020603050405020304" pitchFamily="18" charset="0"/>
              <a:cs typeface="Times New Roman" panose="02020603050405020304" pitchFamily="18" charset="0"/>
            </a:endParaRPr>
          </a:p>
        </p:txBody>
      </p:sp>
      <p:pic>
        <p:nvPicPr>
          <p:cNvPr id="2" name="Image 1"/>
          <p:cNvPicPr>
            <a:picLocks noChangeAspect="1"/>
          </p:cNvPicPr>
          <p:nvPr/>
        </p:nvPicPr>
        <p:blipFill>
          <a:blip r:embed="rId4"/>
          <a:stretch>
            <a:fillRect/>
          </a:stretch>
        </p:blipFill>
        <p:spPr>
          <a:xfrm>
            <a:off x="1894114" y="1211876"/>
            <a:ext cx="7916366" cy="4749819"/>
          </a:xfrm>
          <a:prstGeom prst="rect">
            <a:avLst/>
          </a:prstGeom>
        </p:spPr>
      </p:pic>
      <p:pic>
        <p:nvPicPr>
          <p:cNvPr id="3" name="Image 2"/>
          <p:cNvPicPr>
            <a:picLocks noChangeAspect="1"/>
          </p:cNvPicPr>
          <p:nvPr/>
        </p:nvPicPr>
        <p:blipFill>
          <a:blip r:embed="rId5"/>
          <a:stretch>
            <a:fillRect/>
          </a:stretch>
        </p:blipFill>
        <p:spPr>
          <a:xfrm>
            <a:off x="6031215" y="2252140"/>
            <a:ext cx="4820323" cy="3743847"/>
          </a:xfrm>
          <a:prstGeom prst="rect">
            <a:avLst/>
          </a:prstGeom>
          <a:ln>
            <a:noFill/>
          </a:ln>
          <a:effectLst>
            <a:outerShdw blurRad="292100" dist="139700" dir="2700000" algn="tl" rotWithShape="0">
              <a:srgbClr val="333333">
                <a:alpha val="65000"/>
              </a:srgbClr>
            </a:outerShdw>
          </a:effectLst>
        </p:spPr>
      </p:pic>
      <p:pic>
        <p:nvPicPr>
          <p:cNvPr id="8" name="Picture 2" descr="Jenkins Workflow"/>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1103214" y="5890160"/>
            <a:ext cx="641481" cy="8855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2092464"/>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smtClean="0">
                <a:latin typeface="Times New Roman" panose="02020603050405020304" pitchFamily="18" charset="0"/>
                <a:cs typeface="Times New Roman" panose="02020603050405020304" pitchFamily="18" charset="0"/>
              </a:rPr>
              <a:t>Installation Jenkins (Windows)</a:t>
            </a:r>
            <a:endParaRPr lang="fr-FR" altLang="en-US" b="1" dirty="0">
              <a:latin typeface="Times New Roman" panose="02020603050405020304" pitchFamily="18" charset="0"/>
              <a:cs typeface="Times New Roman" panose="02020603050405020304" pitchFamily="18" charset="0"/>
            </a:endParaRPr>
          </a:p>
        </p:txBody>
      </p:sp>
      <p:pic>
        <p:nvPicPr>
          <p:cNvPr id="4" name="Image 3"/>
          <p:cNvPicPr>
            <a:picLocks noChangeAspect="1"/>
          </p:cNvPicPr>
          <p:nvPr/>
        </p:nvPicPr>
        <p:blipFill>
          <a:blip r:embed="rId4"/>
          <a:stretch>
            <a:fillRect/>
          </a:stretch>
        </p:blipFill>
        <p:spPr>
          <a:xfrm>
            <a:off x="847636" y="1583176"/>
            <a:ext cx="4820323" cy="3762900"/>
          </a:xfrm>
          <a:prstGeom prst="rect">
            <a:avLst/>
          </a:prstGeom>
          <a:ln>
            <a:noFill/>
          </a:ln>
          <a:effectLst>
            <a:outerShdw blurRad="292100" dist="139700" dir="2700000" algn="tl" rotWithShape="0">
              <a:srgbClr val="333333">
                <a:alpha val="65000"/>
              </a:srgbClr>
            </a:outerShdw>
          </a:effectLst>
        </p:spPr>
      </p:pic>
      <p:pic>
        <p:nvPicPr>
          <p:cNvPr id="5" name="Image 4"/>
          <p:cNvPicPr>
            <a:picLocks noChangeAspect="1"/>
          </p:cNvPicPr>
          <p:nvPr/>
        </p:nvPicPr>
        <p:blipFill>
          <a:blip r:embed="rId5"/>
          <a:stretch>
            <a:fillRect/>
          </a:stretch>
        </p:blipFill>
        <p:spPr>
          <a:xfrm>
            <a:off x="6122629" y="1592702"/>
            <a:ext cx="4839375" cy="3753374"/>
          </a:xfrm>
          <a:prstGeom prst="rect">
            <a:avLst/>
          </a:prstGeom>
          <a:ln>
            <a:noFill/>
          </a:ln>
          <a:effectLst>
            <a:outerShdw blurRad="292100" dist="139700" dir="2700000" algn="tl" rotWithShape="0">
              <a:srgbClr val="333333">
                <a:alpha val="65000"/>
              </a:srgbClr>
            </a:outerShdw>
          </a:effectLst>
        </p:spPr>
      </p:pic>
      <p:pic>
        <p:nvPicPr>
          <p:cNvPr id="8" name="Picture 2" descr="Jenkins Workflow"/>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1103214" y="5890160"/>
            <a:ext cx="641481" cy="8855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9610844"/>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smtClean="0">
                <a:latin typeface="Times New Roman" panose="02020603050405020304" pitchFamily="18" charset="0"/>
                <a:cs typeface="Times New Roman" panose="02020603050405020304" pitchFamily="18" charset="0"/>
              </a:rPr>
              <a:t>Installation Jenkins (Windows)</a:t>
            </a:r>
            <a:endParaRPr lang="fr-FR" altLang="en-US" b="1" dirty="0">
              <a:latin typeface="Times New Roman" panose="02020603050405020304" pitchFamily="18" charset="0"/>
              <a:cs typeface="Times New Roman" panose="02020603050405020304" pitchFamily="18" charset="0"/>
            </a:endParaRPr>
          </a:p>
        </p:txBody>
      </p:sp>
      <p:sp>
        <p:nvSpPr>
          <p:cNvPr id="2" name="Rectangle 1"/>
          <p:cNvSpPr/>
          <p:nvPr/>
        </p:nvSpPr>
        <p:spPr>
          <a:xfrm>
            <a:off x="714498" y="1035662"/>
            <a:ext cx="10182101" cy="523220"/>
          </a:xfrm>
          <a:prstGeom prst="rect">
            <a:avLst/>
          </a:prstGeom>
        </p:spPr>
        <p:txBody>
          <a:bodyPr wrap="square">
            <a:spAutoFit/>
          </a:bodyPr>
          <a:lstStyle/>
          <a:p>
            <a:r>
              <a:rPr lang="fr-FR" sz="1400" b="0" i="0" dirty="0" smtClean="0">
                <a:solidFill>
                  <a:srgbClr val="0D0D0D"/>
                </a:solidFill>
                <a:effectLst/>
                <a:latin typeface="Söhne"/>
              </a:rPr>
              <a:t>Lors de l'installation de Jenkins sur Windows, vous avez le choix de faire fonctionner le service soit en tant que </a:t>
            </a:r>
            <a:r>
              <a:rPr lang="fr-FR" sz="1400" b="1" i="0" dirty="0" smtClean="0">
                <a:solidFill>
                  <a:srgbClr val="0D0D0D"/>
                </a:solidFill>
                <a:effectLst/>
                <a:latin typeface="Söhne"/>
              </a:rPr>
              <a:t>"Système local" </a:t>
            </a:r>
            <a:r>
              <a:rPr lang="fr-FR" sz="1400" b="0" i="0" dirty="0" smtClean="0">
                <a:solidFill>
                  <a:srgbClr val="0D0D0D"/>
                </a:solidFill>
                <a:effectLst/>
                <a:latin typeface="Söhne"/>
              </a:rPr>
              <a:t>ou en tant qu'utilisateur </a:t>
            </a:r>
            <a:r>
              <a:rPr lang="fr-FR" sz="1400" b="1" i="0" dirty="0" smtClean="0">
                <a:solidFill>
                  <a:srgbClr val="0D0D0D"/>
                </a:solidFill>
                <a:effectLst/>
                <a:latin typeface="Söhne"/>
              </a:rPr>
              <a:t>"Local ou de domaine"</a:t>
            </a:r>
            <a:endParaRPr lang="fr-FR" sz="1400" b="1" dirty="0"/>
          </a:p>
        </p:txBody>
      </p:sp>
      <p:sp>
        <p:nvSpPr>
          <p:cNvPr id="3" name="Rectangle 2"/>
          <p:cNvSpPr/>
          <p:nvPr/>
        </p:nvSpPr>
        <p:spPr>
          <a:xfrm>
            <a:off x="791687" y="1672206"/>
            <a:ext cx="9314213" cy="3754874"/>
          </a:xfrm>
          <a:prstGeom prst="rect">
            <a:avLst/>
          </a:prstGeom>
        </p:spPr>
        <p:txBody>
          <a:bodyPr wrap="square">
            <a:spAutoFit/>
          </a:bodyPr>
          <a:lstStyle/>
          <a:p>
            <a:pPr>
              <a:buFont typeface="+mj-lt"/>
              <a:buAutoNum type="arabicPeriod"/>
            </a:pPr>
            <a:r>
              <a:rPr lang="fr-FR" sz="1400" b="1" i="0" dirty="0" smtClean="0">
                <a:solidFill>
                  <a:srgbClr val="0D0D0D"/>
                </a:solidFill>
                <a:effectLst/>
                <a:latin typeface="Söhne"/>
              </a:rPr>
              <a:t>Exécuter le service en tant que Système local (non recommandé)</a:t>
            </a:r>
            <a:r>
              <a:rPr lang="fr-FR" sz="1400" b="0" i="0" dirty="0" smtClean="0">
                <a:solidFill>
                  <a:srgbClr val="0D0D0D"/>
                </a:solidFill>
                <a:effectLst/>
                <a:latin typeface="Söhne"/>
              </a:rPr>
              <a:t> :</a:t>
            </a:r>
          </a:p>
          <a:p>
            <a:endParaRPr lang="fr-FR" sz="1400" b="0" i="0" dirty="0" smtClean="0">
              <a:solidFill>
                <a:srgbClr val="0D0D0D"/>
              </a:solidFill>
              <a:effectLst/>
              <a:latin typeface="Söhne"/>
            </a:endParaRPr>
          </a:p>
          <a:p>
            <a:pPr marL="742950" lvl="1" indent="-285750">
              <a:buFont typeface="+mj-lt"/>
              <a:buAutoNum type="arabicPeriod"/>
            </a:pPr>
            <a:r>
              <a:rPr lang="fr-FR" sz="1400" b="0" i="0" dirty="0" smtClean="0">
                <a:solidFill>
                  <a:srgbClr val="0D0D0D"/>
                </a:solidFill>
                <a:effectLst/>
                <a:latin typeface="Söhne"/>
              </a:rPr>
              <a:t>Le compte "Système local" dispose de privilèges étendus sur l'ordinateur local, y compris l'accès à des ressources qui pourraient potentiellement nuire à votre système s'ils étaient mal utilisés.</a:t>
            </a:r>
          </a:p>
          <a:p>
            <a:pPr lvl="1"/>
            <a:endParaRPr lang="fr-FR" sz="1400" b="0" i="0" dirty="0" smtClean="0">
              <a:solidFill>
                <a:srgbClr val="0D0D0D"/>
              </a:solidFill>
              <a:effectLst/>
              <a:latin typeface="Söhne"/>
            </a:endParaRPr>
          </a:p>
          <a:p>
            <a:pPr lvl="1"/>
            <a:r>
              <a:rPr lang="fr-FR" sz="1400" b="0" i="0" dirty="0" smtClean="0">
                <a:solidFill>
                  <a:srgbClr val="0D0D0D"/>
                </a:solidFill>
                <a:effectLst/>
                <a:latin typeface="Söhne"/>
              </a:rPr>
              <a:t>2.   Utiliser cette option peut présenter des risques de sécurité car Jenkins aurait un accès étendu aux ressources système sans restrictions.</a:t>
            </a:r>
          </a:p>
          <a:p>
            <a:pPr marL="742950" lvl="1" indent="-285750">
              <a:buFont typeface="+mj-lt"/>
              <a:buAutoNum type="arabicPeriod"/>
            </a:pPr>
            <a:endParaRPr lang="fr-FR" sz="1400" b="0" i="0" dirty="0" smtClean="0">
              <a:solidFill>
                <a:srgbClr val="0D0D0D"/>
              </a:solidFill>
              <a:effectLst/>
              <a:latin typeface="Söhne"/>
            </a:endParaRPr>
          </a:p>
          <a:p>
            <a:r>
              <a:rPr lang="fr-FR" sz="1400" b="1" i="0" dirty="0" smtClean="0">
                <a:solidFill>
                  <a:srgbClr val="0D0D0D"/>
                </a:solidFill>
                <a:effectLst/>
                <a:latin typeface="Söhne"/>
              </a:rPr>
              <a:t>2. Exécuter le service en tant qu'utilisateur Local ou de domaine</a:t>
            </a:r>
            <a:r>
              <a:rPr lang="fr-FR" sz="1400" b="0" i="0" dirty="0" smtClean="0">
                <a:solidFill>
                  <a:srgbClr val="0D0D0D"/>
                </a:solidFill>
                <a:effectLst/>
                <a:latin typeface="Söhne"/>
              </a:rPr>
              <a:t> :</a:t>
            </a:r>
          </a:p>
          <a:p>
            <a:endParaRPr lang="fr-FR" sz="1400" b="0" i="0" dirty="0" smtClean="0">
              <a:solidFill>
                <a:srgbClr val="0D0D0D"/>
              </a:solidFill>
              <a:effectLst/>
              <a:latin typeface="Söhne"/>
            </a:endParaRPr>
          </a:p>
          <a:p>
            <a:pPr marL="742950" lvl="1" indent="-285750">
              <a:buFont typeface="+mj-lt"/>
              <a:buAutoNum type="arabicPeriod"/>
            </a:pPr>
            <a:r>
              <a:rPr lang="fr-FR" sz="1400" b="0" i="0" dirty="0" smtClean="0">
                <a:solidFill>
                  <a:srgbClr val="0D0D0D"/>
                </a:solidFill>
                <a:effectLst/>
                <a:latin typeface="Söhne"/>
              </a:rPr>
              <a:t>Cette option permet de spécifier un compte utilisateur intégré dans Jenkins</a:t>
            </a:r>
          </a:p>
          <a:p>
            <a:pPr marL="742950" lvl="1" indent="-285750">
              <a:buFont typeface="+mj-lt"/>
              <a:buAutoNum type="arabicPeriod"/>
            </a:pPr>
            <a:endParaRPr lang="fr-FR" sz="1400" b="0" i="0" dirty="0" smtClean="0">
              <a:solidFill>
                <a:srgbClr val="0D0D0D"/>
              </a:solidFill>
              <a:effectLst/>
              <a:latin typeface="Söhne"/>
            </a:endParaRPr>
          </a:p>
          <a:p>
            <a:pPr marL="742950" lvl="1" indent="-285750">
              <a:buFont typeface="+mj-lt"/>
              <a:buAutoNum type="arabicPeriod"/>
            </a:pPr>
            <a:r>
              <a:rPr lang="fr-FR" sz="1400" b="0" i="0" dirty="0" smtClean="0">
                <a:solidFill>
                  <a:srgbClr val="0D0D0D"/>
                </a:solidFill>
                <a:effectLst/>
                <a:latin typeface="Söhne"/>
              </a:rPr>
              <a:t>Faire fonctionner Jenkins sous un compte utilisateur dédié permet un meilleur contrôle sur les autorisations et les droits d'accès dont Jenkins dispose sur le système.</a:t>
            </a:r>
          </a:p>
          <a:p>
            <a:pPr marL="742950" lvl="1" indent="-285750">
              <a:buFont typeface="+mj-lt"/>
              <a:buAutoNum type="arabicPeriod"/>
            </a:pPr>
            <a:endParaRPr lang="fr-FR" sz="1400" b="0" i="0" dirty="0" smtClean="0">
              <a:solidFill>
                <a:srgbClr val="0D0D0D"/>
              </a:solidFill>
              <a:effectLst/>
              <a:latin typeface="Söhne"/>
            </a:endParaRPr>
          </a:p>
          <a:p>
            <a:pPr marL="742950" lvl="1" indent="-285750">
              <a:buFont typeface="+mj-lt"/>
              <a:buAutoNum type="arabicPeriod"/>
            </a:pPr>
            <a:r>
              <a:rPr lang="fr-FR" sz="1400" b="0" i="0" dirty="0" smtClean="0">
                <a:solidFill>
                  <a:srgbClr val="0D0D0D"/>
                </a:solidFill>
                <a:effectLst/>
                <a:latin typeface="Söhne"/>
              </a:rPr>
              <a:t>En utilisant un compte utilisateur dédié limite l'accès de Jenkins uniquement aux ressources dont il a besoin</a:t>
            </a:r>
            <a:endParaRPr lang="fr-FR" sz="1400" b="0" i="0" dirty="0">
              <a:solidFill>
                <a:srgbClr val="0D0D0D"/>
              </a:solidFill>
              <a:effectLst/>
              <a:latin typeface="Söhne"/>
            </a:endParaRPr>
          </a:p>
        </p:txBody>
      </p:sp>
      <p:pic>
        <p:nvPicPr>
          <p:cNvPr id="8" name="Picture 2" descr="Jenkins Workflow"/>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103214" y="5890160"/>
            <a:ext cx="641481" cy="8855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5301800"/>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smtClean="0">
                <a:latin typeface="Times New Roman" panose="02020603050405020304" pitchFamily="18" charset="0"/>
                <a:cs typeface="Times New Roman" panose="02020603050405020304" pitchFamily="18" charset="0"/>
              </a:rPr>
              <a:t>Installation Jenkins (Windows)</a:t>
            </a:r>
            <a:endParaRPr lang="fr-FR" altLang="en-US" b="1" dirty="0">
              <a:latin typeface="Times New Roman" panose="02020603050405020304" pitchFamily="18" charset="0"/>
              <a:cs typeface="Times New Roman" panose="02020603050405020304" pitchFamily="18" charset="0"/>
            </a:endParaRPr>
          </a:p>
        </p:txBody>
      </p:sp>
      <p:pic>
        <p:nvPicPr>
          <p:cNvPr id="2" name="Image 1"/>
          <p:cNvPicPr>
            <a:picLocks noChangeAspect="1"/>
          </p:cNvPicPr>
          <p:nvPr/>
        </p:nvPicPr>
        <p:blipFill>
          <a:blip r:embed="rId4"/>
          <a:stretch>
            <a:fillRect/>
          </a:stretch>
        </p:blipFill>
        <p:spPr>
          <a:xfrm>
            <a:off x="650875" y="1611755"/>
            <a:ext cx="4839375" cy="3734321"/>
          </a:xfrm>
          <a:prstGeom prst="rect">
            <a:avLst/>
          </a:prstGeom>
          <a:ln>
            <a:noFill/>
          </a:ln>
          <a:effectLst>
            <a:outerShdw blurRad="292100" dist="139700" dir="2700000" algn="tl" rotWithShape="0">
              <a:srgbClr val="333333">
                <a:alpha val="65000"/>
              </a:srgbClr>
            </a:outerShdw>
          </a:effectLst>
        </p:spPr>
      </p:pic>
      <p:pic>
        <p:nvPicPr>
          <p:cNvPr id="3" name="Image 2"/>
          <p:cNvPicPr>
            <a:picLocks noChangeAspect="1"/>
          </p:cNvPicPr>
          <p:nvPr/>
        </p:nvPicPr>
        <p:blipFill>
          <a:blip r:embed="rId5"/>
          <a:stretch>
            <a:fillRect/>
          </a:stretch>
        </p:blipFill>
        <p:spPr>
          <a:xfrm>
            <a:off x="6151142" y="1602228"/>
            <a:ext cx="4829849" cy="3753374"/>
          </a:xfrm>
          <a:prstGeom prst="rect">
            <a:avLst/>
          </a:prstGeom>
          <a:ln>
            <a:noFill/>
          </a:ln>
          <a:effectLst>
            <a:outerShdw blurRad="292100" dist="139700" dir="2700000" algn="tl" rotWithShape="0">
              <a:srgbClr val="333333">
                <a:alpha val="65000"/>
              </a:srgbClr>
            </a:outerShdw>
          </a:effectLst>
        </p:spPr>
      </p:pic>
      <p:pic>
        <p:nvPicPr>
          <p:cNvPr id="8" name="Image 7"/>
          <p:cNvPicPr>
            <a:picLocks noChangeAspect="1"/>
          </p:cNvPicPr>
          <p:nvPr/>
        </p:nvPicPr>
        <p:blipFill rotWithShape="1">
          <a:blip r:embed="rId5"/>
          <a:srcRect t="22858" r="13037" b="64012"/>
          <a:stretch/>
        </p:blipFill>
        <p:spPr>
          <a:xfrm>
            <a:off x="4801313" y="4126674"/>
            <a:ext cx="6319929" cy="741545"/>
          </a:xfrm>
          <a:prstGeom prst="rect">
            <a:avLst/>
          </a:prstGeom>
          <a:ln>
            <a:noFill/>
          </a:ln>
          <a:effectLst>
            <a:outerShdw blurRad="292100" dist="139700" dir="2700000" algn="tl" rotWithShape="0">
              <a:srgbClr val="333333">
                <a:alpha val="65000"/>
              </a:srgbClr>
            </a:outerShdw>
          </a:effectLst>
        </p:spPr>
      </p:pic>
      <p:pic>
        <p:nvPicPr>
          <p:cNvPr id="9" name="Picture 2" descr="Jenkins Workflow"/>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1103214" y="5890160"/>
            <a:ext cx="641481" cy="8855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2836723"/>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smtClean="0">
                <a:latin typeface="Times New Roman" panose="02020603050405020304" pitchFamily="18" charset="0"/>
                <a:cs typeface="Times New Roman" panose="02020603050405020304" pitchFamily="18" charset="0"/>
              </a:rPr>
              <a:t>Installation Jenkins (Windows)</a:t>
            </a:r>
            <a:endParaRPr lang="fr-FR" altLang="en-US" b="1" dirty="0">
              <a:latin typeface="Times New Roman" panose="02020603050405020304" pitchFamily="18" charset="0"/>
              <a:cs typeface="Times New Roman" panose="02020603050405020304" pitchFamily="18" charset="0"/>
            </a:endParaRPr>
          </a:p>
        </p:txBody>
      </p:sp>
      <p:pic>
        <p:nvPicPr>
          <p:cNvPr id="4" name="Image 3"/>
          <p:cNvPicPr>
            <a:picLocks noChangeAspect="1"/>
          </p:cNvPicPr>
          <p:nvPr/>
        </p:nvPicPr>
        <p:blipFill>
          <a:blip r:embed="rId4"/>
          <a:stretch>
            <a:fillRect/>
          </a:stretch>
        </p:blipFill>
        <p:spPr>
          <a:xfrm>
            <a:off x="753808" y="1294644"/>
            <a:ext cx="4829849" cy="3734321"/>
          </a:xfrm>
          <a:prstGeom prst="rect">
            <a:avLst/>
          </a:prstGeom>
          <a:ln>
            <a:noFill/>
          </a:ln>
          <a:effectLst>
            <a:outerShdw blurRad="292100" dist="139700" dir="2700000" algn="tl" rotWithShape="0">
              <a:srgbClr val="333333">
                <a:alpha val="65000"/>
              </a:srgbClr>
            </a:outerShdw>
          </a:effectLst>
        </p:spPr>
      </p:pic>
      <p:pic>
        <p:nvPicPr>
          <p:cNvPr id="5" name="Image 4"/>
          <p:cNvPicPr>
            <a:picLocks noChangeAspect="1"/>
          </p:cNvPicPr>
          <p:nvPr/>
        </p:nvPicPr>
        <p:blipFill>
          <a:blip r:embed="rId5"/>
          <a:stretch>
            <a:fillRect/>
          </a:stretch>
        </p:blipFill>
        <p:spPr>
          <a:xfrm>
            <a:off x="6210454" y="1304170"/>
            <a:ext cx="4877481" cy="3724795"/>
          </a:xfrm>
          <a:prstGeom prst="rect">
            <a:avLst/>
          </a:prstGeom>
          <a:ln>
            <a:noFill/>
          </a:ln>
          <a:effectLst>
            <a:outerShdw blurRad="292100" dist="139700" dir="2700000" algn="tl" rotWithShape="0">
              <a:srgbClr val="333333">
                <a:alpha val="65000"/>
              </a:srgbClr>
            </a:outerShdw>
          </a:effectLst>
        </p:spPr>
      </p:pic>
      <p:pic>
        <p:nvPicPr>
          <p:cNvPr id="9" name="Picture 2" descr="Jenkins Workflow"/>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1103214" y="5890160"/>
            <a:ext cx="641481" cy="8855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0086285"/>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smtClean="0">
                <a:latin typeface="Times New Roman" panose="02020603050405020304" pitchFamily="18" charset="0"/>
                <a:cs typeface="Times New Roman" panose="02020603050405020304" pitchFamily="18" charset="0"/>
              </a:rPr>
              <a:t>Installation Jenkins (Windows)</a:t>
            </a:r>
            <a:endParaRPr lang="fr-FR" altLang="en-US" b="1" dirty="0">
              <a:latin typeface="Times New Roman" panose="02020603050405020304" pitchFamily="18" charset="0"/>
              <a:cs typeface="Times New Roman" panose="02020603050405020304" pitchFamily="18" charset="0"/>
            </a:endParaRPr>
          </a:p>
        </p:txBody>
      </p:sp>
      <p:pic>
        <p:nvPicPr>
          <p:cNvPr id="2" name="Image 1"/>
          <p:cNvPicPr>
            <a:picLocks noChangeAspect="1"/>
          </p:cNvPicPr>
          <p:nvPr/>
        </p:nvPicPr>
        <p:blipFill>
          <a:blip r:embed="rId4"/>
          <a:stretch>
            <a:fillRect/>
          </a:stretch>
        </p:blipFill>
        <p:spPr>
          <a:xfrm>
            <a:off x="720530" y="1293468"/>
            <a:ext cx="6173096" cy="4742005"/>
          </a:xfrm>
          <a:prstGeom prst="rect">
            <a:avLst/>
          </a:prstGeom>
          <a:ln>
            <a:noFill/>
          </a:ln>
          <a:effectLst>
            <a:outerShdw blurRad="292100" dist="139700" dir="2700000" algn="tl" rotWithShape="0">
              <a:srgbClr val="333333">
                <a:alpha val="65000"/>
              </a:srgbClr>
            </a:outerShdw>
          </a:effectLst>
        </p:spPr>
      </p:pic>
      <p:pic>
        <p:nvPicPr>
          <p:cNvPr id="3" name="Image 2"/>
          <p:cNvPicPr>
            <a:picLocks noChangeAspect="1"/>
          </p:cNvPicPr>
          <p:nvPr/>
        </p:nvPicPr>
        <p:blipFill>
          <a:blip r:embed="rId5"/>
          <a:stretch>
            <a:fillRect/>
          </a:stretch>
        </p:blipFill>
        <p:spPr>
          <a:xfrm>
            <a:off x="6400525" y="2326621"/>
            <a:ext cx="3913197" cy="3041025"/>
          </a:xfrm>
          <a:prstGeom prst="rect">
            <a:avLst/>
          </a:prstGeom>
          <a:ln>
            <a:noFill/>
          </a:ln>
          <a:effectLst>
            <a:outerShdw blurRad="292100" dist="139700" dir="2700000" algn="tl" rotWithShape="0">
              <a:srgbClr val="333333">
                <a:alpha val="65000"/>
              </a:srgbClr>
            </a:outerShdw>
          </a:effectLst>
        </p:spPr>
      </p:pic>
      <p:pic>
        <p:nvPicPr>
          <p:cNvPr id="8" name="Picture 2" descr="Jenkins Workflow"/>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1103214" y="5890160"/>
            <a:ext cx="641481" cy="8855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0317978"/>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1"/>
          <p:cNvSpPr>
            <a:spLocks noGrp="1" noChangeArrowheads="1"/>
          </p:cNvSpPr>
          <p:nvPr>
            <p:ph type="title" idx="4294967295"/>
          </p:nvPr>
        </p:nvSpPr>
        <p:spPr bwMode="auto">
          <a:xfrm>
            <a:off x="3420035" y="2480983"/>
            <a:ext cx="5286935" cy="1320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00000"/>
              </a:lnSpc>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pPr>
            <a:r>
              <a:rPr lang="fr-FR" altLang="en-US" sz="3600" dirty="0" smtClean="0">
                <a:solidFill>
                  <a:srgbClr val="A5300F"/>
                </a:solidFill>
                <a:latin typeface="Times New Roman" panose="02020603050405020304" pitchFamily="18" charset="0"/>
              </a:rPr>
              <a:t>Installation sous Linux</a:t>
            </a:r>
          </a:p>
        </p:txBody>
      </p:sp>
    </p:spTree>
    <p:extLst>
      <p:ext uri="{BB962C8B-B14F-4D97-AF65-F5344CB8AC3E}">
        <p14:creationId xmlns:p14="http://schemas.microsoft.com/office/powerpoint/2010/main" val="3437235317"/>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smtClean="0">
                <a:latin typeface="Times New Roman" panose="02020603050405020304" pitchFamily="18" charset="0"/>
                <a:cs typeface="Times New Roman" panose="02020603050405020304" pitchFamily="18" charset="0"/>
              </a:rPr>
              <a:t>Installation Jenkins (Linux)</a:t>
            </a:r>
            <a:endParaRPr lang="fr-FR" altLang="en-US" b="1" dirty="0">
              <a:latin typeface="Times New Roman" panose="02020603050405020304" pitchFamily="18" charset="0"/>
              <a:cs typeface="Times New Roman" panose="02020603050405020304" pitchFamily="18" charset="0"/>
            </a:endParaRPr>
          </a:p>
        </p:txBody>
      </p:sp>
      <p:pic>
        <p:nvPicPr>
          <p:cNvPr id="8" name="Picture 2" descr="Jenkins Workflow"/>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103214" y="5890160"/>
            <a:ext cx="641481" cy="885585"/>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p:cNvSpPr/>
          <p:nvPr/>
        </p:nvSpPr>
        <p:spPr>
          <a:xfrm>
            <a:off x="793410" y="1053670"/>
            <a:ext cx="10367853" cy="369332"/>
          </a:xfrm>
          <a:prstGeom prst="rect">
            <a:avLst/>
          </a:prstGeom>
        </p:spPr>
        <p:txBody>
          <a:bodyPr wrap="square">
            <a:spAutoFit/>
          </a:bodyPr>
          <a:lstStyle/>
          <a:p>
            <a:r>
              <a:rPr lang="fr-FR" dirty="0"/>
              <a:t>Ce dépôt de paquets Debian permet d'</a:t>
            </a:r>
            <a:r>
              <a:rPr lang="fr-FR" b="1" dirty="0"/>
              <a:t>automatiser l'installation et la mise à jour</a:t>
            </a:r>
            <a:r>
              <a:rPr lang="fr-FR" dirty="0"/>
              <a:t> de Jenkins.</a:t>
            </a:r>
            <a:endParaRPr lang="en-US" dirty="0"/>
          </a:p>
        </p:txBody>
      </p:sp>
      <p:sp>
        <p:nvSpPr>
          <p:cNvPr id="18" name="Rectangle 17"/>
          <p:cNvSpPr/>
          <p:nvPr/>
        </p:nvSpPr>
        <p:spPr>
          <a:xfrm>
            <a:off x="793410" y="1423002"/>
            <a:ext cx="11268294" cy="369332"/>
          </a:xfrm>
          <a:prstGeom prst="rect">
            <a:avLst/>
          </a:prstGeom>
        </p:spPr>
        <p:txBody>
          <a:bodyPr wrap="square">
            <a:spAutoFit/>
          </a:bodyPr>
          <a:lstStyle/>
          <a:p>
            <a:r>
              <a:rPr lang="fr-FR" dirty="0"/>
              <a:t>Avant d'ajouter le dépôt Jenkins, ajoutez d'abord sa clé GPG à votre système (</a:t>
            </a:r>
            <a:r>
              <a:rPr lang="fr-FR" b="1" dirty="0"/>
              <a:t>pour la version stable</a:t>
            </a:r>
            <a:r>
              <a:rPr lang="fr-FR" dirty="0"/>
              <a:t>) :</a:t>
            </a:r>
            <a:endParaRPr lang="en-US" dirty="0"/>
          </a:p>
        </p:txBody>
      </p:sp>
      <p:sp>
        <p:nvSpPr>
          <p:cNvPr id="19" name="Rectangle 18"/>
          <p:cNvSpPr/>
          <p:nvPr/>
        </p:nvSpPr>
        <p:spPr>
          <a:xfrm>
            <a:off x="849252" y="1838500"/>
            <a:ext cx="9418553" cy="646331"/>
          </a:xfrm>
          <a:prstGeom prst="rect">
            <a:avLst/>
          </a:prstGeom>
          <a:solidFill>
            <a:schemeClr val="tx1"/>
          </a:solidFill>
        </p:spPr>
        <p:txBody>
          <a:bodyPr wrap="square">
            <a:spAutoFit/>
          </a:bodyPr>
          <a:lstStyle/>
          <a:p>
            <a:r>
              <a:rPr lang="en-US" dirty="0" err="1">
                <a:solidFill>
                  <a:schemeClr val="bg1"/>
                </a:solidFill>
              </a:rPr>
              <a:t>sudo</a:t>
            </a:r>
            <a:r>
              <a:rPr lang="en-US" dirty="0">
                <a:solidFill>
                  <a:schemeClr val="bg1"/>
                </a:solidFill>
              </a:rPr>
              <a:t> </a:t>
            </a:r>
            <a:r>
              <a:rPr lang="en-US" dirty="0" err="1">
                <a:solidFill>
                  <a:schemeClr val="bg1"/>
                </a:solidFill>
              </a:rPr>
              <a:t>wget</a:t>
            </a:r>
            <a:r>
              <a:rPr lang="en-US" dirty="0">
                <a:solidFill>
                  <a:schemeClr val="bg1"/>
                </a:solidFill>
              </a:rPr>
              <a:t> -O /</a:t>
            </a:r>
            <a:r>
              <a:rPr lang="en-US" dirty="0" err="1">
                <a:solidFill>
                  <a:schemeClr val="bg1"/>
                </a:solidFill>
              </a:rPr>
              <a:t>usr</a:t>
            </a:r>
            <a:r>
              <a:rPr lang="en-US" dirty="0">
                <a:solidFill>
                  <a:schemeClr val="bg1"/>
                </a:solidFill>
              </a:rPr>
              <a:t>/share/keyrings/</a:t>
            </a:r>
            <a:r>
              <a:rPr lang="en-US" dirty="0" err="1">
                <a:solidFill>
                  <a:schemeClr val="bg1"/>
                </a:solidFill>
              </a:rPr>
              <a:t>jenkins-keyring.asc</a:t>
            </a:r>
            <a:r>
              <a:rPr lang="en-US" dirty="0">
                <a:solidFill>
                  <a:schemeClr val="bg1"/>
                </a:solidFill>
              </a:rPr>
              <a:t> \</a:t>
            </a:r>
          </a:p>
          <a:p>
            <a:r>
              <a:rPr lang="en-US" dirty="0">
                <a:solidFill>
                  <a:schemeClr val="bg1"/>
                </a:solidFill>
              </a:rPr>
              <a:t>    https://pkg.jenkins.io/debian-stable/jenkins.io-2023.key</a:t>
            </a:r>
          </a:p>
        </p:txBody>
      </p:sp>
      <p:sp>
        <p:nvSpPr>
          <p:cNvPr id="20" name="Rectangle 19"/>
          <p:cNvSpPr/>
          <p:nvPr/>
        </p:nvSpPr>
        <p:spPr>
          <a:xfrm>
            <a:off x="793410" y="2530997"/>
            <a:ext cx="7903860" cy="369332"/>
          </a:xfrm>
          <a:prstGeom prst="rect">
            <a:avLst/>
          </a:prstGeom>
        </p:spPr>
        <p:txBody>
          <a:bodyPr wrap="square">
            <a:spAutoFit/>
          </a:bodyPr>
          <a:lstStyle/>
          <a:p>
            <a:r>
              <a:rPr lang="fr-FR" dirty="0" smtClean="0"/>
              <a:t>Ajouter </a:t>
            </a:r>
            <a:r>
              <a:rPr lang="fr-FR" dirty="0"/>
              <a:t>ensuite l'entrée du dépôt Jenkins dans vos sources APT :</a:t>
            </a:r>
            <a:endParaRPr lang="en-US" dirty="0"/>
          </a:p>
        </p:txBody>
      </p:sp>
      <p:sp>
        <p:nvSpPr>
          <p:cNvPr id="21" name="Rectangle 20"/>
          <p:cNvSpPr/>
          <p:nvPr/>
        </p:nvSpPr>
        <p:spPr>
          <a:xfrm>
            <a:off x="849252" y="2946495"/>
            <a:ext cx="9418554" cy="923330"/>
          </a:xfrm>
          <a:prstGeom prst="rect">
            <a:avLst/>
          </a:prstGeom>
          <a:solidFill>
            <a:schemeClr val="tx1"/>
          </a:solidFill>
        </p:spPr>
        <p:txBody>
          <a:bodyPr wrap="square">
            <a:spAutoFit/>
          </a:bodyPr>
          <a:lstStyle/>
          <a:p>
            <a:r>
              <a:rPr lang="en-US" dirty="0">
                <a:solidFill>
                  <a:schemeClr val="bg1"/>
                </a:solidFill>
              </a:rPr>
              <a:t>echo "deb [signed-by=/</a:t>
            </a:r>
            <a:r>
              <a:rPr lang="en-US" dirty="0" err="1">
                <a:solidFill>
                  <a:schemeClr val="bg1"/>
                </a:solidFill>
              </a:rPr>
              <a:t>usr</a:t>
            </a:r>
            <a:r>
              <a:rPr lang="en-US" dirty="0">
                <a:solidFill>
                  <a:schemeClr val="bg1"/>
                </a:solidFill>
              </a:rPr>
              <a:t>/share/keyrings/</a:t>
            </a:r>
            <a:r>
              <a:rPr lang="en-US" dirty="0" err="1">
                <a:solidFill>
                  <a:schemeClr val="bg1"/>
                </a:solidFill>
              </a:rPr>
              <a:t>jenkins-keyring.asc</a:t>
            </a:r>
            <a:r>
              <a:rPr lang="en-US" dirty="0">
                <a:solidFill>
                  <a:schemeClr val="bg1"/>
                </a:solidFill>
              </a:rPr>
              <a:t>] \</a:t>
            </a:r>
          </a:p>
          <a:p>
            <a:r>
              <a:rPr lang="en-US" dirty="0">
                <a:solidFill>
                  <a:schemeClr val="bg1"/>
                </a:solidFill>
              </a:rPr>
              <a:t>    https://pkg.jenkins.io/debian-stable binary/" | </a:t>
            </a:r>
            <a:r>
              <a:rPr lang="en-US" dirty="0" err="1">
                <a:solidFill>
                  <a:schemeClr val="bg1"/>
                </a:solidFill>
              </a:rPr>
              <a:t>sudo</a:t>
            </a:r>
            <a:r>
              <a:rPr lang="en-US" dirty="0">
                <a:solidFill>
                  <a:schemeClr val="bg1"/>
                </a:solidFill>
              </a:rPr>
              <a:t> tee \</a:t>
            </a:r>
          </a:p>
          <a:p>
            <a:r>
              <a:rPr lang="en-US" dirty="0">
                <a:solidFill>
                  <a:schemeClr val="bg1"/>
                </a:solidFill>
              </a:rPr>
              <a:t>    /</a:t>
            </a:r>
            <a:r>
              <a:rPr lang="en-US" dirty="0" err="1">
                <a:solidFill>
                  <a:schemeClr val="bg1"/>
                </a:solidFill>
              </a:rPr>
              <a:t>etc</a:t>
            </a:r>
            <a:r>
              <a:rPr lang="en-US" dirty="0">
                <a:solidFill>
                  <a:schemeClr val="bg1"/>
                </a:solidFill>
              </a:rPr>
              <a:t>/apt/</a:t>
            </a:r>
            <a:r>
              <a:rPr lang="en-US" dirty="0" err="1">
                <a:solidFill>
                  <a:schemeClr val="bg1"/>
                </a:solidFill>
              </a:rPr>
              <a:t>sources.list.d</a:t>
            </a:r>
            <a:r>
              <a:rPr lang="en-US" dirty="0">
                <a:solidFill>
                  <a:schemeClr val="bg1"/>
                </a:solidFill>
              </a:rPr>
              <a:t>/</a:t>
            </a:r>
            <a:r>
              <a:rPr lang="en-US" dirty="0" err="1">
                <a:solidFill>
                  <a:schemeClr val="bg1"/>
                </a:solidFill>
              </a:rPr>
              <a:t>jenkins.list</a:t>
            </a:r>
            <a:r>
              <a:rPr lang="en-US" dirty="0">
                <a:solidFill>
                  <a:schemeClr val="bg1"/>
                </a:solidFill>
              </a:rPr>
              <a:t> &gt; /dev/null</a:t>
            </a:r>
          </a:p>
        </p:txBody>
      </p:sp>
      <p:sp>
        <p:nvSpPr>
          <p:cNvPr id="22" name="Rectangle 21"/>
          <p:cNvSpPr/>
          <p:nvPr/>
        </p:nvSpPr>
        <p:spPr>
          <a:xfrm>
            <a:off x="737569" y="3915991"/>
            <a:ext cx="7729356" cy="369332"/>
          </a:xfrm>
          <a:prstGeom prst="rect">
            <a:avLst/>
          </a:prstGeom>
        </p:spPr>
        <p:txBody>
          <a:bodyPr wrap="square">
            <a:spAutoFit/>
          </a:bodyPr>
          <a:lstStyle/>
          <a:p>
            <a:r>
              <a:rPr lang="fr-FR" dirty="0"/>
              <a:t>Mettez à jour l'index des paquets et installez Jenkins avec Java 17 :</a:t>
            </a:r>
            <a:endParaRPr lang="en-US" dirty="0"/>
          </a:p>
        </p:txBody>
      </p:sp>
      <p:sp>
        <p:nvSpPr>
          <p:cNvPr id="23" name="Rectangle 22"/>
          <p:cNvSpPr/>
          <p:nvPr/>
        </p:nvSpPr>
        <p:spPr>
          <a:xfrm>
            <a:off x="793410" y="4285323"/>
            <a:ext cx="6096000" cy="923330"/>
          </a:xfrm>
          <a:prstGeom prst="rect">
            <a:avLst/>
          </a:prstGeom>
          <a:solidFill>
            <a:schemeClr val="tx1"/>
          </a:solidFill>
        </p:spPr>
        <p:txBody>
          <a:bodyPr>
            <a:spAutoFit/>
          </a:bodyPr>
          <a:lstStyle/>
          <a:p>
            <a:r>
              <a:rPr lang="en-US" dirty="0" err="1">
                <a:solidFill>
                  <a:schemeClr val="bg1"/>
                </a:solidFill>
              </a:rPr>
              <a:t>sudo</a:t>
            </a:r>
            <a:r>
              <a:rPr lang="en-US" dirty="0">
                <a:solidFill>
                  <a:schemeClr val="bg1"/>
                </a:solidFill>
              </a:rPr>
              <a:t> apt-get update</a:t>
            </a:r>
          </a:p>
          <a:p>
            <a:r>
              <a:rPr lang="en-US" dirty="0" err="1">
                <a:solidFill>
                  <a:schemeClr val="bg1"/>
                </a:solidFill>
              </a:rPr>
              <a:t>sudo</a:t>
            </a:r>
            <a:r>
              <a:rPr lang="en-US" dirty="0">
                <a:solidFill>
                  <a:schemeClr val="bg1"/>
                </a:solidFill>
              </a:rPr>
              <a:t> apt-get install </a:t>
            </a:r>
            <a:r>
              <a:rPr lang="en-US" dirty="0" err="1">
                <a:solidFill>
                  <a:schemeClr val="bg1"/>
                </a:solidFill>
              </a:rPr>
              <a:t>fontconfig</a:t>
            </a:r>
            <a:r>
              <a:rPr lang="en-US" dirty="0">
                <a:solidFill>
                  <a:schemeClr val="bg1"/>
                </a:solidFill>
              </a:rPr>
              <a:t> openjdk-17-jre</a:t>
            </a:r>
          </a:p>
          <a:p>
            <a:r>
              <a:rPr lang="en-US" dirty="0" err="1">
                <a:solidFill>
                  <a:schemeClr val="bg1"/>
                </a:solidFill>
              </a:rPr>
              <a:t>sudo</a:t>
            </a:r>
            <a:r>
              <a:rPr lang="en-US" dirty="0">
                <a:solidFill>
                  <a:schemeClr val="bg1"/>
                </a:solidFill>
              </a:rPr>
              <a:t> apt-get install </a:t>
            </a:r>
            <a:r>
              <a:rPr lang="en-US" dirty="0" err="1">
                <a:solidFill>
                  <a:schemeClr val="bg1"/>
                </a:solidFill>
              </a:rPr>
              <a:t>jenkins</a:t>
            </a:r>
            <a:endParaRPr lang="en-US" dirty="0">
              <a:solidFill>
                <a:schemeClr val="bg1"/>
              </a:solidFill>
            </a:endParaRPr>
          </a:p>
        </p:txBody>
      </p:sp>
      <p:sp>
        <p:nvSpPr>
          <p:cNvPr id="24" name="Rectangle 23"/>
          <p:cNvSpPr/>
          <p:nvPr/>
        </p:nvSpPr>
        <p:spPr>
          <a:xfrm>
            <a:off x="737569" y="5393318"/>
            <a:ext cx="5282023" cy="369332"/>
          </a:xfrm>
          <a:prstGeom prst="rect">
            <a:avLst/>
          </a:prstGeom>
        </p:spPr>
        <p:txBody>
          <a:bodyPr wrap="none">
            <a:spAutoFit/>
          </a:bodyPr>
          <a:lstStyle/>
          <a:p>
            <a:r>
              <a:rPr lang="fr-FR" dirty="0"/>
              <a:t>Jenkins est maintenant installé et prêt à être configuré</a:t>
            </a:r>
            <a:endParaRPr lang="en-US" dirty="0"/>
          </a:p>
        </p:txBody>
      </p:sp>
    </p:spTree>
    <p:extLst>
      <p:ext uri="{BB962C8B-B14F-4D97-AF65-F5344CB8AC3E}">
        <p14:creationId xmlns:p14="http://schemas.microsoft.com/office/powerpoint/2010/main" val="1375144778"/>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smtClean="0">
                <a:latin typeface="Times New Roman" panose="02020603050405020304" pitchFamily="18" charset="0"/>
                <a:cs typeface="Times New Roman" panose="02020603050405020304" pitchFamily="18" charset="0"/>
              </a:rPr>
              <a:t>Installation Jenkins (Linux)</a:t>
            </a:r>
            <a:endParaRPr lang="fr-FR" altLang="en-US" b="1" dirty="0">
              <a:latin typeface="Times New Roman" panose="02020603050405020304" pitchFamily="18" charset="0"/>
              <a:cs typeface="Times New Roman" panose="02020603050405020304" pitchFamily="18" charset="0"/>
            </a:endParaRPr>
          </a:p>
        </p:txBody>
      </p:sp>
      <p:pic>
        <p:nvPicPr>
          <p:cNvPr id="8" name="Picture 2" descr="Jenkins Workflow"/>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103214" y="5890160"/>
            <a:ext cx="641481" cy="885585"/>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3"/>
          <p:cNvSpPr>
            <a:spLocks noChangeArrowheads="1"/>
          </p:cNvSpPr>
          <p:nvPr/>
        </p:nvSpPr>
        <p:spPr bwMode="auto">
          <a:xfrm>
            <a:off x="703385" y="994835"/>
            <a:ext cx="10155344" cy="52322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1" i="0" u="none" strike="noStrike" cap="none" normalizeH="0" baseline="0" dirty="0" smtClean="0">
                <a:ln>
                  <a:noFill/>
                </a:ln>
                <a:solidFill>
                  <a:srgbClr val="0D0D0D"/>
                </a:solidFill>
                <a:effectLst/>
                <a:latin typeface="S$o"/>
              </a:rPr>
              <a:t>Accès à Jenkins</a:t>
            </a:r>
            <a:r>
              <a:rPr kumimoji="0" lang="fr-FR" altLang="fr-FR" sz="1400" b="0" i="0" u="none" strike="noStrike" cap="none" normalizeH="0" baseline="0" dirty="0" smtClean="0">
                <a:ln>
                  <a:noFill/>
                </a:ln>
                <a:solidFill>
                  <a:srgbClr val="0D0D0D"/>
                </a:solidFill>
                <a:effectLst/>
                <a:latin typeface="S$o"/>
              </a:rPr>
              <a:t> : Une fois Jenkins en cours d'exécution, vous pouvez y accéder via votre navigateur web en naviguant vers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1" i="0" u="none" strike="noStrike" cap="none" normalizeH="0" baseline="0" dirty="0" smtClean="0">
                <a:ln>
                  <a:noFill/>
                </a:ln>
                <a:solidFill>
                  <a:srgbClr val="0D0D0D"/>
                </a:solidFill>
                <a:effectLst/>
                <a:latin typeface="S$o"/>
                <a:hlinkClick r:id="rId5"/>
              </a:rPr>
              <a:t>http://adresse_ip_de_votre_serveur:8080</a:t>
            </a:r>
            <a:r>
              <a:rPr lang="fr-FR" altLang="fr-FR" sz="1400" dirty="0">
                <a:solidFill>
                  <a:srgbClr val="0D0D0D"/>
                </a:solidFill>
                <a:latin typeface="S$o"/>
              </a:rPr>
              <a:t> </a:t>
            </a:r>
            <a:r>
              <a:rPr lang="fr-FR" altLang="fr-FR" sz="1400" dirty="0" smtClean="0">
                <a:solidFill>
                  <a:srgbClr val="0D0D0D"/>
                </a:solidFill>
                <a:latin typeface="S$o"/>
              </a:rPr>
              <a:t>exemple </a:t>
            </a:r>
            <a:r>
              <a:rPr lang="fr-FR" altLang="fr-FR" sz="1400" b="1" dirty="0" smtClean="0">
                <a:solidFill>
                  <a:srgbClr val="0D0D0D"/>
                </a:solidFill>
                <a:latin typeface="S$o"/>
              </a:rPr>
              <a:t>localhost:8080</a:t>
            </a:r>
            <a:r>
              <a:rPr kumimoji="0" lang="fr-FR" altLang="fr-FR" sz="1400" b="1" i="0" u="none" strike="noStrike" cap="none" normalizeH="0" baseline="0" dirty="0" smtClean="0">
                <a:ln>
                  <a:noFill/>
                </a:ln>
                <a:solidFill>
                  <a:schemeClr val="tx1"/>
                </a:solidFill>
                <a:effectLst/>
                <a:latin typeface="S$o"/>
              </a:rPr>
              <a:t> </a:t>
            </a:r>
          </a:p>
        </p:txBody>
      </p:sp>
      <p:sp>
        <p:nvSpPr>
          <p:cNvPr id="21" name="Rectangle 3"/>
          <p:cNvSpPr>
            <a:spLocks noChangeArrowheads="1"/>
          </p:cNvSpPr>
          <p:nvPr/>
        </p:nvSpPr>
        <p:spPr bwMode="auto">
          <a:xfrm>
            <a:off x="703385" y="1665264"/>
            <a:ext cx="10637849" cy="30777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1" i="0" u="none" strike="noStrike" cap="none" normalizeH="0" baseline="0" dirty="0" smtClean="0">
                <a:ln>
                  <a:noFill/>
                </a:ln>
                <a:solidFill>
                  <a:srgbClr val="0D0D0D"/>
                </a:solidFill>
                <a:effectLst/>
                <a:latin typeface="S$o"/>
              </a:rPr>
              <a:t>Note</a:t>
            </a:r>
            <a:r>
              <a:rPr kumimoji="0" lang="fr-FR" altLang="fr-FR" sz="1400" b="0" i="0" u="none" strike="noStrike" cap="none" normalizeH="0" baseline="0" dirty="0" smtClean="0">
                <a:ln>
                  <a:noFill/>
                </a:ln>
                <a:solidFill>
                  <a:srgbClr val="0D0D0D"/>
                </a:solidFill>
                <a:effectLst/>
                <a:latin typeface="S$o"/>
              </a:rPr>
              <a:t>: Pour</a:t>
            </a:r>
            <a:r>
              <a:rPr kumimoji="0" lang="fr-FR" altLang="fr-FR" sz="1400" b="0" i="0" u="none" strike="noStrike" cap="none" normalizeH="0" dirty="0" smtClean="0">
                <a:ln>
                  <a:noFill/>
                </a:ln>
                <a:solidFill>
                  <a:srgbClr val="0D0D0D"/>
                </a:solidFill>
                <a:effectLst/>
                <a:latin typeface="S$o"/>
              </a:rPr>
              <a:t> changer le port par défaut de Jenkins, il faut ouvrir le fichier /</a:t>
            </a:r>
            <a:r>
              <a:rPr kumimoji="0" lang="fr-FR" altLang="fr-FR" sz="1400" b="0" i="0" u="none" strike="noStrike" cap="none" normalizeH="0" dirty="0" err="1" smtClean="0">
                <a:ln>
                  <a:noFill/>
                </a:ln>
                <a:solidFill>
                  <a:srgbClr val="0D0D0D"/>
                </a:solidFill>
                <a:effectLst/>
                <a:latin typeface="S$o"/>
              </a:rPr>
              <a:t>etc</a:t>
            </a:r>
            <a:r>
              <a:rPr kumimoji="0" lang="fr-FR" altLang="fr-FR" sz="1400" b="0" i="0" u="none" strike="noStrike" cap="none" normalizeH="0" dirty="0" smtClean="0">
                <a:ln>
                  <a:noFill/>
                </a:ln>
                <a:solidFill>
                  <a:srgbClr val="0D0D0D"/>
                </a:solidFill>
                <a:effectLst/>
                <a:latin typeface="S$o"/>
              </a:rPr>
              <a:t>/default/Jenkins et chercher le paramètres </a:t>
            </a:r>
            <a:r>
              <a:rPr kumimoji="0" lang="fr-FR" altLang="fr-FR" sz="1400" b="1" i="0" u="none" strike="noStrike" cap="none" normalizeH="0" dirty="0" smtClean="0">
                <a:ln>
                  <a:noFill/>
                </a:ln>
                <a:solidFill>
                  <a:srgbClr val="0D0D0D"/>
                </a:solidFill>
                <a:effectLst/>
                <a:latin typeface="S$o"/>
              </a:rPr>
              <a:t>HTTP_PORT</a:t>
            </a:r>
            <a:r>
              <a:rPr kumimoji="0" lang="fr-FR" altLang="fr-FR" sz="1400" b="0" i="0" u="none" strike="noStrike" cap="none" normalizeH="0" dirty="0" smtClean="0">
                <a:ln>
                  <a:noFill/>
                </a:ln>
                <a:solidFill>
                  <a:srgbClr val="0D0D0D"/>
                </a:solidFill>
                <a:effectLst/>
                <a:latin typeface="S$o"/>
              </a:rPr>
              <a:t> </a:t>
            </a:r>
            <a:endParaRPr kumimoji="0" lang="fr-FR" altLang="fr-FR" sz="1400" b="1" i="0" u="none" strike="noStrike" cap="none" normalizeH="0" baseline="0" dirty="0" smtClean="0">
              <a:ln>
                <a:noFill/>
              </a:ln>
              <a:solidFill>
                <a:schemeClr val="tx1"/>
              </a:solidFill>
              <a:effectLst/>
              <a:latin typeface="S$o"/>
            </a:endParaRPr>
          </a:p>
        </p:txBody>
      </p:sp>
      <p:sp>
        <p:nvSpPr>
          <p:cNvPr id="20" name="Rectangle 19"/>
          <p:cNvSpPr/>
          <p:nvPr/>
        </p:nvSpPr>
        <p:spPr>
          <a:xfrm>
            <a:off x="703385" y="2120250"/>
            <a:ext cx="10105292" cy="523220"/>
          </a:xfrm>
          <a:prstGeom prst="rect">
            <a:avLst/>
          </a:prstGeom>
        </p:spPr>
        <p:txBody>
          <a:bodyPr wrap="square">
            <a:spAutoFit/>
          </a:bodyPr>
          <a:lstStyle/>
          <a:p>
            <a:r>
              <a:rPr lang="fr-FR" sz="1400" b="1" dirty="0">
                <a:solidFill>
                  <a:srgbClr val="0D0D0D"/>
                </a:solidFill>
                <a:latin typeface="Söhne"/>
              </a:rPr>
              <a:t>Déverrouillage de Jenkins</a:t>
            </a:r>
            <a:r>
              <a:rPr lang="fr-FR" sz="1400" dirty="0">
                <a:solidFill>
                  <a:srgbClr val="0D0D0D"/>
                </a:solidFill>
                <a:latin typeface="Söhne"/>
              </a:rPr>
              <a:t> : Lorsque vous accédez pour la première fois à Jenkins, vous serez invité à le déverrouiller</a:t>
            </a:r>
            <a:r>
              <a:rPr lang="fr-FR" sz="1400" dirty="0" smtClean="0">
                <a:solidFill>
                  <a:srgbClr val="0D0D0D"/>
                </a:solidFill>
                <a:latin typeface="Söhne"/>
              </a:rPr>
              <a:t>. Le mot de passe initial se trouve dans ce fichier</a:t>
            </a:r>
            <a:endParaRPr lang="fr-FR" sz="1400" dirty="0"/>
          </a:p>
        </p:txBody>
      </p:sp>
      <p:sp>
        <p:nvSpPr>
          <p:cNvPr id="22" name="Rectangle 21"/>
          <p:cNvSpPr/>
          <p:nvPr/>
        </p:nvSpPr>
        <p:spPr>
          <a:xfrm>
            <a:off x="794498" y="2696231"/>
            <a:ext cx="5333319" cy="369332"/>
          </a:xfrm>
          <a:prstGeom prst="rect">
            <a:avLst/>
          </a:prstGeom>
          <a:solidFill>
            <a:schemeClr val="tx1"/>
          </a:solidFill>
        </p:spPr>
        <p:txBody>
          <a:bodyPr wrap="none">
            <a:spAutoFit/>
          </a:bodyPr>
          <a:lstStyle/>
          <a:p>
            <a:r>
              <a:rPr lang="fr-FR" dirty="0" err="1">
                <a:solidFill>
                  <a:schemeClr val="bg1"/>
                </a:solidFill>
              </a:rPr>
              <a:t>sudo</a:t>
            </a:r>
            <a:r>
              <a:rPr lang="fr-FR" dirty="0">
                <a:solidFill>
                  <a:schemeClr val="bg1"/>
                </a:solidFill>
              </a:rPr>
              <a:t> cat /var/lib/</a:t>
            </a:r>
            <a:r>
              <a:rPr lang="fr-FR" dirty="0" err="1">
                <a:solidFill>
                  <a:schemeClr val="bg1"/>
                </a:solidFill>
              </a:rPr>
              <a:t>jenkins</a:t>
            </a:r>
            <a:r>
              <a:rPr lang="fr-FR" dirty="0">
                <a:solidFill>
                  <a:schemeClr val="bg1"/>
                </a:solidFill>
              </a:rPr>
              <a:t>/secrets/</a:t>
            </a:r>
            <a:r>
              <a:rPr lang="fr-FR" dirty="0" err="1">
                <a:solidFill>
                  <a:schemeClr val="bg1"/>
                </a:solidFill>
              </a:rPr>
              <a:t>initialAdminPassword</a:t>
            </a:r>
            <a:endParaRPr lang="fr-FR" dirty="0">
              <a:solidFill>
                <a:schemeClr val="bg1"/>
              </a:solidFill>
            </a:endParaRPr>
          </a:p>
        </p:txBody>
      </p:sp>
    </p:spTree>
    <p:extLst>
      <p:ext uri="{BB962C8B-B14F-4D97-AF65-F5344CB8AC3E}">
        <p14:creationId xmlns:p14="http://schemas.microsoft.com/office/powerpoint/2010/main" val="3175862956"/>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1"/>
          <p:cNvSpPr>
            <a:spLocks noGrp="1" noChangeArrowheads="1"/>
          </p:cNvSpPr>
          <p:nvPr>
            <p:ph type="title" idx="4294967295"/>
          </p:nvPr>
        </p:nvSpPr>
        <p:spPr bwMode="auto">
          <a:xfrm>
            <a:off x="3420035" y="2480983"/>
            <a:ext cx="5286935" cy="1320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00000"/>
              </a:lnSpc>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pPr>
            <a:r>
              <a:rPr lang="fr-FR" altLang="en-US" sz="3600" dirty="0" smtClean="0">
                <a:solidFill>
                  <a:srgbClr val="A5300F"/>
                </a:solidFill>
                <a:latin typeface="Times New Roman" panose="02020603050405020304" pitchFamily="18" charset="0"/>
              </a:rPr>
              <a:t>Installation avec docker </a:t>
            </a:r>
          </a:p>
        </p:txBody>
      </p:sp>
    </p:spTree>
    <p:extLst>
      <p:ext uri="{BB962C8B-B14F-4D97-AF65-F5344CB8AC3E}">
        <p14:creationId xmlns:p14="http://schemas.microsoft.com/office/powerpoint/2010/main" val="3342195660"/>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smtClean="0">
                <a:latin typeface="Times New Roman" panose="02020603050405020304" pitchFamily="18" charset="0"/>
                <a:cs typeface="Times New Roman" panose="02020603050405020304" pitchFamily="18" charset="0"/>
              </a:rPr>
              <a:t>Installation Jenkins (docker /docker-compose)</a:t>
            </a:r>
            <a:endParaRPr lang="fr-FR" altLang="en-US" b="1" dirty="0">
              <a:latin typeface="Times New Roman" panose="02020603050405020304" pitchFamily="18" charset="0"/>
              <a:cs typeface="Times New Roman" panose="02020603050405020304" pitchFamily="18" charset="0"/>
            </a:endParaRPr>
          </a:p>
        </p:txBody>
      </p:sp>
      <p:pic>
        <p:nvPicPr>
          <p:cNvPr id="8" name="Picture 2" descr="Jenkins Workflow"/>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103214" y="5890160"/>
            <a:ext cx="641481" cy="88558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785446" y="1280390"/>
            <a:ext cx="6096000" cy="4801314"/>
          </a:xfrm>
          <a:prstGeom prst="rect">
            <a:avLst/>
          </a:prstGeom>
        </p:spPr>
        <p:txBody>
          <a:bodyPr>
            <a:spAutoFit/>
          </a:bodyPr>
          <a:lstStyle/>
          <a:p>
            <a:r>
              <a:rPr lang="fr-FR" dirty="0">
                <a:solidFill>
                  <a:srgbClr val="0F4A85"/>
                </a:solidFill>
                <a:latin typeface="Consolas" panose="020B0609020204030204" pitchFamily="49" charset="0"/>
              </a:rPr>
              <a:t>version</a:t>
            </a:r>
            <a:r>
              <a:rPr lang="fr-FR" dirty="0">
                <a:solidFill>
                  <a:srgbClr val="292929"/>
                </a:solidFill>
                <a:latin typeface="Consolas" panose="020B0609020204030204" pitchFamily="49" charset="0"/>
              </a:rPr>
              <a:t>: </a:t>
            </a:r>
            <a:r>
              <a:rPr lang="fr-FR" dirty="0">
                <a:solidFill>
                  <a:srgbClr val="0F4A85"/>
                </a:solidFill>
                <a:latin typeface="Consolas" panose="020B0609020204030204" pitchFamily="49" charset="0"/>
              </a:rPr>
              <a:t>'3'</a:t>
            </a:r>
            <a:endParaRPr lang="fr-FR" dirty="0">
              <a:solidFill>
                <a:srgbClr val="292929"/>
              </a:solidFill>
              <a:latin typeface="Consolas" panose="020B0609020204030204" pitchFamily="49" charset="0"/>
            </a:endParaRPr>
          </a:p>
          <a:p>
            <a:r>
              <a:rPr lang="fr-FR" dirty="0">
                <a:solidFill>
                  <a:srgbClr val="0F4A85"/>
                </a:solidFill>
                <a:latin typeface="Consolas" panose="020B0609020204030204" pitchFamily="49" charset="0"/>
              </a:rPr>
              <a:t>services</a:t>
            </a:r>
            <a:r>
              <a:rPr lang="fr-FR" dirty="0">
                <a:solidFill>
                  <a:srgbClr val="292929"/>
                </a:solidFill>
                <a:latin typeface="Consolas" panose="020B0609020204030204" pitchFamily="49" charset="0"/>
              </a:rPr>
              <a:t>: </a:t>
            </a:r>
          </a:p>
          <a:p>
            <a:r>
              <a:rPr lang="fr-FR" dirty="0">
                <a:solidFill>
                  <a:srgbClr val="292929"/>
                </a:solidFill>
                <a:latin typeface="Consolas" panose="020B0609020204030204" pitchFamily="49" charset="0"/>
              </a:rPr>
              <a:t>  </a:t>
            </a:r>
            <a:r>
              <a:rPr lang="fr-FR" dirty="0" err="1">
                <a:solidFill>
                  <a:srgbClr val="0F4A85"/>
                </a:solidFill>
                <a:latin typeface="Consolas" panose="020B0609020204030204" pitchFamily="49" charset="0"/>
              </a:rPr>
              <a:t>jenkins</a:t>
            </a:r>
            <a:r>
              <a:rPr lang="fr-FR" dirty="0">
                <a:solidFill>
                  <a:srgbClr val="292929"/>
                </a:solidFill>
                <a:latin typeface="Consolas" panose="020B0609020204030204" pitchFamily="49" charset="0"/>
              </a:rPr>
              <a:t>:</a:t>
            </a:r>
          </a:p>
          <a:p>
            <a:r>
              <a:rPr lang="fr-FR" dirty="0">
                <a:solidFill>
                  <a:srgbClr val="292929"/>
                </a:solidFill>
                <a:latin typeface="Consolas" panose="020B0609020204030204" pitchFamily="49" charset="0"/>
              </a:rPr>
              <a:t>    </a:t>
            </a:r>
            <a:r>
              <a:rPr lang="fr-FR" dirty="0">
                <a:solidFill>
                  <a:srgbClr val="0F4A85"/>
                </a:solidFill>
                <a:latin typeface="Consolas" panose="020B0609020204030204" pitchFamily="49" charset="0"/>
              </a:rPr>
              <a:t>image</a:t>
            </a:r>
            <a:r>
              <a:rPr lang="fr-FR" dirty="0">
                <a:solidFill>
                  <a:srgbClr val="292929"/>
                </a:solidFill>
                <a:latin typeface="Consolas" panose="020B0609020204030204" pitchFamily="49" charset="0"/>
              </a:rPr>
              <a:t>: </a:t>
            </a:r>
            <a:r>
              <a:rPr lang="fr-FR" dirty="0">
                <a:solidFill>
                  <a:srgbClr val="0F4A85"/>
                </a:solidFill>
                <a:latin typeface="Consolas" panose="020B0609020204030204" pitchFamily="49" charset="0"/>
              </a:rPr>
              <a:t>'</a:t>
            </a:r>
            <a:r>
              <a:rPr lang="fr-FR" dirty="0" err="1">
                <a:solidFill>
                  <a:srgbClr val="0F4A85"/>
                </a:solidFill>
                <a:latin typeface="Consolas" panose="020B0609020204030204" pitchFamily="49" charset="0"/>
              </a:rPr>
              <a:t>jenkins</a:t>
            </a:r>
            <a:r>
              <a:rPr lang="fr-FR" dirty="0">
                <a:solidFill>
                  <a:srgbClr val="0F4A85"/>
                </a:solidFill>
                <a:latin typeface="Consolas" panose="020B0609020204030204" pitchFamily="49" charset="0"/>
              </a:rPr>
              <a:t>/</a:t>
            </a:r>
            <a:r>
              <a:rPr lang="fr-FR" dirty="0" err="1">
                <a:solidFill>
                  <a:srgbClr val="0F4A85"/>
                </a:solidFill>
                <a:latin typeface="Consolas" panose="020B0609020204030204" pitchFamily="49" charset="0"/>
              </a:rPr>
              <a:t>jenkins:lts</a:t>
            </a:r>
            <a:r>
              <a:rPr lang="fr-FR" dirty="0">
                <a:solidFill>
                  <a:srgbClr val="0F4A85"/>
                </a:solidFill>
                <a:latin typeface="Consolas" panose="020B0609020204030204" pitchFamily="49" charset="0"/>
              </a:rPr>
              <a:t>'</a:t>
            </a:r>
            <a:endParaRPr lang="fr-FR" dirty="0">
              <a:solidFill>
                <a:srgbClr val="292929"/>
              </a:solidFill>
              <a:latin typeface="Consolas" panose="020B0609020204030204" pitchFamily="49" charset="0"/>
            </a:endParaRPr>
          </a:p>
          <a:p>
            <a:r>
              <a:rPr lang="fr-FR" dirty="0">
                <a:solidFill>
                  <a:srgbClr val="292929"/>
                </a:solidFill>
                <a:latin typeface="Consolas" panose="020B0609020204030204" pitchFamily="49" charset="0"/>
              </a:rPr>
              <a:t>    </a:t>
            </a:r>
            <a:r>
              <a:rPr lang="fr-FR" dirty="0" err="1">
                <a:solidFill>
                  <a:srgbClr val="0F4A85"/>
                </a:solidFill>
                <a:latin typeface="Consolas" panose="020B0609020204030204" pitchFamily="49" charset="0"/>
              </a:rPr>
              <a:t>container_name</a:t>
            </a:r>
            <a:r>
              <a:rPr lang="fr-FR" dirty="0">
                <a:solidFill>
                  <a:srgbClr val="292929"/>
                </a:solidFill>
                <a:latin typeface="Consolas" panose="020B0609020204030204" pitchFamily="49" charset="0"/>
              </a:rPr>
              <a:t>: </a:t>
            </a:r>
            <a:r>
              <a:rPr lang="fr-FR" dirty="0">
                <a:solidFill>
                  <a:srgbClr val="0F4A85"/>
                </a:solidFill>
                <a:latin typeface="Consolas" panose="020B0609020204030204" pitchFamily="49" charset="0"/>
              </a:rPr>
              <a:t>"</a:t>
            </a:r>
            <a:r>
              <a:rPr lang="fr-FR" dirty="0" err="1">
                <a:solidFill>
                  <a:srgbClr val="0F4A85"/>
                </a:solidFill>
                <a:latin typeface="Consolas" panose="020B0609020204030204" pitchFamily="49" charset="0"/>
              </a:rPr>
              <a:t>jenkins_master</a:t>
            </a:r>
            <a:r>
              <a:rPr lang="fr-FR" dirty="0">
                <a:solidFill>
                  <a:srgbClr val="0F4A85"/>
                </a:solidFill>
                <a:latin typeface="Consolas" panose="020B0609020204030204" pitchFamily="49" charset="0"/>
              </a:rPr>
              <a:t>"</a:t>
            </a:r>
            <a:endParaRPr lang="fr-FR" dirty="0">
              <a:solidFill>
                <a:srgbClr val="292929"/>
              </a:solidFill>
              <a:latin typeface="Consolas" panose="020B0609020204030204" pitchFamily="49" charset="0"/>
            </a:endParaRPr>
          </a:p>
          <a:p>
            <a:r>
              <a:rPr lang="fr-FR" dirty="0">
                <a:solidFill>
                  <a:srgbClr val="292929"/>
                </a:solidFill>
                <a:latin typeface="Consolas" panose="020B0609020204030204" pitchFamily="49" charset="0"/>
              </a:rPr>
              <a:t>    </a:t>
            </a:r>
            <a:r>
              <a:rPr lang="fr-FR" dirty="0">
                <a:solidFill>
                  <a:srgbClr val="0F4A85"/>
                </a:solidFill>
                <a:latin typeface="Consolas" panose="020B0609020204030204" pitchFamily="49" charset="0"/>
              </a:rPr>
              <a:t>labels</a:t>
            </a:r>
            <a:r>
              <a:rPr lang="fr-FR" dirty="0">
                <a:solidFill>
                  <a:srgbClr val="292929"/>
                </a:solidFill>
                <a:latin typeface="Consolas" panose="020B0609020204030204" pitchFamily="49" charset="0"/>
              </a:rPr>
              <a:t>:</a:t>
            </a:r>
          </a:p>
          <a:p>
            <a:r>
              <a:rPr lang="fr-FR" dirty="0">
                <a:solidFill>
                  <a:srgbClr val="292929"/>
                </a:solidFill>
                <a:latin typeface="Consolas" panose="020B0609020204030204" pitchFamily="49" charset="0"/>
              </a:rPr>
              <a:t>      </a:t>
            </a:r>
            <a:r>
              <a:rPr lang="fr-FR" dirty="0" err="1">
                <a:solidFill>
                  <a:srgbClr val="0F4A85"/>
                </a:solidFill>
                <a:latin typeface="Consolas" panose="020B0609020204030204" pitchFamily="49" charset="0"/>
              </a:rPr>
              <a:t>kompose.service.type</a:t>
            </a:r>
            <a:r>
              <a:rPr lang="fr-FR" dirty="0">
                <a:solidFill>
                  <a:srgbClr val="292929"/>
                </a:solidFill>
                <a:latin typeface="Consolas" panose="020B0609020204030204" pitchFamily="49" charset="0"/>
              </a:rPr>
              <a:t>: </a:t>
            </a:r>
            <a:r>
              <a:rPr lang="fr-FR" dirty="0" err="1">
                <a:solidFill>
                  <a:srgbClr val="0F4A85"/>
                </a:solidFill>
                <a:latin typeface="Consolas" panose="020B0609020204030204" pitchFamily="49" charset="0"/>
              </a:rPr>
              <a:t>nodeport</a:t>
            </a:r>
            <a:endParaRPr lang="fr-FR" dirty="0">
              <a:solidFill>
                <a:srgbClr val="292929"/>
              </a:solidFill>
              <a:latin typeface="Consolas" panose="020B0609020204030204" pitchFamily="49" charset="0"/>
            </a:endParaRPr>
          </a:p>
          <a:p>
            <a:r>
              <a:rPr lang="fr-FR" dirty="0">
                <a:solidFill>
                  <a:srgbClr val="292929"/>
                </a:solidFill>
                <a:latin typeface="Consolas" panose="020B0609020204030204" pitchFamily="49" charset="0"/>
              </a:rPr>
              <a:t>    </a:t>
            </a:r>
            <a:r>
              <a:rPr lang="fr-FR" dirty="0">
                <a:solidFill>
                  <a:srgbClr val="0F4A85"/>
                </a:solidFill>
                <a:latin typeface="Consolas" panose="020B0609020204030204" pitchFamily="49" charset="0"/>
              </a:rPr>
              <a:t>ports</a:t>
            </a:r>
            <a:r>
              <a:rPr lang="fr-FR" dirty="0">
                <a:solidFill>
                  <a:srgbClr val="292929"/>
                </a:solidFill>
                <a:latin typeface="Consolas" panose="020B0609020204030204" pitchFamily="49" charset="0"/>
              </a:rPr>
              <a:t>:</a:t>
            </a:r>
          </a:p>
          <a:p>
            <a:r>
              <a:rPr lang="fr-FR" dirty="0">
                <a:solidFill>
                  <a:srgbClr val="292929"/>
                </a:solidFill>
                <a:latin typeface="Consolas" panose="020B0609020204030204" pitchFamily="49" charset="0"/>
              </a:rPr>
              <a:t>      - </a:t>
            </a:r>
            <a:r>
              <a:rPr lang="fr-FR" dirty="0">
                <a:solidFill>
                  <a:srgbClr val="0F4A85"/>
                </a:solidFill>
                <a:latin typeface="Consolas" panose="020B0609020204030204" pitchFamily="49" charset="0"/>
              </a:rPr>
              <a:t>'8082:8080'</a:t>
            </a:r>
            <a:endParaRPr lang="fr-FR" dirty="0">
              <a:solidFill>
                <a:srgbClr val="292929"/>
              </a:solidFill>
              <a:latin typeface="Consolas" panose="020B0609020204030204" pitchFamily="49" charset="0"/>
            </a:endParaRPr>
          </a:p>
          <a:p>
            <a:r>
              <a:rPr lang="fr-FR" dirty="0">
                <a:solidFill>
                  <a:srgbClr val="292929"/>
                </a:solidFill>
                <a:latin typeface="Consolas" panose="020B0609020204030204" pitchFamily="49" charset="0"/>
              </a:rPr>
              <a:t>      -  </a:t>
            </a:r>
            <a:r>
              <a:rPr lang="fr-FR" dirty="0">
                <a:solidFill>
                  <a:srgbClr val="0F4A85"/>
                </a:solidFill>
                <a:latin typeface="Consolas" panose="020B0609020204030204" pitchFamily="49" charset="0"/>
              </a:rPr>
              <a:t>'50000:50000'</a:t>
            </a:r>
            <a:endParaRPr lang="fr-FR" dirty="0">
              <a:solidFill>
                <a:srgbClr val="292929"/>
              </a:solidFill>
              <a:latin typeface="Consolas" panose="020B0609020204030204" pitchFamily="49" charset="0"/>
            </a:endParaRPr>
          </a:p>
          <a:p>
            <a:r>
              <a:rPr lang="fr-FR" dirty="0">
                <a:solidFill>
                  <a:srgbClr val="292929"/>
                </a:solidFill>
                <a:latin typeface="Consolas" panose="020B0609020204030204" pitchFamily="49" charset="0"/>
              </a:rPr>
              <a:t/>
            </a:r>
            <a:br>
              <a:rPr lang="fr-FR" dirty="0">
                <a:solidFill>
                  <a:srgbClr val="292929"/>
                </a:solidFill>
                <a:latin typeface="Consolas" panose="020B0609020204030204" pitchFamily="49" charset="0"/>
              </a:rPr>
            </a:br>
            <a:r>
              <a:rPr lang="fr-FR" dirty="0">
                <a:solidFill>
                  <a:srgbClr val="292929"/>
                </a:solidFill>
                <a:latin typeface="Consolas" panose="020B0609020204030204" pitchFamily="49" charset="0"/>
              </a:rPr>
              <a:t>    </a:t>
            </a:r>
            <a:r>
              <a:rPr lang="fr-FR" dirty="0">
                <a:solidFill>
                  <a:srgbClr val="0F4A85"/>
                </a:solidFill>
                <a:latin typeface="Consolas" panose="020B0609020204030204" pitchFamily="49" charset="0"/>
              </a:rPr>
              <a:t>volumes</a:t>
            </a:r>
            <a:r>
              <a:rPr lang="fr-FR" dirty="0">
                <a:solidFill>
                  <a:srgbClr val="292929"/>
                </a:solidFill>
                <a:latin typeface="Consolas" panose="020B0609020204030204" pitchFamily="49" charset="0"/>
              </a:rPr>
              <a:t>:</a:t>
            </a:r>
          </a:p>
          <a:p>
            <a:r>
              <a:rPr lang="fr-FR" dirty="0">
                <a:solidFill>
                  <a:srgbClr val="292929"/>
                </a:solidFill>
                <a:latin typeface="Consolas" panose="020B0609020204030204" pitchFamily="49" charset="0"/>
              </a:rPr>
              <a:t>      - </a:t>
            </a:r>
            <a:r>
              <a:rPr lang="fr-FR" dirty="0" err="1">
                <a:solidFill>
                  <a:srgbClr val="0F4A85"/>
                </a:solidFill>
                <a:latin typeface="Consolas" panose="020B0609020204030204" pitchFamily="49" charset="0"/>
              </a:rPr>
              <a:t>jenkins_home</a:t>
            </a:r>
            <a:r>
              <a:rPr lang="fr-FR" dirty="0">
                <a:solidFill>
                  <a:srgbClr val="0F4A85"/>
                </a:solidFill>
                <a:latin typeface="Consolas" panose="020B0609020204030204" pitchFamily="49" charset="0"/>
              </a:rPr>
              <a:t>:/var/</a:t>
            </a:r>
            <a:r>
              <a:rPr lang="fr-FR" dirty="0" err="1">
                <a:solidFill>
                  <a:srgbClr val="0F4A85"/>
                </a:solidFill>
                <a:latin typeface="Consolas" panose="020B0609020204030204" pitchFamily="49" charset="0"/>
              </a:rPr>
              <a:t>jenkins_home</a:t>
            </a:r>
            <a:endParaRPr lang="fr-FR" dirty="0">
              <a:solidFill>
                <a:srgbClr val="292929"/>
              </a:solidFill>
              <a:latin typeface="Consolas" panose="020B0609020204030204" pitchFamily="49" charset="0"/>
            </a:endParaRPr>
          </a:p>
          <a:p>
            <a:r>
              <a:rPr lang="fr-FR" dirty="0">
                <a:solidFill>
                  <a:srgbClr val="292929"/>
                </a:solidFill>
                <a:latin typeface="Consolas" panose="020B0609020204030204" pitchFamily="49" charset="0"/>
              </a:rPr>
              <a:t/>
            </a:r>
            <a:br>
              <a:rPr lang="fr-FR" dirty="0">
                <a:solidFill>
                  <a:srgbClr val="292929"/>
                </a:solidFill>
                <a:latin typeface="Consolas" panose="020B0609020204030204" pitchFamily="49" charset="0"/>
              </a:rPr>
            </a:br>
            <a:r>
              <a:rPr lang="fr-FR" dirty="0">
                <a:solidFill>
                  <a:srgbClr val="0F4A85"/>
                </a:solidFill>
                <a:latin typeface="Consolas" panose="020B0609020204030204" pitchFamily="49" charset="0"/>
              </a:rPr>
              <a:t>volumes</a:t>
            </a:r>
            <a:r>
              <a:rPr lang="fr-FR" dirty="0">
                <a:solidFill>
                  <a:srgbClr val="292929"/>
                </a:solidFill>
                <a:latin typeface="Consolas" panose="020B0609020204030204" pitchFamily="49" charset="0"/>
              </a:rPr>
              <a:t>:</a:t>
            </a:r>
          </a:p>
          <a:p>
            <a:r>
              <a:rPr lang="fr-FR" dirty="0">
                <a:solidFill>
                  <a:srgbClr val="292929"/>
                </a:solidFill>
                <a:latin typeface="Consolas" panose="020B0609020204030204" pitchFamily="49" charset="0"/>
              </a:rPr>
              <a:t>  </a:t>
            </a:r>
            <a:r>
              <a:rPr lang="fr-FR" dirty="0" err="1">
                <a:solidFill>
                  <a:srgbClr val="0F4A85"/>
                </a:solidFill>
                <a:latin typeface="Consolas" panose="020B0609020204030204" pitchFamily="49" charset="0"/>
              </a:rPr>
              <a:t>jenkins_home</a:t>
            </a:r>
            <a:r>
              <a:rPr lang="fr-FR" dirty="0">
                <a:solidFill>
                  <a:srgbClr val="292929"/>
                </a:solidFill>
                <a:latin typeface="Consolas" panose="020B0609020204030204" pitchFamily="49" charset="0"/>
              </a:rPr>
              <a:t>:</a:t>
            </a:r>
          </a:p>
          <a:p>
            <a:r>
              <a:rPr lang="fr-FR" dirty="0">
                <a:solidFill>
                  <a:srgbClr val="292929"/>
                </a:solidFill>
                <a:latin typeface="Consolas" panose="020B0609020204030204" pitchFamily="49" charset="0"/>
              </a:rPr>
              <a:t>    </a:t>
            </a:r>
            <a:r>
              <a:rPr lang="fr-FR" dirty="0">
                <a:solidFill>
                  <a:srgbClr val="0F4A85"/>
                </a:solidFill>
                <a:latin typeface="Consolas" panose="020B0609020204030204" pitchFamily="49" charset="0"/>
              </a:rPr>
              <a:t>driver</a:t>
            </a:r>
            <a:r>
              <a:rPr lang="fr-FR" dirty="0">
                <a:solidFill>
                  <a:srgbClr val="292929"/>
                </a:solidFill>
                <a:latin typeface="Consolas" panose="020B0609020204030204" pitchFamily="49" charset="0"/>
              </a:rPr>
              <a:t>: </a:t>
            </a:r>
            <a:r>
              <a:rPr lang="fr-FR" dirty="0">
                <a:solidFill>
                  <a:srgbClr val="0F4A85"/>
                </a:solidFill>
                <a:latin typeface="Consolas" panose="020B0609020204030204" pitchFamily="49" charset="0"/>
              </a:rPr>
              <a:t>local</a:t>
            </a:r>
            <a:endParaRPr lang="fr-FR" b="0" dirty="0">
              <a:solidFill>
                <a:srgbClr val="292929"/>
              </a:solidFill>
              <a:effectLst/>
              <a:latin typeface="Consolas" panose="020B0609020204030204" pitchFamily="49" charset="0"/>
            </a:endParaRPr>
          </a:p>
        </p:txBody>
      </p:sp>
    </p:spTree>
    <p:extLst>
      <p:ext uri="{BB962C8B-B14F-4D97-AF65-F5344CB8AC3E}">
        <p14:creationId xmlns:p14="http://schemas.microsoft.com/office/powerpoint/2010/main" val="2829542005"/>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smtClean="0">
                <a:latin typeface="Times New Roman" panose="02020603050405020304" pitchFamily="18" charset="0"/>
                <a:cs typeface="Times New Roman" panose="02020603050405020304" pitchFamily="18" charset="0"/>
              </a:rPr>
              <a:t>Installation Jenkins (Windows)</a:t>
            </a:r>
            <a:endParaRPr lang="fr-FR" altLang="en-US" b="1" dirty="0">
              <a:latin typeface="Times New Roman" panose="02020603050405020304" pitchFamily="18" charset="0"/>
              <a:cs typeface="Times New Roman" panose="02020603050405020304" pitchFamily="18" charset="0"/>
            </a:endParaRPr>
          </a:p>
        </p:txBody>
      </p:sp>
      <p:pic>
        <p:nvPicPr>
          <p:cNvPr id="4" name="Image 3"/>
          <p:cNvPicPr>
            <a:picLocks noChangeAspect="1"/>
          </p:cNvPicPr>
          <p:nvPr/>
        </p:nvPicPr>
        <p:blipFill>
          <a:blip r:embed="rId4"/>
          <a:stretch>
            <a:fillRect/>
          </a:stretch>
        </p:blipFill>
        <p:spPr>
          <a:xfrm>
            <a:off x="1807323" y="1814482"/>
            <a:ext cx="8173591" cy="3086531"/>
          </a:xfrm>
          <a:prstGeom prst="rect">
            <a:avLst/>
          </a:prstGeom>
          <a:ln>
            <a:noFill/>
          </a:ln>
          <a:effectLst>
            <a:outerShdw blurRad="292100" dist="139700" dir="2700000" algn="tl" rotWithShape="0">
              <a:srgbClr val="333333">
                <a:alpha val="65000"/>
              </a:srgbClr>
            </a:outerShdw>
          </a:effectLst>
        </p:spPr>
      </p:pic>
      <p:pic>
        <p:nvPicPr>
          <p:cNvPr id="8" name="Picture 2" descr="Jenkins Workflow"/>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103214" y="5890160"/>
            <a:ext cx="641481" cy="88558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4071409" y="5191886"/>
            <a:ext cx="4126451" cy="369332"/>
          </a:xfrm>
          <a:prstGeom prst="rect">
            <a:avLst/>
          </a:prstGeom>
        </p:spPr>
        <p:txBody>
          <a:bodyPr wrap="none">
            <a:spAutoFit/>
          </a:bodyPr>
          <a:lstStyle/>
          <a:p>
            <a:r>
              <a:rPr lang="fr-FR" dirty="0" smtClean="0">
                <a:solidFill>
                  <a:srgbClr val="0D0D0D"/>
                </a:solidFill>
                <a:latin typeface="Söhne"/>
              </a:rPr>
              <a:t>Emplacement d'un mot de passe initial</a:t>
            </a:r>
            <a:endParaRPr lang="fr-FR" dirty="0"/>
          </a:p>
        </p:txBody>
      </p:sp>
    </p:spTree>
    <p:extLst>
      <p:ext uri="{BB962C8B-B14F-4D97-AF65-F5344CB8AC3E}">
        <p14:creationId xmlns:p14="http://schemas.microsoft.com/office/powerpoint/2010/main" val="226070695"/>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smtClean="0">
                <a:latin typeface="Times New Roman" panose="02020603050405020304" pitchFamily="18" charset="0"/>
                <a:cs typeface="Times New Roman" panose="02020603050405020304" pitchFamily="18" charset="0"/>
              </a:rPr>
              <a:t>Installation Jenkins (Windows)</a:t>
            </a:r>
            <a:endParaRPr lang="fr-FR" altLang="en-US" b="1" dirty="0">
              <a:latin typeface="Times New Roman" panose="02020603050405020304" pitchFamily="18" charset="0"/>
              <a:cs typeface="Times New Roman" panose="02020603050405020304" pitchFamily="18" charset="0"/>
            </a:endParaRPr>
          </a:p>
        </p:txBody>
      </p:sp>
      <p:pic>
        <p:nvPicPr>
          <p:cNvPr id="5" name="Image 4"/>
          <p:cNvPicPr>
            <a:picLocks noChangeAspect="1"/>
          </p:cNvPicPr>
          <p:nvPr/>
        </p:nvPicPr>
        <p:blipFill>
          <a:blip r:embed="rId4"/>
          <a:stretch>
            <a:fillRect/>
          </a:stretch>
        </p:blipFill>
        <p:spPr>
          <a:xfrm>
            <a:off x="1264933" y="1638505"/>
            <a:ext cx="9385970" cy="3509447"/>
          </a:xfrm>
          <a:prstGeom prst="rect">
            <a:avLst/>
          </a:prstGeom>
        </p:spPr>
      </p:pic>
      <p:cxnSp>
        <p:nvCxnSpPr>
          <p:cNvPr id="6" name="Connecteur droit avec flèche 5"/>
          <p:cNvCxnSpPr/>
          <p:nvPr/>
        </p:nvCxnSpPr>
        <p:spPr>
          <a:xfrm flipH="1">
            <a:off x="7980218" y="1537855"/>
            <a:ext cx="409699" cy="546264"/>
          </a:xfrm>
          <a:prstGeom prst="straightConnector1">
            <a:avLst/>
          </a:prstGeom>
          <a:ln>
            <a:solidFill>
              <a:srgbClr val="FF0000"/>
            </a:solidFill>
            <a:tailEnd type="triangle"/>
          </a:ln>
        </p:spPr>
        <p:style>
          <a:lnRef idx="3">
            <a:schemeClr val="accent2"/>
          </a:lnRef>
          <a:fillRef idx="0">
            <a:schemeClr val="accent2"/>
          </a:fillRef>
          <a:effectRef idx="2">
            <a:schemeClr val="accent2"/>
          </a:effectRef>
          <a:fontRef idx="minor">
            <a:schemeClr val="tx1"/>
          </a:fontRef>
        </p:style>
      </p:cxnSp>
      <p:sp>
        <p:nvSpPr>
          <p:cNvPr id="7" name="Rectangle 6"/>
          <p:cNvSpPr/>
          <p:nvPr/>
        </p:nvSpPr>
        <p:spPr>
          <a:xfrm>
            <a:off x="4037610" y="2084119"/>
            <a:ext cx="5979226" cy="380011"/>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0" name="Connecteur droit avec flèche 9"/>
          <p:cNvCxnSpPr/>
          <p:nvPr/>
        </p:nvCxnSpPr>
        <p:spPr>
          <a:xfrm flipH="1">
            <a:off x="4990183" y="3057896"/>
            <a:ext cx="139957" cy="398112"/>
          </a:xfrm>
          <a:prstGeom prst="straightConnector1">
            <a:avLst/>
          </a:prstGeom>
          <a:ln>
            <a:solidFill>
              <a:srgbClr val="FF0000"/>
            </a:solidFill>
            <a:tailEnd type="triangle"/>
          </a:ln>
        </p:spPr>
        <p:style>
          <a:lnRef idx="3">
            <a:schemeClr val="accent2"/>
          </a:lnRef>
          <a:fillRef idx="0">
            <a:schemeClr val="accent2"/>
          </a:fillRef>
          <a:effectRef idx="2">
            <a:schemeClr val="accent2"/>
          </a:effectRef>
          <a:fontRef idx="minor">
            <a:schemeClr val="tx1"/>
          </a:fontRef>
        </p:style>
      </p:cxnSp>
      <p:cxnSp>
        <p:nvCxnSpPr>
          <p:cNvPr id="12" name="Connecteur droit avec flèche 11"/>
          <p:cNvCxnSpPr/>
          <p:nvPr/>
        </p:nvCxnSpPr>
        <p:spPr>
          <a:xfrm flipH="1">
            <a:off x="8835809" y="4320639"/>
            <a:ext cx="139957" cy="398112"/>
          </a:xfrm>
          <a:prstGeom prst="straightConnector1">
            <a:avLst/>
          </a:prstGeom>
          <a:ln>
            <a:solidFill>
              <a:srgbClr val="FF0000"/>
            </a:solidFill>
            <a:tailEnd type="triangle"/>
          </a:ln>
        </p:spPr>
        <p:style>
          <a:lnRef idx="3">
            <a:schemeClr val="accent2"/>
          </a:lnRef>
          <a:fillRef idx="0">
            <a:schemeClr val="accent2"/>
          </a:fillRef>
          <a:effectRef idx="2">
            <a:schemeClr val="accent2"/>
          </a:effectRef>
          <a:fontRef idx="minor">
            <a:schemeClr val="tx1"/>
          </a:fontRef>
        </p:style>
      </p:cxnSp>
      <p:pic>
        <p:nvPicPr>
          <p:cNvPr id="13" name="Picture 2" descr="Jenkins Workflow"/>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103214" y="5890160"/>
            <a:ext cx="641481" cy="885585"/>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p:cNvSpPr/>
          <p:nvPr/>
        </p:nvSpPr>
        <p:spPr>
          <a:xfrm>
            <a:off x="4058616" y="5260169"/>
            <a:ext cx="4126451" cy="369332"/>
          </a:xfrm>
          <a:prstGeom prst="rect">
            <a:avLst/>
          </a:prstGeom>
        </p:spPr>
        <p:txBody>
          <a:bodyPr wrap="none">
            <a:spAutoFit/>
          </a:bodyPr>
          <a:lstStyle/>
          <a:p>
            <a:r>
              <a:rPr lang="fr-FR" dirty="0" smtClean="0">
                <a:solidFill>
                  <a:srgbClr val="0D0D0D"/>
                </a:solidFill>
                <a:latin typeface="Söhne"/>
              </a:rPr>
              <a:t>Emplacement d'un mot de passe initial</a:t>
            </a:r>
            <a:endParaRPr lang="fr-FR" dirty="0"/>
          </a:p>
        </p:txBody>
      </p:sp>
    </p:spTree>
    <p:extLst>
      <p:ext uri="{BB962C8B-B14F-4D97-AF65-F5344CB8AC3E}">
        <p14:creationId xmlns:p14="http://schemas.microsoft.com/office/powerpoint/2010/main" val="1557518348"/>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smtClean="0">
                <a:latin typeface="Times New Roman" panose="02020603050405020304" pitchFamily="18" charset="0"/>
                <a:cs typeface="Times New Roman" panose="02020603050405020304" pitchFamily="18" charset="0"/>
              </a:rPr>
              <a:t>Installation Jenkins (Windows)</a:t>
            </a:r>
            <a:endParaRPr lang="fr-FR" altLang="en-US" b="1" dirty="0">
              <a:latin typeface="Times New Roman" panose="02020603050405020304" pitchFamily="18" charset="0"/>
              <a:cs typeface="Times New Roman" panose="02020603050405020304" pitchFamily="18" charset="0"/>
            </a:endParaRPr>
          </a:p>
        </p:txBody>
      </p:sp>
      <p:pic>
        <p:nvPicPr>
          <p:cNvPr id="2" name="Image 1"/>
          <p:cNvPicPr>
            <a:picLocks noChangeAspect="1"/>
          </p:cNvPicPr>
          <p:nvPr/>
        </p:nvPicPr>
        <p:blipFill>
          <a:blip r:embed="rId4"/>
          <a:stretch>
            <a:fillRect/>
          </a:stretch>
        </p:blipFill>
        <p:spPr>
          <a:xfrm>
            <a:off x="2143551" y="1466903"/>
            <a:ext cx="8059275" cy="4553585"/>
          </a:xfrm>
          <a:prstGeom prst="rect">
            <a:avLst/>
          </a:prstGeom>
        </p:spPr>
      </p:pic>
      <p:sp>
        <p:nvSpPr>
          <p:cNvPr id="11" name="Rectangle 10"/>
          <p:cNvSpPr/>
          <p:nvPr/>
        </p:nvSpPr>
        <p:spPr>
          <a:xfrm>
            <a:off x="4240591" y="5835822"/>
            <a:ext cx="3570208" cy="369332"/>
          </a:xfrm>
          <a:prstGeom prst="rect">
            <a:avLst/>
          </a:prstGeom>
        </p:spPr>
        <p:txBody>
          <a:bodyPr wrap="none">
            <a:spAutoFit/>
          </a:bodyPr>
          <a:lstStyle/>
          <a:p>
            <a:r>
              <a:rPr lang="fr-FR" dirty="0" smtClean="0">
                <a:solidFill>
                  <a:srgbClr val="0D0D0D"/>
                </a:solidFill>
                <a:latin typeface="Söhne"/>
              </a:rPr>
              <a:t>Configuration initiale de Jenkins</a:t>
            </a:r>
            <a:endParaRPr lang="fr-FR" dirty="0"/>
          </a:p>
        </p:txBody>
      </p:sp>
    </p:spTree>
    <p:extLst>
      <p:ext uri="{BB962C8B-B14F-4D97-AF65-F5344CB8AC3E}">
        <p14:creationId xmlns:p14="http://schemas.microsoft.com/office/powerpoint/2010/main" val="536020691"/>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smtClean="0">
                <a:latin typeface="Times New Roman" panose="02020603050405020304" pitchFamily="18" charset="0"/>
                <a:cs typeface="Times New Roman" panose="02020603050405020304" pitchFamily="18" charset="0"/>
              </a:rPr>
              <a:t>Installation Jenkins (Windows)</a:t>
            </a:r>
            <a:endParaRPr lang="fr-FR" altLang="en-US" b="1" dirty="0">
              <a:latin typeface="Times New Roman" panose="02020603050405020304" pitchFamily="18" charset="0"/>
              <a:cs typeface="Times New Roman" panose="02020603050405020304" pitchFamily="18" charset="0"/>
            </a:endParaRPr>
          </a:p>
        </p:txBody>
      </p:sp>
      <p:pic>
        <p:nvPicPr>
          <p:cNvPr id="3" name="Image 2"/>
          <p:cNvPicPr>
            <a:picLocks noChangeAspect="1"/>
          </p:cNvPicPr>
          <p:nvPr/>
        </p:nvPicPr>
        <p:blipFill>
          <a:blip r:embed="rId4"/>
          <a:stretch>
            <a:fillRect/>
          </a:stretch>
        </p:blipFill>
        <p:spPr>
          <a:xfrm>
            <a:off x="2294214" y="1223157"/>
            <a:ext cx="7348707" cy="4846861"/>
          </a:xfrm>
          <a:prstGeom prst="rect">
            <a:avLst/>
          </a:prstGeom>
        </p:spPr>
      </p:pic>
      <p:sp>
        <p:nvSpPr>
          <p:cNvPr id="5" name="Rectangle 4"/>
          <p:cNvSpPr/>
          <p:nvPr/>
        </p:nvSpPr>
        <p:spPr>
          <a:xfrm>
            <a:off x="4053596" y="6186171"/>
            <a:ext cx="4126451" cy="369332"/>
          </a:xfrm>
          <a:prstGeom prst="rect">
            <a:avLst/>
          </a:prstGeom>
        </p:spPr>
        <p:txBody>
          <a:bodyPr wrap="none">
            <a:spAutoFit/>
          </a:bodyPr>
          <a:lstStyle/>
          <a:p>
            <a:r>
              <a:rPr lang="fr-FR" dirty="0" smtClean="0">
                <a:solidFill>
                  <a:srgbClr val="0D0D0D"/>
                </a:solidFill>
                <a:latin typeface="Söhne"/>
              </a:rPr>
              <a:t>Emplacement d'un mot de passe initial</a:t>
            </a:r>
            <a:endParaRPr lang="fr-FR" dirty="0"/>
          </a:p>
        </p:txBody>
      </p:sp>
      <p:pic>
        <p:nvPicPr>
          <p:cNvPr id="2" name="Image 1"/>
          <p:cNvPicPr>
            <a:picLocks noChangeAspect="1"/>
          </p:cNvPicPr>
          <p:nvPr/>
        </p:nvPicPr>
        <p:blipFill>
          <a:blip r:embed="rId5"/>
          <a:stretch>
            <a:fillRect/>
          </a:stretch>
        </p:blipFill>
        <p:spPr>
          <a:xfrm>
            <a:off x="6516303" y="1357911"/>
            <a:ext cx="4653683" cy="328207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507474080"/>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smtClean="0">
                <a:latin typeface="Times New Roman" panose="02020603050405020304" pitchFamily="18" charset="0"/>
                <a:cs typeface="Times New Roman" panose="02020603050405020304" pitchFamily="18" charset="0"/>
              </a:rPr>
              <a:t>Installation Jenkins (Windows)</a:t>
            </a:r>
            <a:endParaRPr lang="fr-FR" altLang="en-US" b="1" dirty="0">
              <a:latin typeface="Times New Roman" panose="02020603050405020304" pitchFamily="18" charset="0"/>
              <a:cs typeface="Times New Roman" panose="02020603050405020304" pitchFamily="18" charset="0"/>
            </a:endParaRPr>
          </a:p>
        </p:txBody>
      </p:sp>
      <p:sp>
        <p:nvSpPr>
          <p:cNvPr id="5" name="Rectangle 4"/>
          <p:cNvSpPr/>
          <p:nvPr/>
        </p:nvSpPr>
        <p:spPr>
          <a:xfrm>
            <a:off x="5195752" y="5158029"/>
            <a:ext cx="1800493" cy="369332"/>
          </a:xfrm>
          <a:prstGeom prst="rect">
            <a:avLst/>
          </a:prstGeom>
        </p:spPr>
        <p:txBody>
          <a:bodyPr wrap="none">
            <a:spAutoFit/>
          </a:bodyPr>
          <a:lstStyle/>
          <a:p>
            <a:r>
              <a:rPr lang="fr-FR" dirty="0" smtClean="0">
                <a:solidFill>
                  <a:srgbClr val="0D0D0D"/>
                </a:solidFill>
                <a:latin typeface="Söhne"/>
              </a:rPr>
              <a:t>Jenkins est prêt</a:t>
            </a:r>
            <a:endParaRPr lang="fr-FR" dirty="0"/>
          </a:p>
        </p:txBody>
      </p:sp>
      <p:pic>
        <p:nvPicPr>
          <p:cNvPr id="4" name="Image 3"/>
          <p:cNvPicPr>
            <a:picLocks noChangeAspect="1"/>
          </p:cNvPicPr>
          <p:nvPr/>
        </p:nvPicPr>
        <p:blipFill>
          <a:blip r:embed="rId4"/>
          <a:stretch>
            <a:fillRect/>
          </a:stretch>
        </p:blipFill>
        <p:spPr>
          <a:xfrm>
            <a:off x="2666521" y="1699971"/>
            <a:ext cx="6858957" cy="3458058"/>
          </a:xfrm>
          <a:prstGeom prst="rect">
            <a:avLst/>
          </a:prstGeom>
        </p:spPr>
      </p:pic>
    </p:spTree>
    <p:extLst>
      <p:ext uri="{BB962C8B-B14F-4D97-AF65-F5344CB8AC3E}">
        <p14:creationId xmlns:p14="http://schemas.microsoft.com/office/powerpoint/2010/main" val="1599647113"/>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1"/>
          <p:cNvSpPr>
            <a:spLocks noGrp="1" noChangeArrowheads="1"/>
          </p:cNvSpPr>
          <p:nvPr>
            <p:ph type="title" idx="4294967295"/>
          </p:nvPr>
        </p:nvSpPr>
        <p:spPr bwMode="auto">
          <a:xfrm>
            <a:off x="3420035" y="2480983"/>
            <a:ext cx="5286935" cy="1320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1" hangingPunct="1">
              <a:lnSpc>
                <a:spcPct val="100000"/>
              </a:lnSpc>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pPr>
            <a:r>
              <a:rPr lang="fr-FR" altLang="en-US" sz="3600" dirty="0" smtClean="0">
                <a:solidFill>
                  <a:srgbClr val="A5300F"/>
                </a:solidFill>
                <a:latin typeface="Times New Roman" panose="02020603050405020304" pitchFamily="18" charset="0"/>
              </a:rPr>
              <a:t>Le premier tour</a:t>
            </a:r>
          </a:p>
        </p:txBody>
      </p:sp>
    </p:spTree>
    <p:extLst>
      <p:ext uri="{BB962C8B-B14F-4D97-AF65-F5344CB8AC3E}">
        <p14:creationId xmlns:p14="http://schemas.microsoft.com/office/powerpoint/2010/main" val="2322666573"/>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smtClean="0">
                <a:latin typeface="Times New Roman" panose="02020603050405020304" pitchFamily="18" charset="0"/>
                <a:cs typeface="Times New Roman" panose="02020603050405020304" pitchFamily="18" charset="0"/>
              </a:rPr>
              <a:t>Le tour de Jenkins</a:t>
            </a:r>
            <a:endParaRPr lang="fr-FR" altLang="en-US" b="1" dirty="0">
              <a:latin typeface="Times New Roman" panose="02020603050405020304" pitchFamily="18" charset="0"/>
              <a:cs typeface="Times New Roman" panose="02020603050405020304" pitchFamily="18" charset="0"/>
            </a:endParaRPr>
          </a:p>
        </p:txBody>
      </p:sp>
      <p:pic>
        <p:nvPicPr>
          <p:cNvPr id="2" name="Image 1"/>
          <p:cNvPicPr>
            <a:picLocks noChangeAspect="1"/>
          </p:cNvPicPr>
          <p:nvPr/>
        </p:nvPicPr>
        <p:blipFill>
          <a:blip r:embed="rId4"/>
          <a:stretch>
            <a:fillRect/>
          </a:stretch>
        </p:blipFill>
        <p:spPr>
          <a:xfrm>
            <a:off x="2176140" y="1099634"/>
            <a:ext cx="7804551" cy="5315223"/>
          </a:xfrm>
          <a:prstGeom prst="rect">
            <a:avLst/>
          </a:prstGeom>
        </p:spPr>
      </p:pic>
      <p:sp>
        <p:nvSpPr>
          <p:cNvPr id="3" name="Ellipse 2"/>
          <p:cNvSpPr/>
          <p:nvPr/>
        </p:nvSpPr>
        <p:spPr>
          <a:xfrm>
            <a:off x="3364523" y="1987062"/>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1</a:t>
            </a:r>
            <a:endParaRPr lang="fr-FR" sz="1400" b="1" dirty="0"/>
          </a:p>
        </p:txBody>
      </p:sp>
      <p:sp>
        <p:nvSpPr>
          <p:cNvPr id="7" name="Ellipse 6"/>
          <p:cNvSpPr/>
          <p:nvPr/>
        </p:nvSpPr>
        <p:spPr>
          <a:xfrm>
            <a:off x="3036277" y="2450436"/>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2</a:t>
            </a:r>
            <a:endParaRPr lang="fr-FR" sz="1400" b="1" dirty="0"/>
          </a:p>
        </p:txBody>
      </p:sp>
      <p:sp>
        <p:nvSpPr>
          <p:cNvPr id="8" name="Ellipse 7"/>
          <p:cNvSpPr/>
          <p:nvPr/>
        </p:nvSpPr>
        <p:spPr>
          <a:xfrm>
            <a:off x="3364523" y="2749687"/>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3</a:t>
            </a:r>
            <a:endParaRPr lang="fr-FR" sz="1400" b="1" dirty="0"/>
          </a:p>
        </p:txBody>
      </p:sp>
      <p:sp>
        <p:nvSpPr>
          <p:cNvPr id="9" name="Ellipse 8"/>
          <p:cNvSpPr/>
          <p:nvPr/>
        </p:nvSpPr>
        <p:spPr>
          <a:xfrm>
            <a:off x="3528646" y="3113103"/>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4</a:t>
            </a:r>
            <a:endParaRPr lang="fr-FR" sz="1400" b="1" dirty="0"/>
          </a:p>
        </p:txBody>
      </p:sp>
      <p:sp>
        <p:nvSpPr>
          <p:cNvPr id="10" name="Ellipse 9"/>
          <p:cNvSpPr/>
          <p:nvPr/>
        </p:nvSpPr>
        <p:spPr>
          <a:xfrm>
            <a:off x="3200400" y="3520709"/>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5</a:t>
            </a:r>
            <a:endParaRPr lang="fr-FR" sz="1400" b="1" dirty="0"/>
          </a:p>
        </p:txBody>
      </p:sp>
      <p:sp>
        <p:nvSpPr>
          <p:cNvPr id="11" name="Ellipse 10"/>
          <p:cNvSpPr/>
          <p:nvPr/>
        </p:nvSpPr>
        <p:spPr>
          <a:xfrm>
            <a:off x="3598984" y="4075021"/>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6</a:t>
            </a:r>
            <a:endParaRPr lang="fr-FR" sz="1400" b="1" dirty="0"/>
          </a:p>
        </p:txBody>
      </p:sp>
      <p:sp>
        <p:nvSpPr>
          <p:cNvPr id="12" name="Ellipse 11"/>
          <p:cNvSpPr/>
          <p:nvPr/>
        </p:nvSpPr>
        <p:spPr>
          <a:xfrm>
            <a:off x="3528646" y="5036939"/>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7</a:t>
            </a:r>
            <a:endParaRPr lang="fr-FR" sz="1400" b="1" dirty="0"/>
          </a:p>
        </p:txBody>
      </p:sp>
      <p:sp>
        <p:nvSpPr>
          <p:cNvPr id="13" name="Ellipse 12"/>
          <p:cNvSpPr/>
          <p:nvPr/>
        </p:nvSpPr>
        <p:spPr>
          <a:xfrm>
            <a:off x="8991600" y="1330570"/>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8</a:t>
            </a:r>
            <a:endParaRPr lang="fr-FR" sz="1400" b="1" dirty="0"/>
          </a:p>
        </p:txBody>
      </p:sp>
      <p:sp>
        <p:nvSpPr>
          <p:cNvPr id="14" name="Ellipse 13"/>
          <p:cNvSpPr/>
          <p:nvPr/>
        </p:nvSpPr>
        <p:spPr>
          <a:xfrm>
            <a:off x="8827477" y="3684832"/>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9</a:t>
            </a:r>
            <a:endParaRPr lang="fr-FR" sz="1400" b="1" dirty="0"/>
          </a:p>
        </p:txBody>
      </p:sp>
      <p:sp>
        <p:nvSpPr>
          <p:cNvPr id="15" name="Ellipse 14"/>
          <p:cNvSpPr/>
          <p:nvPr/>
        </p:nvSpPr>
        <p:spPr>
          <a:xfrm>
            <a:off x="7473462" y="4495801"/>
            <a:ext cx="509954" cy="492368"/>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200" b="1" dirty="0" smtClean="0"/>
              <a:t>10</a:t>
            </a:r>
            <a:endParaRPr lang="fr-FR" sz="1200" b="1" dirty="0"/>
          </a:p>
        </p:txBody>
      </p:sp>
      <p:sp>
        <p:nvSpPr>
          <p:cNvPr id="16" name="Ellipse 15"/>
          <p:cNvSpPr/>
          <p:nvPr/>
        </p:nvSpPr>
        <p:spPr>
          <a:xfrm>
            <a:off x="7649308" y="5036939"/>
            <a:ext cx="509954" cy="492368"/>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200" b="1" dirty="0" smtClean="0"/>
              <a:t>11</a:t>
            </a:r>
            <a:endParaRPr lang="fr-FR" sz="1200" b="1" dirty="0"/>
          </a:p>
        </p:txBody>
      </p:sp>
      <p:sp>
        <p:nvSpPr>
          <p:cNvPr id="17" name="Ellipse 16"/>
          <p:cNvSpPr/>
          <p:nvPr/>
        </p:nvSpPr>
        <p:spPr>
          <a:xfrm>
            <a:off x="7230209" y="5578077"/>
            <a:ext cx="509954" cy="492368"/>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200" b="1" dirty="0" smtClean="0"/>
              <a:t>12</a:t>
            </a:r>
            <a:endParaRPr lang="fr-FR" sz="1200" b="1" dirty="0"/>
          </a:p>
        </p:txBody>
      </p:sp>
      <p:sp>
        <p:nvSpPr>
          <p:cNvPr id="18" name="Ellipse 17"/>
          <p:cNvSpPr/>
          <p:nvPr/>
        </p:nvSpPr>
        <p:spPr>
          <a:xfrm>
            <a:off x="8736623" y="6345969"/>
            <a:ext cx="509954" cy="492368"/>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200" b="1" dirty="0" smtClean="0"/>
              <a:t>13</a:t>
            </a:r>
            <a:endParaRPr lang="fr-FR" sz="1200" b="1" dirty="0"/>
          </a:p>
        </p:txBody>
      </p:sp>
    </p:spTree>
    <p:extLst>
      <p:ext uri="{BB962C8B-B14F-4D97-AF65-F5344CB8AC3E}">
        <p14:creationId xmlns:p14="http://schemas.microsoft.com/office/powerpoint/2010/main" val="3018753977"/>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smtClean="0">
                <a:latin typeface="Times New Roman" panose="02020603050405020304" pitchFamily="18" charset="0"/>
                <a:cs typeface="Times New Roman" panose="02020603050405020304" pitchFamily="18" charset="0"/>
              </a:rPr>
              <a:t>Le tour de Jenkins</a:t>
            </a:r>
            <a:endParaRPr lang="fr-FR" altLang="en-US" b="1" dirty="0">
              <a:latin typeface="Times New Roman" panose="02020603050405020304" pitchFamily="18" charset="0"/>
              <a:cs typeface="Times New Roman" panose="02020603050405020304" pitchFamily="18" charset="0"/>
            </a:endParaRPr>
          </a:p>
        </p:txBody>
      </p:sp>
      <p:sp>
        <p:nvSpPr>
          <p:cNvPr id="3" name="Ellipse 2"/>
          <p:cNvSpPr/>
          <p:nvPr/>
        </p:nvSpPr>
        <p:spPr>
          <a:xfrm>
            <a:off x="609601" y="1170452"/>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1</a:t>
            </a:r>
            <a:endParaRPr lang="fr-FR" sz="1400" b="1" dirty="0"/>
          </a:p>
        </p:txBody>
      </p:sp>
      <p:sp>
        <p:nvSpPr>
          <p:cNvPr id="7" name="Ellipse 6"/>
          <p:cNvSpPr/>
          <p:nvPr/>
        </p:nvSpPr>
        <p:spPr>
          <a:xfrm>
            <a:off x="609601" y="2306119"/>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2</a:t>
            </a:r>
            <a:endParaRPr lang="fr-FR" sz="1400" b="1" dirty="0"/>
          </a:p>
        </p:txBody>
      </p:sp>
      <p:sp>
        <p:nvSpPr>
          <p:cNvPr id="8" name="Ellipse 7"/>
          <p:cNvSpPr/>
          <p:nvPr/>
        </p:nvSpPr>
        <p:spPr>
          <a:xfrm>
            <a:off x="609601" y="3281668"/>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3</a:t>
            </a:r>
            <a:endParaRPr lang="fr-FR" sz="1400" b="1" dirty="0"/>
          </a:p>
        </p:txBody>
      </p:sp>
      <p:sp>
        <p:nvSpPr>
          <p:cNvPr id="9" name="Ellipse 8"/>
          <p:cNvSpPr/>
          <p:nvPr/>
        </p:nvSpPr>
        <p:spPr>
          <a:xfrm>
            <a:off x="609601" y="4331678"/>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4</a:t>
            </a:r>
            <a:endParaRPr lang="fr-FR" sz="1400" b="1" dirty="0"/>
          </a:p>
        </p:txBody>
      </p:sp>
      <p:sp>
        <p:nvSpPr>
          <p:cNvPr id="10" name="Ellipse 9"/>
          <p:cNvSpPr/>
          <p:nvPr/>
        </p:nvSpPr>
        <p:spPr>
          <a:xfrm>
            <a:off x="6027494" y="1170452"/>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5</a:t>
            </a:r>
            <a:endParaRPr lang="fr-FR" sz="1400" b="1" dirty="0"/>
          </a:p>
        </p:txBody>
      </p:sp>
      <p:sp>
        <p:nvSpPr>
          <p:cNvPr id="11" name="Ellipse 10"/>
          <p:cNvSpPr/>
          <p:nvPr/>
        </p:nvSpPr>
        <p:spPr>
          <a:xfrm>
            <a:off x="6027494" y="2312495"/>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6</a:t>
            </a:r>
            <a:endParaRPr lang="fr-FR" sz="1400" b="1" dirty="0"/>
          </a:p>
        </p:txBody>
      </p:sp>
      <p:sp>
        <p:nvSpPr>
          <p:cNvPr id="12" name="Ellipse 11"/>
          <p:cNvSpPr/>
          <p:nvPr/>
        </p:nvSpPr>
        <p:spPr>
          <a:xfrm>
            <a:off x="6027494" y="3315500"/>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7</a:t>
            </a:r>
            <a:endParaRPr lang="fr-FR" sz="1400" b="1" dirty="0"/>
          </a:p>
        </p:txBody>
      </p:sp>
      <p:sp>
        <p:nvSpPr>
          <p:cNvPr id="14" name="Ellipse 13"/>
          <p:cNvSpPr/>
          <p:nvPr/>
        </p:nvSpPr>
        <p:spPr>
          <a:xfrm>
            <a:off x="6027494" y="4295671"/>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9</a:t>
            </a:r>
            <a:endParaRPr lang="fr-FR" sz="1400" b="1" dirty="0"/>
          </a:p>
        </p:txBody>
      </p:sp>
      <p:sp>
        <p:nvSpPr>
          <p:cNvPr id="15" name="Ellipse 14"/>
          <p:cNvSpPr/>
          <p:nvPr/>
        </p:nvSpPr>
        <p:spPr>
          <a:xfrm>
            <a:off x="5936640" y="5039803"/>
            <a:ext cx="509954" cy="492368"/>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200" b="1" dirty="0" smtClean="0"/>
              <a:t>10</a:t>
            </a:r>
            <a:endParaRPr lang="fr-FR" sz="1200" b="1" dirty="0"/>
          </a:p>
        </p:txBody>
      </p:sp>
      <p:sp>
        <p:nvSpPr>
          <p:cNvPr id="4" name="Rectangle 3"/>
          <p:cNvSpPr/>
          <p:nvPr/>
        </p:nvSpPr>
        <p:spPr>
          <a:xfrm>
            <a:off x="1009653" y="1135133"/>
            <a:ext cx="3930160" cy="954107"/>
          </a:xfrm>
          <a:prstGeom prst="rect">
            <a:avLst/>
          </a:prstGeom>
        </p:spPr>
        <p:txBody>
          <a:bodyPr wrap="square">
            <a:spAutoFit/>
          </a:bodyPr>
          <a:lstStyle/>
          <a:p>
            <a:r>
              <a:rPr lang="fr-FR" sz="1400" dirty="0">
                <a:solidFill>
                  <a:srgbClr val="0D0D0D"/>
                </a:solidFill>
                <a:latin typeface="Söhne"/>
              </a:rPr>
              <a:t>La fonctionnalité "New Item" </a:t>
            </a:r>
            <a:r>
              <a:rPr lang="fr-FR" sz="1400" dirty="0" smtClean="0">
                <a:solidFill>
                  <a:srgbClr val="0D0D0D"/>
                </a:solidFill>
                <a:latin typeface="Söhne"/>
              </a:rPr>
              <a:t>permet </a:t>
            </a:r>
            <a:r>
              <a:rPr lang="fr-FR" sz="1400" dirty="0">
                <a:solidFill>
                  <a:srgbClr val="0D0D0D"/>
                </a:solidFill>
                <a:latin typeface="Söhne"/>
              </a:rPr>
              <a:t>de créer de nouveaux éléments dans Jenkins. Ces éléments peuvent être des projets, des travaux, des tâches ou d'autres types d'éléments</a:t>
            </a:r>
            <a:endParaRPr lang="fr-FR" sz="1400" dirty="0"/>
          </a:p>
        </p:txBody>
      </p:sp>
      <p:sp>
        <p:nvSpPr>
          <p:cNvPr id="5" name="Rectangle 4"/>
          <p:cNvSpPr/>
          <p:nvPr/>
        </p:nvSpPr>
        <p:spPr>
          <a:xfrm>
            <a:off x="1009653" y="2312495"/>
            <a:ext cx="3930160" cy="738664"/>
          </a:xfrm>
          <a:prstGeom prst="rect">
            <a:avLst/>
          </a:prstGeom>
        </p:spPr>
        <p:txBody>
          <a:bodyPr wrap="square">
            <a:spAutoFit/>
          </a:bodyPr>
          <a:lstStyle/>
          <a:p>
            <a:r>
              <a:rPr lang="fr-FR" sz="1400" dirty="0">
                <a:solidFill>
                  <a:srgbClr val="0D0D0D"/>
                </a:solidFill>
                <a:latin typeface="Söhne"/>
              </a:rPr>
              <a:t>La fonctionnalité "People" </a:t>
            </a:r>
            <a:r>
              <a:rPr lang="fr-FR" sz="1400" dirty="0" smtClean="0">
                <a:solidFill>
                  <a:srgbClr val="0D0D0D"/>
                </a:solidFill>
                <a:latin typeface="Söhne"/>
              </a:rPr>
              <a:t>permet </a:t>
            </a:r>
            <a:r>
              <a:rPr lang="fr-FR" sz="1400" dirty="0">
                <a:solidFill>
                  <a:srgbClr val="0D0D0D"/>
                </a:solidFill>
                <a:latin typeface="Söhne"/>
              </a:rPr>
              <a:t>de visualiser et de gérer les utilisateurs qui ont accès à votre instance Jenkins</a:t>
            </a:r>
            <a:endParaRPr lang="fr-FR" sz="1400" dirty="0"/>
          </a:p>
        </p:txBody>
      </p:sp>
      <p:sp>
        <p:nvSpPr>
          <p:cNvPr id="6" name="Rectangle 5"/>
          <p:cNvSpPr/>
          <p:nvPr/>
        </p:nvSpPr>
        <p:spPr>
          <a:xfrm>
            <a:off x="1009653" y="3274414"/>
            <a:ext cx="4095508" cy="738664"/>
          </a:xfrm>
          <a:prstGeom prst="rect">
            <a:avLst/>
          </a:prstGeom>
        </p:spPr>
        <p:txBody>
          <a:bodyPr wrap="square">
            <a:spAutoFit/>
          </a:bodyPr>
          <a:lstStyle/>
          <a:p>
            <a:r>
              <a:rPr lang="fr-FR" sz="1400" dirty="0" smtClean="0">
                <a:solidFill>
                  <a:srgbClr val="0D0D0D"/>
                </a:solidFill>
                <a:latin typeface="Söhne"/>
              </a:rPr>
              <a:t>Affiche </a:t>
            </a:r>
            <a:r>
              <a:rPr lang="fr-FR" sz="1400" dirty="0">
                <a:solidFill>
                  <a:srgbClr val="0D0D0D"/>
                </a:solidFill>
                <a:latin typeface="Söhne"/>
              </a:rPr>
              <a:t>une liste chronologique de toutes les constructions (</a:t>
            </a:r>
            <a:r>
              <a:rPr lang="fr-FR" sz="1400" dirty="0" err="1">
                <a:solidFill>
                  <a:srgbClr val="0D0D0D"/>
                </a:solidFill>
                <a:latin typeface="Söhne"/>
              </a:rPr>
              <a:t>builds</a:t>
            </a:r>
            <a:r>
              <a:rPr lang="fr-FR" sz="1400" dirty="0">
                <a:solidFill>
                  <a:srgbClr val="0D0D0D"/>
                </a:solidFill>
                <a:latin typeface="Söhne"/>
              </a:rPr>
              <a:t>) qui ont été exécutées pour un projet spécifique</a:t>
            </a:r>
            <a:endParaRPr lang="fr-FR" sz="1400" dirty="0"/>
          </a:p>
        </p:txBody>
      </p:sp>
      <p:sp>
        <p:nvSpPr>
          <p:cNvPr id="19" name="Rectangle 18"/>
          <p:cNvSpPr/>
          <p:nvPr/>
        </p:nvSpPr>
        <p:spPr>
          <a:xfrm>
            <a:off x="1009653" y="4295671"/>
            <a:ext cx="4832715" cy="1384995"/>
          </a:xfrm>
          <a:prstGeom prst="rect">
            <a:avLst/>
          </a:prstGeom>
        </p:spPr>
        <p:txBody>
          <a:bodyPr wrap="square">
            <a:spAutoFit/>
          </a:bodyPr>
          <a:lstStyle/>
          <a:p>
            <a:r>
              <a:rPr lang="fr-FR" sz="1400" dirty="0">
                <a:solidFill>
                  <a:srgbClr val="0D0D0D"/>
                </a:solidFill>
                <a:latin typeface="Söhne"/>
              </a:rPr>
              <a:t>P</a:t>
            </a:r>
            <a:r>
              <a:rPr lang="fr-FR" sz="1400" dirty="0" smtClean="0">
                <a:solidFill>
                  <a:srgbClr val="0D0D0D"/>
                </a:solidFill>
                <a:latin typeface="Söhne"/>
              </a:rPr>
              <a:t>ermet </a:t>
            </a:r>
            <a:r>
              <a:rPr lang="fr-FR" sz="1400" dirty="0">
                <a:solidFill>
                  <a:srgbClr val="0D0D0D"/>
                </a:solidFill>
                <a:latin typeface="Söhne"/>
              </a:rPr>
              <a:t>aux administrateurs de gérer divers aspects du système Jenkins, tels que la configuration globale, la gestion des utilisateurs, la gestion des plugins, la gestion des nœuds (agents), les outils de sécurité, les notifications, les mises à jour de Jenkins, les journaux système</a:t>
            </a:r>
            <a:endParaRPr lang="fr-FR" sz="1400" dirty="0"/>
          </a:p>
        </p:txBody>
      </p:sp>
      <p:sp>
        <p:nvSpPr>
          <p:cNvPr id="20" name="Rectangle 19"/>
          <p:cNvSpPr/>
          <p:nvPr/>
        </p:nvSpPr>
        <p:spPr>
          <a:xfrm>
            <a:off x="6457768" y="1139289"/>
            <a:ext cx="4450005" cy="954107"/>
          </a:xfrm>
          <a:prstGeom prst="rect">
            <a:avLst/>
          </a:prstGeom>
        </p:spPr>
        <p:txBody>
          <a:bodyPr wrap="square">
            <a:spAutoFit/>
          </a:bodyPr>
          <a:lstStyle/>
          <a:p>
            <a:r>
              <a:rPr lang="fr-FR" sz="1400" dirty="0">
                <a:solidFill>
                  <a:srgbClr val="0D0D0D"/>
                </a:solidFill>
                <a:latin typeface="Söhne"/>
              </a:rPr>
              <a:t>P</a:t>
            </a:r>
            <a:r>
              <a:rPr lang="fr-FR" sz="1400" dirty="0" smtClean="0">
                <a:solidFill>
                  <a:srgbClr val="0D0D0D"/>
                </a:solidFill>
                <a:latin typeface="Söhne"/>
              </a:rPr>
              <a:t>ermet </a:t>
            </a:r>
            <a:r>
              <a:rPr lang="fr-FR" sz="1400" dirty="0">
                <a:solidFill>
                  <a:srgbClr val="0D0D0D"/>
                </a:solidFill>
                <a:latin typeface="Söhne"/>
              </a:rPr>
              <a:t>à un utilisateur de créer des vues personnalisées pour organiser et afficher des projets spécifiques qui lui sont pertinents. Plutôt que de naviguer à travers tous les projets disponibles</a:t>
            </a:r>
            <a:endParaRPr lang="fr-FR" sz="1400" dirty="0"/>
          </a:p>
        </p:txBody>
      </p:sp>
      <p:sp>
        <p:nvSpPr>
          <p:cNvPr id="21" name="Rectangle 20"/>
          <p:cNvSpPr/>
          <p:nvPr/>
        </p:nvSpPr>
        <p:spPr>
          <a:xfrm>
            <a:off x="6457768" y="2311725"/>
            <a:ext cx="4937063" cy="738664"/>
          </a:xfrm>
          <a:prstGeom prst="rect">
            <a:avLst/>
          </a:prstGeom>
        </p:spPr>
        <p:txBody>
          <a:bodyPr wrap="square">
            <a:spAutoFit/>
          </a:bodyPr>
          <a:lstStyle/>
          <a:p>
            <a:r>
              <a:rPr lang="fr-FR" sz="1400" dirty="0">
                <a:solidFill>
                  <a:srgbClr val="0D0D0D"/>
                </a:solidFill>
                <a:latin typeface="Söhne"/>
              </a:rPr>
              <a:t>La file d'attente des constructions maintient un ordre d'exécution basé sur différents critères tels que la priorité de la construction, l'heure d'arrivée dans la file d'attente</a:t>
            </a:r>
            <a:endParaRPr lang="fr-FR" sz="1400" dirty="0"/>
          </a:p>
        </p:txBody>
      </p:sp>
      <p:sp>
        <p:nvSpPr>
          <p:cNvPr id="22" name="Rectangle 21"/>
          <p:cNvSpPr/>
          <p:nvPr/>
        </p:nvSpPr>
        <p:spPr>
          <a:xfrm>
            <a:off x="6505210" y="3281668"/>
            <a:ext cx="4889621" cy="738664"/>
          </a:xfrm>
          <a:prstGeom prst="rect">
            <a:avLst/>
          </a:prstGeom>
        </p:spPr>
        <p:txBody>
          <a:bodyPr wrap="square">
            <a:spAutoFit/>
          </a:bodyPr>
          <a:lstStyle/>
          <a:p>
            <a:r>
              <a:rPr lang="fr-FR" sz="1400" dirty="0">
                <a:solidFill>
                  <a:srgbClr val="0D0D0D"/>
                </a:solidFill>
                <a:latin typeface="Söhne"/>
              </a:rPr>
              <a:t>Il affiche combien </a:t>
            </a:r>
            <a:r>
              <a:rPr lang="fr-FR" sz="1400" dirty="0" smtClean="0">
                <a:solidFill>
                  <a:srgbClr val="0D0D0D"/>
                </a:solidFill>
                <a:latin typeface="Söhne"/>
              </a:rPr>
              <a:t>d'</a:t>
            </a:r>
            <a:r>
              <a:rPr lang="fr-FR" sz="1400" dirty="0" err="1" smtClean="0">
                <a:solidFill>
                  <a:srgbClr val="0D0D0D"/>
                </a:solidFill>
                <a:latin typeface="Söhne"/>
              </a:rPr>
              <a:t>executeurs</a:t>
            </a:r>
            <a:r>
              <a:rPr lang="fr-FR" sz="1400" dirty="0" smtClean="0">
                <a:solidFill>
                  <a:srgbClr val="0D0D0D"/>
                </a:solidFill>
                <a:latin typeface="Söhne"/>
              </a:rPr>
              <a:t> sont </a:t>
            </a:r>
            <a:r>
              <a:rPr lang="fr-FR" sz="1400" dirty="0">
                <a:solidFill>
                  <a:srgbClr val="0D0D0D"/>
                </a:solidFill>
                <a:latin typeface="Söhne"/>
              </a:rPr>
              <a:t>actuellement en cours d'utilisation et combien sont disponibles pour exécuter de nouvelles constructions</a:t>
            </a:r>
            <a:endParaRPr lang="fr-FR" sz="1400" dirty="0"/>
          </a:p>
        </p:txBody>
      </p:sp>
      <p:sp>
        <p:nvSpPr>
          <p:cNvPr id="23" name="Rectangle 22"/>
          <p:cNvSpPr/>
          <p:nvPr/>
        </p:nvSpPr>
        <p:spPr>
          <a:xfrm>
            <a:off x="6457768" y="4274174"/>
            <a:ext cx="5194970" cy="523220"/>
          </a:xfrm>
          <a:prstGeom prst="rect">
            <a:avLst/>
          </a:prstGeom>
        </p:spPr>
        <p:txBody>
          <a:bodyPr wrap="square">
            <a:spAutoFit/>
          </a:bodyPr>
          <a:lstStyle/>
          <a:p>
            <a:r>
              <a:rPr lang="fr-FR" sz="1400" dirty="0" smtClean="0">
                <a:solidFill>
                  <a:srgbClr val="0D0D0D"/>
                </a:solidFill>
                <a:latin typeface="Söhne"/>
              </a:rPr>
              <a:t>Permet </a:t>
            </a:r>
            <a:r>
              <a:rPr lang="fr-FR" sz="1400" dirty="0">
                <a:solidFill>
                  <a:srgbClr val="0D0D0D"/>
                </a:solidFill>
                <a:latin typeface="Söhne"/>
              </a:rPr>
              <a:t>à un utilisateur de définir et de configurer un nouveau projet ou travail</a:t>
            </a:r>
            <a:endParaRPr lang="fr-FR" sz="1400" dirty="0"/>
          </a:p>
        </p:txBody>
      </p:sp>
      <p:sp>
        <p:nvSpPr>
          <p:cNvPr id="24" name="Rectangle 23"/>
          <p:cNvSpPr/>
          <p:nvPr/>
        </p:nvSpPr>
        <p:spPr>
          <a:xfrm>
            <a:off x="6482443" y="5065796"/>
            <a:ext cx="6096000" cy="954107"/>
          </a:xfrm>
          <a:prstGeom prst="rect">
            <a:avLst/>
          </a:prstGeom>
        </p:spPr>
        <p:txBody>
          <a:bodyPr>
            <a:spAutoFit/>
          </a:bodyPr>
          <a:lstStyle/>
          <a:p>
            <a:r>
              <a:rPr lang="fr-FR" sz="1400" dirty="0">
                <a:solidFill>
                  <a:srgbClr val="0D0D0D"/>
                </a:solidFill>
                <a:latin typeface="Söhne"/>
              </a:rPr>
              <a:t>P</a:t>
            </a:r>
            <a:r>
              <a:rPr lang="fr-FR" sz="1400" dirty="0" smtClean="0">
                <a:solidFill>
                  <a:srgbClr val="0D0D0D"/>
                </a:solidFill>
                <a:latin typeface="Söhne"/>
              </a:rPr>
              <a:t>ermet </a:t>
            </a:r>
            <a:r>
              <a:rPr lang="fr-FR" sz="1400" dirty="0">
                <a:solidFill>
                  <a:srgbClr val="0D0D0D"/>
                </a:solidFill>
                <a:latin typeface="Söhne"/>
              </a:rPr>
              <a:t>de connecter un nœud (agent) à votre instance Jenkins afin d'étendre sa capacité de traitement des constructions. Les agents sont des machines distantes ou des environnements virtuels où les constructions Jenkins peuvent être exécutées.</a:t>
            </a:r>
            <a:endParaRPr lang="fr-FR" sz="1400" dirty="0"/>
          </a:p>
        </p:txBody>
      </p:sp>
      <p:sp>
        <p:nvSpPr>
          <p:cNvPr id="25" name="Rectangle 24"/>
          <p:cNvSpPr/>
          <p:nvPr/>
        </p:nvSpPr>
        <p:spPr>
          <a:xfrm>
            <a:off x="609601" y="6133351"/>
            <a:ext cx="4676986" cy="369332"/>
          </a:xfrm>
          <a:prstGeom prst="rect">
            <a:avLst/>
          </a:prstGeom>
        </p:spPr>
        <p:txBody>
          <a:bodyPr wrap="none">
            <a:spAutoFit/>
          </a:bodyPr>
          <a:lstStyle/>
          <a:p>
            <a:r>
              <a:rPr lang="fr-FR" b="1" dirty="0" smtClean="0"/>
              <a:t>La documentation: </a:t>
            </a:r>
            <a:r>
              <a:rPr lang="fr-FR" dirty="0" smtClean="0"/>
              <a:t>https</a:t>
            </a:r>
            <a:r>
              <a:rPr lang="fr-FR" dirty="0"/>
              <a:t>://www.jenkins.io/doc/</a:t>
            </a:r>
          </a:p>
        </p:txBody>
      </p:sp>
    </p:spTree>
    <p:extLst>
      <p:ext uri="{BB962C8B-B14F-4D97-AF65-F5344CB8AC3E}">
        <p14:creationId xmlns:p14="http://schemas.microsoft.com/office/powerpoint/2010/main" val="3164633433"/>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1"/>
          <p:cNvSpPr>
            <a:spLocks noGrp="1" noChangeArrowheads="1"/>
          </p:cNvSpPr>
          <p:nvPr>
            <p:ph type="title" idx="4294967295"/>
          </p:nvPr>
        </p:nvSpPr>
        <p:spPr bwMode="auto">
          <a:xfrm>
            <a:off x="3420035" y="2480983"/>
            <a:ext cx="5286935" cy="1320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1" hangingPunct="1">
              <a:lnSpc>
                <a:spcPct val="100000"/>
              </a:lnSpc>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pPr>
            <a:r>
              <a:rPr lang="fr-FR" altLang="en-US" sz="3600" dirty="0" smtClean="0">
                <a:solidFill>
                  <a:srgbClr val="A5300F"/>
                </a:solidFill>
                <a:latin typeface="Times New Roman" panose="02020603050405020304" pitchFamily="18" charset="0"/>
              </a:rPr>
              <a:t>Post installation </a:t>
            </a:r>
          </a:p>
        </p:txBody>
      </p:sp>
    </p:spTree>
    <p:extLst>
      <p:ext uri="{BB962C8B-B14F-4D97-AF65-F5344CB8AC3E}">
        <p14:creationId xmlns:p14="http://schemas.microsoft.com/office/powerpoint/2010/main" val="1395242292"/>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5302" y="905377"/>
            <a:ext cx="4685213" cy="1323439"/>
          </a:xfrm>
          <a:prstGeom prst="rect">
            <a:avLst/>
          </a:prstGeom>
        </p:spPr>
        <p:txBody>
          <a:bodyPr wrap="square">
            <a:spAutoFit/>
          </a:bodyPr>
          <a:lstStyle/>
          <a:p>
            <a:r>
              <a:rPr lang="fr-FR" sz="1600" b="1" dirty="0">
                <a:solidFill>
                  <a:srgbClr val="0D0D0D"/>
                </a:solidFill>
                <a:latin typeface="Söhne"/>
              </a:rPr>
              <a:t>L</a:t>
            </a:r>
            <a:r>
              <a:rPr lang="fr-FR" sz="1600" b="1" dirty="0" smtClean="0">
                <a:solidFill>
                  <a:srgbClr val="0D0D0D"/>
                </a:solidFill>
                <a:latin typeface="Söhne"/>
              </a:rPr>
              <a:t>a </a:t>
            </a:r>
            <a:r>
              <a:rPr lang="fr-FR" sz="1600" b="1" dirty="0">
                <a:solidFill>
                  <a:srgbClr val="0D0D0D"/>
                </a:solidFill>
                <a:latin typeface="Söhne"/>
              </a:rPr>
              <a:t>sécurité</a:t>
            </a:r>
            <a:r>
              <a:rPr lang="fr-FR" sz="1600" dirty="0">
                <a:solidFill>
                  <a:srgbClr val="0D0D0D"/>
                </a:solidFill>
                <a:latin typeface="Söhne"/>
              </a:rPr>
              <a:t> : Activez l'authentification utilisateur pour sécuriser l'accès à Jenkins. U</a:t>
            </a:r>
            <a:r>
              <a:rPr lang="fr-FR" sz="1600" dirty="0" smtClean="0">
                <a:solidFill>
                  <a:srgbClr val="0D0D0D"/>
                </a:solidFill>
                <a:latin typeface="Söhne"/>
              </a:rPr>
              <a:t>tiliser </a:t>
            </a:r>
            <a:r>
              <a:rPr lang="fr-FR" sz="1600" dirty="0">
                <a:solidFill>
                  <a:srgbClr val="0D0D0D"/>
                </a:solidFill>
                <a:latin typeface="Söhne"/>
              </a:rPr>
              <a:t>l'authentification par mot de passe, l'intégration LDAP, </a:t>
            </a:r>
            <a:r>
              <a:rPr lang="fr-FR" sz="1600" dirty="0" err="1">
                <a:solidFill>
                  <a:srgbClr val="0D0D0D"/>
                </a:solidFill>
                <a:latin typeface="Söhne"/>
              </a:rPr>
              <a:t>OAuth</a:t>
            </a:r>
            <a:r>
              <a:rPr lang="fr-FR" sz="1600" dirty="0">
                <a:solidFill>
                  <a:srgbClr val="0D0D0D"/>
                </a:solidFill>
                <a:latin typeface="Söhne"/>
              </a:rPr>
              <a:t> ou d'autres méthodes selon les besoins de votre organisation</a:t>
            </a:r>
            <a:endParaRPr lang="fr-FR" sz="1600" dirty="0"/>
          </a:p>
        </p:txBody>
      </p:sp>
      <p:sp>
        <p:nvSpPr>
          <p:cNvPr id="5" name="Rectangle 4"/>
          <p:cNvSpPr/>
          <p:nvPr/>
        </p:nvSpPr>
        <p:spPr>
          <a:xfrm>
            <a:off x="375302" y="2462364"/>
            <a:ext cx="5161202" cy="830997"/>
          </a:xfrm>
          <a:prstGeom prst="rect">
            <a:avLst/>
          </a:prstGeom>
        </p:spPr>
        <p:txBody>
          <a:bodyPr wrap="square">
            <a:spAutoFit/>
          </a:bodyPr>
          <a:lstStyle/>
          <a:p>
            <a:r>
              <a:rPr lang="fr-FR" sz="1600" b="1" dirty="0">
                <a:solidFill>
                  <a:srgbClr val="0D0D0D"/>
                </a:solidFill>
                <a:latin typeface="Söhne"/>
              </a:rPr>
              <a:t>Configurer les notifications par e-mail</a:t>
            </a:r>
            <a:r>
              <a:rPr lang="fr-FR" sz="1600" dirty="0">
                <a:solidFill>
                  <a:srgbClr val="0D0D0D"/>
                </a:solidFill>
                <a:latin typeface="Söhne"/>
              </a:rPr>
              <a:t> : </a:t>
            </a:r>
            <a:r>
              <a:rPr lang="fr-FR" sz="1600" dirty="0" smtClean="0">
                <a:solidFill>
                  <a:srgbClr val="0D0D0D"/>
                </a:solidFill>
                <a:latin typeface="Söhne"/>
              </a:rPr>
              <a:t>Configurer </a:t>
            </a:r>
            <a:r>
              <a:rPr lang="fr-FR" sz="1600" dirty="0">
                <a:solidFill>
                  <a:srgbClr val="0D0D0D"/>
                </a:solidFill>
                <a:latin typeface="Söhne"/>
              </a:rPr>
              <a:t>les notifications par e-mail pour recevoir des alertes sur les résultats des constructions</a:t>
            </a:r>
            <a:endParaRPr lang="fr-FR" sz="1600" dirty="0"/>
          </a:p>
        </p:txBody>
      </p:sp>
      <p:sp>
        <p:nvSpPr>
          <p:cNvPr id="6" name="Rectangle 5"/>
          <p:cNvSpPr/>
          <p:nvPr/>
        </p:nvSpPr>
        <p:spPr>
          <a:xfrm>
            <a:off x="375302" y="3564646"/>
            <a:ext cx="5267673" cy="1077218"/>
          </a:xfrm>
          <a:prstGeom prst="rect">
            <a:avLst/>
          </a:prstGeom>
        </p:spPr>
        <p:txBody>
          <a:bodyPr wrap="square">
            <a:spAutoFit/>
          </a:bodyPr>
          <a:lstStyle/>
          <a:p>
            <a:r>
              <a:rPr lang="fr-FR" sz="1600" b="1" dirty="0">
                <a:solidFill>
                  <a:srgbClr val="0D0D0D"/>
                </a:solidFill>
                <a:latin typeface="Söhne"/>
              </a:rPr>
              <a:t>Configurer les agents</a:t>
            </a:r>
            <a:r>
              <a:rPr lang="fr-FR" sz="1600" dirty="0">
                <a:solidFill>
                  <a:srgbClr val="0D0D0D"/>
                </a:solidFill>
                <a:latin typeface="Söhne"/>
              </a:rPr>
              <a:t> : Ajoutez des agents pour étendre les capacités de votre instance Jenkins. Vous pouvez configurer des agents locaux ou des agents distants dans le cloud en fonction de vos besoins</a:t>
            </a:r>
            <a:endParaRPr lang="fr-FR" sz="1600" dirty="0"/>
          </a:p>
        </p:txBody>
      </p:sp>
      <p:sp>
        <p:nvSpPr>
          <p:cNvPr id="7" name="Rectangle 6"/>
          <p:cNvSpPr/>
          <p:nvPr/>
        </p:nvSpPr>
        <p:spPr>
          <a:xfrm>
            <a:off x="6469694" y="861536"/>
            <a:ext cx="4465528" cy="1077218"/>
          </a:xfrm>
          <a:prstGeom prst="rect">
            <a:avLst/>
          </a:prstGeom>
        </p:spPr>
        <p:txBody>
          <a:bodyPr wrap="square">
            <a:spAutoFit/>
          </a:bodyPr>
          <a:lstStyle/>
          <a:p>
            <a:r>
              <a:rPr lang="fr-FR" sz="1600" b="1" dirty="0">
                <a:solidFill>
                  <a:srgbClr val="0D0D0D"/>
                </a:solidFill>
                <a:latin typeface="Söhne"/>
              </a:rPr>
              <a:t>Configurer les outils</a:t>
            </a:r>
            <a:r>
              <a:rPr lang="fr-FR" sz="1600" dirty="0">
                <a:solidFill>
                  <a:srgbClr val="0D0D0D"/>
                </a:solidFill>
                <a:latin typeface="Söhne"/>
              </a:rPr>
              <a:t> : </a:t>
            </a:r>
            <a:r>
              <a:rPr lang="fr-FR" sz="1600" dirty="0" smtClean="0">
                <a:solidFill>
                  <a:srgbClr val="0D0D0D"/>
                </a:solidFill>
                <a:latin typeface="Söhne"/>
              </a:rPr>
              <a:t>Configurer </a:t>
            </a:r>
            <a:r>
              <a:rPr lang="fr-FR" sz="1600" dirty="0">
                <a:solidFill>
                  <a:srgbClr val="0D0D0D"/>
                </a:solidFill>
                <a:latin typeface="Söhne"/>
              </a:rPr>
              <a:t>les outils nécessaires pour vos constructions, tels que </a:t>
            </a:r>
            <a:r>
              <a:rPr lang="fr-FR" sz="1600" dirty="0" err="1">
                <a:solidFill>
                  <a:srgbClr val="0D0D0D"/>
                </a:solidFill>
                <a:latin typeface="Söhne"/>
              </a:rPr>
              <a:t>Maven</a:t>
            </a:r>
            <a:r>
              <a:rPr lang="fr-FR" sz="1600" dirty="0">
                <a:solidFill>
                  <a:srgbClr val="0D0D0D"/>
                </a:solidFill>
                <a:latin typeface="Söhne"/>
              </a:rPr>
              <a:t>, JDK, Git, etc., dans la section "Global </a:t>
            </a:r>
            <a:r>
              <a:rPr lang="fr-FR" sz="1600" dirty="0" err="1">
                <a:solidFill>
                  <a:srgbClr val="0D0D0D"/>
                </a:solidFill>
                <a:latin typeface="Söhne"/>
              </a:rPr>
              <a:t>Tool</a:t>
            </a:r>
            <a:r>
              <a:rPr lang="fr-FR" sz="1600" dirty="0">
                <a:solidFill>
                  <a:srgbClr val="0D0D0D"/>
                </a:solidFill>
                <a:latin typeface="Söhne"/>
              </a:rPr>
              <a:t> Configuration"</a:t>
            </a:r>
            <a:endParaRPr lang="fr-FR" sz="1600" dirty="0"/>
          </a:p>
        </p:txBody>
      </p:sp>
      <p:sp>
        <p:nvSpPr>
          <p:cNvPr id="8" name="Rectangle 7"/>
          <p:cNvSpPr/>
          <p:nvPr/>
        </p:nvSpPr>
        <p:spPr>
          <a:xfrm>
            <a:off x="6544851" y="2487428"/>
            <a:ext cx="5292247" cy="1077218"/>
          </a:xfrm>
          <a:prstGeom prst="rect">
            <a:avLst/>
          </a:prstGeom>
        </p:spPr>
        <p:txBody>
          <a:bodyPr wrap="square">
            <a:spAutoFit/>
          </a:bodyPr>
          <a:lstStyle/>
          <a:p>
            <a:r>
              <a:rPr lang="fr-FR" sz="1600" b="1" dirty="0">
                <a:solidFill>
                  <a:srgbClr val="0D0D0D"/>
                </a:solidFill>
                <a:latin typeface="Söhne"/>
              </a:rPr>
              <a:t>Configurer les paramètres globaux</a:t>
            </a:r>
            <a:r>
              <a:rPr lang="fr-FR" sz="1600" dirty="0">
                <a:solidFill>
                  <a:srgbClr val="0D0D0D"/>
                </a:solidFill>
                <a:latin typeface="Söhne"/>
              </a:rPr>
              <a:t> : </a:t>
            </a:r>
            <a:r>
              <a:rPr lang="fr-FR" sz="1600" dirty="0" smtClean="0">
                <a:solidFill>
                  <a:srgbClr val="0D0D0D"/>
                </a:solidFill>
                <a:latin typeface="Söhne"/>
              </a:rPr>
              <a:t>Configurer </a:t>
            </a:r>
            <a:r>
              <a:rPr lang="fr-FR" sz="1600" dirty="0">
                <a:solidFill>
                  <a:srgbClr val="0D0D0D"/>
                </a:solidFill>
                <a:latin typeface="Söhne"/>
              </a:rPr>
              <a:t>les paramètres globaux de Jenkins tels que l'URL de Jenkins, les notifications administratives, les politiques de sécurité, etc., dans la section "Configure System".</a:t>
            </a:r>
            <a:endParaRPr lang="fr-FR" sz="1600" dirty="0"/>
          </a:p>
        </p:txBody>
      </p:sp>
      <p:sp>
        <p:nvSpPr>
          <p:cNvPr id="9" name="Rectangle 8"/>
          <p:cNvSpPr/>
          <p:nvPr/>
        </p:nvSpPr>
        <p:spPr>
          <a:xfrm>
            <a:off x="6607481" y="3931840"/>
            <a:ext cx="4935252" cy="1077218"/>
          </a:xfrm>
          <a:prstGeom prst="rect">
            <a:avLst/>
          </a:prstGeom>
        </p:spPr>
        <p:txBody>
          <a:bodyPr wrap="square">
            <a:spAutoFit/>
          </a:bodyPr>
          <a:lstStyle/>
          <a:p>
            <a:r>
              <a:rPr lang="fr-FR" sz="1600" b="1" dirty="0">
                <a:solidFill>
                  <a:srgbClr val="0D0D0D"/>
                </a:solidFill>
                <a:latin typeface="Söhne"/>
              </a:rPr>
              <a:t>Configurer les sauvegardes</a:t>
            </a:r>
            <a:r>
              <a:rPr lang="fr-FR" sz="1600" dirty="0">
                <a:solidFill>
                  <a:srgbClr val="0D0D0D"/>
                </a:solidFill>
                <a:latin typeface="Söhne"/>
              </a:rPr>
              <a:t> : </a:t>
            </a:r>
            <a:r>
              <a:rPr lang="fr-FR" sz="1600" dirty="0" smtClean="0">
                <a:solidFill>
                  <a:srgbClr val="0D0D0D"/>
                </a:solidFill>
                <a:latin typeface="Söhne"/>
              </a:rPr>
              <a:t>Mettre </a:t>
            </a:r>
            <a:r>
              <a:rPr lang="fr-FR" sz="1600" dirty="0">
                <a:solidFill>
                  <a:srgbClr val="0D0D0D"/>
                </a:solidFill>
                <a:latin typeface="Söhne"/>
              </a:rPr>
              <a:t>en place un plan de sauvegarde régulier pour sauvegarder </a:t>
            </a:r>
            <a:r>
              <a:rPr lang="fr-FR" sz="1600" dirty="0" smtClean="0">
                <a:solidFill>
                  <a:srgbClr val="0D0D0D"/>
                </a:solidFill>
                <a:latin typeface="Söhne"/>
              </a:rPr>
              <a:t>les </a:t>
            </a:r>
            <a:r>
              <a:rPr lang="fr-FR" sz="1600" dirty="0">
                <a:solidFill>
                  <a:srgbClr val="0D0D0D"/>
                </a:solidFill>
                <a:latin typeface="Söhne"/>
              </a:rPr>
              <a:t>données Jenkins, y compris la configuration, les constructions, les </a:t>
            </a:r>
            <a:r>
              <a:rPr lang="fr-FR" sz="1600" dirty="0" smtClean="0">
                <a:solidFill>
                  <a:srgbClr val="0D0D0D"/>
                </a:solidFill>
                <a:latin typeface="Söhne"/>
              </a:rPr>
              <a:t>plugins</a:t>
            </a:r>
            <a:endParaRPr lang="fr-FR" sz="1600" dirty="0"/>
          </a:p>
        </p:txBody>
      </p:sp>
      <p:sp>
        <p:nvSpPr>
          <p:cNvPr id="10" name="Rectangle 9"/>
          <p:cNvSpPr/>
          <p:nvPr/>
        </p:nvSpPr>
        <p:spPr>
          <a:xfrm>
            <a:off x="383208" y="4852177"/>
            <a:ext cx="4741100" cy="1569660"/>
          </a:xfrm>
          <a:prstGeom prst="rect">
            <a:avLst/>
          </a:prstGeom>
        </p:spPr>
        <p:txBody>
          <a:bodyPr wrap="square">
            <a:spAutoFit/>
          </a:bodyPr>
          <a:lstStyle/>
          <a:p>
            <a:r>
              <a:rPr lang="fr-FR" sz="1600" b="1" dirty="0">
                <a:solidFill>
                  <a:srgbClr val="0D0D0D"/>
                </a:solidFill>
                <a:latin typeface="Söhne"/>
              </a:rPr>
              <a:t>Configurer la surveillance des performances</a:t>
            </a:r>
            <a:r>
              <a:rPr lang="fr-FR" sz="1600" dirty="0">
                <a:solidFill>
                  <a:srgbClr val="0D0D0D"/>
                </a:solidFill>
                <a:latin typeface="Söhne"/>
              </a:rPr>
              <a:t> : </a:t>
            </a:r>
            <a:r>
              <a:rPr lang="fr-FR" sz="1600" dirty="0" smtClean="0">
                <a:solidFill>
                  <a:srgbClr val="0D0D0D"/>
                </a:solidFill>
                <a:latin typeface="Söhne"/>
              </a:rPr>
              <a:t>Surveiller </a:t>
            </a:r>
            <a:r>
              <a:rPr lang="fr-FR" sz="1600" dirty="0">
                <a:solidFill>
                  <a:srgbClr val="0D0D0D"/>
                </a:solidFill>
                <a:latin typeface="Söhne"/>
              </a:rPr>
              <a:t>les performances de </a:t>
            </a:r>
            <a:r>
              <a:rPr lang="fr-FR" sz="1600" dirty="0" smtClean="0">
                <a:solidFill>
                  <a:srgbClr val="0D0D0D"/>
                </a:solidFill>
                <a:latin typeface="Söhne"/>
              </a:rPr>
              <a:t>l'instance </a:t>
            </a:r>
            <a:r>
              <a:rPr lang="fr-FR" sz="1600" dirty="0">
                <a:solidFill>
                  <a:srgbClr val="0D0D0D"/>
                </a:solidFill>
                <a:latin typeface="Söhne"/>
              </a:rPr>
              <a:t>Jenkins en configurant des outils de surveillance des performances et des journaux système pour identifier et résoudre les problèmes de performances</a:t>
            </a:r>
            <a:endParaRPr lang="fr-FR" sz="1600" dirty="0"/>
          </a:p>
        </p:txBody>
      </p:sp>
    </p:spTree>
    <p:extLst>
      <p:ext uri="{BB962C8B-B14F-4D97-AF65-F5344CB8AC3E}">
        <p14:creationId xmlns:p14="http://schemas.microsoft.com/office/powerpoint/2010/main" val="4264349418"/>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68622" y="145049"/>
            <a:ext cx="5161202" cy="338554"/>
          </a:xfrm>
          <a:prstGeom prst="rect">
            <a:avLst/>
          </a:prstGeom>
        </p:spPr>
        <p:txBody>
          <a:bodyPr wrap="square">
            <a:spAutoFit/>
          </a:bodyPr>
          <a:lstStyle/>
          <a:p>
            <a:r>
              <a:rPr lang="fr-FR" sz="1600" b="1" dirty="0">
                <a:solidFill>
                  <a:srgbClr val="0D0D0D"/>
                </a:solidFill>
                <a:latin typeface="Söhne"/>
              </a:rPr>
              <a:t>Configurer les notifications par </a:t>
            </a:r>
            <a:r>
              <a:rPr lang="fr-FR" sz="1600" b="1" dirty="0" smtClean="0">
                <a:solidFill>
                  <a:srgbClr val="0D0D0D"/>
                </a:solidFill>
                <a:latin typeface="Söhne"/>
              </a:rPr>
              <a:t>e-mail</a:t>
            </a:r>
            <a:endParaRPr lang="fr-FR" sz="1600" dirty="0"/>
          </a:p>
        </p:txBody>
      </p:sp>
      <p:pic>
        <p:nvPicPr>
          <p:cNvPr id="4" name="Image 3"/>
          <p:cNvPicPr>
            <a:picLocks noChangeAspect="1"/>
          </p:cNvPicPr>
          <p:nvPr/>
        </p:nvPicPr>
        <p:blipFill>
          <a:blip r:embed="rId3"/>
          <a:stretch>
            <a:fillRect/>
          </a:stretch>
        </p:blipFill>
        <p:spPr>
          <a:xfrm>
            <a:off x="586842" y="1007017"/>
            <a:ext cx="4680351" cy="5335442"/>
          </a:xfrm>
          <a:prstGeom prst="rect">
            <a:avLst/>
          </a:prstGeom>
        </p:spPr>
      </p:pic>
      <p:pic>
        <p:nvPicPr>
          <p:cNvPr id="11" name="Image 10"/>
          <p:cNvPicPr>
            <a:picLocks noChangeAspect="1"/>
          </p:cNvPicPr>
          <p:nvPr/>
        </p:nvPicPr>
        <p:blipFill>
          <a:blip r:embed="rId4"/>
          <a:stretch>
            <a:fillRect/>
          </a:stretch>
        </p:blipFill>
        <p:spPr>
          <a:xfrm>
            <a:off x="6290670" y="249486"/>
            <a:ext cx="4807390" cy="6338570"/>
          </a:xfrm>
          <a:prstGeom prst="rect">
            <a:avLst/>
          </a:prstGeom>
        </p:spPr>
      </p:pic>
      <p:sp>
        <p:nvSpPr>
          <p:cNvPr id="12" name="Ellipse 11"/>
          <p:cNvSpPr/>
          <p:nvPr/>
        </p:nvSpPr>
        <p:spPr>
          <a:xfrm>
            <a:off x="1642195" y="1592492"/>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1</a:t>
            </a:r>
            <a:endParaRPr lang="fr-FR" sz="1400" b="1" dirty="0"/>
          </a:p>
        </p:txBody>
      </p:sp>
      <p:sp>
        <p:nvSpPr>
          <p:cNvPr id="13" name="Ellipse 12"/>
          <p:cNvSpPr/>
          <p:nvPr/>
        </p:nvSpPr>
        <p:spPr>
          <a:xfrm>
            <a:off x="1138584" y="2250019"/>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2</a:t>
            </a:r>
            <a:endParaRPr lang="fr-FR" sz="1400" b="1" dirty="0"/>
          </a:p>
        </p:txBody>
      </p:sp>
      <p:sp>
        <p:nvSpPr>
          <p:cNvPr id="14" name="Ellipse 13"/>
          <p:cNvSpPr/>
          <p:nvPr/>
        </p:nvSpPr>
        <p:spPr>
          <a:xfrm>
            <a:off x="377066" y="2712109"/>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3</a:t>
            </a:r>
            <a:endParaRPr lang="fr-FR" sz="1400" b="1" dirty="0"/>
          </a:p>
        </p:txBody>
      </p:sp>
      <p:sp>
        <p:nvSpPr>
          <p:cNvPr id="15" name="Ellipse 14"/>
          <p:cNvSpPr/>
          <p:nvPr/>
        </p:nvSpPr>
        <p:spPr>
          <a:xfrm>
            <a:off x="1613449" y="4114269"/>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4</a:t>
            </a:r>
            <a:endParaRPr lang="fr-FR" sz="1400" b="1" dirty="0"/>
          </a:p>
        </p:txBody>
      </p:sp>
      <p:sp>
        <p:nvSpPr>
          <p:cNvPr id="16" name="Ellipse 15"/>
          <p:cNvSpPr/>
          <p:nvPr/>
        </p:nvSpPr>
        <p:spPr>
          <a:xfrm>
            <a:off x="7308937" y="842894"/>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5</a:t>
            </a:r>
            <a:endParaRPr lang="fr-FR" sz="1400" b="1" dirty="0"/>
          </a:p>
        </p:txBody>
      </p:sp>
      <p:sp>
        <p:nvSpPr>
          <p:cNvPr id="17" name="Ellipse 16"/>
          <p:cNvSpPr/>
          <p:nvPr/>
        </p:nvSpPr>
        <p:spPr>
          <a:xfrm>
            <a:off x="7637183" y="2712109"/>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6</a:t>
            </a:r>
            <a:endParaRPr lang="fr-FR" sz="1400" b="1" dirty="0"/>
          </a:p>
        </p:txBody>
      </p:sp>
      <p:sp>
        <p:nvSpPr>
          <p:cNvPr id="18" name="Ellipse 17"/>
          <p:cNvSpPr/>
          <p:nvPr/>
        </p:nvSpPr>
        <p:spPr>
          <a:xfrm>
            <a:off x="6898147" y="3510615"/>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7</a:t>
            </a:r>
            <a:endParaRPr lang="fr-FR" sz="1400" b="1" dirty="0"/>
          </a:p>
        </p:txBody>
      </p:sp>
      <p:sp>
        <p:nvSpPr>
          <p:cNvPr id="19" name="Ellipse 18"/>
          <p:cNvSpPr/>
          <p:nvPr/>
        </p:nvSpPr>
        <p:spPr>
          <a:xfrm>
            <a:off x="7726952" y="4126429"/>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8</a:t>
            </a:r>
            <a:endParaRPr lang="fr-FR" sz="1400" b="1" dirty="0"/>
          </a:p>
        </p:txBody>
      </p:sp>
      <p:sp>
        <p:nvSpPr>
          <p:cNvPr id="20" name="Ellipse 19"/>
          <p:cNvSpPr/>
          <p:nvPr/>
        </p:nvSpPr>
        <p:spPr>
          <a:xfrm>
            <a:off x="7801306" y="5679706"/>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9</a:t>
            </a:r>
            <a:endParaRPr lang="fr-FR" sz="1400" b="1" dirty="0"/>
          </a:p>
        </p:txBody>
      </p:sp>
      <p:cxnSp>
        <p:nvCxnSpPr>
          <p:cNvPr id="22" name="Connecteur droit avec flèche 21"/>
          <p:cNvCxnSpPr/>
          <p:nvPr/>
        </p:nvCxnSpPr>
        <p:spPr>
          <a:xfrm>
            <a:off x="10196186" y="5291399"/>
            <a:ext cx="68894" cy="77661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necteur droit avec flèche 22"/>
          <p:cNvCxnSpPr/>
          <p:nvPr/>
        </p:nvCxnSpPr>
        <p:spPr>
          <a:xfrm flipH="1">
            <a:off x="1359074" y="721486"/>
            <a:ext cx="3089753" cy="103512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necteur droit avec flèche 24"/>
          <p:cNvCxnSpPr/>
          <p:nvPr/>
        </p:nvCxnSpPr>
        <p:spPr>
          <a:xfrm>
            <a:off x="4448827" y="721486"/>
            <a:ext cx="1951973" cy="34759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onnecteur droit avec flèche 27"/>
          <p:cNvCxnSpPr/>
          <p:nvPr/>
        </p:nvCxnSpPr>
        <p:spPr>
          <a:xfrm>
            <a:off x="5159961" y="1306961"/>
            <a:ext cx="1479875" cy="236777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onnecteur droit avec flèche 30"/>
          <p:cNvCxnSpPr/>
          <p:nvPr/>
        </p:nvCxnSpPr>
        <p:spPr>
          <a:xfrm flipH="1">
            <a:off x="773105" y="1306961"/>
            <a:ext cx="4386856" cy="105419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Connecteur droit avec flèche 35"/>
          <p:cNvCxnSpPr/>
          <p:nvPr/>
        </p:nvCxnSpPr>
        <p:spPr>
          <a:xfrm>
            <a:off x="4393762" y="721486"/>
            <a:ext cx="2188665" cy="356906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0820807"/>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3"/>
          <a:stretch>
            <a:fillRect/>
          </a:stretch>
        </p:blipFill>
        <p:spPr>
          <a:xfrm>
            <a:off x="262915" y="936529"/>
            <a:ext cx="9373908" cy="4496427"/>
          </a:xfrm>
          <a:prstGeom prst="rect">
            <a:avLst/>
          </a:prstGeom>
        </p:spPr>
      </p:pic>
      <p:sp>
        <p:nvSpPr>
          <p:cNvPr id="12" name="Ellipse 11"/>
          <p:cNvSpPr/>
          <p:nvPr/>
        </p:nvSpPr>
        <p:spPr>
          <a:xfrm>
            <a:off x="1573302" y="2861313"/>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1</a:t>
            </a:r>
            <a:endParaRPr lang="fr-FR" sz="1400" b="1" dirty="0"/>
          </a:p>
        </p:txBody>
      </p:sp>
      <p:sp>
        <p:nvSpPr>
          <p:cNvPr id="13" name="Ellipse 12"/>
          <p:cNvSpPr/>
          <p:nvPr/>
        </p:nvSpPr>
        <p:spPr>
          <a:xfrm>
            <a:off x="4003351" y="3457586"/>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2</a:t>
            </a:r>
            <a:endParaRPr lang="fr-FR" sz="1400" b="1" dirty="0"/>
          </a:p>
        </p:txBody>
      </p:sp>
      <p:cxnSp>
        <p:nvCxnSpPr>
          <p:cNvPr id="4" name="Connecteur droit 3"/>
          <p:cNvCxnSpPr/>
          <p:nvPr/>
        </p:nvCxnSpPr>
        <p:spPr>
          <a:xfrm>
            <a:off x="350729" y="1622121"/>
            <a:ext cx="1550819"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189776" y="176927"/>
            <a:ext cx="5461752" cy="369332"/>
          </a:xfrm>
          <a:prstGeom prst="rect">
            <a:avLst/>
          </a:prstGeom>
        </p:spPr>
        <p:txBody>
          <a:bodyPr wrap="none">
            <a:spAutoFit/>
          </a:bodyPr>
          <a:lstStyle/>
          <a:p>
            <a:r>
              <a:rPr lang="fr-FR" altLang="fr-FR" b="1" dirty="0">
                <a:latin typeface="Times New Roman" panose="02020603050405020304" pitchFamily="18" charset="0"/>
                <a:cs typeface="Times New Roman" panose="02020603050405020304" pitchFamily="18" charset="0"/>
              </a:rPr>
              <a:t>Les actions post installation (Configurations globales)</a:t>
            </a:r>
            <a:endParaRPr lang="fr-FR" alt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0996698"/>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a:blip r:embed="rId3"/>
          <a:stretch>
            <a:fillRect/>
          </a:stretch>
        </p:blipFill>
        <p:spPr>
          <a:xfrm>
            <a:off x="459932" y="662202"/>
            <a:ext cx="4559614" cy="959919"/>
          </a:xfrm>
          <a:prstGeom prst="rect">
            <a:avLst/>
          </a:prstGeom>
        </p:spPr>
      </p:pic>
      <p:sp>
        <p:nvSpPr>
          <p:cNvPr id="6" name="Rectangle 5"/>
          <p:cNvSpPr/>
          <p:nvPr/>
        </p:nvSpPr>
        <p:spPr>
          <a:xfrm>
            <a:off x="5276189" y="662202"/>
            <a:ext cx="6096000" cy="307777"/>
          </a:xfrm>
          <a:prstGeom prst="rect">
            <a:avLst/>
          </a:prstGeom>
        </p:spPr>
        <p:txBody>
          <a:bodyPr>
            <a:spAutoFit/>
          </a:bodyPr>
          <a:lstStyle/>
          <a:p>
            <a:r>
              <a:rPr lang="fr-FR" sz="1400" dirty="0" smtClean="0">
                <a:solidFill>
                  <a:srgbClr val="0D0D0D"/>
                </a:solidFill>
                <a:latin typeface="Söhne"/>
              </a:rPr>
              <a:t>Où Jenkins stocke ces données internes</a:t>
            </a:r>
            <a:endParaRPr lang="fr-FR" sz="1400" dirty="0"/>
          </a:p>
        </p:txBody>
      </p:sp>
      <p:pic>
        <p:nvPicPr>
          <p:cNvPr id="7" name="Image 6"/>
          <p:cNvPicPr>
            <a:picLocks noChangeAspect="1"/>
          </p:cNvPicPr>
          <p:nvPr/>
        </p:nvPicPr>
        <p:blipFill>
          <a:blip r:embed="rId4"/>
          <a:stretch>
            <a:fillRect/>
          </a:stretch>
        </p:blipFill>
        <p:spPr>
          <a:xfrm>
            <a:off x="347518" y="1681448"/>
            <a:ext cx="4612789" cy="1063118"/>
          </a:xfrm>
          <a:prstGeom prst="rect">
            <a:avLst/>
          </a:prstGeom>
        </p:spPr>
      </p:pic>
      <p:sp>
        <p:nvSpPr>
          <p:cNvPr id="24" name="Rectangle 23"/>
          <p:cNvSpPr/>
          <p:nvPr/>
        </p:nvSpPr>
        <p:spPr>
          <a:xfrm>
            <a:off x="5276189" y="1735265"/>
            <a:ext cx="6096000" cy="523220"/>
          </a:xfrm>
          <a:prstGeom prst="rect">
            <a:avLst/>
          </a:prstGeom>
        </p:spPr>
        <p:txBody>
          <a:bodyPr>
            <a:spAutoFit/>
          </a:bodyPr>
          <a:lstStyle/>
          <a:p>
            <a:r>
              <a:rPr lang="fr-FR" sz="1400" dirty="0" smtClean="0">
                <a:solidFill>
                  <a:srgbClr val="0D0D0D"/>
                </a:solidFill>
                <a:latin typeface="Söhne"/>
              </a:rPr>
              <a:t>Un message qui s'affiche au niveau de la page principale de Jenkins pour</a:t>
            </a:r>
          </a:p>
          <a:p>
            <a:r>
              <a:rPr lang="fr-FR" sz="1400" dirty="0" smtClean="0">
                <a:solidFill>
                  <a:srgbClr val="0D0D0D"/>
                </a:solidFill>
                <a:latin typeface="Söhne"/>
              </a:rPr>
              <a:t>communiquer des informations</a:t>
            </a:r>
            <a:endParaRPr lang="fr-FR" sz="1400" dirty="0"/>
          </a:p>
        </p:txBody>
      </p:sp>
      <p:pic>
        <p:nvPicPr>
          <p:cNvPr id="8" name="Image 7"/>
          <p:cNvPicPr>
            <a:picLocks noChangeAspect="1"/>
          </p:cNvPicPr>
          <p:nvPr/>
        </p:nvPicPr>
        <p:blipFill>
          <a:blip r:embed="rId5"/>
          <a:stretch>
            <a:fillRect/>
          </a:stretch>
        </p:blipFill>
        <p:spPr>
          <a:xfrm>
            <a:off x="250411" y="2819966"/>
            <a:ext cx="2489328" cy="958899"/>
          </a:xfrm>
          <a:prstGeom prst="rect">
            <a:avLst/>
          </a:prstGeom>
        </p:spPr>
      </p:pic>
      <p:sp>
        <p:nvSpPr>
          <p:cNvPr id="26" name="Rectangle 25"/>
          <p:cNvSpPr/>
          <p:nvPr/>
        </p:nvSpPr>
        <p:spPr>
          <a:xfrm>
            <a:off x="5276189" y="3108953"/>
            <a:ext cx="6096000" cy="307777"/>
          </a:xfrm>
          <a:prstGeom prst="rect">
            <a:avLst/>
          </a:prstGeom>
        </p:spPr>
        <p:txBody>
          <a:bodyPr>
            <a:spAutoFit/>
          </a:bodyPr>
          <a:lstStyle/>
          <a:p>
            <a:r>
              <a:rPr lang="fr-FR" sz="1400" dirty="0" smtClean="0">
                <a:solidFill>
                  <a:srgbClr val="0D0D0D"/>
                </a:solidFill>
                <a:latin typeface="Söhne"/>
              </a:rPr>
              <a:t>Le nombre d' exécuteurs sous l'agent qui fait partie du nœud courant</a:t>
            </a:r>
            <a:endParaRPr lang="fr-FR" sz="1400" dirty="0"/>
          </a:p>
        </p:txBody>
      </p:sp>
      <p:sp>
        <p:nvSpPr>
          <p:cNvPr id="32" name="Rectangle 31"/>
          <p:cNvSpPr/>
          <p:nvPr/>
        </p:nvSpPr>
        <p:spPr>
          <a:xfrm>
            <a:off x="189776" y="176927"/>
            <a:ext cx="5461752" cy="369332"/>
          </a:xfrm>
          <a:prstGeom prst="rect">
            <a:avLst/>
          </a:prstGeom>
        </p:spPr>
        <p:txBody>
          <a:bodyPr wrap="none">
            <a:spAutoFit/>
          </a:bodyPr>
          <a:lstStyle/>
          <a:p>
            <a:r>
              <a:rPr lang="fr-FR" altLang="fr-FR" b="1" dirty="0">
                <a:latin typeface="Times New Roman" panose="02020603050405020304" pitchFamily="18" charset="0"/>
                <a:cs typeface="Times New Roman" panose="02020603050405020304" pitchFamily="18" charset="0"/>
              </a:rPr>
              <a:t>Les actions post installation (Configurations globales)</a:t>
            </a:r>
            <a:endParaRPr lang="fr-FR" alt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30829434"/>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 9"/>
          <p:cNvPicPr>
            <a:picLocks noChangeAspect="1"/>
          </p:cNvPicPr>
          <p:nvPr/>
        </p:nvPicPr>
        <p:blipFill>
          <a:blip r:embed="rId3"/>
          <a:stretch>
            <a:fillRect/>
          </a:stretch>
        </p:blipFill>
        <p:spPr>
          <a:xfrm>
            <a:off x="168622" y="733032"/>
            <a:ext cx="1555830" cy="711237"/>
          </a:xfrm>
          <a:prstGeom prst="rect">
            <a:avLst/>
          </a:prstGeom>
        </p:spPr>
      </p:pic>
      <p:sp>
        <p:nvSpPr>
          <p:cNvPr id="21" name="Rectangle 20"/>
          <p:cNvSpPr/>
          <p:nvPr/>
        </p:nvSpPr>
        <p:spPr>
          <a:xfrm>
            <a:off x="5329824" y="838224"/>
            <a:ext cx="6096000" cy="738664"/>
          </a:xfrm>
          <a:prstGeom prst="rect">
            <a:avLst/>
          </a:prstGeom>
        </p:spPr>
        <p:txBody>
          <a:bodyPr>
            <a:spAutoFit/>
          </a:bodyPr>
          <a:lstStyle/>
          <a:p>
            <a:r>
              <a:rPr lang="fr-FR" sz="1400" dirty="0">
                <a:solidFill>
                  <a:srgbClr val="0D0D0D"/>
                </a:solidFill>
                <a:latin typeface="Söhne"/>
              </a:rPr>
              <a:t>Le paramètre "Labels" dans Jenkins est utilisé pour spécifier des étiquettes (labels) qui peuvent être associées à des nœuds (agents) dans un environnement Jenkins distribué</a:t>
            </a:r>
            <a:endParaRPr lang="fr-FR" sz="1400" dirty="0"/>
          </a:p>
        </p:txBody>
      </p:sp>
      <p:sp>
        <p:nvSpPr>
          <p:cNvPr id="27" name="Rectangle 26"/>
          <p:cNvSpPr/>
          <p:nvPr/>
        </p:nvSpPr>
        <p:spPr>
          <a:xfrm>
            <a:off x="5329824" y="1695885"/>
            <a:ext cx="6096000" cy="738664"/>
          </a:xfrm>
          <a:prstGeom prst="rect">
            <a:avLst/>
          </a:prstGeom>
        </p:spPr>
        <p:txBody>
          <a:bodyPr>
            <a:spAutoFit/>
          </a:bodyPr>
          <a:lstStyle/>
          <a:p>
            <a:r>
              <a:rPr lang="fr-FR" sz="1400" b="1" dirty="0">
                <a:solidFill>
                  <a:srgbClr val="0D0D0D"/>
                </a:solidFill>
                <a:latin typeface="Söhne"/>
              </a:rPr>
              <a:t>Distribution des tâches</a:t>
            </a:r>
            <a:r>
              <a:rPr lang="fr-FR" sz="1400" dirty="0">
                <a:solidFill>
                  <a:srgbClr val="0D0D0D"/>
                </a:solidFill>
                <a:latin typeface="Söhne"/>
              </a:rPr>
              <a:t> : En associant des étiquettes spécifiques à différents nœuds, </a:t>
            </a:r>
            <a:r>
              <a:rPr lang="fr-FR" sz="1400" dirty="0" smtClean="0">
                <a:solidFill>
                  <a:srgbClr val="0D0D0D"/>
                </a:solidFill>
                <a:latin typeface="Söhne"/>
              </a:rPr>
              <a:t>il est  possible contrôler </a:t>
            </a:r>
            <a:r>
              <a:rPr lang="fr-FR" sz="1400" dirty="0">
                <a:solidFill>
                  <a:srgbClr val="0D0D0D"/>
                </a:solidFill>
                <a:latin typeface="Söhne"/>
              </a:rPr>
              <a:t>sur quels nœuds les tâches de construction sont exécutées</a:t>
            </a:r>
            <a:endParaRPr lang="fr-FR" sz="1400" dirty="0"/>
          </a:p>
        </p:txBody>
      </p:sp>
      <p:sp>
        <p:nvSpPr>
          <p:cNvPr id="2" name="Rectangle 1"/>
          <p:cNvSpPr/>
          <p:nvPr/>
        </p:nvSpPr>
        <p:spPr>
          <a:xfrm>
            <a:off x="5329824" y="2545519"/>
            <a:ext cx="6096000" cy="954107"/>
          </a:xfrm>
          <a:prstGeom prst="rect">
            <a:avLst/>
          </a:prstGeom>
        </p:spPr>
        <p:txBody>
          <a:bodyPr>
            <a:spAutoFit/>
          </a:bodyPr>
          <a:lstStyle/>
          <a:p>
            <a:r>
              <a:rPr lang="fr-FR" sz="1400" b="1" dirty="0">
                <a:solidFill>
                  <a:srgbClr val="0D0D0D"/>
                </a:solidFill>
                <a:latin typeface="Söhne"/>
              </a:rPr>
              <a:t>Personnalisation des configurations de construction</a:t>
            </a:r>
            <a:r>
              <a:rPr lang="fr-FR" sz="1400" dirty="0">
                <a:solidFill>
                  <a:srgbClr val="0D0D0D"/>
                </a:solidFill>
                <a:latin typeface="Söhne"/>
              </a:rPr>
              <a:t> : S</a:t>
            </a:r>
            <a:r>
              <a:rPr lang="fr-FR" sz="1400" dirty="0" smtClean="0">
                <a:solidFill>
                  <a:srgbClr val="0D0D0D"/>
                </a:solidFill>
                <a:latin typeface="Söhne"/>
              </a:rPr>
              <a:t>pécifier </a:t>
            </a:r>
            <a:r>
              <a:rPr lang="fr-FR" sz="1400" dirty="0">
                <a:solidFill>
                  <a:srgbClr val="0D0D0D"/>
                </a:solidFill>
                <a:latin typeface="Söhne"/>
              </a:rPr>
              <a:t>des configurations de construction spécifiques. Par exemple, </a:t>
            </a:r>
            <a:r>
              <a:rPr lang="fr-FR" sz="1400" dirty="0" smtClean="0">
                <a:solidFill>
                  <a:srgbClr val="0D0D0D"/>
                </a:solidFill>
                <a:latin typeface="Söhne"/>
              </a:rPr>
              <a:t>avoir </a:t>
            </a:r>
            <a:r>
              <a:rPr lang="fr-FR" sz="1400" dirty="0">
                <a:solidFill>
                  <a:srgbClr val="0D0D0D"/>
                </a:solidFill>
                <a:latin typeface="Söhne"/>
              </a:rPr>
              <a:t>des nœuds étiquetés "High-Memory" ou "GPU" pour exécuter des tâches qui nécessitent beaucoup de mémoire ou des calculs parallèles</a:t>
            </a:r>
            <a:endParaRPr lang="fr-FR" sz="1400" dirty="0"/>
          </a:p>
        </p:txBody>
      </p:sp>
      <p:pic>
        <p:nvPicPr>
          <p:cNvPr id="9" name="Image 8"/>
          <p:cNvPicPr>
            <a:picLocks noChangeAspect="1"/>
          </p:cNvPicPr>
          <p:nvPr/>
        </p:nvPicPr>
        <p:blipFill>
          <a:blip r:embed="rId4"/>
          <a:stretch>
            <a:fillRect/>
          </a:stretch>
        </p:blipFill>
        <p:spPr>
          <a:xfrm>
            <a:off x="217302" y="3629336"/>
            <a:ext cx="4680191" cy="1378021"/>
          </a:xfrm>
          <a:prstGeom prst="rect">
            <a:avLst/>
          </a:prstGeom>
        </p:spPr>
      </p:pic>
      <p:sp>
        <p:nvSpPr>
          <p:cNvPr id="11" name="Rectangle 10"/>
          <p:cNvSpPr/>
          <p:nvPr/>
        </p:nvSpPr>
        <p:spPr>
          <a:xfrm>
            <a:off x="5329824" y="3952065"/>
            <a:ext cx="3241593" cy="307777"/>
          </a:xfrm>
          <a:prstGeom prst="rect">
            <a:avLst/>
          </a:prstGeom>
        </p:spPr>
        <p:txBody>
          <a:bodyPr wrap="none">
            <a:spAutoFit/>
          </a:bodyPr>
          <a:lstStyle/>
          <a:p>
            <a:r>
              <a:rPr lang="fr-FR" sz="1400" dirty="0" smtClean="0">
                <a:solidFill>
                  <a:srgbClr val="0D0D0D"/>
                </a:solidFill>
                <a:latin typeface="Söhne"/>
              </a:rPr>
              <a:t>La fréquence d'utilisation de ce nœud </a:t>
            </a:r>
            <a:endParaRPr lang="fr-FR" sz="1400" dirty="0"/>
          </a:p>
        </p:txBody>
      </p:sp>
      <p:pic>
        <p:nvPicPr>
          <p:cNvPr id="12" name="Image 11"/>
          <p:cNvPicPr>
            <a:picLocks noChangeAspect="1"/>
          </p:cNvPicPr>
          <p:nvPr/>
        </p:nvPicPr>
        <p:blipFill>
          <a:blip r:embed="rId5"/>
          <a:stretch>
            <a:fillRect/>
          </a:stretch>
        </p:blipFill>
        <p:spPr>
          <a:xfrm>
            <a:off x="217302" y="5155091"/>
            <a:ext cx="2248016" cy="819192"/>
          </a:xfrm>
          <a:prstGeom prst="rect">
            <a:avLst/>
          </a:prstGeom>
        </p:spPr>
      </p:pic>
      <p:sp>
        <p:nvSpPr>
          <p:cNvPr id="13" name="Rectangle 12"/>
          <p:cNvSpPr/>
          <p:nvPr/>
        </p:nvSpPr>
        <p:spPr>
          <a:xfrm>
            <a:off x="5329824" y="5397385"/>
            <a:ext cx="6096000" cy="738664"/>
          </a:xfrm>
          <a:prstGeom prst="rect">
            <a:avLst/>
          </a:prstGeom>
        </p:spPr>
        <p:txBody>
          <a:bodyPr>
            <a:spAutoFit/>
          </a:bodyPr>
          <a:lstStyle/>
          <a:p>
            <a:r>
              <a:rPr lang="fr-FR" sz="1400" dirty="0" smtClean="0">
                <a:latin typeface="Söhne"/>
              </a:rPr>
              <a:t>Fait </a:t>
            </a:r>
            <a:r>
              <a:rPr lang="fr-FR" sz="1400" dirty="0">
                <a:latin typeface="Söhne"/>
              </a:rPr>
              <a:t>référence à une période de temps spécifiée pendant laquelle Jenkins attend avant de commencer à construire un job après qu'une déclenchement</a:t>
            </a:r>
            <a:endParaRPr lang="fr-FR" sz="1400" dirty="0"/>
          </a:p>
        </p:txBody>
      </p:sp>
      <p:sp>
        <p:nvSpPr>
          <p:cNvPr id="18" name="Rectangle 17"/>
          <p:cNvSpPr/>
          <p:nvPr/>
        </p:nvSpPr>
        <p:spPr>
          <a:xfrm>
            <a:off x="189776" y="176927"/>
            <a:ext cx="5461752" cy="369332"/>
          </a:xfrm>
          <a:prstGeom prst="rect">
            <a:avLst/>
          </a:prstGeom>
        </p:spPr>
        <p:txBody>
          <a:bodyPr wrap="none">
            <a:spAutoFit/>
          </a:bodyPr>
          <a:lstStyle/>
          <a:p>
            <a:r>
              <a:rPr lang="fr-FR" altLang="fr-FR" b="1" dirty="0">
                <a:latin typeface="Times New Roman" panose="02020603050405020304" pitchFamily="18" charset="0"/>
                <a:cs typeface="Times New Roman" panose="02020603050405020304" pitchFamily="18" charset="0"/>
              </a:rPr>
              <a:t>Les actions post installation (Configurations globales)</a:t>
            </a:r>
            <a:endParaRPr lang="fr-FR" alt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9810221"/>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a:blip r:embed="rId3"/>
          <a:stretch>
            <a:fillRect/>
          </a:stretch>
        </p:blipFill>
        <p:spPr>
          <a:xfrm>
            <a:off x="259895" y="658160"/>
            <a:ext cx="2489328" cy="831893"/>
          </a:xfrm>
          <a:prstGeom prst="rect">
            <a:avLst/>
          </a:prstGeom>
        </p:spPr>
      </p:pic>
      <p:sp>
        <p:nvSpPr>
          <p:cNvPr id="4" name="Rectangle 3"/>
          <p:cNvSpPr/>
          <p:nvPr/>
        </p:nvSpPr>
        <p:spPr>
          <a:xfrm>
            <a:off x="3260942" y="905278"/>
            <a:ext cx="8294318" cy="584775"/>
          </a:xfrm>
          <a:prstGeom prst="rect">
            <a:avLst/>
          </a:prstGeom>
        </p:spPr>
        <p:txBody>
          <a:bodyPr wrap="square">
            <a:spAutoFit/>
          </a:bodyPr>
          <a:lstStyle/>
          <a:p>
            <a:r>
              <a:rPr lang="fr-FR" sz="1600" dirty="0" smtClean="0">
                <a:solidFill>
                  <a:srgbClr val="0D0D0D"/>
                </a:solidFill>
                <a:latin typeface="Söhne"/>
              </a:rPr>
              <a:t>Contrôle </a:t>
            </a:r>
            <a:r>
              <a:rPr lang="fr-FR" sz="1600" dirty="0">
                <a:solidFill>
                  <a:srgbClr val="0D0D0D"/>
                </a:solidFill>
                <a:latin typeface="Söhne"/>
              </a:rPr>
              <a:t>le nombre de tentatives de récupération du code source (</a:t>
            </a:r>
            <a:r>
              <a:rPr lang="fr-FR" sz="1600" dirty="0" err="1">
                <a:solidFill>
                  <a:srgbClr val="0D0D0D"/>
                </a:solidFill>
                <a:latin typeface="Söhne"/>
              </a:rPr>
              <a:t>checkout</a:t>
            </a:r>
            <a:r>
              <a:rPr lang="fr-FR" sz="1600" dirty="0">
                <a:solidFill>
                  <a:srgbClr val="0D0D0D"/>
                </a:solidFill>
                <a:latin typeface="Söhne"/>
              </a:rPr>
              <a:t>) à partir du système de contrôle de version (SCM) en cas d'échec initial</a:t>
            </a:r>
            <a:endParaRPr lang="fr-FR" sz="1600" dirty="0"/>
          </a:p>
        </p:txBody>
      </p:sp>
      <p:pic>
        <p:nvPicPr>
          <p:cNvPr id="6" name="Image 5"/>
          <p:cNvPicPr>
            <a:picLocks noChangeAspect="1"/>
          </p:cNvPicPr>
          <p:nvPr/>
        </p:nvPicPr>
        <p:blipFill>
          <a:blip r:embed="rId4"/>
          <a:stretch>
            <a:fillRect/>
          </a:stretch>
        </p:blipFill>
        <p:spPr>
          <a:xfrm>
            <a:off x="259895" y="1758556"/>
            <a:ext cx="2054748" cy="440303"/>
          </a:xfrm>
          <a:prstGeom prst="rect">
            <a:avLst/>
          </a:prstGeom>
        </p:spPr>
      </p:pic>
      <p:sp>
        <p:nvSpPr>
          <p:cNvPr id="7" name="Rectangle 6"/>
          <p:cNvSpPr/>
          <p:nvPr/>
        </p:nvSpPr>
        <p:spPr>
          <a:xfrm>
            <a:off x="3260942" y="1821186"/>
            <a:ext cx="6096000" cy="584775"/>
          </a:xfrm>
          <a:prstGeom prst="rect">
            <a:avLst/>
          </a:prstGeom>
        </p:spPr>
        <p:txBody>
          <a:bodyPr>
            <a:spAutoFit/>
          </a:bodyPr>
          <a:lstStyle/>
          <a:p>
            <a:r>
              <a:rPr lang="fr-FR" sz="1600" dirty="0" smtClean="0">
                <a:solidFill>
                  <a:srgbClr val="0D0D0D"/>
                </a:solidFill>
                <a:latin typeface="Söhne"/>
              </a:rPr>
              <a:t>Permet </a:t>
            </a:r>
            <a:r>
              <a:rPr lang="fr-FR" sz="1600" dirty="0">
                <a:solidFill>
                  <a:srgbClr val="0D0D0D"/>
                </a:solidFill>
                <a:latin typeface="Söhne"/>
              </a:rPr>
              <a:t>de définir des règles pour restreindre les noms des projets créés dans Jenkins</a:t>
            </a:r>
            <a:endParaRPr lang="fr-FR" sz="1600" dirty="0"/>
          </a:p>
        </p:txBody>
      </p:sp>
      <p:pic>
        <p:nvPicPr>
          <p:cNvPr id="8" name="Image 7"/>
          <p:cNvPicPr>
            <a:picLocks noChangeAspect="1"/>
          </p:cNvPicPr>
          <p:nvPr/>
        </p:nvPicPr>
        <p:blipFill>
          <a:blip r:embed="rId5"/>
          <a:stretch>
            <a:fillRect/>
          </a:stretch>
        </p:blipFill>
        <p:spPr>
          <a:xfrm>
            <a:off x="335184" y="1821186"/>
            <a:ext cx="2813891" cy="2169943"/>
          </a:xfrm>
          <a:prstGeom prst="rect">
            <a:avLst/>
          </a:prstGeom>
        </p:spPr>
      </p:pic>
      <p:pic>
        <p:nvPicPr>
          <p:cNvPr id="14" name="Image 13"/>
          <p:cNvPicPr>
            <a:picLocks noChangeAspect="1"/>
          </p:cNvPicPr>
          <p:nvPr/>
        </p:nvPicPr>
        <p:blipFill>
          <a:blip r:embed="rId6"/>
          <a:stretch>
            <a:fillRect/>
          </a:stretch>
        </p:blipFill>
        <p:spPr>
          <a:xfrm>
            <a:off x="458375" y="4322262"/>
            <a:ext cx="3321221" cy="1555830"/>
          </a:xfrm>
          <a:prstGeom prst="rect">
            <a:avLst/>
          </a:prstGeom>
        </p:spPr>
      </p:pic>
      <p:sp>
        <p:nvSpPr>
          <p:cNvPr id="15" name="Rectangle 14"/>
          <p:cNvSpPr/>
          <p:nvPr/>
        </p:nvSpPr>
        <p:spPr>
          <a:xfrm>
            <a:off x="3893507" y="4601268"/>
            <a:ext cx="6096000" cy="738664"/>
          </a:xfrm>
          <a:prstGeom prst="rect">
            <a:avLst/>
          </a:prstGeom>
        </p:spPr>
        <p:txBody>
          <a:bodyPr>
            <a:spAutoFit/>
          </a:bodyPr>
          <a:lstStyle/>
          <a:p>
            <a:r>
              <a:rPr lang="fr-FR" sz="1400" dirty="0">
                <a:solidFill>
                  <a:srgbClr val="0D0D0D"/>
                </a:solidFill>
                <a:latin typeface="Söhne"/>
              </a:rPr>
              <a:t>Lorsqu'un projet est construit sur un nœud Jenkins, Jenkins peut avoir besoin de nettoyer ou d'effacer certains fichiers ou répertoires temporaires ou obsolètes avant de commencer une nouvelle construction</a:t>
            </a:r>
            <a:endParaRPr lang="fr-FR" sz="1400" dirty="0"/>
          </a:p>
        </p:txBody>
      </p:sp>
      <p:sp>
        <p:nvSpPr>
          <p:cNvPr id="18" name="Rectangle 17"/>
          <p:cNvSpPr/>
          <p:nvPr/>
        </p:nvSpPr>
        <p:spPr>
          <a:xfrm>
            <a:off x="189776" y="176927"/>
            <a:ext cx="5461752" cy="369332"/>
          </a:xfrm>
          <a:prstGeom prst="rect">
            <a:avLst/>
          </a:prstGeom>
        </p:spPr>
        <p:txBody>
          <a:bodyPr wrap="none">
            <a:spAutoFit/>
          </a:bodyPr>
          <a:lstStyle/>
          <a:p>
            <a:r>
              <a:rPr lang="fr-FR" altLang="fr-FR" b="1" dirty="0">
                <a:latin typeface="Times New Roman" panose="02020603050405020304" pitchFamily="18" charset="0"/>
                <a:cs typeface="Times New Roman" panose="02020603050405020304" pitchFamily="18" charset="0"/>
              </a:rPr>
              <a:t>Les actions post installation (Configurations globales)</a:t>
            </a:r>
            <a:endParaRPr lang="fr-FR" alt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5371531"/>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Image 13"/>
          <p:cNvPicPr>
            <a:picLocks noChangeAspect="1"/>
          </p:cNvPicPr>
          <p:nvPr/>
        </p:nvPicPr>
        <p:blipFill>
          <a:blip r:embed="rId3"/>
          <a:stretch>
            <a:fillRect/>
          </a:stretch>
        </p:blipFill>
        <p:spPr>
          <a:xfrm>
            <a:off x="295537" y="739818"/>
            <a:ext cx="3321221" cy="1555830"/>
          </a:xfrm>
          <a:prstGeom prst="rect">
            <a:avLst/>
          </a:prstGeom>
        </p:spPr>
      </p:pic>
      <p:pic>
        <p:nvPicPr>
          <p:cNvPr id="2" name="Image 1"/>
          <p:cNvPicPr>
            <a:picLocks noChangeAspect="1"/>
          </p:cNvPicPr>
          <p:nvPr/>
        </p:nvPicPr>
        <p:blipFill>
          <a:blip r:embed="rId4"/>
          <a:stretch>
            <a:fillRect/>
          </a:stretch>
        </p:blipFill>
        <p:spPr>
          <a:xfrm>
            <a:off x="5918326" y="611860"/>
            <a:ext cx="3524431" cy="3467278"/>
          </a:xfrm>
          <a:prstGeom prst="rect">
            <a:avLst/>
          </a:prstGeom>
        </p:spPr>
      </p:pic>
      <p:cxnSp>
        <p:nvCxnSpPr>
          <p:cNvPr id="11" name="Connecteur droit avec flèche 10"/>
          <p:cNvCxnSpPr/>
          <p:nvPr/>
        </p:nvCxnSpPr>
        <p:spPr>
          <a:xfrm>
            <a:off x="3281819" y="1565753"/>
            <a:ext cx="2636507"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2" name="Image 11"/>
          <p:cNvPicPr>
            <a:picLocks noChangeAspect="1"/>
          </p:cNvPicPr>
          <p:nvPr/>
        </p:nvPicPr>
        <p:blipFill>
          <a:blip r:embed="rId5"/>
          <a:stretch>
            <a:fillRect/>
          </a:stretch>
        </p:blipFill>
        <p:spPr>
          <a:xfrm>
            <a:off x="168622" y="4079138"/>
            <a:ext cx="3063051" cy="2096488"/>
          </a:xfrm>
          <a:prstGeom prst="rect">
            <a:avLst/>
          </a:prstGeom>
        </p:spPr>
      </p:pic>
      <p:cxnSp>
        <p:nvCxnSpPr>
          <p:cNvPr id="16" name="Connecteur droit avec flèche 15"/>
          <p:cNvCxnSpPr>
            <a:endCxn id="12" idx="0"/>
          </p:cNvCxnSpPr>
          <p:nvPr/>
        </p:nvCxnSpPr>
        <p:spPr>
          <a:xfrm>
            <a:off x="1700147" y="2430049"/>
            <a:ext cx="1" cy="164908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3616758" y="4386107"/>
            <a:ext cx="6096000" cy="523220"/>
          </a:xfrm>
          <a:prstGeom prst="rect">
            <a:avLst/>
          </a:prstGeom>
        </p:spPr>
        <p:txBody>
          <a:bodyPr>
            <a:spAutoFit/>
          </a:bodyPr>
          <a:lstStyle/>
          <a:p>
            <a:r>
              <a:rPr lang="fr-FR" sz="1400" dirty="0" smtClean="0">
                <a:solidFill>
                  <a:srgbClr val="0D0D0D"/>
                </a:solidFill>
                <a:latin typeface="Söhne"/>
              </a:rPr>
              <a:t>Sont </a:t>
            </a:r>
            <a:r>
              <a:rPr lang="fr-FR" sz="1400" dirty="0">
                <a:solidFill>
                  <a:srgbClr val="0D0D0D"/>
                </a:solidFill>
                <a:latin typeface="Söhne"/>
              </a:rPr>
              <a:t>des valeurs dynamiques qui peuvent être utilisées par les jobs (projets) Jenkins pendant leur exécution</a:t>
            </a:r>
            <a:endParaRPr lang="fr-FR" sz="1400" dirty="0"/>
          </a:p>
        </p:txBody>
      </p:sp>
      <p:sp>
        <p:nvSpPr>
          <p:cNvPr id="20" name="Rectangle 19"/>
          <p:cNvSpPr/>
          <p:nvPr/>
        </p:nvSpPr>
        <p:spPr>
          <a:xfrm>
            <a:off x="3616758" y="5290914"/>
            <a:ext cx="6096000" cy="738664"/>
          </a:xfrm>
          <a:prstGeom prst="rect">
            <a:avLst/>
          </a:prstGeom>
        </p:spPr>
        <p:txBody>
          <a:bodyPr>
            <a:spAutoFit/>
          </a:bodyPr>
          <a:lstStyle/>
          <a:p>
            <a:r>
              <a:rPr lang="fr-FR" sz="1400" dirty="0" smtClean="0">
                <a:latin typeface="Söhne"/>
              </a:rPr>
              <a:t>Font </a:t>
            </a:r>
            <a:r>
              <a:rPr lang="fr-FR" sz="1400" dirty="0">
                <a:latin typeface="Söhne"/>
              </a:rPr>
              <a:t>référence aux chemins ou aux emplacements où Jenkins recherche et installe les outils nécessaires à l'exécution de tâches spécifiques de construction</a:t>
            </a:r>
            <a:endParaRPr lang="fr-FR" sz="1400" dirty="0"/>
          </a:p>
        </p:txBody>
      </p:sp>
      <p:sp>
        <p:nvSpPr>
          <p:cNvPr id="21" name="Rectangle 20"/>
          <p:cNvSpPr/>
          <p:nvPr/>
        </p:nvSpPr>
        <p:spPr>
          <a:xfrm>
            <a:off x="189776" y="176927"/>
            <a:ext cx="5461752" cy="369332"/>
          </a:xfrm>
          <a:prstGeom prst="rect">
            <a:avLst/>
          </a:prstGeom>
        </p:spPr>
        <p:txBody>
          <a:bodyPr wrap="none">
            <a:spAutoFit/>
          </a:bodyPr>
          <a:lstStyle/>
          <a:p>
            <a:r>
              <a:rPr lang="fr-FR" altLang="fr-FR" b="1" dirty="0">
                <a:latin typeface="Times New Roman" panose="02020603050405020304" pitchFamily="18" charset="0"/>
                <a:cs typeface="Times New Roman" panose="02020603050405020304" pitchFamily="18" charset="0"/>
              </a:rPr>
              <a:t>Les actions post installation (Configurations globales)</a:t>
            </a:r>
            <a:endParaRPr lang="fr-FR" alt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1673603"/>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p:cNvPicPr>
            <a:picLocks noChangeAspect="1"/>
          </p:cNvPicPr>
          <p:nvPr/>
        </p:nvPicPr>
        <p:blipFill>
          <a:blip r:embed="rId3"/>
          <a:stretch>
            <a:fillRect/>
          </a:stretch>
        </p:blipFill>
        <p:spPr>
          <a:xfrm>
            <a:off x="310318" y="563985"/>
            <a:ext cx="5270771" cy="1320868"/>
          </a:xfrm>
          <a:prstGeom prst="rect">
            <a:avLst/>
          </a:prstGeom>
        </p:spPr>
      </p:pic>
      <p:sp>
        <p:nvSpPr>
          <p:cNvPr id="7" name="Rectangle 6"/>
          <p:cNvSpPr/>
          <p:nvPr/>
        </p:nvSpPr>
        <p:spPr>
          <a:xfrm>
            <a:off x="5722307" y="762042"/>
            <a:ext cx="6096000" cy="738664"/>
          </a:xfrm>
          <a:prstGeom prst="rect">
            <a:avLst/>
          </a:prstGeom>
        </p:spPr>
        <p:txBody>
          <a:bodyPr>
            <a:spAutoFit/>
          </a:bodyPr>
          <a:lstStyle/>
          <a:p>
            <a:r>
              <a:rPr lang="fr-FR" sz="1400" dirty="0" smtClean="0">
                <a:solidFill>
                  <a:srgbClr val="0D0D0D"/>
                </a:solidFill>
                <a:latin typeface="Söhne"/>
              </a:rPr>
              <a:t>Fait </a:t>
            </a:r>
            <a:r>
              <a:rPr lang="fr-FR" sz="1400" dirty="0">
                <a:solidFill>
                  <a:srgbClr val="0D0D0D"/>
                </a:solidFill>
                <a:latin typeface="Söhne"/>
              </a:rPr>
              <a:t>référence aux paramètres globaux qui définissent le niveau de vitesse et de durabilité par défaut pour tous les pipelines de type </a:t>
            </a:r>
            <a:r>
              <a:rPr lang="fr-FR" sz="1400" dirty="0" smtClean="0">
                <a:solidFill>
                  <a:srgbClr val="0D0D0D"/>
                </a:solidFill>
                <a:latin typeface="Söhne"/>
              </a:rPr>
              <a:t>Déclarative </a:t>
            </a:r>
            <a:r>
              <a:rPr lang="fr-FR" sz="1400" dirty="0">
                <a:solidFill>
                  <a:srgbClr val="0D0D0D"/>
                </a:solidFill>
                <a:latin typeface="Söhne"/>
              </a:rPr>
              <a:t>ou Scripted dans Jenkins Pipeline</a:t>
            </a:r>
            <a:endParaRPr lang="fr-FR" sz="1400" dirty="0"/>
          </a:p>
        </p:txBody>
      </p:sp>
      <p:sp>
        <p:nvSpPr>
          <p:cNvPr id="8" name="Rectangle 7"/>
          <p:cNvSpPr/>
          <p:nvPr/>
        </p:nvSpPr>
        <p:spPr>
          <a:xfrm>
            <a:off x="256483" y="2078546"/>
            <a:ext cx="10649211" cy="1384995"/>
          </a:xfrm>
          <a:prstGeom prst="rect">
            <a:avLst/>
          </a:prstGeom>
        </p:spPr>
        <p:txBody>
          <a:bodyPr wrap="square">
            <a:spAutoFit/>
          </a:bodyPr>
          <a:lstStyle/>
          <a:p>
            <a:pPr>
              <a:buFont typeface="Arial" panose="020B0604020202020204" pitchFamily="34" charset="0"/>
              <a:buChar char="•"/>
            </a:pPr>
            <a:r>
              <a:rPr lang="fr-FR" sz="1400" b="1" dirty="0">
                <a:solidFill>
                  <a:srgbClr val="0D0D0D"/>
                </a:solidFill>
                <a:latin typeface="Söhne"/>
              </a:rPr>
              <a:t>Speed Level (Niveau de vitesse)</a:t>
            </a:r>
            <a:r>
              <a:rPr lang="fr-FR" sz="1400" dirty="0">
                <a:solidFill>
                  <a:srgbClr val="0D0D0D"/>
                </a:solidFill>
                <a:latin typeface="Söhne"/>
              </a:rPr>
              <a:t> : Il s'agit du niveau de performance et d'exécution rapide des pipelines. Un niveau de vitesse élevé peut accélérer l'exécution des pipelines en sacrifiant certains mécanismes de reprise après incident en cas de panne</a:t>
            </a:r>
            <a:r>
              <a:rPr lang="fr-FR" sz="1400" dirty="0" smtClean="0">
                <a:solidFill>
                  <a:srgbClr val="0D0D0D"/>
                </a:solidFill>
                <a:latin typeface="Söhne"/>
              </a:rPr>
              <a:t>.</a:t>
            </a:r>
          </a:p>
          <a:p>
            <a:pPr>
              <a:buFont typeface="Arial" panose="020B0604020202020204" pitchFamily="34" charset="0"/>
              <a:buChar char="•"/>
            </a:pPr>
            <a:endParaRPr lang="fr-FR" sz="1400" dirty="0">
              <a:solidFill>
                <a:srgbClr val="0D0D0D"/>
              </a:solidFill>
              <a:latin typeface="Söhne"/>
            </a:endParaRPr>
          </a:p>
          <a:p>
            <a:pPr>
              <a:buFont typeface="Arial" panose="020B0604020202020204" pitchFamily="34" charset="0"/>
              <a:buChar char="•"/>
            </a:pPr>
            <a:r>
              <a:rPr lang="fr-FR" sz="1400" b="1" dirty="0" err="1">
                <a:solidFill>
                  <a:srgbClr val="0D0D0D"/>
                </a:solidFill>
                <a:latin typeface="Söhne"/>
              </a:rPr>
              <a:t>Durability</a:t>
            </a:r>
            <a:r>
              <a:rPr lang="fr-FR" sz="1400" b="1" dirty="0">
                <a:solidFill>
                  <a:srgbClr val="0D0D0D"/>
                </a:solidFill>
                <a:latin typeface="Söhne"/>
              </a:rPr>
              <a:t> Level (Niveau de durabilité)</a:t>
            </a:r>
            <a:r>
              <a:rPr lang="fr-FR" sz="1400" dirty="0">
                <a:solidFill>
                  <a:srgbClr val="0D0D0D"/>
                </a:solidFill>
                <a:latin typeface="Söhne"/>
              </a:rPr>
              <a:t> : Il s'agit du niveau de robustesse et de fiabilité des pipelines. Un niveau de durabilité élevé assure une exécution plus fiable des pipelines en garantissant que les résultats intermédiaires sont stockés de manière sûre pour permettre une reprise après incident en cas de panne.</a:t>
            </a:r>
            <a:endParaRPr lang="fr-FR" sz="1400" b="0" i="0" dirty="0">
              <a:solidFill>
                <a:srgbClr val="0D0D0D"/>
              </a:solidFill>
              <a:effectLst/>
              <a:latin typeface="Söhne"/>
            </a:endParaRPr>
          </a:p>
        </p:txBody>
      </p:sp>
      <p:sp>
        <p:nvSpPr>
          <p:cNvPr id="15" name="Rectangle 14"/>
          <p:cNvSpPr/>
          <p:nvPr/>
        </p:nvSpPr>
        <p:spPr>
          <a:xfrm>
            <a:off x="189776" y="176927"/>
            <a:ext cx="5461752" cy="369332"/>
          </a:xfrm>
          <a:prstGeom prst="rect">
            <a:avLst/>
          </a:prstGeom>
        </p:spPr>
        <p:txBody>
          <a:bodyPr wrap="none">
            <a:spAutoFit/>
          </a:bodyPr>
          <a:lstStyle/>
          <a:p>
            <a:r>
              <a:rPr lang="fr-FR" altLang="fr-FR" b="1" dirty="0">
                <a:latin typeface="Times New Roman" panose="02020603050405020304" pitchFamily="18" charset="0"/>
                <a:cs typeface="Times New Roman" panose="02020603050405020304" pitchFamily="18" charset="0"/>
              </a:rPr>
              <a:t>Les actions post installation (Configurations globales)</a:t>
            </a:r>
            <a:endParaRPr lang="fr-FR" alt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7200210"/>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p:cNvPicPr>
            <a:picLocks noChangeAspect="1"/>
          </p:cNvPicPr>
          <p:nvPr/>
        </p:nvPicPr>
        <p:blipFill>
          <a:blip r:embed="rId3"/>
          <a:stretch>
            <a:fillRect/>
          </a:stretch>
        </p:blipFill>
        <p:spPr>
          <a:xfrm>
            <a:off x="310318" y="563985"/>
            <a:ext cx="5270771" cy="1320868"/>
          </a:xfrm>
          <a:prstGeom prst="rect">
            <a:avLst/>
          </a:prstGeom>
        </p:spPr>
      </p:pic>
      <p:sp>
        <p:nvSpPr>
          <p:cNvPr id="2" name="Rectangle 1"/>
          <p:cNvSpPr/>
          <p:nvPr/>
        </p:nvSpPr>
        <p:spPr>
          <a:xfrm>
            <a:off x="5684729" y="781543"/>
            <a:ext cx="6096000" cy="738664"/>
          </a:xfrm>
          <a:prstGeom prst="rect">
            <a:avLst/>
          </a:prstGeom>
        </p:spPr>
        <p:txBody>
          <a:bodyPr>
            <a:spAutoFit/>
          </a:bodyPr>
          <a:lstStyle/>
          <a:p>
            <a:r>
              <a:rPr lang="fr-FR" sz="1400" dirty="0">
                <a:solidFill>
                  <a:srgbClr val="0D0D0D"/>
                </a:solidFill>
                <a:latin typeface="Söhne"/>
              </a:rPr>
              <a:t>Ces quatre valeurs sous le paramètre "Default Speed / </a:t>
            </a:r>
            <a:r>
              <a:rPr lang="fr-FR" sz="1400" dirty="0" err="1">
                <a:solidFill>
                  <a:srgbClr val="0D0D0D"/>
                </a:solidFill>
                <a:latin typeface="Söhne"/>
              </a:rPr>
              <a:t>Durability</a:t>
            </a:r>
            <a:r>
              <a:rPr lang="fr-FR" sz="1400" dirty="0">
                <a:solidFill>
                  <a:srgbClr val="0D0D0D"/>
                </a:solidFill>
                <a:latin typeface="Söhne"/>
              </a:rPr>
              <a:t> Level" définissent le niveau par défaut de vitesse et de durabilité pour les pipelines dans Jenkins</a:t>
            </a:r>
            <a:endParaRPr lang="fr-FR" sz="1400" dirty="0"/>
          </a:p>
        </p:txBody>
      </p:sp>
      <p:sp>
        <p:nvSpPr>
          <p:cNvPr id="3" name="Rectangle 2"/>
          <p:cNvSpPr/>
          <p:nvPr/>
        </p:nvSpPr>
        <p:spPr>
          <a:xfrm>
            <a:off x="310317" y="2047943"/>
            <a:ext cx="11100893" cy="1169551"/>
          </a:xfrm>
          <a:prstGeom prst="rect">
            <a:avLst/>
          </a:prstGeom>
        </p:spPr>
        <p:txBody>
          <a:bodyPr wrap="square">
            <a:spAutoFit/>
          </a:bodyPr>
          <a:lstStyle/>
          <a:p>
            <a:r>
              <a:rPr lang="fr-FR" sz="1400" b="1" dirty="0">
                <a:solidFill>
                  <a:srgbClr val="0D0D0D"/>
                </a:solidFill>
                <a:latin typeface="Söhne"/>
              </a:rPr>
              <a:t>None: use pipeline default (MAX_SURVIVABILITY)</a:t>
            </a:r>
            <a:r>
              <a:rPr lang="fr-FR" sz="1400" dirty="0">
                <a:solidFill>
                  <a:srgbClr val="0D0D0D"/>
                </a:solidFill>
                <a:latin typeface="Söhne"/>
              </a:rPr>
              <a:t> :</a:t>
            </a:r>
          </a:p>
          <a:p>
            <a:pPr lvl="1">
              <a:buFont typeface="Arial" panose="020B0604020202020204" pitchFamily="34" charset="0"/>
              <a:buChar char="•"/>
            </a:pPr>
            <a:r>
              <a:rPr lang="fr-FR" sz="1400" b="1" dirty="0">
                <a:solidFill>
                  <a:srgbClr val="0D0D0D"/>
                </a:solidFill>
                <a:latin typeface="Söhne"/>
              </a:rPr>
              <a:t>Vitesse</a:t>
            </a:r>
            <a:r>
              <a:rPr lang="fr-FR" sz="1400" dirty="0">
                <a:solidFill>
                  <a:srgbClr val="0D0D0D"/>
                </a:solidFill>
                <a:latin typeface="Söhne"/>
              </a:rPr>
              <a:t> : Aucune spécification (dépend de la configuration par défaut de Jenkins).</a:t>
            </a:r>
          </a:p>
          <a:p>
            <a:pPr lvl="1">
              <a:buFont typeface="Arial" panose="020B0604020202020204" pitchFamily="34" charset="0"/>
              <a:buChar char="•"/>
            </a:pPr>
            <a:r>
              <a:rPr lang="fr-FR" sz="1400" b="1" dirty="0">
                <a:solidFill>
                  <a:srgbClr val="0D0D0D"/>
                </a:solidFill>
                <a:latin typeface="Söhne"/>
              </a:rPr>
              <a:t>Durabilité</a:t>
            </a:r>
            <a:r>
              <a:rPr lang="fr-FR" sz="1400" dirty="0">
                <a:solidFill>
                  <a:srgbClr val="0D0D0D"/>
                </a:solidFill>
                <a:latin typeface="Söhne"/>
              </a:rPr>
              <a:t> : La plus élevée (MAX_SURVIVABILITY).</a:t>
            </a:r>
          </a:p>
          <a:p>
            <a:pPr lvl="1">
              <a:buFont typeface="Arial" panose="020B0604020202020204" pitchFamily="34" charset="0"/>
              <a:buChar char="•"/>
            </a:pPr>
            <a:r>
              <a:rPr lang="fr-FR" sz="1400" b="1" dirty="0">
                <a:solidFill>
                  <a:srgbClr val="0D0D0D"/>
                </a:solidFill>
                <a:latin typeface="Söhne"/>
              </a:rPr>
              <a:t>Explication</a:t>
            </a:r>
            <a:r>
              <a:rPr lang="fr-FR" sz="1400" dirty="0">
                <a:solidFill>
                  <a:srgbClr val="0D0D0D"/>
                </a:solidFill>
                <a:latin typeface="Söhne"/>
              </a:rPr>
              <a:t> </a:t>
            </a:r>
            <a:r>
              <a:rPr lang="fr-FR" sz="1400" dirty="0" smtClean="0">
                <a:solidFill>
                  <a:srgbClr val="0D0D0D"/>
                </a:solidFill>
                <a:latin typeface="Söhne"/>
              </a:rPr>
              <a:t>: La </a:t>
            </a:r>
            <a:r>
              <a:rPr lang="fr-FR" sz="1400" dirty="0">
                <a:solidFill>
                  <a:srgbClr val="0D0D0D"/>
                </a:solidFill>
                <a:latin typeface="Söhne"/>
              </a:rPr>
              <a:t>durabilité est maximale, ce qui garantit une reprise fiable après incident, mais la vitesse peut varier en fonction de la configuration globale de Jenkins.</a:t>
            </a:r>
            <a:endParaRPr lang="fr-FR" sz="1400" b="0" i="0" dirty="0">
              <a:solidFill>
                <a:srgbClr val="0D0D0D"/>
              </a:solidFill>
              <a:effectLst/>
              <a:latin typeface="Söhne"/>
            </a:endParaRPr>
          </a:p>
        </p:txBody>
      </p:sp>
      <p:sp>
        <p:nvSpPr>
          <p:cNvPr id="4" name="Rectangle 3"/>
          <p:cNvSpPr/>
          <p:nvPr/>
        </p:nvSpPr>
        <p:spPr>
          <a:xfrm>
            <a:off x="248432" y="3449193"/>
            <a:ext cx="11106411" cy="1169551"/>
          </a:xfrm>
          <a:prstGeom prst="rect">
            <a:avLst/>
          </a:prstGeom>
        </p:spPr>
        <p:txBody>
          <a:bodyPr wrap="square">
            <a:spAutoFit/>
          </a:bodyPr>
          <a:lstStyle/>
          <a:p>
            <a:r>
              <a:rPr lang="fr-FR" sz="1400" b="1" dirty="0">
                <a:solidFill>
                  <a:srgbClr val="0D0D0D"/>
                </a:solidFill>
                <a:latin typeface="Söhne"/>
              </a:rPr>
              <a:t>Performance-</a:t>
            </a:r>
            <a:r>
              <a:rPr lang="fr-FR" sz="1400" b="1" dirty="0" err="1">
                <a:solidFill>
                  <a:srgbClr val="0D0D0D"/>
                </a:solidFill>
                <a:latin typeface="Söhne"/>
              </a:rPr>
              <a:t>optimized</a:t>
            </a:r>
            <a:r>
              <a:rPr lang="fr-FR" sz="1400" b="1" dirty="0">
                <a:solidFill>
                  <a:srgbClr val="0D0D0D"/>
                </a:solidFill>
                <a:latin typeface="Söhne"/>
              </a:rPr>
              <a:t>: </a:t>
            </a:r>
            <a:r>
              <a:rPr lang="fr-FR" sz="1400" b="1" dirty="0" err="1">
                <a:solidFill>
                  <a:srgbClr val="0D0D0D"/>
                </a:solidFill>
                <a:latin typeface="Söhne"/>
              </a:rPr>
              <a:t>much</a:t>
            </a:r>
            <a:r>
              <a:rPr lang="fr-FR" sz="1400" b="1" dirty="0">
                <a:solidFill>
                  <a:srgbClr val="0D0D0D"/>
                </a:solidFill>
                <a:latin typeface="Söhne"/>
              </a:rPr>
              <a:t> </a:t>
            </a:r>
            <a:r>
              <a:rPr lang="fr-FR" sz="1400" b="1" dirty="0" err="1">
                <a:solidFill>
                  <a:srgbClr val="0D0D0D"/>
                </a:solidFill>
                <a:latin typeface="Söhne"/>
              </a:rPr>
              <a:t>faster</a:t>
            </a:r>
            <a:r>
              <a:rPr lang="fr-FR" sz="1400" b="1" dirty="0">
                <a:solidFill>
                  <a:srgbClr val="0D0D0D"/>
                </a:solidFill>
                <a:latin typeface="Söhne"/>
              </a:rPr>
              <a:t> (</a:t>
            </a:r>
            <a:r>
              <a:rPr lang="fr-FR" sz="1400" b="1" dirty="0" err="1">
                <a:solidFill>
                  <a:srgbClr val="0D0D0D"/>
                </a:solidFill>
                <a:latin typeface="Söhne"/>
              </a:rPr>
              <a:t>requires</a:t>
            </a:r>
            <a:r>
              <a:rPr lang="fr-FR" sz="1400" b="1" dirty="0">
                <a:solidFill>
                  <a:srgbClr val="0D0D0D"/>
                </a:solidFill>
                <a:latin typeface="Söhne"/>
              </a:rPr>
              <a:t> clean </a:t>
            </a:r>
            <a:r>
              <a:rPr lang="fr-FR" sz="1400" b="1" dirty="0" err="1">
                <a:solidFill>
                  <a:srgbClr val="0D0D0D"/>
                </a:solidFill>
                <a:latin typeface="Söhne"/>
              </a:rPr>
              <a:t>shutdown</a:t>
            </a:r>
            <a:r>
              <a:rPr lang="fr-FR" sz="1400" b="1" dirty="0">
                <a:solidFill>
                  <a:srgbClr val="0D0D0D"/>
                </a:solidFill>
                <a:latin typeface="Söhne"/>
              </a:rPr>
              <a:t> to </a:t>
            </a:r>
            <a:r>
              <a:rPr lang="fr-FR" sz="1400" b="1" dirty="0" err="1">
                <a:solidFill>
                  <a:srgbClr val="0D0D0D"/>
                </a:solidFill>
                <a:latin typeface="Söhne"/>
              </a:rPr>
              <a:t>save</a:t>
            </a:r>
            <a:r>
              <a:rPr lang="fr-FR" sz="1400" b="1" dirty="0">
                <a:solidFill>
                  <a:srgbClr val="0D0D0D"/>
                </a:solidFill>
                <a:latin typeface="Söhne"/>
              </a:rPr>
              <a:t> running pipelines)</a:t>
            </a:r>
            <a:r>
              <a:rPr lang="fr-FR" sz="1400" dirty="0">
                <a:solidFill>
                  <a:srgbClr val="0D0D0D"/>
                </a:solidFill>
                <a:latin typeface="Söhne"/>
              </a:rPr>
              <a:t> :</a:t>
            </a:r>
          </a:p>
          <a:p>
            <a:pPr lvl="1">
              <a:buFont typeface="Arial" panose="020B0604020202020204" pitchFamily="34" charset="0"/>
              <a:buChar char="•"/>
            </a:pPr>
            <a:r>
              <a:rPr lang="fr-FR" sz="1400" b="1" dirty="0">
                <a:solidFill>
                  <a:srgbClr val="0D0D0D"/>
                </a:solidFill>
                <a:latin typeface="Söhne"/>
              </a:rPr>
              <a:t>Vitesse</a:t>
            </a:r>
            <a:r>
              <a:rPr lang="fr-FR" sz="1400" dirty="0">
                <a:solidFill>
                  <a:srgbClr val="0D0D0D"/>
                </a:solidFill>
                <a:latin typeface="Söhne"/>
              </a:rPr>
              <a:t> : Très élevée.</a:t>
            </a:r>
          </a:p>
          <a:p>
            <a:pPr lvl="1">
              <a:buFont typeface="Arial" panose="020B0604020202020204" pitchFamily="34" charset="0"/>
              <a:buChar char="•"/>
            </a:pPr>
            <a:r>
              <a:rPr lang="fr-FR" sz="1400" b="1" dirty="0">
                <a:solidFill>
                  <a:srgbClr val="0D0D0D"/>
                </a:solidFill>
                <a:latin typeface="Söhne"/>
              </a:rPr>
              <a:t>Durabilité</a:t>
            </a:r>
            <a:r>
              <a:rPr lang="fr-FR" sz="1400" dirty="0">
                <a:solidFill>
                  <a:srgbClr val="0D0D0D"/>
                </a:solidFill>
                <a:latin typeface="Söhne"/>
              </a:rPr>
              <a:t> : Réduite.</a:t>
            </a:r>
          </a:p>
          <a:p>
            <a:pPr lvl="1">
              <a:buFont typeface="Arial" panose="020B0604020202020204" pitchFamily="34" charset="0"/>
              <a:buChar char="•"/>
            </a:pPr>
            <a:r>
              <a:rPr lang="fr-FR" sz="1400" b="1" dirty="0">
                <a:solidFill>
                  <a:srgbClr val="0D0D0D"/>
                </a:solidFill>
                <a:latin typeface="Söhne"/>
              </a:rPr>
              <a:t>Explication</a:t>
            </a:r>
            <a:r>
              <a:rPr lang="fr-FR" sz="1400" dirty="0">
                <a:solidFill>
                  <a:srgbClr val="0D0D0D"/>
                </a:solidFill>
                <a:latin typeface="Söhne"/>
              </a:rPr>
              <a:t> : Cette option privilégie la vitesse d'exécution des </a:t>
            </a:r>
            <a:r>
              <a:rPr lang="fr-FR" sz="1400" dirty="0" smtClean="0">
                <a:solidFill>
                  <a:srgbClr val="0D0D0D"/>
                </a:solidFill>
                <a:latin typeface="Söhne"/>
              </a:rPr>
              <a:t>pipelines. </a:t>
            </a:r>
            <a:r>
              <a:rPr lang="fr-FR" sz="1400" dirty="0">
                <a:solidFill>
                  <a:srgbClr val="0D0D0D"/>
                </a:solidFill>
                <a:latin typeface="Söhne"/>
              </a:rPr>
              <a:t>Cependant, pour garantir la durabilité des données, il est nécessaire d'arrêter Jenkins proprement pour sauvegarder les pipelines en cours d'exécution.</a:t>
            </a:r>
            <a:endParaRPr lang="fr-FR" sz="1400" b="0" i="0" dirty="0">
              <a:solidFill>
                <a:srgbClr val="0D0D0D"/>
              </a:solidFill>
              <a:effectLst/>
              <a:latin typeface="Söhne"/>
            </a:endParaRPr>
          </a:p>
        </p:txBody>
      </p:sp>
      <p:sp>
        <p:nvSpPr>
          <p:cNvPr id="9" name="Rectangle 8"/>
          <p:cNvSpPr/>
          <p:nvPr/>
        </p:nvSpPr>
        <p:spPr>
          <a:xfrm>
            <a:off x="310316" y="4850443"/>
            <a:ext cx="11100893" cy="1384995"/>
          </a:xfrm>
          <a:prstGeom prst="rect">
            <a:avLst/>
          </a:prstGeom>
        </p:spPr>
        <p:txBody>
          <a:bodyPr wrap="square">
            <a:spAutoFit/>
          </a:bodyPr>
          <a:lstStyle/>
          <a:p>
            <a:r>
              <a:rPr lang="fr-FR" sz="1400" b="1" dirty="0">
                <a:solidFill>
                  <a:srgbClr val="0D0D0D"/>
                </a:solidFill>
                <a:latin typeface="Söhne"/>
              </a:rPr>
              <a:t>Les </a:t>
            </a:r>
            <a:r>
              <a:rPr lang="fr-FR" sz="1400" b="1" dirty="0" err="1">
                <a:solidFill>
                  <a:srgbClr val="0D0D0D"/>
                </a:solidFill>
                <a:latin typeface="Söhne"/>
              </a:rPr>
              <a:t>durability</a:t>
            </a:r>
            <a:r>
              <a:rPr lang="fr-FR" sz="1400" b="1" dirty="0">
                <a:solidFill>
                  <a:srgbClr val="0D0D0D"/>
                </a:solidFill>
                <a:latin typeface="Söhne"/>
              </a:rPr>
              <a:t>, a bit </a:t>
            </a:r>
            <a:r>
              <a:rPr lang="fr-FR" sz="1400" b="1" dirty="0" err="1">
                <a:solidFill>
                  <a:srgbClr val="0D0D0D"/>
                </a:solidFill>
                <a:latin typeface="Söhne"/>
              </a:rPr>
              <a:t>faster</a:t>
            </a:r>
            <a:r>
              <a:rPr lang="fr-FR" sz="1400" b="1" dirty="0">
                <a:solidFill>
                  <a:srgbClr val="0D0D0D"/>
                </a:solidFill>
                <a:latin typeface="Söhne"/>
              </a:rPr>
              <a:t> (</a:t>
            </a:r>
            <a:r>
              <a:rPr lang="fr-FR" sz="1400" b="1" dirty="0" err="1">
                <a:solidFill>
                  <a:srgbClr val="0D0D0D"/>
                </a:solidFill>
                <a:latin typeface="Söhne"/>
              </a:rPr>
              <a:t>specialty</a:t>
            </a:r>
            <a:r>
              <a:rPr lang="fr-FR" sz="1400" b="1" dirty="0">
                <a:solidFill>
                  <a:srgbClr val="0D0D0D"/>
                </a:solidFill>
                <a:latin typeface="Söhne"/>
              </a:rPr>
              <a:t> use </a:t>
            </a:r>
            <a:r>
              <a:rPr lang="fr-FR" sz="1400" b="1" dirty="0" err="1">
                <a:solidFill>
                  <a:srgbClr val="0D0D0D"/>
                </a:solidFill>
                <a:latin typeface="Söhne"/>
              </a:rPr>
              <a:t>only</a:t>
            </a:r>
            <a:r>
              <a:rPr lang="fr-FR" sz="1400" b="1" dirty="0">
                <a:solidFill>
                  <a:srgbClr val="0D0D0D"/>
                </a:solidFill>
                <a:latin typeface="Söhne"/>
              </a:rPr>
              <a:t>)</a:t>
            </a:r>
            <a:r>
              <a:rPr lang="fr-FR" sz="1400" dirty="0">
                <a:solidFill>
                  <a:srgbClr val="0D0D0D"/>
                </a:solidFill>
                <a:latin typeface="Söhne"/>
              </a:rPr>
              <a:t> :</a:t>
            </a:r>
          </a:p>
          <a:p>
            <a:pPr lvl="1">
              <a:buFont typeface="Arial" panose="020B0604020202020204" pitchFamily="34" charset="0"/>
              <a:buChar char="•"/>
            </a:pPr>
            <a:r>
              <a:rPr lang="fr-FR" sz="1400" b="1" dirty="0">
                <a:solidFill>
                  <a:srgbClr val="0D0D0D"/>
                </a:solidFill>
                <a:latin typeface="Söhne"/>
              </a:rPr>
              <a:t>Vitesse</a:t>
            </a:r>
            <a:r>
              <a:rPr lang="fr-FR" sz="1400" dirty="0">
                <a:solidFill>
                  <a:srgbClr val="0D0D0D"/>
                </a:solidFill>
                <a:latin typeface="Söhne"/>
              </a:rPr>
              <a:t> : Légèrement plus élevée que la durabilité optimisée.</a:t>
            </a:r>
          </a:p>
          <a:p>
            <a:pPr lvl="1">
              <a:buFont typeface="Arial" panose="020B0604020202020204" pitchFamily="34" charset="0"/>
              <a:buChar char="•"/>
            </a:pPr>
            <a:r>
              <a:rPr lang="fr-FR" sz="1400" b="1" dirty="0">
                <a:solidFill>
                  <a:srgbClr val="0D0D0D"/>
                </a:solidFill>
                <a:latin typeface="Söhne"/>
              </a:rPr>
              <a:t>Durabilité</a:t>
            </a:r>
            <a:r>
              <a:rPr lang="fr-FR" sz="1400" dirty="0">
                <a:solidFill>
                  <a:srgbClr val="0D0D0D"/>
                </a:solidFill>
                <a:latin typeface="Söhne"/>
              </a:rPr>
              <a:t> : Réduite.</a:t>
            </a:r>
          </a:p>
          <a:p>
            <a:pPr lvl="1">
              <a:buFont typeface="Arial" panose="020B0604020202020204" pitchFamily="34" charset="0"/>
              <a:buChar char="•"/>
            </a:pPr>
            <a:r>
              <a:rPr lang="fr-FR" sz="1400" b="1" dirty="0">
                <a:solidFill>
                  <a:srgbClr val="0D0D0D"/>
                </a:solidFill>
                <a:latin typeface="Söhne"/>
              </a:rPr>
              <a:t>Explication</a:t>
            </a:r>
            <a:r>
              <a:rPr lang="fr-FR" sz="1400" dirty="0">
                <a:solidFill>
                  <a:srgbClr val="0D0D0D"/>
                </a:solidFill>
                <a:latin typeface="Söhne"/>
              </a:rPr>
              <a:t> : Cette option offre un compromis entre vitesse et durabilité, avec une légère amélioration de la vitesse par rapport à l'option "durabilité optimisée". Elle est destinée à des cas d'utilisation spécifiques qui nécessitent une exécution plus rapide des pipelines avec une tolérance réduite pour la durabilité des données.</a:t>
            </a:r>
            <a:endParaRPr lang="fr-FR" sz="1400" b="0" i="0" dirty="0">
              <a:solidFill>
                <a:srgbClr val="0D0D0D"/>
              </a:solidFill>
              <a:effectLst/>
              <a:latin typeface="Söhne"/>
            </a:endParaRPr>
          </a:p>
        </p:txBody>
      </p:sp>
      <p:sp>
        <p:nvSpPr>
          <p:cNvPr id="10" name="Rectangle 9"/>
          <p:cNvSpPr/>
          <p:nvPr/>
        </p:nvSpPr>
        <p:spPr>
          <a:xfrm>
            <a:off x="189776" y="176927"/>
            <a:ext cx="5461752" cy="369332"/>
          </a:xfrm>
          <a:prstGeom prst="rect">
            <a:avLst/>
          </a:prstGeom>
        </p:spPr>
        <p:txBody>
          <a:bodyPr wrap="none">
            <a:spAutoFit/>
          </a:bodyPr>
          <a:lstStyle/>
          <a:p>
            <a:r>
              <a:rPr lang="fr-FR" altLang="fr-FR" b="1" dirty="0">
                <a:latin typeface="Times New Roman" panose="02020603050405020304" pitchFamily="18" charset="0"/>
                <a:cs typeface="Times New Roman" panose="02020603050405020304" pitchFamily="18" charset="0"/>
              </a:rPr>
              <a:t>Les actions post installation (Configurations globales)</a:t>
            </a:r>
            <a:endParaRPr lang="fr-FR" alt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3852555"/>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p:cNvPicPr>
            <a:picLocks noChangeAspect="1"/>
          </p:cNvPicPr>
          <p:nvPr/>
        </p:nvPicPr>
        <p:blipFill>
          <a:blip r:embed="rId3"/>
          <a:stretch>
            <a:fillRect/>
          </a:stretch>
        </p:blipFill>
        <p:spPr>
          <a:xfrm>
            <a:off x="310318" y="563985"/>
            <a:ext cx="5270771" cy="1320868"/>
          </a:xfrm>
          <a:prstGeom prst="rect">
            <a:avLst/>
          </a:prstGeom>
        </p:spPr>
      </p:pic>
      <p:sp>
        <p:nvSpPr>
          <p:cNvPr id="2" name="Rectangle 1"/>
          <p:cNvSpPr/>
          <p:nvPr/>
        </p:nvSpPr>
        <p:spPr>
          <a:xfrm>
            <a:off x="5684729" y="781543"/>
            <a:ext cx="6096000" cy="738664"/>
          </a:xfrm>
          <a:prstGeom prst="rect">
            <a:avLst/>
          </a:prstGeom>
        </p:spPr>
        <p:txBody>
          <a:bodyPr>
            <a:spAutoFit/>
          </a:bodyPr>
          <a:lstStyle/>
          <a:p>
            <a:r>
              <a:rPr lang="fr-FR" sz="1400" dirty="0">
                <a:solidFill>
                  <a:srgbClr val="0D0D0D"/>
                </a:solidFill>
                <a:latin typeface="Söhne"/>
              </a:rPr>
              <a:t>Ces quatre valeurs sous le paramètre "Default Speed / </a:t>
            </a:r>
            <a:r>
              <a:rPr lang="fr-FR" sz="1400" dirty="0" err="1">
                <a:solidFill>
                  <a:srgbClr val="0D0D0D"/>
                </a:solidFill>
                <a:latin typeface="Söhne"/>
              </a:rPr>
              <a:t>Durability</a:t>
            </a:r>
            <a:r>
              <a:rPr lang="fr-FR" sz="1400" dirty="0">
                <a:solidFill>
                  <a:srgbClr val="0D0D0D"/>
                </a:solidFill>
                <a:latin typeface="Söhne"/>
              </a:rPr>
              <a:t> Level" définissent le niveau par défaut de vitesse et de durabilité pour les pipelines dans Jenkins</a:t>
            </a:r>
            <a:endParaRPr lang="fr-FR" sz="1400" dirty="0"/>
          </a:p>
        </p:txBody>
      </p:sp>
      <p:sp>
        <p:nvSpPr>
          <p:cNvPr id="7" name="Rectangle 6"/>
          <p:cNvSpPr/>
          <p:nvPr/>
        </p:nvSpPr>
        <p:spPr>
          <a:xfrm>
            <a:off x="310318" y="2081399"/>
            <a:ext cx="10812794" cy="1169551"/>
          </a:xfrm>
          <a:prstGeom prst="rect">
            <a:avLst/>
          </a:prstGeom>
        </p:spPr>
        <p:txBody>
          <a:bodyPr wrap="square">
            <a:spAutoFit/>
          </a:bodyPr>
          <a:lstStyle/>
          <a:p>
            <a:r>
              <a:rPr lang="fr-FR" sz="1400" b="1" dirty="0" err="1">
                <a:solidFill>
                  <a:srgbClr val="0D0D0D"/>
                </a:solidFill>
                <a:latin typeface="Söhne"/>
              </a:rPr>
              <a:t>Durability</a:t>
            </a:r>
            <a:r>
              <a:rPr lang="fr-FR" sz="1400" b="1" dirty="0">
                <a:solidFill>
                  <a:srgbClr val="0D0D0D"/>
                </a:solidFill>
                <a:latin typeface="Söhne"/>
              </a:rPr>
              <a:t> but </a:t>
            </a:r>
            <a:r>
              <a:rPr lang="fr-FR" sz="1400" b="1" dirty="0" err="1">
                <a:solidFill>
                  <a:srgbClr val="0D0D0D"/>
                </a:solidFill>
                <a:latin typeface="Söhne"/>
              </a:rPr>
              <a:t>slowest</a:t>
            </a:r>
            <a:r>
              <a:rPr lang="fr-FR" sz="1400" b="1" dirty="0">
                <a:solidFill>
                  <a:srgbClr val="0D0D0D"/>
                </a:solidFill>
                <a:latin typeface="Söhne"/>
              </a:rPr>
              <a:t> (</a:t>
            </a:r>
            <a:r>
              <a:rPr lang="fr-FR" sz="1400" b="1" dirty="0" err="1">
                <a:solidFill>
                  <a:srgbClr val="0D0D0D"/>
                </a:solidFill>
                <a:latin typeface="Söhne"/>
              </a:rPr>
              <a:t>previously</a:t>
            </a:r>
            <a:r>
              <a:rPr lang="fr-FR" sz="1400" b="1" dirty="0">
                <a:solidFill>
                  <a:srgbClr val="0D0D0D"/>
                </a:solidFill>
                <a:latin typeface="Söhne"/>
              </a:rPr>
              <a:t> the </a:t>
            </a:r>
            <a:r>
              <a:rPr lang="fr-FR" sz="1400" b="1" dirty="0" err="1">
                <a:solidFill>
                  <a:srgbClr val="0D0D0D"/>
                </a:solidFill>
                <a:latin typeface="Söhne"/>
              </a:rPr>
              <a:t>only</a:t>
            </a:r>
            <a:r>
              <a:rPr lang="fr-FR" sz="1400" b="1" dirty="0">
                <a:solidFill>
                  <a:srgbClr val="0D0D0D"/>
                </a:solidFill>
                <a:latin typeface="Söhne"/>
              </a:rPr>
              <a:t> option)</a:t>
            </a:r>
            <a:r>
              <a:rPr lang="fr-FR" sz="1400" dirty="0">
                <a:solidFill>
                  <a:srgbClr val="0D0D0D"/>
                </a:solidFill>
                <a:latin typeface="Söhne"/>
              </a:rPr>
              <a:t> :</a:t>
            </a:r>
          </a:p>
          <a:p>
            <a:pPr lvl="1">
              <a:buFont typeface="Arial" panose="020B0604020202020204" pitchFamily="34" charset="0"/>
              <a:buChar char="•"/>
            </a:pPr>
            <a:r>
              <a:rPr lang="fr-FR" sz="1400" b="1" dirty="0">
                <a:solidFill>
                  <a:srgbClr val="0D0D0D"/>
                </a:solidFill>
                <a:latin typeface="Söhne"/>
              </a:rPr>
              <a:t>Vitesse</a:t>
            </a:r>
            <a:r>
              <a:rPr lang="fr-FR" sz="1400" dirty="0">
                <a:solidFill>
                  <a:srgbClr val="0D0D0D"/>
                </a:solidFill>
                <a:latin typeface="Söhne"/>
              </a:rPr>
              <a:t> : La plus basse.</a:t>
            </a:r>
          </a:p>
          <a:p>
            <a:pPr lvl="1">
              <a:buFont typeface="Arial" panose="020B0604020202020204" pitchFamily="34" charset="0"/>
              <a:buChar char="•"/>
            </a:pPr>
            <a:r>
              <a:rPr lang="fr-FR" sz="1400" b="1" dirty="0">
                <a:solidFill>
                  <a:srgbClr val="0D0D0D"/>
                </a:solidFill>
                <a:latin typeface="Söhne"/>
              </a:rPr>
              <a:t>Durabilité</a:t>
            </a:r>
            <a:r>
              <a:rPr lang="fr-FR" sz="1400" dirty="0">
                <a:solidFill>
                  <a:srgbClr val="0D0D0D"/>
                </a:solidFill>
                <a:latin typeface="Söhne"/>
              </a:rPr>
              <a:t> : La plus élevée.</a:t>
            </a:r>
          </a:p>
          <a:p>
            <a:pPr lvl="1">
              <a:buFont typeface="Arial" panose="020B0604020202020204" pitchFamily="34" charset="0"/>
              <a:buChar char="•"/>
            </a:pPr>
            <a:r>
              <a:rPr lang="fr-FR" sz="1400" b="1" dirty="0">
                <a:solidFill>
                  <a:srgbClr val="0D0D0D"/>
                </a:solidFill>
                <a:latin typeface="Söhne"/>
              </a:rPr>
              <a:t>Explication</a:t>
            </a:r>
            <a:r>
              <a:rPr lang="fr-FR" sz="1400" dirty="0">
                <a:solidFill>
                  <a:srgbClr val="0D0D0D"/>
                </a:solidFill>
                <a:latin typeface="Söhne"/>
              </a:rPr>
              <a:t> : C'est l'ancienne option par défaut dans Jenkins. Elle privilégie la durabilité des données, assurant une reprise fiable après incident, même si cela ralentit l'exécution des </a:t>
            </a:r>
            <a:endParaRPr lang="fr-FR" sz="1400" b="0" i="0" dirty="0">
              <a:solidFill>
                <a:srgbClr val="0D0D0D"/>
              </a:solidFill>
              <a:effectLst/>
              <a:latin typeface="Söhne"/>
            </a:endParaRPr>
          </a:p>
        </p:txBody>
      </p:sp>
      <p:pic>
        <p:nvPicPr>
          <p:cNvPr id="10" name="Image 9"/>
          <p:cNvPicPr>
            <a:picLocks noChangeAspect="1"/>
          </p:cNvPicPr>
          <p:nvPr/>
        </p:nvPicPr>
        <p:blipFill>
          <a:blip r:embed="rId4"/>
          <a:stretch>
            <a:fillRect/>
          </a:stretch>
        </p:blipFill>
        <p:spPr>
          <a:xfrm>
            <a:off x="391991" y="3532836"/>
            <a:ext cx="3867349" cy="2660787"/>
          </a:xfrm>
          <a:prstGeom prst="rect">
            <a:avLst/>
          </a:prstGeom>
        </p:spPr>
      </p:pic>
      <p:sp>
        <p:nvSpPr>
          <p:cNvPr id="11" name="Rectangle 10"/>
          <p:cNvSpPr/>
          <p:nvPr/>
        </p:nvSpPr>
        <p:spPr>
          <a:xfrm>
            <a:off x="4444652" y="4032048"/>
            <a:ext cx="6096000" cy="523220"/>
          </a:xfrm>
          <a:prstGeom prst="rect">
            <a:avLst/>
          </a:prstGeom>
        </p:spPr>
        <p:txBody>
          <a:bodyPr>
            <a:spAutoFit/>
          </a:bodyPr>
          <a:lstStyle/>
          <a:p>
            <a:r>
              <a:rPr lang="fr-FR" sz="1400" dirty="0">
                <a:solidFill>
                  <a:srgbClr val="0D0D0D"/>
                </a:solidFill>
                <a:latin typeface="Söhne"/>
              </a:rPr>
              <a:t>Ces métriques sont utilisées pour identifier les domaines nécessitant une attention particulière et pour surveiller la performance globale du système.</a:t>
            </a:r>
            <a:endParaRPr lang="fr-FR" sz="1400" dirty="0"/>
          </a:p>
        </p:txBody>
      </p:sp>
      <p:sp>
        <p:nvSpPr>
          <p:cNvPr id="12" name="Rectangle 11"/>
          <p:cNvSpPr/>
          <p:nvPr/>
        </p:nvSpPr>
        <p:spPr>
          <a:xfrm>
            <a:off x="4588211" y="4555268"/>
            <a:ext cx="2193036" cy="276999"/>
          </a:xfrm>
          <a:prstGeom prst="rect">
            <a:avLst/>
          </a:prstGeom>
        </p:spPr>
        <p:txBody>
          <a:bodyPr wrap="none">
            <a:spAutoFit/>
          </a:bodyPr>
          <a:lstStyle/>
          <a:p>
            <a:r>
              <a:rPr lang="fr-FR" sz="1200" b="1">
                <a:solidFill>
                  <a:srgbClr val="0D0D0D"/>
                </a:solidFill>
                <a:latin typeface="Söhne"/>
              </a:rPr>
              <a:t>Taux de réussite des </a:t>
            </a:r>
            <a:r>
              <a:rPr lang="fr-FR" sz="1200" b="1" dirty="0" err="1">
                <a:solidFill>
                  <a:srgbClr val="0D0D0D"/>
                </a:solidFill>
                <a:latin typeface="Söhne"/>
              </a:rPr>
              <a:t>builds</a:t>
            </a:r>
            <a:endParaRPr lang="fr-FR" sz="1200" dirty="0"/>
          </a:p>
        </p:txBody>
      </p:sp>
      <p:sp>
        <p:nvSpPr>
          <p:cNvPr id="13" name="Rectangle 12"/>
          <p:cNvSpPr/>
          <p:nvPr/>
        </p:nvSpPr>
        <p:spPr>
          <a:xfrm>
            <a:off x="4588211" y="4847768"/>
            <a:ext cx="1843582" cy="276999"/>
          </a:xfrm>
          <a:prstGeom prst="rect">
            <a:avLst/>
          </a:prstGeom>
        </p:spPr>
        <p:txBody>
          <a:bodyPr wrap="none">
            <a:spAutoFit/>
          </a:bodyPr>
          <a:lstStyle/>
          <a:p>
            <a:r>
              <a:rPr lang="fr-FR" sz="1200" b="1" dirty="0">
                <a:solidFill>
                  <a:srgbClr val="0D0D0D"/>
                </a:solidFill>
                <a:latin typeface="Söhne"/>
              </a:rPr>
              <a:t>Temps moyen de </a:t>
            </a:r>
            <a:r>
              <a:rPr lang="fr-FR" sz="1200" b="1" dirty="0" err="1">
                <a:solidFill>
                  <a:srgbClr val="0D0D0D"/>
                </a:solidFill>
                <a:latin typeface="Söhne"/>
              </a:rPr>
              <a:t>build</a:t>
            </a:r>
            <a:endParaRPr lang="fr-FR" sz="1200" dirty="0"/>
          </a:p>
        </p:txBody>
      </p:sp>
      <p:sp>
        <p:nvSpPr>
          <p:cNvPr id="14" name="Rectangle 13"/>
          <p:cNvSpPr/>
          <p:nvPr/>
        </p:nvSpPr>
        <p:spPr>
          <a:xfrm>
            <a:off x="4588211" y="5140268"/>
            <a:ext cx="2754280" cy="276999"/>
          </a:xfrm>
          <a:prstGeom prst="rect">
            <a:avLst/>
          </a:prstGeom>
        </p:spPr>
        <p:txBody>
          <a:bodyPr wrap="none">
            <a:spAutoFit/>
          </a:bodyPr>
          <a:lstStyle/>
          <a:p>
            <a:r>
              <a:rPr lang="fr-FR" sz="1200" b="1" dirty="0">
                <a:solidFill>
                  <a:srgbClr val="0D0D0D"/>
                </a:solidFill>
                <a:latin typeface="Söhne"/>
              </a:rPr>
              <a:t>Utilisation des ressources système</a:t>
            </a:r>
            <a:endParaRPr lang="fr-FR" sz="1200" dirty="0"/>
          </a:p>
        </p:txBody>
      </p:sp>
      <p:sp>
        <p:nvSpPr>
          <p:cNvPr id="15" name="Rectangle 14"/>
          <p:cNvSpPr/>
          <p:nvPr/>
        </p:nvSpPr>
        <p:spPr>
          <a:xfrm>
            <a:off x="4588211" y="5419833"/>
            <a:ext cx="1467068" cy="276999"/>
          </a:xfrm>
          <a:prstGeom prst="rect">
            <a:avLst/>
          </a:prstGeom>
        </p:spPr>
        <p:txBody>
          <a:bodyPr wrap="none">
            <a:spAutoFit/>
          </a:bodyPr>
          <a:lstStyle/>
          <a:p>
            <a:r>
              <a:rPr lang="fr-FR" sz="1200" b="1" dirty="0">
                <a:solidFill>
                  <a:srgbClr val="0D0D0D"/>
                </a:solidFill>
                <a:latin typeface="Söhne"/>
              </a:rPr>
              <a:t>Nombre d'erreurs</a:t>
            </a:r>
            <a:endParaRPr lang="fr-FR" sz="1200" dirty="0"/>
          </a:p>
        </p:txBody>
      </p:sp>
      <p:sp>
        <p:nvSpPr>
          <p:cNvPr id="16" name="Rectangle 15"/>
          <p:cNvSpPr/>
          <p:nvPr/>
        </p:nvSpPr>
        <p:spPr>
          <a:xfrm>
            <a:off x="4588211" y="5712333"/>
            <a:ext cx="2026324" cy="276999"/>
          </a:xfrm>
          <a:prstGeom prst="rect">
            <a:avLst/>
          </a:prstGeom>
        </p:spPr>
        <p:txBody>
          <a:bodyPr wrap="none">
            <a:spAutoFit/>
          </a:bodyPr>
          <a:lstStyle/>
          <a:p>
            <a:r>
              <a:rPr lang="fr-FR" sz="1200" b="1" dirty="0">
                <a:solidFill>
                  <a:srgbClr val="0D0D0D"/>
                </a:solidFill>
                <a:latin typeface="Söhne"/>
              </a:rPr>
              <a:t>Taux de succès des tests</a:t>
            </a:r>
            <a:endParaRPr lang="fr-FR" sz="1200" dirty="0"/>
          </a:p>
        </p:txBody>
      </p:sp>
      <p:sp>
        <p:nvSpPr>
          <p:cNvPr id="17" name="Rectangle 16"/>
          <p:cNvSpPr/>
          <p:nvPr/>
        </p:nvSpPr>
        <p:spPr>
          <a:xfrm>
            <a:off x="189776" y="176927"/>
            <a:ext cx="5461752" cy="369332"/>
          </a:xfrm>
          <a:prstGeom prst="rect">
            <a:avLst/>
          </a:prstGeom>
        </p:spPr>
        <p:txBody>
          <a:bodyPr wrap="none">
            <a:spAutoFit/>
          </a:bodyPr>
          <a:lstStyle/>
          <a:p>
            <a:r>
              <a:rPr lang="fr-FR" altLang="fr-FR" b="1" dirty="0">
                <a:latin typeface="Times New Roman" panose="02020603050405020304" pitchFamily="18" charset="0"/>
                <a:cs typeface="Times New Roman" panose="02020603050405020304" pitchFamily="18" charset="0"/>
              </a:rPr>
              <a:t>Les actions post installation (Configurations globales)</a:t>
            </a:r>
            <a:endParaRPr lang="fr-FR" alt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1670077"/>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a:blip r:embed="rId3"/>
          <a:stretch>
            <a:fillRect/>
          </a:stretch>
        </p:blipFill>
        <p:spPr>
          <a:xfrm>
            <a:off x="286669" y="736730"/>
            <a:ext cx="2412692" cy="812565"/>
          </a:xfrm>
          <a:prstGeom prst="rect">
            <a:avLst/>
          </a:prstGeom>
        </p:spPr>
      </p:pic>
      <p:sp>
        <p:nvSpPr>
          <p:cNvPr id="4" name="Rectangle 3"/>
          <p:cNvSpPr/>
          <p:nvPr/>
        </p:nvSpPr>
        <p:spPr>
          <a:xfrm>
            <a:off x="3010422" y="736730"/>
            <a:ext cx="8764044" cy="738664"/>
          </a:xfrm>
          <a:prstGeom prst="rect">
            <a:avLst/>
          </a:prstGeom>
        </p:spPr>
        <p:txBody>
          <a:bodyPr wrap="square">
            <a:spAutoFit/>
          </a:bodyPr>
          <a:lstStyle/>
          <a:p>
            <a:r>
              <a:rPr lang="fr-FR" sz="1400" dirty="0" smtClean="0">
                <a:latin typeface="Söhne"/>
              </a:rPr>
              <a:t>Permettent </a:t>
            </a:r>
            <a:r>
              <a:rPr lang="fr-FR" sz="1400" dirty="0">
                <a:latin typeface="Söhne"/>
              </a:rPr>
              <a:t>de suivre les versions spécifiques des artefacts générés par les </a:t>
            </a:r>
            <a:r>
              <a:rPr lang="fr-FR" sz="1400" dirty="0" err="1">
                <a:latin typeface="Söhne"/>
              </a:rPr>
              <a:t>builds</a:t>
            </a:r>
            <a:r>
              <a:rPr lang="fr-FR" sz="1400" dirty="0">
                <a:latin typeface="Söhne"/>
              </a:rPr>
              <a:t>. Cela permet de garantir que les artefacts distribués aux différentes étapes du processus de déploiement sont cohérents et qu'ils correspondent exactement à ceux générés lors de la </a:t>
            </a:r>
            <a:r>
              <a:rPr lang="fr-FR" sz="1400" dirty="0" err="1">
                <a:latin typeface="Söhne"/>
              </a:rPr>
              <a:t>build</a:t>
            </a:r>
            <a:r>
              <a:rPr lang="fr-FR" sz="1400" dirty="0">
                <a:latin typeface="Söhne"/>
              </a:rPr>
              <a:t> initiale</a:t>
            </a:r>
            <a:endParaRPr lang="fr-FR" sz="1400" dirty="0"/>
          </a:p>
        </p:txBody>
      </p:sp>
      <p:pic>
        <p:nvPicPr>
          <p:cNvPr id="8" name="Image 7"/>
          <p:cNvPicPr>
            <a:picLocks noChangeAspect="1"/>
          </p:cNvPicPr>
          <p:nvPr/>
        </p:nvPicPr>
        <p:blipFill>
          <a:blip r:embed="rId4"/>
          <a:stretch>
            <a:fillRect/>
          </a:stretch>
        </p:blipFill>
        <p:spPr>
          <a:xfrm>
            <a:off x="426160" y="1873970"/>
            <a:ext cx="2133710" cy="717587"/>
          </a:xfrm>
          <a:prstGeom prst="rect">
            <a:avLst/>
          </a:prstGeom>
        </p:spPr>
      </p:pic>
      <p:sp>
        <p:nvSpPr>
          <p:cNvPr id="9" name="Rectangle 8"/>
          <p:cNvSpPr/>
          <p:nvPr/>
        </p:nvSpPr>
        <p:spPr>
          <a:xfrm>
            <a:off x="3010422" y="2028970"/>
            <a:ext cx="6096000" cy="738664"/>
          </a:xfrm>
          <a:prstGeom prst="rect">
            <a:avLst/>
          </a:prstGeom>
        </p:spPr>
        <p:txBody>
          <a:bodyPr>
            <a:spAutoFit/>
          </a:bodyPr>
          <a:lstStyle/>
          <a:p>
            <a:r>
              <a:rPr lang="fr-FR" sz="1400" dirty="0" smtClean="0">
                <a:solidFill>
                  <a:srgbClr val="0D0D0D"/>
                </a:solidFill>
                <a:latin typeface="Söhne"/>
              </a:rPr>
              <a:t>Permet </a:t>
            </a:r>
            <a:r>
              <a:rPr lang="fr-FR" sz="1400" dirty="0">
                <a:solidFill>
                  <a:srgbClr val="0D0D0D"/>
                </a:solidFill>
                <a:latin typeface="Söhne"/>
              </a:rPr>
              <a:t>de centraliser la gestion des </a:t>
            </a:r>
            <a:r>
              <a:rPr lang="fr-FR" sz="1400" dirty="0" err="1">
                <a:solidFill>
                  <a:srgbClr val="0D0D0D"/>
                </a:solidFill>
                <a:latin typeface="Söhne"/>
              </a:rPr>
              <a:t>URLs</a:t>
            </a:r>
            <a:r>
              <a:rPr lang="fr-FR" sz="1400" dirty="0">
                <a:solidFill>
                  <a:srgbClr val="0D0D0D"/>
                </a:solidFill>
                <a:latin typeface="Söhne"/>
              </a:rPr>
              <a:t> de notification dans Jenkins, évitant ainsi d'avoir à spécifier manuellement l'URL à chaque fois qu'une notification doit être envoyée</a:t>
            </a:r>
            <a:endParaRPr lang="fr-FR" sz="1400" dirty="0"/>
          </a:p>
        </p:txBody>
      </p:sp>
      <p:pic>
        <p:nvPicPr>
          <p:cNvPr id="18" name="Image 17"/>
          <p:cNvPicPr>
            <a:picLocks noChangeAspect="1"/>
          </p:cNvPicPr>
          <p:nvPr/>
        </p:nvPicPr>
        <p:blipFill>
          <a:blip r:embed="rId5"/>
          <a:stretch>
            <a:fillRect/>
          </a:stretch>
        </p:blipFill>
        <p:spPr>
          <a:xfrm>
            <a:off x="426160" y="3145133"/>
            <a:ext cx="2971953" cy="3537132"/>
          </a:xfrm>
          <a:prstGeom prst="rect">
            <a:avLst/>
          </a:prstGeom>
        </p:spPr>
      </p:pic>
      <p:sp>
        <p:nvSpPr>
          <p:cNvPr id="19" name="Rectangle 18"/>
          <p:cNvSpPr/>
          <p:nvPr/>
        </p:nvSpPr>
        <p:spPr>
          <a:xfrm>
            <a:off x="3543300" y="3844836"/>
            <a:ext cx="6096000" cy="738664"/>
          </a:xfrm>
          <a:prstGeom prst="rect">
            <a:avLst/>
          </a:prstGeom>
        </p:spPr>
        <p:txBody>
          <a:bodyPr>
            <a:spAutoFit/>
          </a:bodyPr>
          <a:lstStyle/>
          <a:p>
            <a:r>
              <a:rPr lang="fr-FR" sz="1400" dirty="0" smtClean="0">
                <a:solidFill>
                  <a:srgbClr val="0D0D0D"/>
                </a:solidFill>
                <a:latin typeface="Söhne"/>
              </a:rPr>
              <a:t>Intégrer </a:t>
            </a:r>
            <a:r>
              <a:rPr lang="fr-FR" sz="1400" dirty="0">
                <a:solidFill>
                  <a:srgbClr val="0D0D0D"/>
                </a:solidFill>
                <a:latin typeface="Söhne"/>
              </a:rPr>
              <a:t>GitHub en ajoutant des informations d'authentification et de configuration pour faciliter l'intégration de vos projets Jenkins avec des référentiels GitHub</a:t>
            </a:r>
            <a:endParaRPr lang="fr-FR" sz="1400" dirty="0"/>
          </a:p>
        </p:txBody>
      </p:sp>
      <p:sp>
        <p:nvSpPr>
          <p:cNvPr id="20" name="Rectangle 19"/>
          <p:cNvSpPr/>
          <p:nvPr/>
        </p:nvSpPr>
        <p:spPr>
          <a:xfrm>
            <a:off x="189776" y="176927"/>
            <a:ext cx="5461752" cy="369332"/>
          </a:xfrm>
          <a:prstGeom prst="rect">
            <a:avLst/>
          </a:prstGeom>
        </p:spPr>
        <p:txBody>
          <a:bodyPr wrap="none">
            <a:spAutoFit/>
          </a:bodyPr>
          <a:lstStyle/>
          <a:p>
            <a:r>
              <a:rPr lang="fr-FR" altLang="fr-FR" b="1" dirty="0">
                <a:latin typeface="Times New Roman" panose="02020603050405020304" pitchFamily="18" charset="0"/>
                <a:cs typeface="Times New Roman" panose="02020603050405020304" pitchFamily="18" charset="0"/>
              </a:rPr>
              <a:t>Les actions post installation (Configurations globales)</a:t>
            </a:r>
            <a:endParaRPr lang="fr-FR" alt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9308028"/>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3"/>
          <a:stretch>
            <a:fillRect/>
          </a:stretch>
        </p:blipFill>
        <p:spPr>
          <a:xfrm>
            <a:off x="168622" y="703232"/>
            <a:ext cx="2497344" cy="377412"/>
          </a:xfrm>
          <a:prstGeom prst="rect">
            <a:avLst/>
          </a:prstGeom>
        </p:spPr>
      </p:pic>
      <p:sp>
        <p:nvSpPr>
          <p:cNvPr id="6" name="Rectangle 5"/>
          <p:cNvSpPr/>
          <p:nvPr/>
        </p:nvSpPr>
        <p:spPr>
          <a:xfrm>
            <a:off x="2857500" y="786711"/>
            <a:ext cx="8356600" cy="307777"/>
          </a:xfrm>
          <a:prstGeom prst="rect">
            <a:avLst/>
          </a:prstGeom>
        </p:spPr>
        <p:txBody>
          <a:bodyPr wrap="square">
            <a:spAutoFit/>
          </a:bodyPr>
          <a:lstStyle/>
          <a:p>
            <a:r>
              <a:rPr lang="fr-FR" sz="1400" dirty="0" smtClean="0">
                <a:solidFill>
                  <a:srgbClr val="0D0D0D"/>
                </a:solidFill>
                <a:latin typeface="Söhne"/>
              </a:rPr>
              <a:t>Permettent </a:t>
            </a:r>
            <a:r>
              <a:rPr lang="fr-FR" sz="1400" dirty="0">
                <a:solidFill>
                  <a:srgbClr val="0D0D0D"/>
                </a:solidFill>
                <a:latin typeface="Söhne"/>
              </a:rPr>
              <a:t>de partager et de réutiliser des morceaux de code </a:t>
            </a:r>
            <a:r>
              <a:rPr lang="fr-FR" sz="1400" dirty="0" err="1">
                <a:solidFill>
                  <a:srgbClr val="0D0D0D"/>
                </a:solidFill>
                <a:latin typeface="Söhne"/>
              </a:rPr>
              <a:t>Groovy</a:t>
            </a:r>
            <a:r>
              <a:rPr lang="fr-FR" sz="1400" dirty="0">
                <a:solidFill>
                  <a:srgbClr val="0D0D0D"/>
                </a:solidFill>
                <a:latin typeface="Söhne"/>
              </a:rPr>
              <a:t> dans différents pipelines Jenkins</a:t>
            </a:r>
            <a:endParaRPr lang="fr-FR" sz="1400" dirty="0"/>
          </a:p>
        </p:txBody>
      </p:sp>
      <p:sp>
        <p:nvSpPr>
          <p:cNvPr id="10" name="Rectangle 9"/>
          <p:cNvSpPr/>
          <p:nvPr/>
        </p:nvSpPr>
        <p:spPr>
          <a:xfrm>
            <a:off x="2857499" y="1230744"/>
            <a:ext cx="8478555" cy="3108543"/>
          </a:xfrm>
          <a:prstGeom prst="rect">
            <a:avLst/>
          </a:prstGeom>
        </p:spPr>
        <p:txBody>
          <a:bodyPr wrap="square">
            <a:spAutoFit/>
          </a:bodyPr>
          <a:lstStyle/>
          <a:p>
            <a:r>
              <a:rPr lang="fr-FR" sz="1400" b="1" dirty="0"/>
              <a:t>Configuration dans la section "Configurer le système" : </a:t>
            </a:r>
            <a:r>
              <a:rPr lang="fr-FR" sz="1400" dirty="0"/>
              <a:t>Pour définir une bibliothèque de pipeline globale, </a:t>
            </a:r>
            <a:r>
              <a:rPr lang="fr-FR" sz="1400" dirty="0" smtClean="0"/>
              <a:t>il faut accéder </a:t>
            </a:r>
            <a:r>
              <a:rPr lang="fr-FR" sz="1400" dirty="0"/>
              <a:t>à la section "Configurer le système" dans Jenkins. Sous cette section, </a:t>
            </a:r>
            <a:r>
              <a:rPr lang="fr-FR" sz="1400" dirty="0" smtClean="0"/>
              <a:t>il y a une </a:t>
            </a:r>
            <a:r>
              <a:rPr lang="fr-FR" sz="1400" dirty="0"/>
              <a:t>option pour configurer les bibliothèques de pipeline globales.</a:t>
            </a:r>
          </a:p>
          <a:p>
            <a:endParaRPr lang="fr-FR" sz="1400" dirty="0"/>
          </a:p>
          <a:p>
            <a:r>
              <a:rPr lang="fr-FR" sz="1400" b="1" dirty="0"/>
              <a:t>Spécification de la source de la bibliothèque : </a:t>
            </a:r>
            <a:r>
              <a:rPr lang="fr-FR" sz="1400" dirty="0" smtClean="0"/>
              <a:t>Il faut indiquer </a:t>
            </a:r>
            <a:r>
              <a:rPr lang="fr-FR" sz="1400" dirty="0"/>
              <a:t>à Jenkins où trouver les scripts de </a:t>
            </a:r>
            <a:r>
              <a:rPr lang="fr-FR" sz="1400" dirty="0" smtClean="0"/>
              <a:t>la bibliothèque </a:t>
            </a:r>
            <a:r>
              <a:rPr lang="fr-FR" sz="1400" dirty="0"/>
              <a:t>de pipeline globale. </a:t>
            </a:r>
            <a:r>
              <a:rPr lang="fr-FR" sz="1400" dirty="0" smtClean="0"/>
              <a:t>Il faut également spécifier </a:t>
            </a:r>
            <a:r>
              <a:rPr lang="fr-FR" sz="1400" dirty="0"/>
              <a:t>un référentiel Git, un dossier dans le système de fichiers Jenkins ou une URL accessible via HTTP(S).</a:t>
            </a:r>
          </a:p>
          <a:p>
            <a:endParaRPr lang="fr-FR" sz="1400" dirty="0"/>
          </a:p>
          <a:p>
            <a:r>
              <a:rPr lang="fr-FR" sz="1400" b="1" dirty="0"/>
              <a:t>Organisation des scripts : </a:t>
            </a:r>
            <a:r>
              <a:rPr lang="fr-FR" sz="1400" dirty="0" smtClean="0"/>
              <a:t>Il faut</a:t>
            </a:r>
            <a:r>
              <a:rPr lang="fr-FR" sz="1400" b="1" dirty="0" smtClean="0"/>
              <a:t> </a:t>
            </a:r>
            <a:r>
              <a:rPr lang="fr-FR" sz="1400" dirty="0" smtClean="0"/>
              <a:t>organiser les </a:t>
            </a:r>
            <a:r>
              <a:rPr lang="fr-FR" sz="1400" dirty="0"/>
              <a:t>scripts </a:t>
            </a:r>
            <a:r>
              <a:rPr lang="fr-FR" sz="1400" b="1" dirty="0" err="1"/>
              <a:t>Groovy</a:t>
            </a:r>
            <a:r>
              <a:rPr lang="fr-FR" sz="1400" dirty="0"/>
              <a:t> en packages et en classes, selon vos besoins. Ces scripts peuvent contenir des fonctions, des classes ou des méthodes utilisées dans vos pipelines Jenkins.</a:t>
            </a:r>
          </a:p>
          <a:p>
            <a:endParaRPr lang="fr-FR" sz="1400" dirty="0"/>
          </a:p>
          <a:p>
            <a:r>
              <a:rPr lang="fr-FR" sz="1400" b="1" dirty="0"/>
              <a:t>Utilisation dans les pipelines : </a:t>
            </a:r>
            <a:r>
              <a:rPr lang="fr-FR" sz="1400" dirty="0"/>
              <a:t>Une fois la bibliothèque de pipeline globale configurée, </a:t>
            </a:r>
            <a:r>
              <a:rPr lang="fr-FR" sz="1400" dirty="0" smtClean="0"/>
              <a:t>il faut l'utiliser </a:t>
            </a:r>
            <a:r>
              <a:rPr lang="fr-FR" sz="1400" dirty="0"/>
              <a:t>dans </a:t>
            </a:r>
            <a:r>
              <a:rPr lang="fr-FR" sz="1400" dirty="0" smtClean="0"/>
              <a:t>les </a:t>
            </a:r>
            <a:r>
              <a:rPr lang="fr-FR" sz="1400" dirty="0"/>
              <a:t>pipelines Jenkins en important les scripts nécessaires à l'aide de la directive </a:t>
            </a:r>
            <a:r>
              <a:rPr lang="fr-FR" sz="1400" dirty="0" smtClean="0"/>
              <a:t>@&lt;nom de </a:t>
            </a:r>
            <a:r>
              <a:rPr lang="fr-FR" sz="1400" dirty="0" err="1" smtClean="0"/>
              <a:t>liarairie</a:t>
            </a:r>
            <a:r>
              <a:rPr lang="fr-FR" sz="1400" dirty="0" smtClean="0"/>
              <a:t>&gt;. </a:t>
            </a:r>
            <a:r>
              <a:rPr lang="fr-FR" sz="1400" dirty="0"/>
              <a:t>Cette directive permet d'importer des scripts à partir de la bibliothèque globale dans </a:t>
            </a:r>
            <a:r>
              <a:rPr lang="fr-FR" sz="1400" dirty="0" smtClean="0"/>
              <a:t>la </a:t>
            </a:r>
            <a:r>
              <a:rPr lang="fr-FR" sz="1400" dirty="0"/>
              <a:t>pipeline.</a:t>
            </a:r>
          </a:p>
        </p:txBody>
      </p:sp>
      <p:pic>
        <p:nvPicPr>
          <p:cNvPr id="11" name="Image 10"/>
          <p:cNvPicPr>
            <a:picLocks noChangeAspect="1"/>
          </p:cNvPicPr>
          <p:nvPr/>
        </p:nvPicPr>
        <p:blipFill>
          <a:blip r:embed="rId4"/>
          <a:stretch>
            <a:fillRect/>
          </a:stretch>
        </p:blipFill>
        <p:spPr>
          <a:xfrm>
            <a:off x="168622" y="4638383"/>
            <a:ext cx="2731416" cy="754072"/>
          </a:xfrm>
          <a:prstGeom prst="rect">
            <a:avLst/>
          </a:prstGeom>
        </p:spPr>
      </p:pic>
      <p:sp>
        <p:nvSpPr>
          <p:cNvPr id="12" name="Rectangle 11"/>
          <p:cNvSpPr/>
          <p:nvPr/>
        </p:nvSpPr>
        <p:spPr>
          <a:xfrm>
            <a:off x="2857499" y="4652227"/>
            <a:ext cx="6096000" cy="523220"/>
          </a:xfrm>
          <a:prstGeom prst="rect">
            <a:avLst/>
          </a:prstGeom>
        </p:spPr>
        <p:txBody>
          <a:bodyPr>
            <a:spAutoFit/>
          </a:bodyPr>
          <a:lstStyle/>
          <a:p>
            <a:r>
              <a:rPr lang="fr-FR" sz="1400" dirty="0" smtClean="0">
                <a:solidFill>
                  <a:srgbClr val="0D0D0D"/>
                </a:solidFill>
                <a:latin typeface="Söhne"/>
              </a:rPr>
              <a:t>Permet </a:t>
            </a:r>
            <a:r>
              <a:rPr lang="fr-FR" sz="1400" dirty="0">
                <a:solidFill>
                  <a:srgbClr val="0D0D0D"/>
                </a:solidFill>
                <a:latin typeface="Söhne"/>
              </a:rPr>
              <a:t>d'activer ou de désactiver l'affichage des actions de </a:t>
            </a:r>
            <a:r>
              <a:rPr lang="fr-FR" sz="1400" dirty="0" err="1">
                <a:solidFill>
                  <a:srgbClr val="0D0D0D"/>
                </a:solidFill>
                <a:latin typeface="Söhne"/>
              </a:rPr>
              <a:t>build</a:t>
            </a:r>
            <a:r>
              <a:rPr lang="fr-FR" sz="1400" dirty="0">
                <a:solidFill>
                  <a:srgbClr val="0D0D0D"/>
                </a:solidFill>
                <a:latin typeface="Söhne"/>
              </a:rPr>
              <a:t> dans la vue de l'historique des </a:t>
            </a:r>
            <a:r>
              <a:rPr lang="fr-FR" sz="1400" dirty="0" err="1">
                <a:solidFill>
                  <a:srgbClr val="0D0D0D"/>
                </a:solidFill>
                <a:latin typeface="Söhne"/>
              </a:rPr>
              <a:t>builds</a:t>
            </a:r>
            <a:endParaRPr lang="fr-FR" sz="1400" dirty="0"/>
          </a:p>
        </p:txBody>
      </p:sp>
      <p:sp>
        <p:nvSpPr>
          <p:cNvPr id="15" name="Rectangle 14"/>
          <p:cNvSpPr/>
          <p:nvPr/>
        </p:nvSpPr>
        <p:spPr>
          <a:xfrm>
            <a:off x="189776" y="176927"/>
            <a:ext cx="5461752" cy="369332"/>
          </a:xfrm>
          <a:prstGeom prst="rect">
            <a:avLst/>
          </a:prstGeom>
        </p:spPr>
        <p:txBody>
          <a:bodyPr wrap="none">
            <a:spAutoFit/>
          </a:bodyPr>
          <a:lstStyle/>
          <a:p>
            <a:r>
              <a:rPr lang="fr-FR" altLang="fr-FR" b="1" dirty="0">
                <a:latin typeface="Times New Roman" panose="02020603050405020304" pitchFamily="18" charset="0"/>
                <a:cs typeface="Times New Roman" panose="02020603050405020304" pitchFamily="18" charset="0"/>
              </a:rPr>
              <a:t>Les actions post installation (Configurations globales)</a:t>
            </a:r>
            <a:endParaRPr lang="fr-FR" alt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5925002"/>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189776" y="176927"/>
            <a:ext cx="4063933" cy="369332"/>
          </a:xfrm>
          <a:prstGeom prst="rect">
            <a:avLst/>
          </a:prstGeom>
        </p:spPr>
        <p:txBody>
          <a:bodyPr wrap="none">
            <a:spAutoFit/>
          </a:bodyPr>
          <a:lstStyle/>
          <a:p>
            <a:r>
              <a:rPr lang="fr-FR" altLang="fr-FR" b="1" dirty="0">
                <a:latin typeface="Times New Roman" panose="02020603050405020304" pitchFamily="18" charset="0"/>
                <a:cs typeface="Times New Roman" panose="02020603050405020304" pitchFamily="18" charset="0"/>
              </a:rPr>
              <a:t>Les actions </a:t>
            </a:r>
            <a:r>
              <a:rPr lang="fr-FR" altLang="fr-FR" b="1" dirty="0" smtClean="0">
                <a:latin typeface="Times New Roman" panose="02020603050405020304" pitchFamily="18" charset="0"/>
                <a:cs typeface="Times New Roman" panose="02020603050405020304" pitchFamily="18" charset="0"/>
              </a:rPr>
              <a:t>post installation (Les outils)</a:t>
            </a:r>
            <a:endParaRPr lang="fr-FR" altLang="en-US" b="1" dirty="0">
              <a:latin typeface="Times New Roman" panose="02020603050405020304" pitchFamily="18" charset="0"/>
              <a:cs typeface="Times New Roman" panose="02020603050405020304" pitchFamily="18" charset="0"/>
            </a:endParaRPr>
          </a:p>
        </p:txBody>
      </p:sp>
      <p:pic>
        <p:nvPicPr>
          <p:cNvPr id="3" name="Image 2"/>
          <p:cNvPicPr>
            <a:picLocks noChangeAspect="1"/>
          </p:cNvPicPr>
          <p:nvPr/>
        </p:nvPicPr>
        <p:blipFill>
          <a:blip r:embed="rId3"/>
          <a:stretch>
            <a:fillRect/>
          </a:stretch>
        </p:blipFill>
        <p:spPr>
          <a:xfrm>
            <a:off x="1310401" y="762743"/>
            <a:ext cx="2494356" cy="1507645"/>
          </a:xfrm>
          <a:prstGeom prst="rect">
            <a:avLst/>
          </a:prstGeom>
        </p:spPr>
      </p:pic>
      <p:pic>
        <p:nvPicPr>
          <p:cNvPr id="4" name="Image 3"/>
          <p:cNvPicPr>
            <a:picLocks noChangeAspect="1"/>
          </p:cNvPicPr>
          <p:nvPr/>
        </p:nvPicPr>
        <p:blipFill rotWithShape="1">
          <a:blip r:embed="rId4"/>
          <a:srcRect l="9063"/>
          <a:stretch/>
        </p:blipFill>
        <p:spPr>
          <a:xfrm>
            <a:off x="1310401" y="2376789"/>
            <a:ext cx="1782049" cy="884006"/>
          </a:xfrm>
          <a:prstGeom prst="rect">
            <a:avLst/>
          </a:prstGeom>
        </p:spPr>
      </p:pic>
      <p:pic>
        <p:nvPicPr>
          <p:cNvPr id="7" name="Image 6"/>
          <p:cNvPicPr>
            <a:picLocks noChangeAspect="1"/>
          </p:cNvPicPr>
          <p:nvPr/>
        </p:nvPicPr>
        <p:blipFill>
          <a:blip r:embed="rId5"/>
          <a:stretch>
            <a:fillRect/>
          </a:stretch>
        </p:blipFill>
        <p:spPr>
          <a:xfrm>
            <a:off x="1310401" y="3367196"/>
            <a:ext cx="2325405" cy="3409383"/>
          </a:xfrm>
          <a:prstGeom prst="rect">
            <a:avLst/>
          </a:prstGeom>
        </p:spPr>
      </p:pic>
      <p:pic>
        <p:nvPicPr>
          <p:cNvPr id="8" name="Image 7"/>
          <p:cNvPicPr>
            <a:picLocks noChangeAspect="1"/>
          </p:cNvPicPr>
          <p:nvPr/>
        </p:nvPicPr>
        <p:blipFill rotWithShape="1">
          <a:blip r:embed="rId6"/>
          <a:srcRect l="8167" t="12680" r="26152" b="4247"/>
          <a:stretch/>
        </p:blipFill>
        <p:spPr>
          <a:xfrm>
            <a:off x="6591300" y="839390"/>
            <a:ext cx="1466850" cy="729060"/>
          </a:xfrm>
          <a:prstGeom prst="rect">
            <a:avLst/>
          </a:prstGeom>
        </p:spPr>
      </p:pic>
      <p:pic>
        <p:nvPicPr>
          <p:cNvPr id="9" name="Image 8"/>
          <p:cNvPicPr>
            <a:picLocks noChangeAspect="1"/>
          </p:cNvPicPr>
          <p:nvPr/>
        </p:nvPicPr>
        <p:blipFill>
          <a:blip r:embed="rId7"/>
          <a:stretch>
            <a:fillRect/>
          </a:stretch>
        </p:blipFill>
        <p:spPr>
          <a:xfrm>
            <a:off x="6591300" y="1944189"/>
            <a:ext cx="1952815" cy="846675"/>
          </a:xfrm>
          <a:prstGeom prst="rect">
            <a:avLst/>
          </a:prstGeom>
        </p:spPr>
      </p:pic>
      <p:pic>
        <p:nvPicPr>
          <p:cNvPr id="13" name="Image 12"/>
          <p:cNvPicPr>
            <a:picLocks noChangeAspect="1"/>
          </p:cNvPicPr>
          <p:nvPr/>
        </p:nvPicPr>
        <p:blipFill>
          <a:blip r:embed="rId8"/>
          <a:stretch>
            <a:fillRect/>
          </a:stretch>
        </p:blipFill>
        <p:spPr>
          <a:xfrm>
            <a:off x="6591300" y="3166603"/>
            <a:ext cx="1792467" cy="787098"/>
          </a:xfrm>
          <a:prstGeom prst="rect">
            <a:avLst/>
          </a:prstGeom>
        </p:spPr>
      </p:pic>
      <p:sp>
        <p:nvSpPr>
          <p:cNvPr id="16" name="Ellipse 15"/>
          <p:cNvSpPr/>
          <p:nvPr/>
        </p:nvSpPr>
        <p:spPr>
          <a:xfrm>
            <a:off x="2764204" y="1404327"/>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1</a:t>
            </a:r>
            <a:endParaRPr lang="fr-FR" sz="1400" b="1" dirty="0"/>
          </a:p>
        </p:txBody>
      </p:sp>
      <p:sp>
        <p:nvSpPr>
          <p:cNvPr id="17" name="Ellipse 16"/>
          <p:cNvSpPr/>
          <p:nvPr/>
        </p:nvSpPr>
        <p:spPr>
          <a:xfrm>
            <a:off x="2057619" y="2852190"/>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2</a:t>
            </a:r>
            <a:endParaRPr lang="fr-FR" sz="1400" b="1" dirty="0"/>
          </a:p>
        </p:txBody>
      </p:sp>
      <p:sp>
        <p:nvSpPr>
          <p:cNvPr id="18" name="Ellipse 17"/>
          <p:cNvSpPr/>
          <p:nvPr/>
        </p:nvSpPr>
        <p:spPr>
          <a:xfrm>
            <a:off x="2600081" y="3789578"/>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3</a:t>
            </a:r>
            <a:endParaRPr lang="fr-FR" sz="1400" b="1" dirty="0"/>
          </a:p>
        </p:txBody>
      </p:sp>
      <p:sp>
        <p:nvSpPr>
          <p:cNvPr id="19" name="Ellipse 18"/>
          <p:cNvSpPr/>
          <p:nvPr/>
        </p:nvSpPr>
        <p:spPr>
          <a:xfrm>
            <a:off x="7569356" y="1070709"/>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4</a:t>
            </a:r>
            <a:endParaRPr lang="fr-FR" sz="1400" b="1" dirty="0"/>
          </a:p>
        </p:txBody>
      </p:sp>
      <p:sp>
        <p:nvSpPr>
          <p:cNvPr id="20" name="Ellipse 19"/>
          <p:cNvSpPr/>
          <p:nvPr/>
        </p:nvSpPr>
        <p:spPr>
          <a:xfrm>
            <a:off x="7487533" y="2328345"/>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5</a:t>
            </a:r>
            <a:endParaRPr lang="fr-FR" sz="1400" b="1" dirty="0"/>
          </a:p>
        </p:txBody>
      </p:sp>
      <p:sp>
        <p:nvSpPr>
          <p:cNvPr id="21" name="Ellipse 20"/>
          <p:cNvSpPr/>
          <p:nvPr/>
        </p:nvSpPr>
        <p:spPr>
          <a:xfrm>
            <a:off x="7527365" y="3461332"/>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6</a:t>
            </a:r>
            <a:endParaRPr lang="fr-FR" sz="1400" b="1" dirty="0"/>
          </a:p>
        </p:txBody>
      </p:sp>
    </p:spTree>
    <p:extLst>
      <p:ext uri="{BB962C8B-B14F-4D97-AF65-F5344CB8AC3E}">
        <p14:creationId xmlns:p14="http://schemas.microsoft.com/office/powerpoint/2010/main" val="3212005481"/>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189776" y="176927"/>
            <a:ext cx="5756704" cy="369332"/>
          </a:xfrm>
          <a:prstGeom prst="rect">
            <a:avLst/>
          </a:prstGeom>
        </p:spPr>
        <p:txBody>
          <a:bodyPr wrap="none">
            <a:spAutoFit/>
          </a:bodyPr>
          <a:lstStyle/>
          <a:p>
            <a:r>
              <a:rPr lang="fr-FR" altLang="fr-FR" b="1" dirty="0">
                <a:latin typeface="Times New Roman" panose="02020603050405020304" pitchFamily="18" charset="0"/>
                <a:cs typeface="Times New Roman" panose="02020603050405020304" pitchFamily="18" charset="0"/>
              </a:rPr>
              <a:t>Les actions </a:t>
            </a:r>
            <a:r>
              <a:rPr lang="fr-FR" altLang="fr-FR" b="1" dirty="0" smtClean="0">
                <a:latin typeface="Times New Roman" panose="02020603050405020304" pitchFamily="18" charset="0"/>
                <a:cs typeface="Times New Roman" panose="02020603050405020304" pitchFamily="18" charset="0"/>
              </a:rPr>
              <a:t>post installation (La stratégie de sauvegarde)</a:t>
            </a:r>
            <a:endParaRPr lang="fr-FR" altLang="en-US" b="1" dirty="0">
              <a:latin typeface="Times New Roman" panose="02020603050405020304" pitchFamily="18" charset="0"/>
              <a:cs typeface="Times New Roman" panose="02020603050405020304" pitchFamily="18" charset="0"/>
            </a:endParaRPr>
          </a:p>
        </p:txBody>
      </p:sp>
      <p:sp>
        <p:nvSpPr>
          <p:cNvPr id="2" name="Rectangle 1"/>
          <p:cNvSpPr/>
          <p:nvPr/>
        </p:nvSpPr>
        <p:spPr>
          <a:xfrm>
            <a:off x="361166" y="725890"/>
            <a:ext cx="11231671" cy="307777"/>
          </a:xfrm>
          <a:prstGeom prst="rect">
            <a:avLst/>
          </a:prstGeom>
        </p:spPr>
        <p:txBody>
          <a:bodyPr wrap="square">
            <a:spAutoFit/>
          </a:bodyPr>
          <a:lstStyle/>
          <a:p>
            <a:r>
              <a:rPr lang="fr-FR" sz="1400" dirty="0" smtClean="0">
                <a:solidFill>
                  <a:srgbClr val="0D0D0D"/>
                </a:solidFill>
                <a:latin typeface="Söhne"/>
              </a:rPr>
              <a:t>La bonne pratique consiste à mettre </a:t>
            </a:r>
            <a:r>
              <a:rPr lang="fr-FR" sz="1400" dirty="0">
                <a:solidFill>
                  <a:srgbClr val="0D0D0D"/>
                </a:solidFill>
                <a:latin typeface="Söhne"/>
              </a:rPr>
              <a:t>en place un plan de sauvegarde régulier pour les données de Jenkins, vous pouvez suivre ces étapes :</a:t>
            </a:r>
            <a:endParaRPr lang="fr-FR" sz="1400" dirty="0"/>
          </a:p>
        </p:txBody>
      </p:sp>
      <p:sp>
        <p:nvSpPr>
          <p:cNvPr id="5" name="Rectangle 4"/>
          <p:cNvSpPr/>
          <p:nvPr/>
        </p:nvSpPr>
        <p:spPr>
          <a:xfrm>
            <a:off x="448848" y="1213298"/>
            <a:ext cx="10874681" cy="3539430"/>
          </a:xfrm>
          <a:prstGeom prst="rect">
            <a:avLst/>
          </a:prstGeom>
        </p:spPr>
        <p:txBody>
          <a:bodyPr wrap="square">
            <a:spAutoFit/>
          </a:bodyPr>
          <a:lstStyle/>
          <a:p>
            <a:pPr>
              <a:buFont typeface="+mj-lt"/>
              <a:buAutoNum type="arabicPeriod"/>
            </a:pPr>
            <a:r>
              <a:rPr lang="fr-FR" sz="1400" b="1" dirty="0">
                <a:solidFill>
                  <a:srgbClr val="0D0D0D"/>
                </a:solidFill>
                <a:latin typeface="Söhne"/>
              </a:rPr>
              <a:t>Identifier les données à sauvegarder</a:t>
            </a:r>
            <a:r>
              <a:rPr lang="fr-FR" sz="1400" dirty="0">
                <a:solidFill>
                  <a:srgbClr val="0D0D0D"/>
                </a:solidFill>
                <a:latin typeface="Söhne"/>
              </a:rPr>
              <a:t> : Avant de commencer, </a:t>
            </a:r>
            <a:r>
              <a:rPr lang="fr-FR" sz="1400" dirty="0" smtClean="0">
                <a:solidFill>
                  <a:srgbClr val="0D0D0D"/>
                </a:solidFill>
                <a:latin typeface="Söhne"/>
              </a:rPr>
              <a:t>il faut identifier </a:t>
            </a:r>
            <a:r>
              <a:rPr lang="fr-FR" sz="1400" dirty="0">
                <a:solidFill>
                  <a:srgbClr val="0D0D0D"/>
                </a:solidFill>
                <a:latin typeface="Söhne"/>
              </a:rPr>
              <a:t>l</a:t>
            </a:r>
            <a:r>
              <a:rPr lang="fr-FR" sz="1400" dirty="0" smtClean="0">
                <a:solidFill>
                  <a:srgbClr val="0D0D0D"/>
                </a:solidFill>
                <a:latin typeface="Söhne"/>
              </a:rPr>
              <a:t>es données à sauvegarder</a:t>
            </a:r>
            <a:r>
              <a:rPr lang="fr-FR" sz="1400" dirty="0">
                <a:solidFill>
                  <a:srgbClr val="0D0D0D"/>
                </a:solidFill>
                <a:latin typeface="Söhne"/>
              </a:rPr>
              <a:t>. Cela peut inclure les configurations de Jenkins, les jobs, les plugins installés, les données d'utilisateur, etc</a:t>
            </a:r>
            <a:r>
              <a:rPr lang="fr-FR" sz="1400" dirty="0" smtClean="0">
                <a:solidFill>
                  <a:srgbClr val="0D0D0D"/>
                </a:solidFill>
                <a:latin typeface="Söhne"/>
              </a:rPr>
              <a:t>.</a:t>
            </a:r>
          </a:p>
          <a:p>
            <a:pPr>
              <a:buFont typeface="+mj-lt"/>
              <a:buAutoNum type="arabicPeriod"/>
            </a:pPr>
            <a:endParaRPr lang="fr-FR" sz="1400" dirty="0">
              <a:solidFill>
                <a:srgbClr val="0D0D0D"/>
              </a:solidFill>
              <a:latin typeface="Söhne"/>
            </a:endParaRPr>
          </a:p>
          <a:p>
            <a:pPr>
              <a:buFont typeface="+mj-lt"/>
              <a:buAutoNum type="arabicPeriod"/>
            </a:pPr>
            <a:r>
              <a:rPr lang="fr-FR" sz="1400" b="1" dirty="0">
                <a:solidFill>
                  <a:srgbClr val="0D0D0D"/>
                </a:solidFill>
                <a:latin typeface="Söhne"/>
              </a:rPr>
              <a:t>Planification des sauvegardes</a:t>
            </a:r>
            <a:r>
              <a:rPr lang="fr-FR" sz="1400" dirty="0">
                <a:solidFill>
                  <a:srgbClr val="0D0D0D"/>
                </a:solidFill>
                <a:latin typeface="Söhne"/>
              </a:rPr>
              <a:t> : </a:t>
            </a:r>
            <a:r>
              <a:rPr lang="fr-FR" sz="1400" dirty="0" smtClean="0">
                <a:solidFill>
                  <a:srgbClr val="0D0D0D"/>
                </a:solidFill>
                <a:latin typeface="Söhne"/>
              </a:rPr>
              <a:t>Décider </a:t>
            </a:r>
            <a:r>
              <a:rPr lang="fr-FR" sz="1400" dirty="0">
                <a:solidFill>
                  <a:srgbClr val="0D0D0D"/>
                </a:solidFill>
                <a:latin typeface="Söhne"/>
              </a:rPr>
              <a:t>de la fréquence à laquelle </a:t>
            </a:r>
            <a:r>
              <a:rPr lang="fr-FR" sz="1400" dirty="0" smtClean="0">
                <a:solidFill>
                  <a:srgbClr val="0D0D0D"/>
                </a:solidFill>
                <a:latin typeface="Söhne"/>
              </a:rPr>
              <a:t>effectuer </a:t>
            </a:r>
            <a:r>
              <a:rPr lang="fr-FR" sz="1400" dirty="0">
                <a:solidFill>
                  <a:srgbClr val="0D0D0D"/>
                </a:solidFill>
                <a:latin typeface="Söhne"/>
              </a:rPr>
              <a:t>des sauvegardes. Les sauvegardes </a:t>
            </a:r>
            <a:r>
              <a:rPr lang="fr-FR" sz="1400" dirty="0" smtClean="0">
                <a:solidFill>
                  <a:srgbClr val="0D0D0D"/>
                </a:solidFill>
                <a:latin typeface="Söhne"/>
              </a:rPr>
              <a:t>périodiques </a:t>
            </a:r>
            <a:r>
              <a:rPr lang="fr-FR" sz="1400" dirty="0">
                <a:solidFill>
                  <a:srgbClr val="0D0D0D"/>
                </a:solidFill>
                <a:latin typeface="Söhne"/>
              </a:rPr>
              <a:t>sont généralement recommandées, mais cela dépend de la criticité </a:t>
            </a:r>
            <a:r>
              <a:rPr lang="fr-FR" sz="1400" dirty="0" smtClean="0">
                <a:solidFill>
                  <a:srgbClr val="0D0D0D"/>
                </a:solidFill>
                <a:latin typeface="Söhne"/>
              </a:rPr>
              <a:t>des </a:t>
            </a:r>
            <a:r>
              <a:rPr lang="fr-FR" sz="1400" dirty="0">
                <a:solidFill>
                  <a:srgbClr val="0D0D0D"/>
                </a:solidFill>
                <a:latin typeface="Söhne"/>
              </a:rPr>
              <a:t>données et de la fréquence des changements</a:t>
            </a:r>
            <a:r>
              <a:rPr lang="fr-FR" sz="1400" dirty="0" smtClean="0">
                <a:solidFill>
                  <a:srgbClr val="0D0D0D"/>
                </a:solidFill>
                <a:latin typeface="Söhne"/>
              </a:rPr>
              <a:t>.</a:t>
            </a:r>
          </a:p>
          <a:p>
            <a:pPr>
              <a:buFont typeface="+mj-lt"/>
              <a:buAutoNum type="arabicPeriod"/>
            </a:pPr>
            <a:endParaRPr lang="fr-FR" sz="1400" dirty="0">
              <a:solidFill>
                <a:srgbClr val="0D0D0D"/>
              </a:solidFill>
              <a:latin typeface="Söhne"/>
            </a:endParaRPr>
          </a:p>
          <a:p>
            <a:pPr>
              <a:buFont typeface="+mj-lt"/>
              <a:buAutoNum type="arabicPeriod"/>
            </a:pPr>
            <a:r>
              <a:rPr lang="fr-FR" sz="1400" b="1" dirty="0">
                <a:solidFill>
                  <a:srgbClr val="0D0D0D"/>
                </a:solidFill>
                <a:latin typeface="Söhne"/>
              </a:rPr>
              <a:t>Choix de la méthode de sauvegarde</a:t>
            </a:r>
            <a:r>
              <a:rPr lang="fr-FR" sz="1400" dirty="0">
                <a:solidFill>
                  <a:srgbClr val="0D0D0D"/>
                </a:solidFill>
                <a:latin typeface="Söhne"/>
              </a:rPr>
              <a:t> : Jenkins stocke ses données dans le répertoire d'installation et le répertoire de données, </a:t>
            </a:r>
            <a:r>
              <a:rPr lang="fr-FR" sz="1400" dirty="0" smtClean="0">
                <a:solidFill>
                  <a:srgbClr val="0D0D0D"/>
                </a:solidFill>
                <a:latin typeface="Söhne"/>
              </a:rPr>
              <a:t>donc </a:t>
            </a:r>
            <a:r>
              <a:rPr lang="fr-FR" sz="1400" dirty="0">
                <a:solidFill>
                  <a:srgbClr val="0D0D0D"/>
                </a:solidFill>
                <a:latin typeface="Söhne"/>
              </a:rPr>
              <a:t>simplement </a:t>
            </a:r>
            <a:r>
              <a:rPr lang="fr-FR" sz="1400" dirty="0" smtClean="0">
                <a:solidFill>
                  <a:srgbClr val="0D0D0D"/>
                </a:solidFill>
                <a:latin typeface="Söhne"/>
              </a:rPr>
              <a:t>il faut sauvegarder </a:t>
            </a:r>
            <a:r>
              <a:rPr lang="fr-FR" sz="1400" dirty="0">
                <a:solidFill>
                  <a:srgbClr val="0D0D0D"/>
                </a:solidFill>
                <a:latin typeface="Söhne"/>
              </a:rPr>
              <a:t>ces répertoires. </a:t>
            </a:r>
          </a:p>
          <a:p>
            <a:pPr>
              <a:buFont typeface="+mj-lt"/>
              <a:buAutoNum type="arabicPeriod"/>
            </a:pPr>
            <a:endParaRPr lang="fr-FR" sz="1400" b="1" dirty="0" smtClean="0">
              <a:solidFill>
                <a:srgbClr val="0D0D0D"/>
              </a:solidFill>
              <a:latin typeface="Söhne"/>
            </a:endParaRPr>
          </a:p>
          <a:p>
            <a:pPr>
              <a:buFont typeface="+mj-lt"/>
              <a:buAutoNum type="arabicPeriod"/>
            </a:pPr>
            <a:r>
              <a:rPr lang="fr-FR" sz="1400" b="1" dirty="0" smtClean="0">
                <a:solidFill>
                  <a:srgbClr val="0D0D0D"/>
                </a:solidFill>
                <a:latin typeface="Söhne"/>
              </a:rPr>
              <a:t>Test </a:t>
            </a:r>
            <a:r>
              <a:rPr lang="fr-FR" sz="1400" b="1" dirty="0">
                <a:solidFill>
                  <a:srgbClr val="0D0D0D"/>
                </a:solidFill>
                <a:latin typeface="Söhne"/>
              </a:rPr>
              <a:t>des sauvegardes</a:t>
            </a:r>
            <a:r>
              <a:rPr lang="fr-FR" sz="1400" dirty="0">
                <a:solidFill>
                  <a:srgbClr val="0D0D0D"/>
                </a:solidFill>
                <a:latin typeface="Söhne"/>
              </a:rPr>
              <a:t> : Après avoir configuré les sauvegardes, </a:t>
            </a:r>
            <a:r>
              <a:rPr lang="fr-FR" sz="1400" dirty="0" smtClean="0">
                <a:solidFill>
                  <a:srgbClr val="0D0D0D"/>
                </a:solidFill>
                <a:latin typeface="Söhne"/>
              </a:rPr>
              <a:t>il faut s'assurer </a:t>
            </a:r>
            <a:r>
              <a:rPr lang="fr-FR" sz="1400" dirty="0">
                <a:solidFill>
                  <a:srgbClr val="0D0D0D"/>
                </a:solidFill>
                <a:latin typeface="Söhne"/>
              </a:rPr>
              <a:t>de tester régulièrement la restauration à partir de ces </a:t>
            </a:r>
            <a:r>
              <a:rPr lang="fr-FR" sz="1400" dirty="0" smtClean="0">
                <a:solidFill>
                  <a:srgbClr val="0D0D0D"/>
                </a:solidFill>
                <a:latin typeface="Söhne"/>
              </a:rPr>
              <a:t>sauvegardes.</a:t>
            </a:r>
          </a:p>
          <a:p>
            <a:pPr>
              <a:buFont typeface="+mj-lt"/>
              <a:buAutoNum type="arabicPeriod"/>
            </a:pPr>
            <a:endParaRPr lang="fr-FR" sz="1400" dirty="0">
              <a:solidFill>
                <a:srgbClr val="0D0D0D"/>
              </a:solidFill>
              <a:latin typeface="Söhne"/>
            </a:endParaRPr>
          </a:p>
          <a:p>
            <a:pPr>
              <a:buFont typeface="+mj-lt"/>
              <a:buAutoNum type="arabicPeriod"/>
            </a:pPr>
            <a:r>
              <a:rPr lang="fr-FR" sz="1400" b="1" dirty="0">
                <a:solidFill>
                  <a:srgbClr val="0D0D0D"/>
                </a:solidFill>
                <a:latin typeface="Söhne"/>
              </a:rPr>
              <a:t>Stockage sécurisé des sauvegardes</a:t>
            </a:r>
            <a:r>
              <a:rPr lang="fr-FR" sz="1400" dirty="0">
                <a:solidFill>
                  <a:srgbClr val="0D0D0D"/>
                </a:solidFill>
                <a:latin typeface="Söhne"/>
              </a:rPr>
              <a:t> : </a:t>
            </a:r>
            <a:r>
              <a:rPr lang="fr-FR" sz="1400" dirty="0" smtClean="0">
                <a:solidFill>
                  <a:srgbClr val="0D0D0D"/>
                </a:solidFill>
                <a:latin typeface="Söhne"/>
              </a:rPr>
              <a:t>Stocker les sauvegardes de </a:t>
            </a:r>
            <a:r>
              <a:rPr lang="fr-FR" sz="1400" dirty="0">
                <a:solidFill>
                  <a:srgbClr val="0D0D0D"/>
                </a:solidFill>
                <a:latin typeface="Söhne"/>
              </a:rPr>
              <a:t>préférence sur un serveur distant ou dans le cloud, pour éviter la perte de données en cas de sinistre sur le serveur Jenkins principal</a:t>
            </a:r>
            <a:r>
              <a:rPr lang="fr-FR" sz="1400" dirty="0" smtClean="0">
                <a:solidFill>
                  <a:srgbClr val="0D0D0D"/>
                </a:solidFill>
                <a:latin typeface="Söhne"/>
              </a:rPr>
              <a:t>.</a:t>
            </a:r>
          </a:p>
          <a:p>
            <a:pPr>
              <a:buFont typeface="+mj-lt"/>
              <a:buAutoNum type="arabicPeriod"/>
            </a:pPr>
            <a:endParaRPr lang="fr-FR" sz="1400" dirty="0">
              <a:solidFill>
                <a:srgbClr val="0D0D0D"/>
              </a:solidFill>
              <a:latin typeface="Söhne"/>
            </a:endParaRPr>
          </a:p>
          <a:p>
            <a:pPr>
              <a:buFont typeface="+mj-lt"/>
              <a:buAutoNum type="arabicPeriod"/>
            </a:pPr>
            <a:r>
              <a:rPr lang="fr-FR" sz="1400" b="1" dirty="0">
                <a:solidFill>
                  <a:srgbClr val="0D0D0D"/>
                </a:solidFill>
                <a:latin typeface="Söhne"/>
              </a:rPr>
              <a:t>Surveillance et maintenance</a:t>
            </a:r>
            <a:r>
              <a:rPr lang="fr-FR" sz="1400" dirty="0">
                <a:solidFill>
                  <a:srgbClr val="0D0D0D"/>
                </a:solidFill>
                <a:latin typeface="Söhne"/>
              </a:rPr>
              <a:t> : </a:t>
            </a:r>
            <a:r>
              <a:rPr lang="fr-FR" sz="1400" dirty="0" smtClean="0">
                <a:solidFill>
                  <a:srgbClr val="0D0D0D"/>
                </a:solidFill>
                <a:latin typeface="Söhne"/>
              </a:rPr>
              <a:t>Mettre </a:t>
            </a:r>
            <a:r>
              <a:rPr lang="fr-FR" sz="1400" dirty="0">
                <a:solidFill>
                  <a:srgbClr val="0D0D0D"/>
                </a:solidFill>
                <a:latin typeface="Söhne"/>
              </a:rPr>
              <a:t>en place des alertes pour être averti en cas d'échec de </a:t>
            </a:r>
            <a:r>
              <a:rPr lang="fr-FR" sz="1400" dirty="0" smtClean="0">
                <a:solidFill>
                  <a:srgbClr val="0D0D0D"/>
                </a:solidFill>
                <a:latin typeface="Söhne"/>
              </a:rPr>
              <a:t>sauvegarde</a:t>
            </a:r>
            <a:endParaRPr lang="fr-FR" sz="1400" b="0" i="0" dirty="0">
              <a:solidFill>
                <a:srgbClr val="0D0D0D"/>
              </a:solidFill>
              <a:effectLst/>
              <a:latin typeface="Söhne"/>
            </a:endParaRPr>
          </a:p>
        </p:txBody>
      </p:sp>
    </p:spTree>
    <p:extLst>
      <p:ext uri="{BB962C8B-B14F-4D97-AF65-F5344CB8AC3E}">
        <p14:creationId xmlns:p14="http://schemas.microsoft.com/office/powerpoint/2010/main" val="4024587404"/>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189776" y="176927"/>
            <a:ext cx="5756704" cy="369332"/>
          </a:xfrm>
          <a:prstGeom prst="rect">
            <a:avLst/>
          </a:prstGeom>
        </p:spPr>
        <p:txBody>
          <a:bodyPr wrap="none">
            <a:spAutoFit/>
          </a:bodyPr>
          <a:lstStyle/>
          <a:p>
            <a:r>
              <a:rPr lang="fr-FR" altLang="fr-FR" b="1" dirty="0">
                <a:latin typeface="Times New Roman" panose="02020603050405020304" pitchFamily="18" charset="0"/>
                <a:cs typeface="Times New Roman" panose="02020603050405020304" pitchFamily="18" charset="0"/>
              </a:rPr>
              <a:t>Les actions </a:t>
            </a:r>
            <a:r>
              <a:rPr lang="fr-FR" altLang="fr-FR" b="1" dirty="0" smtClean="0">
                <a:latin typeface="Times New Roman" panose="02020603050405020304" pitchFamily="18" charset="0"/>
                <a:cs typeface="Times New Roman" panose="02020603050405020304" pitchFamily="18" charset="0"/>
              </a:rPr>
              <a:t>post installation (La stratégie de sauvegarde)</a:t>
            </a:r>
            <a:endParaRPr lang="fr-FR" altLang="en-US" b="1" dirty="0">
              <a:latin typeface="Times New Roman" panose="02020603050405020304" pitchFamily="18" charset="0"/>
              <a:cs typeface="Times New Roman" panose="02020603050405020304" pitchFamily="18" charset="0"/>
            </a:endParaRPr>
          </a:p>
        </p:txBody>
      </p:sp>
      <p:sp>
        <p:nvSpPr>
          <p:cNvPr id="3" name="Rectangle 2"/>
          <p:cNvSpPr/>
          <p:nvPr/>
        </p:nvSpPr>
        <p:spPr>
          <a:xfrm>
            <a:off x="235905" y="656996"/>
            <a:ext cx="8876779" cy="307777"/>
          </a:xfrm>
          <a:prstGeom prst="rect">
            <a:avLst/>
          </a:prstGeom>
        </p:spPr>
        <p:txBody>
          <a:bodyPr wrap="square">
            <a:spAutoFit/>
          </a:bodyPr>
          <a:lstStyle/>
          <a:p>
            <a:r>
              <a:rPr lang="fr-FR" sz="1400" dirty="0">
                <a:solidFill>
                  <a:srgbClr val="0D0D0D"/>
                </a:solidFill>
                <a:latin typeface="Söhne"/>
              </a:rPr>
              <a:t>Voici un exemple de script simple en </a:t>
            </a:r>
            <a:r>
              <a:rPr lang="fr-FR" sz="1400" dirty="0" err="1">
                <a:solidFill>
                  <a:srgbClr val="0D0D0D"/>
                </a:solidFill>
                <a:latin typeface="Söhne"/>
              </a:rPr>
              <a:t>shell</a:t>
            </a:r>
            <a:r>
              <a:rPr lang="fr-FR" sz="1400" dirty="0">
                <a:solidFill>
                  <a:srgbClr val="0D0D0D"/>
                </a:solidFill>
                <a:latin typeface="Söhne"/>
              </a:rPr>
              <a:t> pour sauvegarder les données de Jenkins :</a:t>
            </a:r>
            <a:endParaRPr lang="fr-FR" sz="1400" dirty="0"/>
          </a:p>
        </p:txBody>
      </p:sp>
      <p:sp>
        <p:nvSpPr>
          <p:cNvPr id="4" name="Rectangle 3"/>
          <p:cNvSpPr/>
          <p:nvPr/>
        </p:nvSpPr>
        <p:spPr>
          <a:xfrm>
            <a:off x="398745" y="1162720"/>
            <a:ext cx="6096000" cy="3693319"/>
          </a:xfrm>
          <a:prstGeom prst="rect">
            <a:avLst/>
          </a:prstGeom>
        </p:spPr>
        <p:txBody>
          <a:bodyPr>
            <a:spAutoFit/>
          </a:bodyPr>
          <a:lstStyle/>
          <a:p>
            <a:r>
              <a:rPr lang="fr-FR" dirty="0"/>
              <a:t>#!/bin/bash</a:t>
            </a:r>
          </a:p>
          <a:p>
            <a:endParaRPr lang="fr-FR" dirty="0"/>
          </a:p>
          <a:p>
            <a:r>
              <a:rPr lang="fr-FR" dirty="0"/>
              <a:t># Répertoires à sauvegarder</a:t>
            </a:r>
          </a:p>
          <a:p>
            <a:r>
              <a:rPr lang="fr-FR" dirty="0"/>
              <a:t>JENKINS_HOME=/chemin/vers/votre/</a:t>
            </a:r>
            <a:r>
              <a:rPr lang="fr-FR" dirty="0" err="1"/>
              <a:t>jenkins_home</a:t>
            </a:r>
            <a:endParaRPr lang="fr-FR" dirty="0"/>
          </a:p>
          <a:p>
            <a:r>
              <a:rPr lang="fr-FR" dirty="0"/>
              <a:t>DESTINATION=/chemin/vers/le/dossier/de/sauvegarde</a:t>
            </a:r>
          </a:p>
          <a:p>
            <a:endParaRPr lang="fr-FR" dirty="0"/>
          </a:p>
          <a:p>
            <a:r>
              <a:rPr lang="fr-FR" dirty="0"/>
              <a:t># Création de l'archive</a:t>
            </a:r>
          </a:p>
          <a:p>
            <a:r>
              <a:rPr lang="fr-FR" dirty="0"/>
              <a:t>tar -</a:t>
            </a:r>
            <a:r>
              <a:rPr lang="fr-FR" dirty="0" err="1"/>
              <a:t>czf</a:t>
            </a:r>
            <a:r>
              <a:rPr lang="fr-FR" dirty="0"/>
              <a:t> $DESTINATION/</a:t>
            </a:r>
            <a:r>
              <a:rPr lang="fr-FR" dirty="0" err="1"/>
              <a:t>jenkins_backup</a:t>
            </a:r>
            <a:r>
              <a:rPr lang="fr-FR" dirty="0"/>
              <a:t>_$(date +%Y%m%d_%H%M%S).tar.gz $JENKINS_HOME</a:t>
            </a:r>
          </a:p>
          <a:p>
            <a:endParaRPr lang="fr-FR" dirty="0"/>
          </a:p>
          <a:p>
            <a:r>
              <a:rPr lang="fr-FR" dirty="0"/>
              <a:t># Supprimer les sauvegardes de plus de 7 jours</a:t>
            </a:r>
          </a:p>
          <a:p>
            <a:r>
              <a:rPr lang="fr-FR" dirty="0" err="1"/>
              <a:t>find</a:t>
            </a:r>
            <a:r>
              <a:rPr lang="fr-FR" dirty="0"/>
              <a:t> $DESTINATION -type f -</a:t>
            </a:r>
            <a:r>
              <a:rPr lang="fr-FR" dirty="0" err="1"/>
              <a:t>name</a:t>
            </a:r>
            <a:r>
              <a:rPr lang="fr-FR" dirty="0"/>
              <a:t> "</a:t>
            </a:r>
            <a:r>
              <a:rPr lang="fr-FR" dirty="0" err="1"/>
              <a:t>jenkins_backup</a:t>
            </a:r>
            <a:r>
              <a:rPr lang="fr-FR" dirty="0"/>
              <a:t>_*" -</a:t>
            </a:r>
            <a:r>
              <a:rPr lang="fr-FR" dirty="0" err="1"/>
              <a:t>mtime</a:t>
            </a:r>
            <a:r>
              <a:rPr lang="fr-FR" dirty="0"/>
              <a:t> +7 -</a:t>
            </a:r>
            <a:r>
              <a:rPr lang="fr-FR" dirty="0" err="1"/>
              <a:t>exec</a:t>
            </a:r>
            <a:r>
              <a:rPr lang="fr-FR" dirty="0"/>
              <a:t> </a:t>
            </a:r>
            <a:r>
              <a:rPr lang="fr-FR" dirty="0" err="1"/>
              <a:t>rm</a:t>
            </a:r>
            <a:r>
              <a:rPr lang="fr-FR" dirty="0"/>
              <a:t> {} \;</a:t>
            </a:r>
          </a:p>
        </p:txBody>
      </p:sp>
      <p:sp>
        <p:nvSpPr>
          <p:cNvPr id="7" name="Rectangle 6"/>
          <p:cNvSpPr/>
          <p:nvPr/>
        </p:nvSpPr>
        <p:spPr>
          <a:xfrm>
            <a:off x="398745" y="5053986"/>
            <a:ext cx="8876779" cy="307777"/>
          </a:xfrm>
          <a:prstGeom prst="rect">
            <a:avLst/>
          </a:prstGeom>
        </p:spPr>
        <p:txBody>
          <a:bodyPr wrap="square">
            <a:spAutoFit/>
          </a:bodyPr>
          <a:lstStyle/>
          <a:p>
            <a:r>
              <a:rPr lang="fr-FR" sz="1400" b="1" dirty="0" smtClean="0">
                <a:solidFill>
                  <a:srgbClr val="0D0D0D"/>
                </a:solidFill>
                <a:latin typeface="Söhne"/>
              </a:rPr>
              <a:t>Note:</a:t>
            </a:r>
            <a:r>
              <a:rPr lang="fr-FR" sz="1400" dirty="0" smtClean="0">
                <a:solidFill>
                  <a:srgbClr val="0D0D0D"/>
                </a:solidFill>
                <a:latin typeface="Söhne"/>
              </a:rPr>
              <a:t> Il est possible d'automatiser ce script avec CRON </a:t>
            </a:r>
            <a:endParaRPr lang="fr-FR" sz="1400" dirty="0"/>
          </a:p>
        </p:txBody>
      </p:sp>
    </p:spTree>
    <p:extLst>
      <p:ext uri="{BB962C8B-B14F-4D97-AF65-F5344CB8AC3E}">
        <p14:creationId xmlns:p14="http://schemas.microsoft.com/office/powerpoint/2010/main" val="392296516"/>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1"/>
          <p:cNvSpPr>
            <a:spLocks noGrp="1" noChangeArrowheads="1"/>
          </p:cNvSpPr>
          <p:nvPr>
            <p:ph type="title" idx="4294967295"/>
          </p:nvPr>
        </p:nvSpPr>
        <p:spPr bwMode="auto">
          <a:xfrm>
            <a:off x="3420035" y="2480983"/>
            <a:ext cx="5286935" cy="1320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1" hangingPunct="1">
              <a:lnSpc>
                <a:spcPct val="100000"/>
              </a:lnSpc>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pPr>
            <a:r>
              <a:rPr lang="fr-FR" altLang="en-US" sz="3600" dirty="0" smtClean="0">
                <a:solidFill>
                  <a:srgbClr val="A5300F"/>
                </a:solidFill>
                <a:latin typeface="Times New Roman" panose="02020603050405020304" pitchFamily="18" charset="0"/>
              </a:rPr>
              <a:t>Les types de projets</a:t>
            </a:r>
          </a:p>
        </p:txBody>
      </p:sp>
    </p:spTree>
    <p:extLst>
      <p:ext uri="{BB962C8B-B14F-4D97-AF65-F5344CB8AC3E}">
        <p14:creationId xmlns:p14="http://schemas.microsoft.com/office/powerpoint/2010/main" val="559096782"/>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189776" y="176927"/>
            <a:ext cx="2136162" cy="369332"/>
          </a:xfrm>
          <a:prstGeom prst="rect">
            <a:avLst/>
          </a:prstGeom>
        </p:spPr>
        <p:txBody>
          <a:bodyPr wrap="none">
            <a:spAutoFit/>
          </a:bodyPr>
          <a:lstStyle/>
          <a:p>
            <a:r>
              <a:rPr lang="fr-FR" altLang="fr-FR" b="1" dirty="0">
                <a:latin typeface="Times New Roman" panose="02020603050405020304" pitchFamily="18" charset="0"/>
                <a:cs typeface="Times New Roman" panose="02020603050405020304" pitchFamily="18" charset="0"/>
              </a:rPr>
              <a:t>Les </a:t>
            </a:r>
            <a:r>
              <a:rPr lang="fr-FR" altLang="fr-FR" b="1" dirty="0" smtClean="0">
                <a:latin typeface="Times New Roman" panose="02020603050405020304" pitchFamily="18" charset="0"/>
                <a:cs typeface="Times New Roman" panose="02020603050405020304" pitchFamily="18" charset="0"/>
              </a:rPr>
              <a:t>types de projets</a:t>
            </a:r>
            <a:endParaRPr lang="fr-FR" altLang="en-US" b="1" dirty="0">
              <a:latin typeface="Times New Roman" panose="02020603050405020304" pitchFamily="18" charset="0"/>
              <a:cs typeface="Times New Roman" panose="02020603050405020304" pitchFamily="18" charset="0"/>
            </a:endParaRPr>
          </a:p>
        </p:txBody>
      </p:sp>
      <p:pic>
        <p:nvPicPr>
          <p:cNvPr id="2" name="Image 1"/>
          <p:cNvPicPr>
            <a:picLocks noChangeAspect="1"/>
          </p:cNvPicPr>
          <p:nvPr/>
        </p:nvPicPr>
        <p:blipFill>
          <a:blip r:embed="rId3"/>
          <a:stretch>
            <a:fillRect/>
          </a:stretch>
        </p:blipFill>
        <p:spPr>
          <a:xfrm>
            <a:off x="318665" y="720746"/>
            <a:ext cx="6642165" cy="5775796"/>
          </a:xfrm>
          <a:prstGeom prst="rect">
            <a:avLst/>
          </a:prstGeom>
        </p:spPr>
      </p:pic>
      <p:sp>
        <p:nvSpPr>
          <p:cNvPr id="8" name="Ellipse 7"/>
          <p:cNvSpPr/>
          <p:nvPr/>
        </p:nvSpPr>
        <p:spPr>
          <a:xfrm>
            <a:off x="1793437" y="1924158"/>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1</a:t>
            </a:r>
            <a:endParaRPr lang="fr-FR" sz="1400" b="1" dirty="0"/>
          </a:p>
        </p:txBody>
      </p:sp>
      <p:sp>
        <p:nvSpPr>
          <p:cNvPr id="9" name="Ellipse 8"/>
          <p:cNvSpPr/>
          <p:nvPr/>
        </p:nvSpPr>
        <p:spPr>
          <a:xfrm>
            <a:off x="1393739" y="2610290"/>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2</a:t>
            </a:r>
            <a:endParaRPr lang="fr-FR" sz="1400" b="1" dirty="0"/>
          </a:p>
        </p:txBody>
      </p:sp>
      <p:sp>
        <p:nvSpPr>
          <p:cNvPr id="10" name="Ellipse 9"/>
          <p:cNvSpPr/>
          <p:nvPr/>
        </p:nvSpPr>
        <p:spPr>
          <a:xfrm>
            <a:off x="2456185" y="3280398"/>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3</a:t>
            </a:r>
            <a:endParaRPr lang="fr-FR" sz="1400" b="1" dirty="0"/>
          </a:p>
        </p:txBody>
      </p:sp>
      <p:sp>
        <p:nvSpPr>
          <p:cNvPr id="11" name="Ellipse 10"/>
          <p:cNvSpPr/>
          <p:nvPr/>
        </p:nvSpPr>
        <p:spPr>
          <a:xfrm>
            <a:off x="1293816" y="3951695"/>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4</a:t>
            </a:r>
            <a:endParaRPr lang="fr-FR" sz="1400" b="1" dirty="0"/>
          </a:p>
        </p:txBody>
      </p:sp>
      <p:sp>
        <p:nvSpPr>
          <p:cNvPr id="12" name="Ellipse 11"/>
          <p:cNvSpPr/>
          <p:nvPr/>
        </p:nvSpPr>
        <p:spPr>
          <a:xfrm>
            <a:off x="2038710" y="4639397"/>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5</a:t>
            </a:r>
            <a:endParaRPr lang="fr-FR" sz="1400" b="1" dirty="0"/>
          </a:p>
        </p:txBody>
      </p:sp>
      <p:sp>
        <p:nvSpPr>
          <p:cNvPr id="13" name="Ellipse 12"/>
          <p:cNvSpPr/>
          <p:nvPr/>
        </p:nvSpPr>
        <p:spPr>
          <a:xfrm>
            <a:off x="1957560" y="5079500"/>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6</a:t>
            </a:r>
            <a:endParaRPr lang="fr-FR" sz="1400" b="1" dirty="0"/>
          </a:p>
        </p:txBody>
      </p:sp>
      <p:sp>
        <p:nvSpPr>
          <p:cNvPr id="5" name="Rectangle 4"/>
          <p:cNvSpPr/>
          <p:nvPr/>
        </p:nvSpPr>
        <p:spPr>
          <a:xfrm>
            <a:off x="7083255" y="602701"/>
            <a:ext cx="4642981" cy="1169551"/>
          </a:xfrm>
          <a:prstGeom prst="rect">
            <a:avLst/>
          </a:prstGeom>
        </p:spPr>
        <p:txBody>
          <a:bodyPr wrap="square">
            <a:spAutoFit/>
          </a:bodyPr>
          <a:lstStyle/>
          <a:p>
            <a:r>
              <a:rPr lang="fr-FR" sz="1400" dirty="0" smtClean="0">
                <a:solidFill>
                  <a:srgbClr val="0D0D0D"/>
                </a:solidFill>
                <a:latin typeface="Söhne"/>
              </a:rPr>
              <a:t>1. La </a:t>
            </a:r>
            <a:r>
              <a:rPr lang="fr-FR" sz="1400" dirty="0">
                <a:solidFill>
                  <a:srgbClr val="0D0D0D"/>
                </a:solidFill>
                <a:latin typeface="Söhne"/>
              </a:rPr>
              <a:t>configuration d'un projet Freestyle se fait </a:t>
            </a:r>
            <a:r>
              <a:rPr lang="fr-FR" sz="1400" dirty="0" smtClean="0">
                <a:solidFill>
                  <a:srgbClr val="0D0D0D"/>
                </a:solidFill>
                <a:latin typeface="Söhne"/>
              </a:rPr>
              <a:t>  principalement </a:t>
            </a:r>
            <a:r>
              <a:rPr lang="fr-FR" sz="1400" dirty="0">
                <a:solidFill>
                  <a:srgbClr val="0D0D0D"/>
                </a:solidFill>
                <a:latin typeface="Söhne"/>
              </a:rPr>
              <a:t>à l'aide de l'interface utilisateur graphique de Jenkins. Cela le rend accessible même aux utilisateurs qui ne sont pas familiers avec le codage ou les scripts</a:t>
            </a:r>
            <a:endParaRPr lang="fr-FR" sz="1400" dirty="0"/>
          </a:p>
        </p:txBody>
      </p:sp>
      <p:sp>
        <p:nvSpPr>
          <p:cNvPr id="6" name="Rectangle 5"/>
          <p:cNvSpPr/>
          <p:nvPr/>
        </p:nvSpPr>
        <p:spPr>
          <a:xfrm>
            <a:off x="7083255" y="1822259"/>
            <a:ext cx="4843397" cy="1292662"/>
          </a:xfrm>
          <a:prstGeom prst="rect">
            <a:avLst/>
          </a:prstGeom>
        </p:spPr>
        <p:txBody>
          <a:bodyPr wrap="square">
            <a:spAutoFit/>
          </a:bodyPr>
          <a:lstStyle/>
          <a:p>
            <a:r>
              <a:rPr lang="fr-FR" sz="1400" dirty="0" smtClean="0">
                <a:solidFill>
                  <a:srgbClr val="0D0D0D"/>
                </a:solidFill>
                <a:latin typeface="Söhne"/>
              </a:rPr>
              <a:t>2. </a:t>
            </a:r>
            <a:r>
              <a:rPr lang="fr-FR" sz="1400" dirty="0">
                <a:solidFill>
                  <a:srgbClr val="0D0D0D"/>
                </a:solidFill>
                <a:latin typeface="Söhne"/>
              </a:rPr>
              <a:t>U</a:t>
            </a:r>
            <a:r>
              <a:rPr lang="fr-FR" sz="1400" dirty="0" smtClean="0">
                <a:solidFill>
                  <a:srgbClr val="0D0D0D"/>
                </a:solidFill>
                <a:latin typeface="Söhne"/>
              </a:rPr>
              <a:t>ne </a:t>
            </a:r>
            <a:r>
              <a:rPr lang="fr-FR" sz="1400" dirty="0">
                <a:solidFill>
                  <a:srgbClr val="0D0D0D"/>
                </a:solidFill>
                <a:latin typeface="Söhne"/>
              </a:rPr>
              <a:t>approche déclarative ou scriptée pour définir les étapes d'un flux de </a:t>
            </a:r>
            <a:r>
              <a:rPr lang="fr-FR" sz="1400" dirty="0" smtClean="0">
                <a:solidFill>
                  <a:srgbClr val="0D0D0D"/>
                </a:solidFill>
                <a:latin typeface="Söhne"/>
              </a:rPr>
              <a:t>travail qui </a:t>
            </a:r>
            <a:r>
              <a:rPr lang="fr-FR" sz="1600" dirty="0" smtClean="0"/>
              <a:t>défini un </a:t>
            </a:r>
            <a:r>
              <a:rPr lang="fr-FR" sz="1600" dirty="0"/>
              <a:t>fichier texte</a:t>
            </a:r>
            <a:r>
              <a:rPr lang="fr-FR" sz="1400" dirty="0"/>
              <a:t>, </a:t>
            </a:r>
            <a:r>
              <a:rPr lang="fr-FR" sz="1600" dirty="0"/>
              <a:t>souvent appelé </a:t>
            </a:r>
            <a:r>
              <a:rPr lang="fr-FR" sz="1600" b="1" dirty="0" err="1"/>
              <a:t>Jenkinsfile</a:t>
            </a:r>
            <a:r>
              <a:rPr lang="fr-FR" sz="1400" dirty="0"/>
              <a:t>, </a:t>
            </a:r>
            <a:r>
              <a:rPr lang="fr-FR" sz="1600" dirty="0"/>
              <a:t>qui est stocké dans le système de contrôle de version avec le code source de votre projet</a:t>
            </a:r>
            <a:r>
              <a:rPr lang="fr-FR" sz="1600" dirty="0" smtClean="0">
                <a:solidFill>
                  <a:srgbClr val="0D0D0D"/>
                </a:solidFill>
                <a:latin typeface="Söhne"/>
              </a:rPr>
              <a:t> </a:t>
            </a:r>
            <a:endParaRPr lang="fr-FR" sz="1600" dirty="0"/>
          </a:p>
        </p:txBody>
      </p:sp>
      <p:sp>
        <p:nvSpPr>
          <p:cNvPr id="14" name="Rectangle 13"/>
          <p:cNvSpPr/>
          <p:nvPr/>
        </p:nvSpPr>
        <p:spPr>
          <a:xfrm>
            <a:off x="7083255" y="3164929"/>
            <a:ext cx="4542774" cy="738664"/>
          </a:xfrm>
          <a:prstGeom prst="rect">
            <a:avLst/>
          </a:prstGeom>
        </p:spPr>
        <p:txBody>
          <a:bodyPr wrap="square">
            <a:spAutoFit/>
          </a:bodyPr>
          <a:lstStyle/>
          <a:p>
            <a:r>
              <a:rPr lang="fr-FR" sz="1400" dirty="0" smtClean="0">
                <a:solidFill>
                  <a:srgbClr val="0D0D0D"/>
                </a:solidFill>
                <a:latin typeface="Söhne"/>
              </a:rPr>
              <a:t>3. Egalement </a:t>
            </a:r>
            <a:r>
              <a:rPr lang="fr-FR" sz="1400" dirty="0">
                <a:solidFill>
                  <a:srgbClr val="0D0D0D"/>
                </a:solidFill>
                <a:latin typeface="Söhne"/>
              </a:rPr>
              <a:t>connu sous le nom de projet </a:t>
            </a:r>
            <a:r>
              <a:rPr lang="fr-FR" sz="1400" dirty="0" smtClean="0">
                <a:solidFill>
                  <a:srgbClr val="0D0D0D"/>
                </a:solidFill>
                <a:latin typeface="Söhne"/>
              </a:rPr>
              <a:t>axe permet </a:t>
            </a:r>
            <a:r>
              <a:rPr lang="fr-FR" sz="1400" dirty="0">
                <a:solidFill>
                  <a:srgbClr val="0D0D0D"/>
                </a:solidFill>
                <a:latin typeface="Söhne"/>
              </a:rPr>
              <a:t>d'exécuter et de tester des logiciels sur plusieurs configurations </a:t>
            </a:r>
            <a:r>
              <a:rPr lang="fr-FR" sz="1400" dirty="0" smtClean="0">
                <a:solidFill>
                  <a:srgbClr val="0D0D0D"/>
                </a:solidFill>
                <a:latin typeface="Söhne"/>
              </a:rPr>
              <a:t>d'environnements</a:t>
            </a:r>
            <a:endParaRPr lang="fr-FR" sz="1400" dirty="0"/>
          </a:p>
        </p:txBody>
      </p:sp>
      <p:sp>
        <p:nvSpPr>
          <p:cNvPr id="16" name="Rectangle 15"/>
          <p:cNvSpPr/>
          <p:nvPr/>
        </p:nvSpPr>
        <p:spPr>
          <a:xfrm>
            <a:off x="7083255" y="3919918"/>
            <a:ext cx="5043815" cy="738664"/>
          </a:xfrm>
          <a:prstGeom prst="rect">
            <a:avLst/>
          </a:prstGeom>
        </p:spPr>
        <p:txBody>
          <a:bodyPr wrap="square">
            <a:spAutoFit/>
          </a:bodyPr>
          <a:lstStyle/>
          <a:p>
            <a:r>
              <a:rPr lang="fr-FR" sz="1400" dirty="0" smtClean="0">
                <a:solidFill>
                  <a:srgbClr val="0D0D0D"/>
                </a:solidFill>
                <a:latin typeface="Söhne"/>
              </a:rPr>
              <a:t>4. </a:t>
            </a:r>
            <a:r>
              <a:rPr lang="fr-FR" sz="1400" dirty="0">
                <a:solidFill>
                  <a:srgbClr val="0D0D0D"/>
                </a:solidFill>
                <a:latin typeface="Söhne"/>
              </a:rPr>
              <a:t>P</a:t>
            </a:r>
            <a:r>
              <a:rPr lang="fr-FR" sz="1400" dirty="0" smtClean="0">
                <a:solidFill>
                  <a:srgbClr val="0D0D0D"/>
                </a:solidFill>
                <a:latin typeface="Söhne"/>
              </a:rPr>
              <a:t>ermet </a:t>
            </a:r>
            <a:r>
              <a:rPr lang="fr-FR" sz="1400" dirty="0">
                <a:solidFill>
                  <a:srgbClr val="0D0D0D"/>
                </a:solidFill>
                <a:latin typeface="Söhne"/>
              </a:rPr>
              <a:t>d'organiser et de regrouper des </a:t>
            </a:r>
            <a:r>
              <a:rPr lang="fr-FR" sz="1400" dirty="0" smtClean="0">
                <a:solidFill>
                  <a:srgbClr val="0D0D0D"/>
                </a:solidFill>
                <a:latin typeface="Söhne"/>
              </a:rPr>
              <a:t>éléments connexes dans </a:t>
            </a:r>
            <a:r>
              <a:rPr lang="fr-FR" sz="1400" dirty="0">
                <a:solidFill>
                  <a:srgbClr val="0D0D0D"/>
                </a:solidFill>
                <a:latin typeface="Söhne"/>
              </a:rPr>
              <a:t>une structure </a:t>
            </a:r>
            <a:r>
              <a:rPr lang="fr-FR" sz="1400" dirty="0" smtClean="0">
                <a:solidFill>
                  <a:srgbClr val="0D0D0D"/>
                </a:solidFill>
                <a:latin typeface="Söhne"/>
              </a:rPr>
              <a:t>hiérarchique des </a:t>
            </a:r>
            <a:r>
              <a:rPr lang="fr-FR" sz="1400" dirty="0">
                <a:solidFill>
                  <a:srgbClr val="0D0D0D"/>
                </a:solidFill>
                <a:latin typeface="Söhne"/>
              </a:rPr>
              <a:t>projets, des sous-dossiers, des vues</a:t>
            </a:r>
            <a:endParaRPr lang="fr-FR" sz="1400" dirty="0"/>
          </a:p>
        </p:txBody>
      </p:sp>
      <p:sp>
        <p:nvSpPr>
          <p:cNvPr id="18" name="Rectangle 17"/>
          <p:cNvSpPr/>
          <p:nvPr/>
        </p:nvSpPr>
        <p:spPr>
          <a:xfrm>
            <a:off x="7108306" y="4708590"/>
            <a:ext cx="4793294" cy="523220"/>
          </a:xfrm>
          <a:prstGeom prst="rect">
            <a:avLst/>
          </a:prstGeom>
        </p:spPr>
        <p:txBody>
          <a:bodyPr wrap="square">
            <a:spAutoFit/>
          </a:bodyPr>
          <a:lstStyle/>
          <a:p>
            <a:r>
              <a:rPr lang="fr-FR" sz="1400" dirty="0" smtClean="0">
                <a:solidFill>
                  <a:srgbClr val="0D0D0D"/>
                </a:solidFill>
                <a:latin typeface="Söhne"/>
              </a:rPr>
              <a:t>5. automatiser </a:t>
            </a:r>
            <a:r>
              <a:rPr lang="fr-FR" sz="1400" dirty="0">
                <a:solidFill>
                  <a:srgbClr val="0D0D0D"/>
                </a:solidFill>
                <a:latin typeface="Söhne"/>
              </a:rPr>
              <a:t>la création de pipelines pour plusieurs branches d'un même dépôt de code source</a:t>
            </a:r>
            <a:endParaRPr lang="fr-FR" sz="1400" dirty="0"/>
          </a:p>
        </p:txBody>
      </p:sp>
      <p:sp>
        <p:nvSpPr>
          <p:cNvPr id="19" name="Rectangle 18"/>
          <p:cNvSpPr/>
          <p:nvPr/>
        </p:nvSpPr>
        <p:spPr>
          <a:xfrm>
            <a:off x="7108306" y="5407746"/>
            <a:ext cx="4893501" cy="738664"/>
          </a:xfrm>
          <a:prstGeom prst="rect">
            <a:avLst/>
          </a:prstGeom>
        </p:spPr>
        <p:txBody>
          <a:bodyPr wrap="square">
            <a:spAutoFit/>
          </a:bodyPr>
          <a:lstStyle/>
          <a:p>
            <a:r>
              <a:rPr lang="fr-FR" sz="1400" dirty="0" smtClean="0">
                <a:solidFill>
                  <a:srgbClr val="0D0D0D"/>
                </a:solidFill>
                <a:latin typeface="Söhne"/>
              </a:rPr>
              <a:t>6. Cette </a:t>
            </a:r>
            <a:r>
              <a:rPr lang="fr-FR" sz="1400" dirty="0">
                <a:solidFill>
                  <a:srgbClr val="0D0D0D"/>
                </a:solidFill>
                <a:latin typeface="Söhne"/>
              </a:rPr>
              <a:t>fonctionnalité est particulièrement utile dans les environnements où plusieurs équipes travaillent sur différents projets et dépôts de code source</a:t>
            </a:r>
            <a:endParaRPr lang="fr-FR" sz="1400" dirty="0"/>
          </a:p>
        </p:txBody>
      </p:sp>
    </p:spTree>
    <p:extLst>
      <p:ext uri="{BB962C8B-B14F-4D97-AF65-F5344CB8AC3E}">
        <p14:creationId xmlns:p14="http://schemas.microsoft.com/office/powerpoint/2010/main" val="1432104277"/>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189776" y="176927"/>
            <a:ext cx="3670877" cy="369332"/>
          </a:xfrm>
          <a:prstGeom prst="rect">
            <a:avLst/>
          </a:prstGeom>
        </p:spPr>
        <p:txBody>
          <a:bodyPr wrap="none">
            <a:spAutoFit/>
          </a:bodyPr>
          <a:lstStyle/>
          <a:p>
            <a:r>
              <a:rPr lang="fr-FR" altLang="fr-FR" b="1" dirty="0">
                <a:latin typeface="Times New Roman" panose="02020603050405020304" pitchFamily="18" charset="0"/>
                <a:cs typeface="Times New Roman" panose="02020603050405020304" pitchFamily="18" charset="0"/>
              </a:rPr>
              <a:t>Les </a:t>
            </a:r>
            <a:r>
              <a:rPr lang="fr-FR" altLang="fr-FR" b="1" dirty="0" smtClean="0">
                <a:latin typeface="Times New Roman" panose="02020603050405020304" pitchFamily="18" charset="0"/>
                <a:cs typeface="Times New Roman" panose="02020603050405020304" pitchFamily="18" charset="0"/>
              </a:rPr>
              <a:t>types de projets (Le Freestyle ) </a:t>
            </a:r>
            <a:endParaRPr lang="fr-FR" altLang="en-US" b="1" dirty="0">
              <a:latin typeface="Times New Roman" panose="02020603050405020304" pitchFamily="18" charset="0"/>
              <a:cs typeface="Times New Roman" panose="02020603050405020304" pitchFamily="18" charset="0"/>
            </a:endParaRPr>
          </a:p>
        </p:txBody>
      </p:sp>
      <p:sp>
        <p:nvSpPr>
          <p:cNvPr id="3" name="Rectangle 2"/>
          <p:cNvSpPr/>
          <p:nvPr/>
        </p:nvSpPr>
        <p:spPr>
          <a:xfrm>
            <a:off x="189775" y="700124"/>
            <a:ext cx="11409325" cy="523220"/>
          </a:xfrm>
          <a:prstGeom prst="rect">
            <a:avLst/>
          </a:prstGeom>
        </p:spPr>
        <p:txBody>
          <a:bodyPr wrap="square">
            <a:spAutoFit/>
          </a:bodyPr>
          <a:lstStyle/>
          <a:p>
            <a:r>
              <a:rPr lang="fr-FR" sz="1400" dirty="0">
                <a:solidFill>
                  <a:srgbClr val="0D0D0D"/>
                </a:solidFill>
                <a:latin typeface="Söhne"/>
              </a:rPr>
              <a:t>Supposons que vous ayez un projet de développement logiciel où vous souhaitez automatiser le processus de compilation et de déploiement de votre application.</a:t>
            </a:r>
            <a:endParaRPr lang="fr-FR" sz="1400" dirty="0"/>
          </a:p>
        </p:txBody>
      </p:sp>
      <p:pic>
        <p:nvPicPr>
          <p:cNvPr id="4" name="Image 3"/>
          <p:cNvPicPr>
            <a:picLocks noChangeAspect="1"/>
          </p:cNvPicPr>
          <p:nvPr/>
        </p:nvPicPr>
        <p:blipFill>
          <a:blip r:embed="rId3"/>
          <a:stretch>
            <a:fillRect/>
          </a:stretch>
        </p:blipFill>
        <p:spPr>
          <a:xfrm>
            <a:off x="3009666" y="1486465"/>
            <a:ext cx="5769542" cy="4992613"/>
          </a:xfrm>
          <a:prstGeom prst="rect">
            <a:avLst/>
          </a:prstGeom>
        </p:spPr>
      </p:pic>
    </p:spTree>
    <p:extLst>
      <p:ext uri="{BB962C8B-B14F-4D97-AF65-F5344CB8AC3E}">
        <p14:creationId xmlns:p14="http://schemas.microsoft.com/office/powerpoint/2010/main" val="2820222492"/>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189776" y="176927"/>
            <a:ext cx="3670877" cy="369332"/>
          </a:xfrm>
          <a:prstGeom prst="rect">
            <a:avLst/>
          </a:prstGeom>
        </p:spPr>
        <p:txBody>
          <a:bodyPr wrap="none">
            <a:spAutoFit/>
          </a:bodyPr>
          <a:lstStyle/>
          <a:p>
            <a:r>
              <a:rPr lang="fr-FR" altLang="fr-FR" b="1" dirty="0">
                <a:latin typeface="Times New Roman" panose="02020603050405020304" pitchFamily="18" charset="0"/>
                <a:cs typeface="Times New Roman" panose="02020603050405020304" pitchFamily="18" charset="0"/>
              </a:rPr>
              <a:t>Les </a:t>
            </a:r>
            <a:r>
              <a:rPr lang="fr-FR" altLang="fr-FR" b="1" dirty="0" smtClean="0">
                <a:latin typeface="Times New Roman" panose="02020603050405020304" pitchFamily="18" charset="0"/>
                <a:cs typeface="Times New Roman" panose="02020603050405020304" pitchFamily="18" charset="0"/>
              </a:rPr>
              <a:t>types de projets (Le Freestyle ) </a:t>
            </a:r>
            <a:endParaRPr lang="fr-FR" altLang="en-US" b="1" dirty="0">
              <a:latin typeface="Times New Roman" panose="02020603050405020304" pitchFamily="18" charset="0"/>
              <a:cs typeface="Times New Roman" panose="02020603050405020304" pitchFamily="18" charset="0"/>
            </a:endParaRPr>
          </a:p>
        </p:txBody>
      </p:sp>
      <p:sp>
        <p:nvSpPr>
          <p:cNvPr id="3" name="Rectangle 2"/>
          <p:cNvSpPr/>
          <p:nvPr/>
        </p:nvSpPr>
        <p:spPr>
          <a:xfrm>
            <a:off x="189775" y="700124"/>
            <a:ext cx="11409325" cy="307777"/>
          </a:xfrm>
          <a:prstGeom prst="rect">
            <a:avLst/>
          </a:prstGeom>
        </p:spPr>
        <p:txBody>
          <a:bodyPr wrap="square">
            <a:spAutoFit/>
          </a:bodyPr>
          <a:lstStyle/>
          <a:p>
            <a:r>
              <a:rPr lang="fr-FR" sz="1400" dirty="0" smtClean="0">
                <a:solidFill>
                  <a:srgbClr val="0D0D0D"/>
                </a:solidFill>
                <a:latin typeface="Söhne"/>
              </a:rPr>
              <a:t>Il y a 5 éléments qui composent un projet Freestyle </a:t>
            </a:r>
            <a:endParaRPr lang="fr-FR" sz="1400" dirty="0"/>
          </a:p>
        </p:txBody>
      </p:sp>
      <p:pic>
        <p:nvPicPr>
          <p:cNvPr id="2" name="Image 1"/>
          <p:cNvPicPr>
            <a:picLocks noChangeAspect="1"/>
          </p:cNvPicPr>
          <p:nvPr/>
        </p:nvPicPr>
        <p:blipFill>
          <a:blip r:embed="rId3"/>
          <a:stretch>
            <a:fillRect/>
          </a:stretch>
        </p:blipFill>
        <p:spPr>
          <a:xfrm>
            <a:off x="414154" y="1259077"/>
            <a:ext cx="4007534" cy="4957146"/>
          </a:xfrm>
          <a:prstGeom prst="rect">
            <a:avLst/>
          </a:prstGeom>
        </p:spPr>
      </p:pic>
      <p:sp>
        <p:nvSpPr>
          <p:cNvPr id="6" name="Ellipse 5"/>
          <p:cNvSpPr/>
          <p:nvPr/>
        </p:nvSpPr>
        <p:spPr>
          <a:xfrm>
            <a:off x="628517" y="2338389"/>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1</a:t>
            </a:r>
            <a:endParaRPr lang="fr-FR" sz="1400" b="1" dirty="0"/>
          </a:p>
        </p:txBody>
      </p:sp>
      <p:sp>
        <p:nvSpPr>
          <p:cNvPr id="7" name="Ellipse 6"/>
          <p:cNvSpPr/>
          <p:nvPr/>
        </p:nvSpPr>
        <p:spPr>
          <a:xfrm>
            <a:off x="3859310" y="1213639"/>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2</a:t>
            </a:r>
            <a:endParaRPr lang="fr-FR" sz="1400" b="1" dirty="0"/>
          </a:p>
        </p:txBody>
      </p:sp>
      <p:sp>
        <p:nvSpPr>
          <p:cNvPr id="8" name="Ellipse 7"/>
          <p:cNvSpPr/>
          <p:nvPr/>
        </p:nvSpPr>
        <p:spPr>
          <a:xfrm>
            <a:off x="1982456" y="3434320"/>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3</a:t>
            </a:r>
            <a:endParaRPr lang="fr-FR" sz="1400" b="1" dirty="0"/>
          </a:p>
        </p:txBody>
      </p:sp>
      <p:sp>
        <p:nvSpPr>
          <p:cNvPr id="9" name="Ellipse 8"/>
          <p:cNvSpPr/>
          <p:nvPr/>
        </p:nvSpPr>
        <p:spPr>
          <a:xfrm>
            <a:off x="1588178" y="3885267"/>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4</a:t>
            </a:r>
            <a:endParaRPr lang="fr-FR" sz="1400" b="1" dirty="0"/>
          </a:p>
        </p:txBody>
      </p:sp>
      <p:sp>
        <p:nvSpPr>
          <p:cNvPr id="10" name="Ellipse 9"/>
          <p:cNvSpPr/>
          <p:nvPr/>
        </p:nvSpPr>
        <p:spPr>
          <a:xfrm>
            <a:off x="2483384" y="4213513"/>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5</a:t>
            </a:r>
            <a:endParaRPr lang="fr-FR" sz="1400" b="1" dirty="0"/>
          </a:p>
        </p:txBody>
      </p:sp>
      <p:sp>
        <p:nvSpPr>
          <p:cNvPr id="11" name="Ellipse 10"/>
          <p:cNvSpPr/>
          <p:nvPr/>
        </p:nvSpPr>
        <p:spPr>
          <a:xfrm>
            <a:off x="1752301" y="4661148"/>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6</a:t>
            </a:r>
            <a:endParaRPr lang="fr-FR" sz="1400" b="1" dirty="0"/>
          </a:p>
        </p:txBody>
      </p:sp>
      <p:sp>
        <p:nvSpPr>
          <p:cNvPr id="12" name="Ellipse 11"/>
          <p:cNvSpPr/>
          <p:nvPr/>
        </p:nvSpPr>
        <p:spPr>
          <a:xfrm>
            <a:off x="2931836" y="5031007"/>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7</a:t>
            </a:r>
            <a:endParaRPr lang="fr-FR" sz="1400" b="1" dirty="0"/>
          </a:p>
        </p:txBody>
      </p:sp>
      <p:sp>
        <p:nvSpPr>
          <p:cNvPr id="13" name="Ellipse 12"/>
          <p:cNvSpPr/>
          <p:nvPr/>
        </p:nvSpPr>
        <p:spPr>
          <a:xfrm>
            <a:off x="1424055" y="5376617"/>
            <a:ext cx="328246" cy="328246"/>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00" b="1" dirty="0" smtClean="0"/>
              <a:t>8</a:t>
            </a:r>
            <a:endParaRPr lang="fr-FR" sz="1400" b="1" dirty="0"/>
          </a:p>
        </p:txBody>
      </p:sp>
      <p:sp>
        <p:nvSpPr>
          <p:cNvPr id="5" name="Rectangle 4"/>
          <p:cNvSpPr/>
          <p:nvPr/>
        </p:nvSpPr>
        <p:spPr>
          <a:xfrm>
            <a:off x="5183688" y="1007901"/>
            <a:ext cx="6096000" cy="523220"/>
          </a:xfrm>
          <a:prstGeom prst="rect">
            <a:avLst/>
          </a:prstGeom>
        </p:spPr>
        <p:txBody>
          <a:bodyPr>
            <a:spAutoFit/>
          </a:bodyPr>
          <a:lstStyle/>
          <a:p>
            <a:r>
              <a:rPr lang="fr-FR" sz="1400" b="1" dirty="0" smtClean="0">
                <a:solidFill>
                  <a:srgbClr val="0D0D0D"/>
                </a:solidFill>
                <a:latin typeface="Söhne"/>
              </a:rPr>
              <a:t>1.Description:</a:t>
            </a:r>
            <a:r>
              <a:rPr lang="fr-FR" sz="1400" dirty="0" smtClean="0">
                <a:solidFill>
                  <a:srgbClr val="0D0D0D"/>
                </a:solidFill>
                <a:latin typeface="Söhne"/>
              </a:rPr>
              <a:t> </a:t>
            </a:r>
            <a:r>
              <a:rPr lang="fr-FR" sz="1400" dirty="0">
                <a:solidFill>
                  <a:srgbClr val="0D0D0D"/>
                </a:solidFill>
                <a:latin typeface="Söhne"/>
              </a:rPr>
              <a:t>Il s'agit d'un champ facultatif où vous pouvez fournir une description détaillée de votre projet</a:t>
            </a:r>
            <a:endParaRPr lang="fr-FR" sz="1400" dirty="0"/>
          </a:p>
        </p:txBody>
      </p:sp>
      <p:sp>
        <p:nvSpPr>
          <p:cNvPr id="16" name="Rectangle 15"/>
          <p:cNvSpPr/>
          <p:nvPr/>
        </p:nvSpPr>
        <p:spPr>
          <a:xfrm>
            <a:off x="5183688" y="1577288"/>
            <a:ext cx="6096000" cy="307777"/>
          </a:xfrm>
          <a:prstGeom prst="rect">
            <a:avLst/>
          </a:prstGeom>
        </p:spPr>
        <p:txBody>
          <a:bodyPr>
            <a:spAutoFit/>
          </a:bodyPr>
          <a:lstStyle/>
          <a:p>
            <a:r>
              <a:rPr lang="fr-FR" sz="1400" b="1" dirty="0" smtClean="0">
                <a:solidFill>
                  <a:srgbClr val="0D0D0D"/>
                </a:solidFill>
                <a:latin typeface="Söhne"/>
              </a:rPr>
              <a:t>2.Enabled: </a:t>
            </a:r>
            <a:r>
              <a:rPr lang="fr-FR" sz="1400" dirty="0" smtClean="0">
                <a:solidFill>
                  <a:srgbClr val="0D0D0D"/>
                </a:solidFill>
                <a:latin typeface="Söhne"/>
              </a:rPr>
              <a:t>Permet d'activer ou désactiver la construction d'un projet</a:t>
            </a:r>
            <a:endParaRPr lang="fr-FR" sz="1400" dirty="0"/>
          </a:p>
        </p:txBody>
      </p:sp>
      <p:sp>
        <p:nvSpPr>
          <p:cNvPr id="17" name="Rectangle 16"/>
          <p:cNvSpPr/>
          <p:nvPr/>
        </p:nvSpPr>
        <p:spPr>
          <a:xfrm>
            <a:off x="5183688" y="1931232"/>
            <a:ext cx="6096000" cy="738664"/>
          </a:xfrm>
          <a:prstGeom prst="rect">
            <a:avLst/>
          </a:prstGeom>
        </p:spPr>
        <p:txBody>
          <a:bodyPr>
            <a:spAutoFit/>
          </a:bodyPr>
          <a:lstStyle/>
          <a:p>
            <a:r>
              <a:rPr lang="fr-FR" sz="1400" b="1" dirty="0" smtClean="0">
                <a:solidFill>
                  <a:srgbClr val="0D0D0D"/>
                </a:solidFill>
                <a:latin typeface="Söhne"/>
              </a:rPr>
              <a:t>3. </a:t>
            </a:r>
            <a:r>
              <a:rPr lang="fr-FR" sz="1400" b="1" dirty="0" err="1" smtClean="0">
                <a:solidFill>
                  <a:srgbClr val="0D0D0D"/>
                </a:solidFill>
                <a:latin typeface="Söhne"/>
              </a:rPr>
              <a:t>Discard</a:t>
            </a:r>
            <a:r>
              <a:rPr lang="fr-FR" sz="1400" b="1" dirty="0" smtClean="0">
                <a:solidFill>
                  <a:srgbClr val="0D0D0D"/>
                </a:solidFill>
                <a:latin typeface="Söhne"/>
              </a:rPr>
              <a:t> </a:t>
            </a:r>
            <a:r>
              <a:rPr lang="fr-FR" sz="1400" b="1" dirty="0" err="1" smtClean="0">
                <a:solidFill>
                  <a:srgbClr val="0D0D0D"/>
                </a:solidFill>
                <a:latin typeface="Söhne"/>
              </a:rPr>
              <a:t>old</a:t>
            </a:r>
            <a:r>
              <a:rPr lang="fr-FR" sz="1400" b="1" dirty="0" smtClean="0">
                <a:solidFill>
                  <a:srgbClr val="0D0D0D"/>
                </a:solidFill>
                <a:latin typeface="Söhne"/>
              </a:rPr>
              <a:t> </a:t>
            </a:r>
            <a:r>
              <a:rPr lang="fr-FR" sz="1400" b="1" dirty="0" err="1" smtClean="0">
                <a:solidFill>
                  <a:srgbClr val="0D0D0D"/>
                </a:solidFill>
                <a:latin typeface="Söhne"/>
              </a:rPr>
              <a:t>Builds</a:t>
            </a:r>
            <a:r>
              <a:rPr lang="fr-FR" sz="1400" b="1" dirty="0" smtClean="0">
                <a:solidFill>
                  <a:srgbClr val="0D0D0D"/>
                </a:solidFill>
                <a:latin typeface="Söhne"/>
              </a:rPr>
              <a:t>:</a:t>
            </a:r>
            <a:r>
              <a:rPr lang="fr-FR" sz="1400" dirty="0" smtClean="0">
                <a:solidFill>
                  <a:srgbClr val="0D0D0D"/>
                </a:solidFill>
                <a:latin typeface="Söhne"/>
              </a:rPr>
              <a:t> </a:t>
            </a:r>
            <a:r>
              <a:rPr lang="fr-FR" sz="1400" dirty="0">
                <a:solidFill>
                  <a:srgbClr val="0D0D0D"/>
                </a:solidFill>
                <a:latin typeface="Söhne"/>
              </a:rPr>
              <a:t>Cette section vous permet de configurer la gestion des anciens </a:t>
            </a:r>
            <a:r>
              <a:rPr lang="fr-FR" sz="1400" dirty="0" err="1">
                <a:solidFill>
                  <a:srgbClr val="0D0D0D"/>
                </a:solidFill>
                <a:latin typeface="Söhne"/>
              </a:rPr>
              <a:t>builds</a:t>
            </a:r>
            <a:r>
              <a:rPr lang="fr-FR" sz="1400" dirty="0">
                <a:solidFill>
                  <a:srgbClr val="0D0D0D"/>
                </a:solidFill>
                <a:latin typeface="Söhne"/>
              </a:rPr>
              <a:t>. Vous pouvez spécifier le </a:t>
            </a:r>
            <a:r>
              <a:rPr lang="fr-FR" sz="1400" dirty="0" smtClean="0">
                <a:solidFill>
                  <a:srgbClr val="0D0D0D"/>
                </a:solidFill>
                <a:latin typeface="Söhne"/>
              </a:rPr>
              <a:t>maximum </a:t>
            </a:r>
            <a:r>
              <a:rPr lang="fr-FR" sz="1400" dirty="0">
                <a:solidFill>
                  <a:srgbClr val="0D0D0D"/>
                </a:solidFill>
                <a:latin typeface="Söhne"/>
              </a:rPr>
              <a:t>de </a:t>
            </a:r>
            <a:r>
              <a:rPr lang="fr-FR" sz="1400" dirty="0" err="1">
                <a:solidFill>
                  <a:srgbClr val="0D0D0D"/>
                </a:solidFill>
                <a:latin typeface="Söhne"/>
              </a:rPr>
              <a:t>builds</a:t>
            </a:r>
            <a:r>
              <a:rPr lang="fr-FR" sz="1400" dirty="0">
                <a:solidFill>
                  <a:srgbClr val="0D0D0D"/>
                </a:solidFill>
                <a:latin typeface="Söhne"/>
              </a:rPr>
              <a:t> à conserver, ainsi que la stratégie de suppression des anciens </a:t>
            </a:r>
            <a:r>
              <a:rPr lang="fr-FR" sz="1400" dirty="0" err="1" smtClean="0">
                <a:solidFill>
                  <a:srgbClr val="0D0D0D"/>
                </a:solidFill>
                <a:latin typeface="Söhne"/>
              </a:rPr>
              <a:t>builds</a:t>
            </a:r>
            <a:endParaRPr lang="fr-FR" sz="1400" dirty="0"/>
          </a:p>
        </p:txBody>
      </p:sp>
      <p:sp>
        <p:nvSpPr>
          <p:cNvPr id="18" name="Rectangle 17"/>
          <p:cNvSpPr/>
          <p:nvPr/>
        </p:nvSpPr>
        <p:spPr>
          <a:xfrm>
            <a:off x="5183688" y="2666635"/>
            <a:ext cx="6096000" cy="523220"/>
          </a:xfrm>
          <a:prstGeom prst="rect">
            <a:avLst/>
          </a:prstGeom>
        </p:spPr>
        <p:txBody>
          <a:bodyPr>
            <a:spAutoFit/>
          </a:bodyPr>
          <a:lstStyle/>
          <a:p>
            <a:r>
              <a:rPr lang="fr-FR" sz="1400" b="1" dirty="0" smtClean="0">
                <a:solidFill>
                  <a:srgbClr val="0D0D0D"/>
                </a:solidFill>
                <a:latin typeface="Söhne"/>
              </a:rPr>
              <a:t>4. </a:t>
            </a:r>
            <a:r>
              <a:rPr lang="fr-FR" sz="1400" b="1" dirty="0" err="1" smtClean="0">
                <a:solidFill>
                  <a:srgbClr val="0D0D0D"/>
                </a:solidFill>
                <a:latin typeface="Söhne"/>
              </a:rPr>
              <a:t>Github</a:t>
            </a:r>
            <a:r>
              <a:rPr lang="fr-FR" sz="1400" b="1" dirty="0" smtClean="0">
                <a:solidFill>
                  <a:srgbClr val="0D0D0D"/>
                </a:solidFill>
                <a:latin typeface="Söhne"/>
              </a:rPr>
              <a:t> </a:t>
            </a:r>
            <a:r>
              <a:rPr lang="fr-FR" sz="1400" b="1" dirty="0" err="1" smtClean="0">
                <a:solidFill>
                  <a:srgbClr val="0D0D0D"/>
                </a:solidFill>
                <a:latin typeface="Söhne"/>
              </a:rPr>
              <a:t>project</a:t>
            </a:r>
            <a:r>
              <a:rPr lang="fr-FR" sz="1400" b="1" dirty="0" smtClean="0">
                <a:solidFill>
                  <a:srgbClr val="0D0D0D"/>
                </a:solidFill>
                <a:latin typeface="Söhne"/>
              </a:rPr>
              <a:t>:</a:t>
            </a:r>
            <a:r>
              <a:rPr lang="fr-FR" sz="1400" dirty="0" smtClean="0">
                <a:solidFill>
                  <a:srgbClr val="0D0D0D"/>
                </a:solidFill>
                <a:latin typeface="Söhne"/>
              </a:rPr>
              <a:t> </a:t>
            </a:r>
            <a:r>
              <a:rPr lang="fr-FR" sz="1400" dirty="0">
                <a:solidFill>
                  <a:srgbClr val="0D0D0D"/>
                </a:solidFill>
                <a:latin typeface="Söhne"/>
              </a:rPr>
              <a:t>Cette section </a:t>
            </a:r>
            <a:r>
              <a:rPr lang="fr-FR" sz="1400" dirty="0" smtClean="0">
                <a:solidFill>
                  <a:srgbClr val="0D0D0D"/>
                </a:solidFill>
                <a:latin typeface="Söhne"/>
              </a:rPr>
              <a:t>permet de définir le lien vers le projet </a:t>
            </a:r>
            <a:r>
              <a:rPr lang="fr-FR" sz="1400" dirty="0" err="1" smtClean="0">
                <a:solidFill>
                  <a:srgbClr val="0D0D0D"/>
                </a:solidFill>
                <a:latin typeface="Söhne"/>
              </a:rPr>
              <a:t>Github</a:t>
            </a:r>
            <a:endParaRPr lang="fr-FR" sz="1400" dirty="0"/>
          </a:p>
        </p:txBody>
      </p:sp>
      <p:sp>
        <p:nvSpPr>
          <p:cNvPr id="19" name="Rectangle 18"/>
          <p:cNvSpPr/>
          <p:nvPr/>
        </p:nvSpPr>
        <p:spPr>
          <a:xfrm>
            <a:off x="5183688" y="3239346"/>
            <a:ext cx="6096000" cy="738664"/>
          </a:xfrm>
          <a:prstGeom prst="rect">
            <a:avLst/>
          </a:prstGeom>
        </p:spPr>
        <p:txBody>
          <a:bodyPr>
            <a:spAutoFit/>
          </a:bodyPr>
          <a:lstStyle/>
          <a:p>
            <a:r>
              <a:rPr lang="fr-FR" sz="1400" b="1" dirty="0" smtClean="0">
                <a:solidFill>
                  <a:srgbClr val="0D0D0D"/>
                </a:solidFill>
                <a:latin typeface="Söhne"/>
              </a:rPr>
              <a:t>5.This </a:t>
            </a:r>
            <a:r>
              <a:rPr lang="fr-FR" sz="1400" b="1" dirty="0" err="1">
                <a:solidFill>
                  <a:srgbClr val="0D0D0D"/>
                </a:solidFill>
                <a:latin typeface="Söhne"/>
              </a:rPr>
              <a:t>project</a:t>
            </a:r>
            <a:r>
              <a:rPr lang="fr-FR" sz="1400" b="1" dirty="0">
                <a:solidFill>
                  <a:srgbClr val="0D0D0D"/>
                </a:solidFill>
                <a:latin typeface="Söhne"/>
              </a:rPr>
              <a:t> </a:t>
            </a:r>
            <a:r>
              <a:rPr lang="fr-FR" sz="1400" b="1" dirty="0" err="1">
                <a:solidFill>
                  <a:srgbClr val="0D0D0D"/>
                </a:solidFill>
                <a:latin typeface="Söhne"/>
              </a:rPr>
              <a:t>is</a:t>
            </a:r>
            <a:r>
              <a:rPr lang="fr-FR" sz="1400" b="1" dirty="0">
                <a:solidFill>
                  <a:srgbClr val="0D0D0D"/>
                </a:solidFill>
                <a:latin typeface="Söhne"/>
              </a:rPr>
              <a:t> </a:t>
            </a:r>
            <a:r>
              <a:rPr lang="fr-FR" sz="1400" b="1" dirty="0" err="1" smtClean="0">
                <a:solidFill>
                  <a:srgbClr val="0D0D0D"/>
                </a:solidFill>
                <a:latin typeface="Söhne"/>
              </a:rPr>
              <a:t>parameterized</a:t>
            </a:r>
            <a:r>
              <a:rPr lang="fr-FR" sz="1400" b="1" dirty="0" smtClean="0">
                <a:solidFill>
                  <a:srgbClr val="0D0D0D"/>
                </a:solidFill>
                <a:latin typeface="Söhne"/>
              </a:rPr>
              <a:t>: </a:t>
            </a:r>
            <a:r>
              <a:rPr lang="fr-FR" sz="1400" dirty="0" smtClean="0">
                <a:solidFill>
                  <a:srgbClr val="0D0D0D"/>
                </a:solidFill>
                <a:latin typeface="Söhne"/>
              </a:rPr>
              <a:t>Ce </a:t>
            </a:r>
            <a:r>
              <a:rPr lang="fr-FR" sz="1400" dirty="0">
                <a:solidFill>
                  <a:srgbClr val="0D0D0D"/>
                </a:solidFill>
                <a:latin typeface="Söhne"/>
              </a:rPr>
              <a:t>projet est </a:t>
            </a:r>
            <a:r>
              <a:rPr lang="fr-FR" sz="1400" dirty="0" smtClean="0">
                <a:solidFill>
                  <a:srgbClr val="0D0D0D"/>
                </a:solidFill>
                <a:latin typeface="Söhne"/>
              </a:rPr>
              <a:t>paramétré </a:t>
            </a:r>
            <a:r>
              <a:rPr lang="fr-FR" sz="1400" dirty="0">
                <a:solidFill>
                  <a:srgbClr val="0D0D0D"/>
                </a:solidFill>
                <a:latin typeface="Söhne"/>
              </a:rPr>
              <a:t>dans Jenkins permet de définir des paramètres pour votre </a:t>
            </a:r>
            <a:r>
              <a:rPr lang="fr-FR" sz="1400" dirty="0" smtClean="0">
                <a:solidFill>
                  <a:srgbClr val="0D0D0D"/>
                </a:solidFill>
                <a:latin typeface="Söhne"/>
              </a:rPr>
              <a:t>projet, </a:t>
            </a:r>
            <a:r>
              <a:rPr lang="fr-FR" sz="1400" dirty="0">
                <a:latin typeface="Söhne"/>
              </a:rPr>
              <a:t>de paramètres, tels que des chaînes de texte, des choix, des boîtes à cocher</a:t>
            </a:r>
          </a:p>
        </p:txBody>
      </p:sp>
      <p:sp>
        <p:nvSpPr>
          <p:cNvPr id="20" name="Rectangle 19"/>
          <p:cNvSpPr/>
          <p:nvPr/>
        </p:nvSpPr>
        <p:spPr>
          <a:xfrm>
            <a:off x="5183688" y="4060421"/>
            <a:ext cx="6096000" cy="523220"/>
          </a:xfrm>
          <a:prstGeom prst="rect">
            <a:avLst/>
          </a:prstGeom>
        </p:spPr>
        <p:txBody>
          <a:bodyPr>
            <a:spAutoFit/>
          </a:bodyPr>
          <a:lstStyle/>
          <a:p>
            <a:r>
              <a:rPr lang="fr-FR" sz="1400" b="1" dirty="0" smtClean="0">
                <a:solidFill>
                  <a:srgbClr val="0D0D0D"/>
                </a:solidFill>
                <a:latin typeface="Söhne"/>
              </a:rPr>
              <a:t>6.Throttle </a:t>
            </a:r>
            <a:r>
              <a:rPr lang="fr-FR" sz="1400" b="1" dirty="0" err="1" smtClean="0">
                <a:solidFill>
                  <a:srgbClr val="0D0D0D"/>
                </a:solidFill>
                <a:latin typeface="Söhne"/>
              </a:rPr>
              <a:t>build</a:t>
            </a:r>
            <a:r>
              <a:rPr lang="fr-FR" sz="1400" b="1" dirty="0" smtClean="0">
                <a:solidFill>
                  <a:srgbClr val="0D0D0D"/>
                </a:solidFill>
                <a:latin typeface="Söhne"/>
              </a:rPr>
              <a:t>: </a:t>
            </a:r>
            <a:r>
              <a:rPr lang="fr-FR" sz="1400" dirty="0">
                <a:solidFill>
                  <a:srgbClr val="0D0D0D"/>
                </a:solidFill>
                <a:latin typeface="Söhne"/>
              </a:rPr>
              <a:t>P</a:t>
            </a:r>
            <a:r>
              <a:rPr lang="fr-FR" sz="1400" dirty="0" smtClean="0">
                <a:solidFill>
                  <a:srgbClr val="0D0D0D"/>
                </a:solidFill>
                <a:latin typeface="Söhne"/>
              </a:rPr>
              <a:t>ermet </a:t>
            </a:r>
            <a:r>
              <a:rPr lang="fr-FR" sz="1400" dirty="0">
                <a:solidFill>
                  <a:srgbClr val="0D0D0D"/>
                </a:solidFill>
                <a:latin typeface="Söhne"/>
              </a:rPr>
              <a:t>de contrôler le nombre de </a:t>
            </a:r>
            <a:r>
              <a:rPr lang="fr-FR" sz="1400" dirty="0" err="1" smtClean="0">
                <a:solidFill>
                  <a:srgbClr val="0D0D0D"/>
                </a:solidFill>
                <a:latin typeface="Söhne"/>
              </a:rPr>
              <a:t>build</a:t>
            </a:r>
            <a:r>
              <a:rPr lang="fr-FR" sz="1400" dirty="0" smtClean="0">
                <a:solidFill>
                  <a:srgbClr val="0D0D0D"/>
                </a:solidFill>
                <a:latin typeface="Söhne"/>
              </a:rPr>
              <a:t> </a:t>
            </a:r>
            <a:r>
              <a:rPr lang="fr-FR" sz="1400" dirty="0">
                <a:solidFill>
                  <a:srgbClr val="0D0D0D"/>
                </a:solidFill>
                <a:latin typeface="Söhne"/>
              </a:rPr>
              <a:t>concurrents autorisés pour un projet donné.</a:t>
            </a:r>
            <a:endParaRPr lang="fr-FR" sz="1400" dirty="0"/>
          </a:p>
        </p:txBody>
      </p:sp>
      <p:sp>
        <p:nvSpPr>
          <p:cNvPr id="21" name="Rectangle 20"/>
          <p:cNvSpPr/>
          <p:nvPr/>
        </p:nvSpPr>
        <p:spPr>
          <a:xfrm>
            <a:off x="5183688" y="4722321"/>
            <a:ext cx="6096000" cy="738664"/>
          </a:xfrm>
          <a:prstGeom prst="rect">
            <a:avLst/>
          </a:prstGeom>
        </p:spPr>
        <p:txBody>
          <a:bodyPr>
            <a:spAutoFit/>
          </a:bodyPr>
          <a:lstStyle/>
          <a:p>
            <a:r>
              <a:rPr lang="fr-FR" sz="1400" b="1" dirty="0" smtClean="0">
                <a:solidFill>
                  <a:srgbClr val="0D0D0D"/>
                </a:solidFill>
                <a:latin typeface="Söhne"/>
              </a:rPr>
              <a:t>7.</a:t>
            </a:r>
            <a:r>
              <a:rPr lang="en-US" sz="1400" b="1" dirty="0" smtClean="0">
                <a:latin typeface="Söhne"/>
              </a:rPr>
              <a:t>Execute </a:t>
            </a:r>
            <a:r>
              <a:rPr lang="en-US" sz="1400" b="1" dirty="0">
                <a:latin typeface="Söhne"/>
              </a:rPr>
              <a:t>concurrent builds if </a:t>
            </a:r>
            <a:r>
              <a:rPr lang="en-US" sz="1400" b="1" dirty="0" smtClean="0">
                <a:latin typeface="Söhne"/>
              </a:rPr>
              <a:t>necessary: </a:t>
            </a:r>
            <a:r>
              <a:rPr lang="fr-FR" sz="1400" dirty="0">
                <a:solidFill>
                  <a:srgbClr val="0D0D0D"/>
                </a:solidFill>
                <a:latin typeface="Söhne"/>
              </a:rPr>
              <a:t>P</a:t>
            </a:r>
            <a:r>
              <a:rPr lang="fr-FR" sz="1400" dirty="0" smtClean="0">
                <a:solidFill>
                  <a:srgbClr val="0D0D0D"/>
                </a:solidFill>
                <a:latin typeface="Söhne"/>
              </a:rPr>
              <a:t>ermet </a:t>
            </a:r>
            <a:r>
              <a:rPr lang="fr-FR" sz="1400" dirty="0">
                <a:solidFill>
                  <a:srgbClr val="0D0D0D"/>
                </a:solidFill>
                <a:latin typeface="Söhne"/>
              </a:rPr>
              <a:t>de spécifier si le projet peut être exécuté plusieurs fois simultanément ou s'il doit attendre que les </a:t>
            </a:r>
            <a:r>
              <a:rPr lang="fr-FR" sz="1400" dirty="0" err="1" smtClean="0">
                <a:solidFill>
                  <a:srgbClr val="0D0D0D"/>
                </a:solidFill>
                <a:latin typeface="Söhne"/>
              </a:rPr>
              <a:t>build</a:t>
            </a:r>
            <a:r>
              <a:rPr lang="fr-FR" sz="1400" dirty="0" smtClean="0">
                <a:solidFill>
                  <a:srgbClr val="0D0D0D"/>
                </a:solidFill>
                <a:latin typeface="Söhne"/>
              </a:rPr>
              <a:t> </a:t>
            </a:r>
            <a:r>
              <a:rPr lang="fr-FR" sz="1400" dirty="0">
                <a:solidFill>
                  <a:srgbClr val="0D0D0D"/>
                </a:solidFill>
                <a:latin typeface="Söhne"/>
              </a:rPr>
              <a:t>en cours se terminent avant d'en démarrer de nouveaux</a:t>
            </a:r>
            <a:endParaRPr lang="fr-FR" sz="1400" dirty="0"/>
          </a:p>
        </p:txBody>
      </p:sp>
      <p:sp>
        <p:nvSpPr>
          <p:cNvPr id="23" name="Rectangle 22"/>
          <p:cNvSpPr/>
          <p:nvPr/>
        </p:nvSpPr>
        <p:spPr>
          <a:xfrm>
            <a:off x="5183688" y="5612722"/>
            <a:ext cx="6096000" cy="738664"/>
          </a:xfrm>
          <a:prstGeom prst="rect">
            <a:avLst/>
          </a:prstGeom>
        </p:spPr>
        <p:txBody>
          <a:bodyPr>
            <a:spAutoFit/>
          </a:bodyPr>
          <a:lstStyle/>
          <a:p>
            <a:r>
              <a:rPr lang="fr-FR" sz="1400" b="1" dirty="0" smtClean="0">
                <a:solidFill>
                  <a:srgbClr val="0D0D0D"/>
                </a:solidFill>
                <a:latin typeface="Söhne"/>
              </a:rPr>
              <a:t>8.</a:t>
            </a:r>
            <a:r>
              <a:rPr lang="en-US" sz="1400" b="1" dirty="0" smtClean="0">
                <a:latin typeface="Söhne"/>
              </a:rPr>
              <a:t>Advanced: </a:t>
            </a:r>
            <a:r>
              <a:rPr lang="fr-FR" sz="1400" dirty="0">
                <a:latin typeface="Söhne"/>
              </a:rPr>
              <a:t>P</a:t>
            </a:r>
            <a:r>
              <a:rPr lang="fr-FR" sz="1400" dirty="0" smtClean="0">
                <a:latin typeface="Söhne"/>
              </a:rPr>
              <a:t>ermet </a:t>
            </a:r>
            <a:r>
              <a:rPr lang="fr-FR" sz="1400" dirty="0">
                <a:latin typeface="Söhne"/>
              </a:rPr>
              <a:t>d'accéder à des paramètres de configuration supplémentaires pour contrôler le comportement spécifique de l'exécution des </a:t>
            </a:r>
            <a:r>
              <a:rPr lang="fr-FR" sz="1400" dirty="0" err="1" smtClean="0">
                <a:latin typeface="Söhne"/>
              </a:rPr>
              <a:t>build</a:t>
            </a:r>
            <a:r>
              <a:rPr lang="fr-FR" sz="1400" dirty="0" smtClean="0">
                <a:latin typeface="Söhne"/>
              </a:rPr>
              <a:t> </a:t>
            </a:r>
            <a:r>
              <a:rPr lang="fr-FR" sz="1400" dirty="0">
                <a:latin typeface="Söhne"/>
              </a:rPr>
              <a:t>simultanés</a:t>
            </a:r>
            <a:endParaRPr lang="fr-FR" sz="1100" dirty="0">
              <a:latin typeface="Söhne"/>
            </a:endParaRPr>
          </a:p>
        </p:txBody>
      </p:sp>
    </p:spTree>
    <p:extLst>
      <p:ext uri="{BB962C8B-B14F-4D97-AF65-F5344CB8AC3E}">
        <p14:creationId xmlns:p14="http://schemas.microsoft.com/office/powerpoint/2010/main" val="819983047"/>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189776" y="176927"/>
            <a:ext cx="3670877" cy="369332"/>
          </a:xfrm>
          <a:prstGeom prst="rect">
            <a:avLst/>
          </a:prstGeom>
        </p:spPr>
        <p:txBody>
          <a:bodyPr wrap="none">
            <a:spAutoFit/>
          </a:bodyPr>
          <a:lstStyle/>
          <a:p>
            <a:r>
              <a:rPr lang="fr-FR" altLang="fr-FR" b="1" dirty="0">
                <a:latin typeface="Times New Roman" panose="02020603050405020304" pitchFamily="18" charset="0"/>
                <a:cs typeface="Times New Roman" panose="02020603050405020304" pitchFamily="18" charset="0"/>
              </a:rPr>
              <a:t>Les </a:t>
            </a:r>
            <a:r>
              <a:rPr lang="fr-FR" altLang="fr-FR" b="1" dirty="0" smtClean="0">
                <a:latin typeface="Times New Roman" panose="02020603050405020304" pitchFamily="18" charset="0"/>
                <a:cs typeface="Times New Roman" panose="02020603050405020304" pitchFamily="18" charset="0"/>
              </a:rPr>
              <a:t>types de projets (Le Freestyle ) </a:t>
            </a:r>
            <a:endParaRPr lang="fr-FR" altLang="en-US" b="1" dirty="0">
              <a:latin typeface="Times New Roman" panose="02020603050405020304" pitchFamily="18" charset="0"/>
              <a:cs typeface="Times New Roman" panose="02020603050405020304" pitchFamily="18" charset="0"/>
            </a:endParaRPr>
          </a:p>
        </p:txBody>
      </p:sp>
      <p:sp>
        <p:nvSpPr>
          <p:cNvPr id="3" name="Rectangle 2"/>
          <p:cNvSpPr/>
          <p:nvPr/>
        </p:nvSpPr>
        <p:spPr>
          <a:xfrm>
            <a:off x="189775" y="700124"/>
            <a:ext cx="11409325" cy="307777"/>
          </a:xfrm>
          <a:prstGeom prst="rect">
            <a:avLst/>
          </a:prstGeom>
        </p:spPr>
        <p:txBody>
          <a:bodyPr wrap="square">
            <a:spAutoFit/>
          </a:bodyPr>
          <a:lstStyle/>
          <a:p>
            <a:r>
              <a:rPr lang="fr-FR" sz="1400" dirty="0" smtClean="0">
                <a:solidFill>
                  <a:srgbClr val="0D0D0D"/>
                </a:solidFill>
                <a:latin typeface="Söhne"/>
              </a:rPr>
              <a:t>Il y a 5 éléments qui composent un projet Freestyle </a:t>
            </a:r>
            <a:endParaRPr lang="fr-FR" sz="1400" dirty="0"/>
          </a:p>
        </p:txBody>
      </p:sp>
      <p:pic>
        <p:nvPicPr>
          <p:cNvPr id="4" name="Image 3"/>
          <p:cNvPicPr>
            <a:picLocks noChangeAspect="1"/>
          </p:cNvPicPr>
          <p:nvPr/>
        </p:nvPicPr>
        <p:blipFill>
          <a:blip r:embed="rId3"/>
          <a:stretch>
            <a:fillRect/>
          </a:stretch>
        </p:blipFill>
        <p:spPr>
          <a:xfrm>
            <a:off x="317292" y="1080951"/>
            <a:ext cx="2845530" cy="1313815"/>
          </a:xfrm>
          <a:prstGeom prst="rect">
            <a:avLst/>
          </a:prstGeom>
        </p:spPr>
      </p:pic>
      <p:pic>
        <p:nvPicPr>
          <p:cNvPr id="14" name="Image 13"/>
          <p:cNvPicPr>
            <a:picLocks noChangeAspect="1"/>
          </p:cNvPicPr>
          <p:nvPr/>
        </p:nvPicPr>
        <p:blipFill>
          <a:blip r:embed="rId4"/>
          <a:stretch>
            <a:fillRect/>
          </a:stretch>
        </p:blipFill>
        <p:spPr>
          <a:xfrm>
            <a:off x="262261" y="3169653"/>
            <a:ext cx="3219975" cy="2107620"/>
          </a:xfrm>
          <a:prstGeom prst="rect">
            <a:avLst/>
          </a:prstGeom>
        </p:spPr>
      </p:pic>
      <p:sp>
        <p:nvSpPr>
          <p:cNvPr id="22" name="Rectangle 21"/>
          <p:cNvSpPr/>
          <p:nvPr/>
        </p:nvSpPr>
        <p:spPr>
          <a:xfrm>
            <a:off x="3674302" y="1538460"/>
            <a:ext cx="6096000" cy="1169551"/>
          </a:xfrm>
          <a:prstGeom prst="rect">
            <a:avLst/>
          </a:prstGeom>
        </p:spPr>
        <p:txBody>
          <a:bodyPr>
            <a:spAutoFit/>
          </a:bodyPr>
          <a:lstStyle/>
          <a:p>
            <a:r>
              <a:rPr lang="fr-FR" sz="1400" dirty="0" smtClean="0">
                <a:solidFill>
                  <a:srgbClr val="0D0D0D"/>
                </a:solidFill>
                <a:latin typeface="Söhne"/>
              </a:rPr>
              <a:t>L'option </a:t>
            </a:r>
            <a:r>
              <a:rPr lang="fr-FR" sz="1400" dirty="0">
                <a:solidFill>
                  <a:srgbClr val="0D0D0D"/>
                </a:solidFill>
                <a:latin typeface="Söhne"/>
              </a:rPr>
              <a:t>"Git" </a:t>
            </a:r>
            <a:r>
              <a:rPr lang="fr-FR" sz="1400" dirty="0" smtClean="0">
                <a:solidFill>
                  <a:srgbClr val="0D0D0D"/>
                </a:solidFill>
                <a:latin typeface="Söhne"/>
              </a:rPr>
              <a:t>est </a:t>
            </a:r>
            <a:r>
              <a:rPr lang="fr-FR" sz="1400" dirty="0">
                <a:solidFill>
                  <a:srgbClr val="0D0D0D"/>
                </a:solidFill>
                <a:latin typeface="Söhne"/>
              </a:rPr>
              <a:t>utilisée lorsque votre projet est associé à un référentiel Git </a:t>
            </a:r>
            <a:r>
              <a:rPr lang="fr-FR" sz="1400" dirty="0" smtClean="0">
                <a:solidFill>
                  <a:srgbClr val="0D0D0D"/>
                </a:solidFill>
                <a:latin typeface="Söhne"/>
              </a:rPr>
              <a:t>externe</a:t>
            </a:r>
          </a:p>
          <a:p>
            <a:endParaRPr lang="fr-FR" sz="1400" dirty="0" smtClean="0">
              <a:solidFill>
                <a:srgbClr val="0D0D0D"/>
              </a:solidFill>
              <a:latin typeface="Söhne"/>
            </a:endParaRPr>
          </a:p>
          <a:p>
            <a:r>
              <a:rPr lang="fr-FR" sz="1400" dirty="0">
                <a:latin typeface="Söhne"/>
              </a:rPr>
              <a:t>L'option </a:t>
            </a:r>
            <a:r>
              <a:rPr lang="fr-FR" sz="1400" dirty="0" smtClean="0">
                <a:latin typeface="Söhne"/>
              </a:rPr>
              <a:t>signifie </a:t>
            </a:r>
            <a:r>
              <a:rPr lang="fr-FR" sz="1400" dirty="0">
                <a:latin typeface="Söhne"/>
              </a:rPr>
              <a:t>que Jenkins n'utilisera aucune intégration avec un système de gestion de code source spécifique</a:t>
            </a:r>
            <a:endParaRPr lang="fr-FR" sz="1100" dirty="0">
              <a:latin typeface="Söhne"/>
            </a:endParaRPr>
          </a:p>
        </p:txBody>
      </p:sp>
      <p:sp>
        <p:nvSpPr>
          <p:cNvPr id="24" name="Rectangle 23"/>
          <p:cNvSpPr/>
          <p:nvPr/>
        </p:nvSpPr>
        <p:spPr>
          <a:xfrm>
            <a:off x="3624197" y="3170221"/>
            <a:ext cx="8141918" cy="2893100"/>
          </a:xfrm>
          <a:prstGeom prst="rect">
            <a:avLst/>
          </a:prstGeom>
        </p:spPr>
        <p:txBody>
          <a:bodyPr wrap="square">
            <a:spAutoFit/>
          </a:bodyPr>
          <a:lstStyle/>
          <a:p>
            <a:r>
              <a:rPr lang="fr-FR" sz="1400" b="1" dirty="0">
                <a:solidFill>
                  <a:srgbClr val="0D0D0D"/>
                </a:solidFill>
                <a:latin typeface="Söhne"/>
              </a:rPr>
              <a:t>Trigger </a:t>
            </a:r>
            <a:r>
              <a:rPr lang="fr-FR" sz="1400" b="1" dirty="0" err="1">
                <a:solidFill>
                  <a:srgbClr val="0D0D0D"/>
                </a:solidFill>
                <a:latin typeface="Söhne"/>
              </a:rPr>
              <a:t>builds</a:t>
            </a:r>
            <a:r>
              <a:rPr lang="fr-FR" sz="1400" b="1" dirty="0">
                <a:solidFill>
                  <a:srgbClr val="0D0D0D"/>
                </a:solidFill>
                <a:latin typeface="Söhne"/>
              </a:rPr>
              <a:t> </a:t>
            </a:r>
            <a:r>
              <a:rPr lang="fr-FR" sz="1400" b="1" dirty="0" err="1">
                <a:solidFill>
                  <a:srgbClr val="0D0D0D"/>
                </a:solidFill>
                <a:latin typeface="Söhne"/>
              </a:rPr>
              <a:t>remotely</a:t>
            </a:r>
            <a:r>
              <a:rPr lang="fr-FR" sz="1400" dirty="0">
                <a:solidFill>
                  <a:srgbClr val="0D0D0D"/>
                </a:solidFill>
                <a:latin typeface="Söhne"/>
              </a:rPr>
              <a:t> : Cette option permet de déclencher un </a:t>
            </a:r>
            <a:r>
              <a:rPr lang="fr-FR" sz="1400" dirty="0" err="1">
                <a:solidFill>
                  <a:srgbClr val="0D0D0D"/>
                </a:solidFill>
                <a:latin typeface="Söhne"/>
              </a:rPr>
              <a:t>build</a:t>
            </a:r>
            <a:r>
              <a:rPr lang="fr-FR" sz="1400" dirty="0">
                <a:solidFill>
                  <a:srgbClr val="0D0D0D"/>
                </a:solidFill>
                <a:latin typeface="Söhne"/>
              </a:rPr>
              <a:t> en envoyant une requête HTTP POST à une URL spécifique</a:t>
            </a:r>
            <a:r>
              <a:rPr lang="fr-FR" sz="1400" dirty="0" smtClean="0">
                <a:solidFill>
                  <a:srgbClr val="0D0D0D"/>
                </a:solidFill>
                <a:latin typeface="Söhne"/>
              </a:rPr>
              <a:t>.</a:t>
            </a:r>
          </a:p>
          <a:p>
            <a:endParaRPr lang="fr-FR" sz="1400" dirty="0">
              <a:solidFill>
                <a:srgbClr val="0D0D0D"/>
              </a:solidFill>
              <a:latin typeface="Söhne"/>
            </a:endParaRPr>
          </a:p>
          <a:p>
            <a:r>
              <a:rPr lang="fr-FR" sz="1400" b="1" dirty="0" err="1">
                <a:latin typeface="Söhne"/>
              </a:rPr>
              <a:t>Build</a:t>
            </a:r>
            <a:r>
              <a:rPr lang="fr-FR" sz="1400" b="1" dirty="0">
                <a:latin typeface="Söhne"/>
              </a:rPr>
              <a:t> </a:t>
            </a:r>
            <a:r>
              <a:rPr lang="fr-FR" sz="1400" b="1" dirty="0" err="1">
                <a:latin typeface="Söhne"/>
              </a:rPr>
              <a:t>after</a:t>
            </a:r>
            <a:r>
              <a:rPr lang="fr-FR" sz="1400" b="1" dirty="0">
                <a:latin typeface="Söhne"/>
              </a:rPr>
              <a:t> </a:t>
            </a:r>
            <a:r>
              <a:rPr lang="fr-FR" sz="1400" b="1" dirty="0" err="1">
                <a:latin typeface="Söhne"/>
              </a:rPr>
              <a:t>other</a:t>
            </a:r>
            <a:r>
              <a:rPr lang="fr-FR" sz="1400" b="1" dirty="0">
                <a:latin typeface="Söhne"/>
              </a:rPr>
              <a:t> </a:t>
            </a:r>
            <a:r>
              <a:rPr lang="fr-FR" sz="1400" b="1" dirty="0" err="1">
                <a:latin typeface="Söhne"/>
              </a:rPr>
              <a:t>projects</a:t>
            </a:r>
            <a:r>
              <a:rPr lang="fr-FR" sz="1400" b="1" dirty="0">
                <a:latin typeface="Söhne"/>
              </a:rPr>
              <a:t> are </a:t>
            </a:r>
            <a:r>
              <a:rPr lang="fr-FR" sz="1400" b="1" dirty="0" err="1">
                <a:latin typeface="Söhne"/>
              </a:rPr>
              <a:t>built</a:t>
            </a:r>
            <a:r>
              <a:rPr lang="fr-FR" sz="1400" dirty="0">
                <a:latin typeface="Söhne"/>
              </a:rPr>
              <a:t> : Cette option permet de déclencher le </a:t>
            </a:r>
            <a:r>
              <a:rPr lang="fr-FR" sz="1400" dirty="0" err="1">
                <a:latin typeface="Söhne"/>
              </a:rPr>
              <a:t>build</a:t>
            </a:r>
            <a:r>
              <a:rPr lang="fr-FR" sz="1400" dirty="0">
                <a:latin typeface="Söhne"/>
              </a:rPr>
              <a:t> du projet actuel après que d'autres projets spécifiés ont été construits avec succès. </a:t>
            </a:r>
            <a:endParaRPr lang="fr-FR" sz="1400" dirty="0" smtClean="0">
              <a:latin typeface="Söhne"/>
            </a:endParaRPr>
          </a:p>
          <a:p>
            <a:endParaRPr lang="fr-FR" sz="1400" dirty="0">
              <a:latin typeface="Söhne"/>
            </a:endParaRPr>
          </a:p>
          <a:p>
            <a:r>
              <a:rPr lang="fr-FR" sz="1400" b="1" dirty="0" err="1">
                <a:latin typeface="Söhne"/>
              </a:rPr>
              <a:t>Build</a:t>
            </a:r>
            <a:r>
              <a:rPr lang="fr-FR" sz="1400" b="1" dirty="0">
                <a:latin typeface="Söhne"/>
              </a:rPr>
              <a:t> </a:t>
            </a:r>
            <a:r>
              <a:rPr lang="fr-FR" sz="1400" b="1" dirty="0" err="1">
                <a:latin typeface="Söhne"/>
              </a:rPr>
              <a:t>periodically</a:t>
            </a:r>
            <a:r>
              <a:rPr lang="fr-FR" sz="1400" dirty="0">
                <a:latin typeface="Söhne"/>
              </a:rPr>
              <a:t> : Cette option permet de planifier des </a:t>
            </a:r>
            <a:r>
              <a:rPr lang="fr-FR" sz="1400" dirty="0" err="1">
                <a:latin typeface="Söhne"/>
              </a:rPr>
              <a:t>builds</a:t>
            </a:r>
            <a:r>
              <a:rPr lang="fr-FR" sz="1400" dirty="0">
                <a:latin typeface="Söhne"/>
              </a:rPr>
              <a:t> à des intervalles réguliers. </a:t>
            </a:r>
            <a:endParaRPr lang="fr-FR" sz="1400" dirty="0" smtClean="0">
              <a:latin typeface="Söhne"/>
            </a:endParaRPr>
          </a:p>
          <a:p>
            <a:endParaRPr lang="fr-FR" sz="1400" dirty="0">
              <a:latin typeface="Söhne"/>
            </a:endParaRPr>
          </a:p>
          <a:p>
            <a:r>
              <a:rPr lang="fr-FR" sz="1400" b="1" dirty="0" err="1">
                <a:latin typeface="Söhne"/>
              </a:rPr>
              <a:t>Poll</a:t>
            </a:r>
            <a:r>
              <a:rPr lang="fr-FR" sz="1400" b="1" dirty="0">
                <a:latin typeface="Söhne"/>
              </a:rPr>
              <a:t> SCM</a:t>
            </a:r>
            <a:r>
              <a:rPr lang="fr-FR" sz="1400" dirty="0">
                <a:latin typeface="Söhne"/>
              </a:rPr>
              <a:t> : Cette option permet à Jenkins de surveiller les modifications dans le référentiel de code source à intervalles réguliers et de déclencher un </a:t>
            </a:r>
            <a:r>
              <a:rPr lang="fr-FR" sz="1400" dirty="0" err="1">
                <a:latin typeface="Söhne"/>
              </a:rPr>
              <a:t>build</a:t>
            </a:r>
            <a:r>
              <a:rPr lang="fr-FR" sz="1400" dirty="0">
                <a:latin typeface="Söhne"/>
              </a:rPr>
              <a:t> lorsque des modifications sont détectées</a:t>
            </a:r>
            <a:r>
              <a:rPr lang="fr-FR" sz="1400" dirty="0" smtClean="0">
                <a:latin typeface="Söhne"/>
              </a:rPr>
              <a:t>.</a:t>
            </a:r>
          </a:p>
          <a:p>
            <a:endParaRPr lang="fr-FR" sz="1400" dirty="0">
              <a:latin typeface="Söhne"/>
            </a:endParaRPr>
          </a:p>
          <a:p>
            <a:r>
              <a:rPr lang="fr-FR" sz="1400" b="1" dirty="0">
                <a:latin typeface="Söhne"/>
              </a:rPr>
              <a:t>GitHub </a:t>
            </a:r>
            <a:r>
              <a:rPr lang="fr-FR" sz="1400" b="1" dirty="0" err="1">
                <a:latin typeface="Söhne"/>
              </a:rPr>
              <a:t>hook</a:t>
            </a:r>
            <a:r>
              <a:rPr lang="fr-FR" sz="1400" b="1" dirty="0">
                <a:latin typeface="Söhne"/>
              </a:rPr>
              <a:t> trigger for </a:t>
            </a:r>
            <a:r>
              <a:rPr lang="fr-FR" sz="1400" b="1" dirty="0" err="1">
                <a:latin typeface="Söhne"/>
              </a:rPr>
              <a:t>GITScm</a:t>
            </a:r>
            <a:r>
              <a:rPr lang="fr-FR" sz="1400" b="1" dirty="0">
                <a:latin typeface="Söhne"/>
              </a:rPr>
              <a:t> polling</a:t>
            </a:r>
            <a:r>
              <a:rPr lang="fr-FR" sz="1400" dirty="0">
                <a:latin typeface="Söhne"/>
              </a:rPr>
              <a:t> : Cette option permet à Jenkins d'écouter les événements de </a:t>
            </a:r>
            <a:r>
              <a:rPr lang="fr-FR" sz="1400" dirty="0" err="1">
                <a:latin typeface="Söhne"/>
              </a:rPr>
              <a:t>webhook</a:t>
            </a:r>
            <a:r>
              <a:rPr lang="fr-FR" sz="1400" dirty="0">
                <a:latin typeface="Söhne"/>
              </a:rPr>
              <a:t> GitHub spécifiquement pour les </a:t>
            </a:r>
            <a:r>
              <a:rPr lang="fr-FR" sz="1400" dirty="0" err="1">
                <a:latin typeface="Söhne"/>
              </a:rPr>
              <a:t>builds</a:t>
            </a:r>
            <a:r>
              <a:rPr lang="fr-FR" sz="1400" dirty="0">
                <a:latin typeface="Söhne"/>
              </a:rPr>
              <a:t> déclenchés par la surveillance de SCM </a:t>
            </a:r>
          </a:p>
        </p:txBody>
      </p:sp>
    </p:spTree>
    <p:extLst>
      <p:ext uri="{BB962C8B-B14F-4D97-AF65-F5344CB8AC3E}">
        <p14:creationId xmlns:p14="http://schemas.microsoft.com/office/powerpoint/2010/main" val="3875761906"/>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189776" y="176927"/>
            <a:ext cx="3670877" cy="369332"/>
          </a:xfrm>
          <a:prstGeom prst="rect">
            <a:avLst/>
          </a:prstGeom>
        </p:spPr>
        <p:txBody>
          <a:bodyPr wrap="none">
            <a:spAutoFit/>
          </a:bodyPr>
          <a:lstStyle/>
          <a:p>
            <a:r>
              <a:rPr lang="fr-FR" altLang="fr-FR" b="1" dirty="0">
                <a:latin typeface="Times New Roman" panose="02020603050405020304" pitchFamily="18" charset="0"/>
                <a:cs typeface="Times New Roman" panose="02020603050405020304" pitchFamily="18" charset="0"/>
              </a:rPr>
              <a:t>Les </a:t>
            </a:r>
            <a:r>
              <a:rPr lang="fr-FR" altLang="fr-FR" b="1" dirty="0" smtClean="0">
                <a:latin typeface="Times New Roman" panose="02020603050405020304" pitchFamily="18" charset="0"/>
                <a:cs typeface="Times New Roman" panose="02020603050405020304" pitchFamily="18" charset="0"/>
              </a:rPr>
              <a:t>types de projets (Le Freestyle ) </a:t>
            </a:r>
            <a:endParaRPr lang="fr-FR" altLang="en-US" b="1" dirty="0">
              <a:latin typeface="Times New Roman" panose="02020603050405020304" pitchFamily="18" charset="0"/>
              <a:cs typeface="Times New Roman" panose="02020603050405020304" pitchFamily="18" charset="0"/>
            </a:endParaRPr>
          </a:p>
        </p:txBody>
      </p:sp>
      <p:sp>
        <p:nvSpPr>
          <p:cNvPr id="3" name="Rectangle 2"/>
          <p:cNvSpPr/>
          <p:nvPr/>
        </p:nvSpPr>
        <p:spPr>
          <a:xfrm>
            <a:off x="189775" y="700124"/>
            <a:ext cx="11409325" cy="307777"/>
          </a:xfrm>
          <a:prstGeom prst="rect">
            <a:avLst/>
          </a:prstGeom>
        </p:spPr>
        <p:txBody>
          <a:bodyPr wrap="square">
            <a:spAutoFit/>
          </a:bodyPr>
          <a:lstStyle/>
          <a:p>
            <a:r>
              <a:rPr lang="fr-FR" sz="1400" dirty="0" smtClean="0">
                <a:solidFill>
                  <a:srgbClr val="0D0D0D"/>
                </a:solidFill>
                <a:latin typeface="Söhne"/>
              </a:rPr>
              <a:t>Il y a 5 éléments qui composent un projet Freestyle </a:t>
            </a:r>
            <a:endParaRPr lang="fr-FR" sz="1400" dirty="0"/>
          </a:p>
        </p:txBody>
      </p:sp>
      <p:pic>
        <p:nvPicPr>
          <p:cNvPr id="2" name="Image 1"/>
          <p:cNvPicPr>
            <a:picLocks noChangeAspect="1"/>
          </p:cNvPicPr>
          <p:nvPr/>
        </p:nvPicPr>
        <p:blipFill>
          <a:blip r:embed="rId3"/>
          <a:stretch>
            <a:fillRect/>
          </a:stretch>
        </p:blipFill>
        <p:spPr>
          <a:xfrm>
            <a:off x="350727" y="1075742"/>
            <a:ext cx="3913609" cy="2886578"/>
          </a:xfrm>
          <a:prstGeom prst="rect">
            <a:avLst/>
          </a:prstGeom>
        </p:spPr>
      </p:pic>
      <p:pic>
        <p:nvPicPr>
          <p:cNvPr id="5" name="Image 4"/>
          <p:cNvPicPr>
            <a:picLocks noChangeAspect="1"/>
          </p:cNvPicPr>
          <p:nvPr/>
        </p:nvPicPr>
        <p:blipFill>
          <a:blip r:embed="rId4"/>
          <a:stretch>
            <a:fillRect/>
          </a:stretch>
        </p:blipFill>
        <p:spPr>
          <a:xfrm>
            <a:off x="446096" y="4272125"/>
            <a:ext cx="3288410" cy="2228883"/>
          </a:xfrm>
          <a:prstGeom prst="rect">
            <a:avLst/>
          </a:prstGeom>
        </p:spPr>
      </p:pic>
      <p:sp>
        <p:nvSpPr>
          <p:cNvPr id="6" name="Rectangle 5"/>
          <p:cNvSpPr/>
          <p:nvPr/>
        </p:nvSpPr>
        <p:spPr>
          <a:xfrm>
            <a:off x="4914378" y="1581387"/>
            <a:ext cx="6096000" cy="4478149"/>
          </a:xfrm>
          <a:prstGeom prst="rect">
            <a:avLst/>
          </a:prstGeom>
        </p:spPr>
        <p:txBody>
          <a:bodyPr>
            <a:spAutoFit/>
          </a:bodyPr>
          <a:lstStyle/>
          <a:p>
            <a:r>
              <a:rPr lang="fr-FR" sz="1500" b="1" dirty="0" err="1">
                <a:solidFill>
                  <a:srgbClr val="0D0D0D"/>
                </a:solidFill>
                <a:latin typeface="Söhne"/>
              </a:rPr>
              <a:t>Delete</a:t>
            </a:r>
            <a:r>
              <a:rPr lang="fr-FR" sz="1500" b="1" dirty="0">
                <a:solidFill>
                  <a:srgbClr val="0D0D0D"/>
                </a:solidFill>
                <a:latin typeface="Söhne"/>
              </a:rPr>
              <a:t> </a:t>
            </a:r>
            <a:r>
              <a:rPr lang="fr-FR" sz="1500" b="1" dirty="0" err="1">
                <a:solidFill>
                  <a:srgbClr val="0D0D0D"/>
                </a:solidFill>
                <a:latin typeface="Söhne"/>
              </a:rPr>
              <a:t>workspace</a:t>
            </a:r>
            <a:r>
              <a:rPr lang="fr-FR" sz="1500" b="1" dirty="0">
                <a:solidFill>
                  <a:srgbClr val="0D0D0D"/>
                </a:solidFill>
                <a:latin typeface="Söhne"/>
              </a:rPr>
              <a:t> </a:t>
            </a:r>
            <a:r>
              <a:rPr lang="fr-FR" sz="1500" b="1" dirty="0" err="1">
                <a:solidFill>
                  <a:srgbClr val="0D0D0D"/>
                </a:solidFill>
                <a:latin typeface="Söhne"/>
              </a:rPr>
              <a:t>before</a:t>
            </a:r>
            <a:r>
              <a:rPr lang="fr-FR" sz="1500" b="1" dirty="0">
                <a:solidFill>
                  <a:srgbClr val="0D0D0D"/>
                </a:solidFill>
                <a:latin typeface="Söhne"/>
              </a:rPr>
              <a:t> </a:t>
            </a:r>
            <a:r>
              <a:rPr lang="fr-FR" sz="1500" b="1" dirty="0" err="1">
                <a:solidFill>
                  <a:srgbClr val="0D0D0D"/>
                </a:solidFill>
                <a:latin typeface="Söhne"/>
              </a:rPr>
              <a:t>build</a:t>
            </a:r>
            <a:r>
              <a:rPr lang="fr-FR" sz="1500" b="1" dirty="0">
                <a:solidFill>
                  <a:srgbClr val="0D0D0D"/>
                </a:solidFill>
                <a:latin typeface="Söhne"/>
              </a:rPr>
              <a:t> </a:t>
            </a:r>
            <a:r>
              <a:rPr lang="fr-FR" sz="1500" b="1" dirty="0" err="1">
                <a:solidFill>
                  <a:srgbClr val="0D0D0D"/>
                </a:solidFill>
                <a:latin typeface="Söhne"/>
              </a:rPr>
              <a:t>starts</a:t>
            </a:r>
            <a:r>
              <a:rPr lang="fr-FR" sz="1500" dirty="0">
                <a:solidFill>
                  <a:srgbClr val="0D0D0D"/>
                </a:solidFill>
                <a:latin typeface="Söhne"/>
              </a:rPr>
              <a:t> : Cette option permet de supprimer l'espace de travail (</a:t>
            </a:r>
            <a:r>
              <a:rPr lang="fr-FR" sz="1500" dirty="0" err="1">
                <a:solidFill>
                  <a:srgbClr val="0D0D0D"/>
                </a:solidFill>
                <a:latin typeface="Söhne"/>
              </a:rPr>
              <a:t>workspace</a:t>
            </a:r>
            <a:r>
              <a:rPr lang="fr-FR" sz="1500" dirty="0">
                <a:solidFill>
                  <a:srgbClr val="0D0D0D"/>
                </a:solidFill>
                <a:latin typeface="Söhne"/>
              </a:rPr>
              <a:t>) du projet avant de démarrer un nouveau </a:t>
            </a:r>
            <a:r>
              <a:rPr lang="fr-FR" sz="1500" dirty="0" err="1">
                <a:solidFill>
                  <a:srgbClr val="0D0D0D"/>
                </a:solidFill>
                <a:latin typeface="Söhne"/>
              </a:rPr>
              <a:t>build</a:t>
            </a:r>
            <a:r>
              <a:rPr lang="fr-FR" sz="1500" dirty="0" smtClean="0">
                <a:solidFill>
                  <a:srgbClr val="0D0D0D"/>
                </a:solidFill>
                <a:latin typeface="Söhne"/>
              </a:rPr>
              <a:t>.</a:t>
            </a:r>
          </a:p>
          <a:p>
            <a:endParaRPr lang="fr-FR" sz="1500" dirty="0">
              <a:solidFill>
                <a:srgbClr val="0D0D0D"/>
              </a:solidFill>
              <a:latin typeface="Söhne"/>
            </a:endParaRPr>
          </a:p>
          <a:p>
            <a:r>
              <a:rPr lang="fr-FR" sz="1500" b="1" dirty="0">
                <a:latin typeface="Söhne"/>
              </a:rPr>
              <a:t>Use secret </a:t>
            </a:r>
            <a:r>
              <a:rPr lang="fr-FR" sz="1500" b="1" dirty="0" err="1">
                <a:latin typeface="Söhne"/>
              </a:rPr>
              <a:t>text</a:t>
            </a:r>
            <a:r>
              <a:rPr lang="fr-FR" sz="1500" b="1" dirty="0">
                <a:latin typeface="Söhne"/>
              </a:rPr>
              <a:t>(s) or file(s)</a:t>
            </a:r>
            <a:r>
              <a:rPr lang="fr-FR" sz="1500" dirty="0">
                <a:latin typeface="Söhne"/>
              </a:rPr>
              <a:t> : Cette option permet de spécifier des informations sensibles, telles que des jetons d'authentification ou des clés d'API, sous forme de texte secret ou de </a:t>
            </a:r>
            <a:r>
              <a:rPr lang="fr-FR" sz="1500" dirty="0" smtClean="0">
                <a:latin typeface="Söhne"/>
              </a:rPr>
              <a:t>fichier</a:t>
            </a:r>
          </a:p>
          <a:p>
            <a:endParaRPr lang="fr-FR" sz="1500" dirty="0">
              <a:latin typeface="Söhne"/>
            </a:endParaRPr>
          </a:p>
          <a:p>
            <a:r>
              <a:rPr lang="fr-FR" sz="1500" b="1" dirty="0">
                <a:latin typeface="Söhne"/>
              </a:rPr>
              <a:t>Set </a:t>
            </a:r>
            <a:r>
              <a:rPr lang="fr-FR" sz="1500" b="1" dirty="0" err="1">
                <a:latin typeface="Söhne"/>
              </a:rPr>
              <a:t>environment</a:t>
            </a:r>
            <a:r>
              <a:rPr lang="fr-FR" sz="1500" b="1" dirty="0">
                <a:latin typeface="Söhne"/>
              </a:rPr>
              <a:t> variables</a:t>
            </a:r>
            <a:r>
              <a:rPr lang="fr-FR" sz="1500" dirty="0">
                <a:latin typeface="Söhne"/>
              </a:rPr>
              <a:t> : Cette option permet de définir des variables d'environnement spécifiques pour le </a:t>
            </a:r>
            <a:r>
              <a:rPr lang="fr-FR" sz="1500" dirty="0" err="1" smtClean="0">
                <a:latin typeface="Söhne"/>
              </a:rPr>
              <a:t>build</a:t>
            </a:r>
            <a:endParaRPr lang="fr-FR" sz="1500" dirty="0" smtClean="0">
              <a:latin typeface="Söhne"/>
            </a:endParaRPr>
          </a:p>
          <a:p>
            <a:endParaRPr lang="fr-FR" sz="1500" dirty="0">
              <a:latin typeface="Söhne"/>
            </a:endParaRPr>
          </a:p>
          <a:p>
            <a:r>
              <a:rPr lang="fr-FR" sz="1500" b="1" dirty="0" err="1">
                <a:latin typeface="Söhne"/>
              </a:rPr>
              <a:t>Inspect</a:t>
            </a:r>
            <a:r>
              <a:rPr lang="fr-FR" sz="1500" b="1" dirty="0">
                <a:latin typeface="Söhne"/>
              </a:rPr>
              <a:t> </a:t>
            </a:r>
            <a:r>
              <a:rPr lang="fr-FR" sz="1500" b="1" dirty="0" err="1">
                <a:latin typeface="Söhne"/>
              </a:rPr>
              <a:t>build</a:t>
            </a:r>
            <a:r>
              <a:rPr lang="fr-FR" sz="1500" b="1" dirty="0">
                <a:latin typeface="Söhne"/>
              </a:rPr>
              <a:t> log for </a:t>
            </a:r>
            <a:r>
              <a:rPr lang="fr-FR" sz="1500" b="1" dirty="0" err="1">
                <a:latin typeface="Söhne"/>
              </a:rPr>
              <a:t>published</a:t>
            </a:r>
            <a:r>
              <a:rPr lang="fr-FR" sz="1500" b="1" dirty="0">
                <a:latin typeface="Söhne"/>
              </a:rPr>
              <a:t> </a:t>
            </a:r>
            <a:r>
              <a:rPr lang="fr-FR" sz="1500" b="1" dirty="0" err="1">
                <a:latin typeface="Söhne"/>
              </a:rPr>
              <a:t>build</a:t>
            </a:r>
            <a:r>
              <a:rPr lang="fr-FR" sz="1500" b="1" dirty="0">
                <a:latin typeface="Söhne"/>
              </a:rPr>
              <a:t> scans</a:t>
            </a:r>
            <a:r>
              <a:rPr lang="fr-FR" sz="1500" dirty="0">
                <a:latin typeface="Söhne"/>
              </a:rPr>
              <a:t> : Cette option permet à Jenkins d'inspecter le journal de </a:t>
            </a:r>
            <a:r>
              <a:rPr lang="fr-FR" sz="1500" dirty="0" err="1">
                <a:latin typeface="Söhne"/>
              </a:rPr>
              <a:t>build</a:t>
            </a:r>
            <a:r>
              <a:rPr lang="fr-FR" sz="1500" dirty="0">
                <a:latin typeface="Söhne"/>
              </a:rPr>
              <a:t> à la recherche de scans de </a:t>
            </a:r>
            <a:r>
              <a:rPr lang="fr-FR" sz="1500" dirty="0" err="1">
                <a:latin typeface="Söhne"/>
              </a:rPr>
              <a:t>build</a:t>
            </a:r>
            <a:r>
              <a:rPr lang="fr-FR" sz="1500" dirty="0">
                <a:latin typeface="Söhne"/>
              </a:rPr>
              <a:t> publiés. Un scan de </a:t>
            </a:r>
            <a:r>
              <a:rPr lang="fr-FR" sz="1500" dirty="0" err="1">
                <a:latin typeface="Söhne"/>
              </a:rPr>
              <a:t>build</a:t>
            </a:r>
            <a:r>
              <a:rPr lang="fr-FR" sz="1500" dirty="0">
                <a:latin typeface="Söhne"/>
              </a:rPr>
              <a:t> est un rapport généré par un outil de scan de code ou d'analyse statique qui fournit des informations sur la qualité du </a:t>
            </a:r>
            <a:r>
              <a:rPr lang="fr-FR" sz="1500" dirty="0" smtClean="0">
                <a:latin typeface="Söhne"/>
              </a:rPr>
              <a:t>code</a:t>
            </a:r>
          </a:p>
          <a:p>
            <a:endParaRPr lang="fr-FR" sz="1500" dirty="0">
              <a:latin typeface="Söhne"/>
            </a:endParaRPr>
          </a:p>
          <a:p>
            <a:r>
              <a:rPr lang="fr-FR" sz="1500" b="1" dirty="0" err="1">
                <a:latin typeface="Söhne"/>
              </a:rPr>
              <a:t>Add</a:t>
            </a:r>
            <a:r>
              <a:rPr lang="fr-FR" sz="1500" b="1" dirty="0">
                <a:latin typeface="Söhne"/>
              </a:rPr>
              <a:t> </a:t>
            </a:r>
            <a:r>
              <a:rPr lang="fr-FR" sz="1500" b="1" dirty="0" err="1">
                <a:latin typeface="Söhne"/>
              </a:rPr>
              <a:t>timestamps</a:t>
            </a:r>
            <a:r>
              <a:rPr lang="fr-FR" sz="1500" b="1" dirty="0">
                <a:latin typeface="Söhne"/>
              </a:rPr>
              <a:t> to the Console Output</a:t>
            </a:r>
            <a:r>
              <a:rPr lang="fr-FR" sz="1500" dirty="0">
                <a:latin typeface="Söhne"/>
              </a:rPr>
              <a:t> : Cette option ajoute des horodatages à la sortie de la console de chaque </a:t>
            </a:r>
            <a:r>
              <a:rPr lang="fr-FR" sz="1500" dirty="0" err="1">
                <a:latin typeface="Söhne"/>
              </a:rPr>
              <a:t>build</a:t>
            </a:r>
            <a:r>
              <a:rPr lang="fr-FR" sz="1500" dirty="0">
                <a:latin typeface="Söhne"/>
              </a:rPr>
              <a:t>.</a:t>
            </a:r>
          </a:p>
        </p:txBody>
      </p:sp>
    </p:spTree>
    <p:extLst>
      <p:ext uri="{BB962C8B-B14F-4D97-AF65-F5344CB8AC3E}">
        <p14:creationId xmlns:p14="http://schemas.microsoft.com/office/powerpoint/2010/main" val="2343851518"/>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35564</TotalTime>
  <Words>3999</Words>
  <Application>Microsoft Office PowerPoint</Application>
  <PresentationFormat>Widescreen</PresentationFormat>
  <Paragraphs>431</Paragraphs>
  <Slides>48</Slides>
  <Notes>47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48</vt:i4>
      </vt:variant>
    </vt:vector>
  </HeadingPairs>
  <TitlesOfParts>
    <vt:vector size="59" baseType="lpstr">
      <vt:lpstr>Arial</vt:lpstr>
      <vt:lpstr>Calibri</vt:lpstr>
      <vt:lpstr>Calibri Light</vt:lpstr>
      <vt:lpstr>Comic Sans MS</vt:lpstr>
      <vt:lpstr>Consolas</vt:lpstr>
      <vt:lpstr>DejaVu Sans</vt:lpstr>
      <vt:lpstr>S$o</vt:lpstr>
      <vt:lpstr>Söhne</vt:lpstr>
      <vt:lpstr>Times New Roman</vt:lpstr>
      <vt:lpstr>Wingdings</vt:lpstr>
      <vt:lpstr>Thème Office</vt:lpstr>
      <vt:lpstr>PowerPoint Presentation</vt:lpstr>
      <vt:lpstr>Introduction &amp; installation </vt:lpstr>
      <vt:lpstr>PowerPoint Presentation</vt:lpstr>
      <vt:lpstr>PowerPoint Presentation</vt:lpstr>
      <vt:lpstr>PowerPoint Presentation</vt:lpstr>
      <vt:lpstr>PowerPoint Presentation</vt:lpstr>
      <vt:lpstr>Installation de Jenkins sous Windows</vt:lpstr>
      <vt:lpstr>PowerPoint Presentation</vt:lpstr>
      <vt:lpstr>PowerPoint Presentation</vt:lpstr>
      <vt:lpstr>PowerPoint Presentation</vt:lpstr>
      <vt:lpstr>PowerPoint Presentation</vt:lpstr>
      <vt:lpstr>PowerPoint Presentation</vt:lpstr>
      <vt:lpstr>PowerPoint Presentation</vt:lpstr>
      <vt:lpstr>Installation sous Linux</vt:lpstr>
      <vt:lpstr>PowerPoint Presentation</vt:lpstr>
      <vt:lpstr>PowerPoint Presentation</vt:lpstr>
      <vt:lpstr>Installation avec docker </vt:lpstr>
      <vt:lpstr>PowerPoint Presentation</vt:lpstr>
      <vt:lpstr>PowerPoint Presentation</vt:lpstr>
      <vt:lpstr>PowerPoint Presentation</vt:lpstr>
      <vt:lpstr>PowerPoint Presentation</vt:lpstr>
      <vt:lpstr>PowerPoint Presentation</vt:lpstr>
      <vt:lpstr>PowerPoint Presentation</vt:lpstr>
      <vt:lpstr>Le premier tour</vt:lpstr>
      <vt:lpstr>PowerPoint Presentation</vt:lpstr>
      <vt:lpstr>PowerPoint Presentation</vt:lpstr>
      <vt:lpstr>Post installation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Les types de projets</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DELL</dc:creator>
  <cp:lastModifiedBy>DELL</cp:lastModifiedBy>
  <cp:revision>104</cp:revision>
  <dcterms:created xsi:type="dcterms:W3CDTF">2024-04-11T08:14:00Z</dcterms:created>
  <dcterms:modified xsi:type="dcterms:W3CDTF">2026-05-02T07:23:12Z</dcterms:modified>
</cp:coreProperties>
</file>