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61" r:id="rId3"/>
    <p:sldId id="262" r:id="rId4"/>
    <p:sldId id="263" r:id="rId5"/>
    <p:sldId id="275" r:id="rId6"/>
    <p:sldId id="264" r:id="rId7"/>
    <p:sldId id="276" r:id="rId8"/>
    <p:sldId id="265" r:id="rId9"/>
    <p:sldId id="266" r:id="rId10"/>
    <p:sldId id="268" r:id="rId11"/>
    <p:sldId id="269" r:id="rId12"/>
    <p:sldId id="270" r:id="rId13"/>
    <p:sldId id="271" r:id="rId14"/>
    <p:sldId id="272" r:id="rId15"/>
    <p:sldId id="267" r:id="rId16"/>
    <p:sldId id="283" r:id="rId17"/>
    <p:sldId id="284" r:id="rId18"/>
    <p:sldId id="285" r:id="rId19"/>
    <p:sldId id="286" r:id="rId20"/>
    <p:sldId id="287" r:id="rId21"/>
    <p:sldId id="288" r:id="rId22"/>
    <p:sldId id="289" r:id="rId23"/>
    <p:sldId id="290" r:id="rId24"/>
    <p:sldId id="291" r:id="rId25"/>
    <p:sldId id="292" r:id="rId26"/>
    <p:sldId id="293" r:id="rId27"/>
    <p:sldId id="273" r:id="rId28"/>
    <p:sldId id="277" r:id="rId29"/>
    <p:sldId id="278" r:id="rId30"/>
    <p:sldId id="279" r:id="rId31"/>
    <p:sldId id="280" r:id="rId32"/>
    <p:sldId id="281" r:id="rId33"/>
    <p:sldId id="274" r:id="rId34"/>
    <p:sldId id="282" r:id="rId3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032" autoAdjust="0"/>
  </p:normalViewPr>
  <p:slideViewPr>
    <p:cSldViewPr snapToGrid="0">
      <p:cViewPr varScale="1">
        <p:scale>
          <a:sx n="99" d="100"/>
          <a:sy n="99" d="100"/>
        </p:scale>
        <p:origin x="98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9686D-C191-4786-9794-C7C6B779A858}" type="datetimeFigureOut">
              <a:rPr lang="fr-FR" smtClean="0"/>
              <a:t>24/08/2025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01B5F8-6F57-4D93-B25D-B7F2C8AC7C7C}" type="slidenum">
              <a:rPr lang="fr-FR" smtClean="0"/>
              <a:t>‹#›</a:t>
            </a:fld>
            <a:endParaRPr lang="fr-FR"/>
          </a:p>
        </p:txBody>
      </p:sp>
    </p:spTree>
    <p:extLst>
      <p:ext uri="{BB962C8B-B14F-4D97-AF65-F5344CB8AC3E}">
        <p14:creationId xmlns:p14="http://schemas.microsoft.com/office/powerpoint/2010/main" val="1494603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01B5F8-6F57-4D93-B25D-B7F2C8AC7C7C}" type="slidenum">
              <a:rPr lang="fr-FR" smtClean="0"/>
              <a:t>1</a:t>
            </a:fld>
            <a:endParaRPr lang="fr-FR"/>
          </a:p>
        </p:txBody>
      </p:sp>
    </p:spTree>
    <p:extLst>
      <p:ext uri="{BB962C8B-B14F-4D97-AF65-F5344CB8AC3E}">
        <p14:creationId xmlns:p14="http://schemas.microsoft.com/office/powerpoint/2010/main" val="2594948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sz="1200" b="1" i="0" kern="1200" dirty="0" smtClean="0">
                <a:solidFill>
                  <a:schemeClr val="tx1"/>
                </a:solidFill>
                <a:effectLst/>
                <a:latin typeface="+mn-lt"/>
                <a:ea typeface="+mn-ea"/>
                <a:cs typeface="+mn-cs"/>
              </a:rPr>
              <a:t>Exemple</a:t>
            </a:r>
            <a:r>
              <a:rPr lang="fr-FR" sz="1200" b="1" i="0" kern="1200" baseline="0" dirty="0" smtClean="0">
                <a:solidFill>
                  <a:schemeClr val="tx1"/>
                </a:solidFill>
                <a:effectLst/>
                <a:latin typeface="+mn-lt"/>
                <a:ea typeface="+mn-ea"/>
                <a:cs typeface="+mn-cs"/>
              </a:rPr>
              <a:t> avec if: </a:t>
            </a:r>
            <a:endParaRPr lang="fr-FR" sz="1200" b="1" i="0" kern="1200" dirty="0" smtClean="0">
              <a:solidFill>
                <a:schemeClr val="tx1"/>
              </a:solidFill>
              <a:effectLst/>
              <a:latin typeface="+mn-lt"/>
              <a:ea typeface="+mn-ea"/>
              <a:cs typeface="+mn-c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sz="1200" b="0" i="0" kern="1200" dirty="0" smtClean="0">
              <a:solidFill>
                <a:schemeClr val="tx1"/>
              </a:solidFill>
              <a:effectLst/>
              <a:latin typeface="+mn-lt"/>
              <a:ea typeface="+mn-ea"/>
              <a:cs typeface="+mn-c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sz="1200" b="0" i="0" kern="1200" dirty="0" smtClean="0">
                <a:solidFill>
                  <a:schemeClr val="tx1"/>
                </a:solidFill>
                <a:effectLst/>
                <a:latin typeface="+mn-lt"/>
                <a:ea typeface="+mn-ea"/>
                <a:cs typeface="+mn-cs"/>
              </a:rPr>
              <a:t>String str1 = "123";</a:t>
            </a:r>
            <a:r>
              <a:rPr lang="fr-FR" sz="2000" dirty="0" smtClean="0"/>
              <a:t/>
            </a:r>
            <a:br>
              <a:rPr lang="fr-FR" sz="2000" dirty="0" smtClean="0"/>
            </a:br>
            <a:r>
              <a:rPr lang="fr-FR" sz="1200" b="0" i="0" kern="1200" dirty="0" smtClean="0">
                <a:solidFill>
                  <a:schemeClr val="tx1"/>
                </a:solidFill>
                <a:effectLst/>
                <a:latin typeface="+mn-lt"/>
                <a:ea typeface="+mn-ea"/>
                <a:cs typeface="+mn-cs"/>
              </a:rPr>
              <a:t>String str2 = new String("123");</a:t>
            </a:r>
            <a:r>
              <a:rPr lang="fr-FR" sz="2000" dirty="0" smtClean="0"/>
              <a:t/>
            </a:r>
            <a:br>
              <a:rPr lang="fr-FR" sz="2000" dirty="0" smtClean="0"/>
            </a:br>
            <a:r>
              <a:rPr lang="fr-FR" sz="1200" b="0" i="0" kern="1200" dirty="0" smtClean="0">
                <a:solidFill>
                  <a:schemeClr val="tx1"/>
                </a:solidFill>
                <a:effectLst/>
                <a:latin typeface="+mn-lt"/>
                <a:ea typeface="+mn-ea"/>
                <a:cs typeface="+mn-cs"/>
              </a:rPr>
              <a:t>if(str1 == str2){</a:t>
            </a:r>
            <a:r>
              <a:rPr lang="fr-FR" sz="2000" dirty="0" smtClean="0"/>
              <a:t/>
            </a:r>
            <a:br>
              <a:rPr lang="fr-FR" sz="2000" dirty="0" smtClean="0"/>
            </a:br>
            <a:r>
              <a:rPr lang="fr-FR" sz="1200" b="0" i="0" kern="1200" dirty="0" smtClean="0">
                <a:solidFill>
                  <a:schemeClr val="tx1"/>
                </a:solidFill>
                <a:effectLst/>
                <a:latin typeface="+mn-lt"/>
                <a:ea typeface="+mn-ea"/>
                <a:cs typeface="+mn-cs"/>
              </a:rPr>
              <a:t>  </a:t>
            </a:r>
            <a:r>
              <a:rPr lang="fr-FR" sz="1200" b="0" i="0" kern="1200" dirty="0" err="1" smtClean="0">
                <a:solidFill>
                  <a:schemeClr val="tx1"/>
                </a:solidFill>
                <a:effectLst/>
                <a:latin typeface="+mn-lt"/>
                <a:ea typeface="+mn-ea"/>
                <a:cs typeface="+mn-cs"/>
              </a:rPr>
              <a:t>println</a:t>
            </a:r>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equal</a:t>
            </a:r>
            <a:r>
              <a:rPr lang="fr-FR" sz="1200" b="0" i="0" kern="1200" dirty="0" smtClean="0">
                <a:solidFill>
                  <a:schemeClr val="tx1"/>
                </a:solidFill>
                <a:effectLst/>
                <a:latin typeface="+mn-lt"/>
                <a:ea typeface="+mn-ea"/>
                <a:cs typeface="+mn-cs"/>
              </a:rPr>
              <a:t>")；</a:t>
            </a:r>
            <a:r>
              <a:rPr lang="fr-FR" sz="2000" dirty="0" smtClean="0"/>
              <a:t/>
            </a:r>
            <a:br>
              <a:rPr lang="fr-FR" sz="2000" dirty="0" smtClean="0"/>
            </a:br>
            <a:r>
              <a:rPr lang="fr-FR" sz="1200" b="0" i="0" kern="1200" dirty="0" smtClean="0">
                <a:solidFill>
                  <a:schemeClr val="tx1"/>
                </a:solidFill>
                <a:effectLst/>
                <a:latin typeface="+mn-lt"/>
                <a:ea typeface="+mn-ea"/>
                <a:cs typeface="+mn-cs"/>
              </a:rPr>
              <a:t>}</a:t>
            </a:r>
            <a:r>
              <a:rPr lang="fr-FR" sz="1200" b="0" i="0" kern="1200" dirty="0" err="1" smtClean="0">
                <a:solidFill>
                  <a:schemeClr val="tx1"/>
                </a:solidFill>
                <a:effectLst/>
                <a:latin typeface="+mn-lt"/>
                <a:ea typeface="+mn-ea"/>
                <a:cs typeface="+mn-cs"/>
              </a:rPr>
              <a:t>else</a:t>
            </a:r>
            <a:r>
              <a:rPr lang="fr-FR" sz="1200" b="0" i="0" kern="1200" dirty="0" smtClean="0">
                <a:solidFill>
                  <a:schemeClr val="tx1"/>
                </a:solidFill>
                <a:effectLst/>
                <a:latin typeface="+mn-lt"/>
                <a:ea typeface="+mn-ea"/>
                <a:cs typeface="+mn-cs"/>
              </a:rPr>
              <a:t>{</a:t>
            </a:r>
            <a:r>
              <a:rPr lang="fr-FR" sz="2000" dirty="0" smtClean="0"/>
              <a:t/>
            </a:r>
            <a:br>
              <a:rPr lang="fr-FR" sz="2000" dirty="0" smtClean="0"/>
            </a:br>
            <a:r>
              <a:rPr lang="fr-FR" sz="1200" b="0" i="0" kern="1200" dirty="0" smtClean="0">
                <a:solidFill>
                  <a:schemeClr val="tx1"/>
                </a:solidFill>
                <a:effectLst/>
                <a:latin typeface="+mn-lt"/>
                <a:ea typeface="+mn-ea"/>
                <a:cs typeface="+mn-cs"/>
              </a:rPr>
              <a:t>  </a:t>
            </a:r>
            <a:r>
              <a:rPr lang="fr-FR" sz="1200" b="0" i="0" kern="1200" dirty="0" err="1" smtClean="0">
                <a:solidFill>
                  <a:schemeClr val="tx1"/>
                </a:solidFill>
                <a:effectLst/>
                <a:latin typeface="+mn-lt"/>
                <a:ea typeface="+mn-ea"/>
                <a:cs typeface="+mn-cs"/>
              </a:rPr>
              <a:t>println</a:t>
            </a:r>
            <a:r>
              <a:rPr lang="fr-FR" sz="1200" b="0" i="0" kern="1200" dirty="0" smtClean="0">
                <a:solidFill>
                  <a:schemeClr val="tx1"/>
                </a:solidFill>
                <a:effectLst/>
                <a:latin typeface="+mn-lt"/>
                <a:ea typeface="+mn-ea"/>
                <a:cs typeface="+mn-cs"/>
              </a:rPr>
              <a:t>("Not </a:t>
            </a:r>
            <a:r>
              <a:rPr lang="fr-FR" sz="1200" b="0" i="0" kern="1200" dirty="0" err="1" smtClean="0">
                <a:solidFill>
                  <a:schemeClr val="tx1"/>
                </a:solidFill>
                <a:effectLst/>
                <a:latin typeface="+mn-lt"/>
                <a:ea typeface="+mn-ea"/>
                <a:cs typeface="+mn-cs"/>
              </a:rPr>
              <a:t>equal</a:t>
            </a:r>
            <a:r>
              <a:rPr lang="fr-FR" sz="1200" b="0" i="0" kern="1200" dirty="0" smtClean="0">
                <a:solidFill>
                  <a:schemeClr val="tx1"/>
                </a:solidFill>
                <a:effectLst/>
                <a:latin typeface="+mn-lt"/>
                <a:ea typeface="+mn-ea"/>
                <a:cs typeface="+mn-cs"/>
              </a:rPr>
              <a:t>")；</a:t>
            </a:r>
            <a:r>
              <a:rPr lang="fr-FR" sz="2000" dirty="0" smtClean="0"/>
              <a:t/>
            </a:r>
            <a:br>
              <a:rPr lang="fr-FR" sz="2000" dirty="0" smtClean="0"/>
            </a:br>
            <a:r>
              <a:rPr lang="fr-FR" sz="1200" b="0" i="0" kern="1200" dirty="0" smtClean="0">
                <a:solidFill>
                  <a:schemeClr val="tx1"/>
                </a:solidFill>
                <a:effectLst/>
                <a:latin typeface="+mn-lt"/>
                <a:ea typeface="+mn-ea"/>
                <a:cs typeface="+mn-cs"/>
              </a:rPr>
              <a:t>}</a:t>
            </a: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367312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Exemple:</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it-IT" altLang="en-US" sz="2000" dirty="0" smtClean="0">
                <a:latin typeface="Arial" panose="020B0604020202020204" pitchFamily="34" charset="0"/>
                <a:ea typeface="DejaVu Sans"/>
                <a:cs typeface="DejaVu Sans"/>
              </a:rPr>
              <a:t>def affiche(message)</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it-IT" altLang="en-US" sz="2000" dirty="0" smtClean="0">
                <a:latin typeface="Arial" panose="020B0604020202020204" pitchFamily="34" charset="0"/>
                <a:ea typeface="DejaVu Sans"/>
                <a:cs typeface="DejaVu Sans"/>
              </a:rPr>
              <a:t>{ </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it-IT" altLang="en-US" sz="2000" dirty="0" smtClean="0">
                <a:latin typeface="Arial" panose="020B0604020202020204" pitchFamily="34" charset="0"/>
                <a:ea typeface="DejaVu Sans"/>
                <a:cs typeface="DejaVu Sans"/>
              </a:rPr>
              <a:t> 	println message</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it-IT" altLang="en-US" sz="2000" dirty="0" smtClean="0">
                <a:latin typeface="Arial" panose="020B0604020202020204" pitchFamily="34" charset="0"/>
                <a:ea typeface="DejaVu Sans"/>
                <a:cs typeface="DejaVu Sans"/>
              </a:rPr>
              <a: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it-IT" altLang="en-US" sz="2000" dirty="0" smtClean="0">
                <a:latin typeface="Arial" panose="020B0604020202020204" pitchFamily="34" charset="0"/>
                <a:ea typeface="DejaVu Sans"/>
                <a:cs typeface="DejaVu Sans"/>
              </a:rPr>
              <a:t>affiche('Hello world')</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it-IT"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268466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4</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marR="0" lvl="0" indent="-214313" algn="l" defTabSz="914400" rtl="0" eaLnBrk="1" fontAlgn="auto" latinLnBrk="0" hangingPunct="1">
              <a:lnSpc>
                <a:spcPct val="100000"/>
              </a:lnSpc>
              <a:spcBef>
                <a:spcPct val="0"/>
              </a:spcBef>
              <a:spcAft>
                <a:spcPts val="0"/>
              </a:spcAft>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a:pPr>
            <a:r>
              <a:rPr lang="fr-FR" sz="2000" dirty="0" smtClean="0"/>
              <a:t>Plugin pour visualiser</a:t>
            </a:r>
            <a:r>
              <a:rPr lang="fr-FR" sz="2000" baseline="0" dirty="0" smtClean="0"/>
              <a:t> les étapes de </a:t>
            </a:r>
            <a:r>
              <a:rPr lang="fr-FR" sz="2000" baseline="0" dirty="0" err="1" smtClean="0"/>
              <a:t>build</a:t>
            </a:r>
            <a:endParaRPr lang="en-US" sz="2000" dirty="0" smtClean="0"/>
          </a:p>
          <a:p>
            <a:pPr marL="215900" marR="0" lvl="0" indent="-214313" algn="l" defTabSz="914400" rtl="0" eaLnBrk="1" fontAlgn="auto" latinLnBrk="0" hangingPunct="1">
              <a:lnSpc>
                <a:spcPct val="100000"/>
              </a:lnSpc>
              <a:spcBef>
                <a:spcPct val="0"/>
              </a:spcBef>
              <a:spcAft>
                <a:spcPts val="0"/>
              </a:spcAft>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defRPr/>
            </a:pPr>
            <a:r>
              <a:rPr lang="en-US" sz="2000" dirty="0" smtClean="0"/>
              <a:t>Pipeline Stage View</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311495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5</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095565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6</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13043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7</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https://www.techtarget.com/</a:t>
            </a:r>
            <a:r>
              <a:rPr lang="fr-FR" altLang="en-US" sz="2000" dirty="0" err="1" smtClean="0">
                <a:latin typeface="Arial" panose="020B0604020202020204" pitchFamily="34" charset="0"/>
                <a:ea typeface="DejaVu Sans"/>
                <a:cs typeface="DejaVu Sans"/>
              </a:rPr>
              <a:t>searchitoperations</a:t>
            </a:r>
            <a:r>
              <a:rPr lang="fr-FR" altLang="en-US" sz="2000" dirty="0" smtClean="0">
                <a:latin typeface="Arial" panose="020B0604020202020204" pitchFamily="34" charset="0"/>
                <a:ea typeface="DejaVu Sans"/>
                <a:cs typeface="DejaVu Sans"/>
              </a:rPr>
              <a:t>/tip/Adopt-these-continuous-delivery-principles-organization-wide?_gl=1*1nuaa7r*_</a:t>
            </a:r>
            <a:r>
              <a:rPr lang="fr-FR" altLang="en-US" sz="2000" dirty="0" err="1" smtClean="0">
                <a:latin typeface="Arial" panose="020B0604020202020204" pitchFamily="34" charset="0"/>
                <a:ea typeface="DejaVu Sans"/>
                <a:cs typeface="DejaVu Sans"/>
              </a:rPr>
              <a:t>ga</a:t>
            </a:r>
            <a:r>
              <a:rPr lang="fr-FR" altLang="en-US" sz="2000" dirty="0" smtClean="0">
                <a:latin typeface="Arial" panose="020B0604020202020204" pitchFamily="34" charset="0"/>
                <a:ea typeface="DejaVu Sans"/>
                <a:cs typeface="DejaVu Sans"/>
              </a:rPr>
              <a:t>*NzkxOTAxMzExLjE3MTQyMzUxNjM.*_ga_TQKE4GS5P9*MTcxNDIzNTE2My4xLjEuMTcxNDIzNTQ3NC4wLjAuMA..</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190553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8</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557075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9</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602269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10</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499736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11</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962813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12</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517560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231494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14</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err="1" smtClean="0">
                <a:latin typeface="Arial" panose="020B0604020202020204" pitchFamily="34" charset="0"/>
                <a:ea typeface="DejaVu Sans"/>
                <a:cs typeface="DejaVu Sans"/>
              </a:rPr>
              <a:t>groovyc</a:t>
            </a:r>
            <a:r>
              <a:rPr lang="fr-FR" altLang="en-US" sz="2000" dirty="0" smtClean="0">
                <a:latin typeface="Arial" panose="020B0604020202020204" pitchFamily="34" charset="0"/>
                <a:ea typeface="DejaVu Sans"/>
                <a:cs typeface="DejaVu Sans"/>
              </a:rPr>
              <a:t> </a:t>
            </a:r>
            <a:r>
              <a:rPr lang="fr-FR" altLang="en-US" sz="2000" dirty="0" err="1" smtClean="0">
                <a:latin typeface="Arial" panose="020B0604020202020204" pitchFamily="34" charset="0"/>
                <a:ea typeface="DejaVu Sans"/>
                <a:cs typeface="DejaVu Sans"/>
              </a:rPr>
              <a:t>mylibray.groovy</a:t>
            </a:r>
            <a:endParaRPr lang="fr-FR" altLang="en-US" sz="2000" dirty="0" smtClean="0">
              <a:latin typeface="Arial" panose="020B0604020202020204" pitchFamily="34" charset="0"/>
              <a:ea typeface="DejaVu Sans"/>
              <a:cs typeface="DejaVu Sans"/>
            </a:endParaRP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jar </a:t>
            </a:r>
            <a:r>
              <a:rPr lang="fr-FR" altLang="en-US" sz="2000" dirty="0" err="1" smtClean="0">
                <a:latin typeface="Arial" panose="020B0604020202020204" pitchFamily="34" charset="0"/>
                <a:ea typeface="DejaVu Sans"/>
                <a:cs typeface="DejaVu Sans"/>
              </a:rPr>
              <a:t>cf</a:t>
            </a:r>
            <a:r>
              <a:rPr lang="fr-FR" altLang="en-US" sz="2000" dirty="0" smtClean="0">
                <a:latin typeface="Arial" panose="020B0604020202020204" pitchFamily="34" charset="0"/>
                <a:ea typeface="DejaVu Sans"/>
                <a:cs typeface="DejaVu Sans"/>
              </a:rPr>
              <a:t> myLibrary.jar </a:t>
            </a:r>
            <a:r>
              <a:rPr lang="fr-FR" altLang="en-US" sz="2000" dirty="0" err="1" smtClean="0">
                <a:latin typeface="Arial" panose="020B0604020202020204" pitchFamily="34" charset="0"/>
                <a:ea typeface="DejaVu Sans"/>
                <a:cs typeface="DejaVu Sans"/>
              </a:rPr>
              <a:t>myLibrary.class</a:t>
            </a: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585981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15</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643469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16</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283816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17</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680394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18</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0536143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19</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19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3631669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20</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302397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21</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7529191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22</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7740599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366766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24</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490930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25</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25</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9868395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26</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26</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6212207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27</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https://github.com/darinpope/github-api-global-lib</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27</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5521367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28</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https://github.com/darinpope/github-api-global-lib</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28</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187740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29</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https://github.com/darinpope/github-api-global-lib</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29</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4401786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30</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https://github.com/darinpope/github-api-global-lib</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30</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4136337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31</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err="1" smtClean="0">
                <a:latin typeface="Arial" panose="020B0604020202020204" pitchFamily="34" charset="0"/>
                <a:ea typeface="DejaVu Sans"/>
                <a:cs typeface="DejaVu Sans"/>
              </a:rPr>
              <a:t>def</a:t>
            </a:r>
            <a:r>
              <a:rPr lang="fr-FR" altLang="en-US" sz="2000" dirty="0" smtClean="0">
                <a:latin typeface="Arial" panose="020B0604020202020204" pitchFamily="34" charset="0"/>
                <a:ea typeface="DejaVu Sans"/>
                <a:cs typeface="DejaVu Sans"/>
              </a:rPr>
              <a:t> call(</a:t>
            </a:r>
            <a:r>
              <a:rPr lang="fr-FR" altLang="en-US" sz="2000" dirty="0" err="1" smtClean="0">
                <a:latin typeface="Arial" panose="020B0604020202020204" pitchFamily="34" charset="0"/>
                <a:ea typeface="DejaVu Sans"/>
                <a:cs typeface="DejaVu Sans"/>
              </a:rPr>
              <a:t>Map</a:t>
            </a:r>
            <a:r>
              <a:rPr lang="fr-FR" altLang="en-US" sz="2000" dirty="0" smtClean="0">
                <a:latin typeface="Arial" panose="020B0604020202020204" pitchFamily="34" charset="0"/>
                <a:ea typeface="DejaVu Sans"/>
                <a:cs typeface="DejaVu Sans"/>
              </a:rPr>
              <a:t> config = [:]) {</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    sh "</a:t>
            </a:r>
            <a:r>
              <a:rPr lang="fr-FR" altLang="en-US" sz="2000" dirty="0" err="1" smtClean="0">
                <a:latin typeface="Arial" panose="020B0604020202020204" pitchFamily="34" charset="0"/>
                <a:ea typeface="DejaVu Sans"/>
                <a:cs typeface="DejaVu Sans"/>
              </a:rPr>
              <a:t>echo</a:t>
            </a:r>
            <a:r>
              <a:rPr lang="fr-FR" altLang="en-US" sz="2000" dirty="0" smtClean="0">
                <a:latin typeface="Arial" panose="020B0604020202020204" pitchFamily="34" charset="0"/>
                <a:ea typeface="DejaVu Sans"/>
                <a:cs typeface="DejaVu Sans"/>
              </a:rPr>
              <a:t> Hello ${config.name}. </a:t>
            </a:r>
            <a:r>
              <a:rPr lang="fr-FR" altLang="en-US" sz="2000" dirty="0" err="1" smtClean="0">
                <a:latin typeface="Arial" panose="020B0604020202020204" pitchFamily="34" charset="0"/>
                <a:ea typeface="DejaVu Sans"/>
                <a:cs typeface="DejaVu Sans"/>
              </a:rPr>
              <a:t>Today</a:t>
            </a:r>
            <a:r>
              <a:rPr lang="fr-FR" altLang="en-US" sz="2000" dirty="0" smtClean="0">
                <a:latin typeface="Arial" panose="020B0604020202020204" pitchFamily="34" charset="0"/>
                <a:ea typeface="DejaVu Sans"/>
                <a:cs typeface="DejaVu Sans"/>
              </a:rPr>
              <a:t> </a:t>
            </a:r>
            <a:r>
              <a:rPr lang="fr-FR" altLang="en-US" sz="2000" dirty="0" err="1" smtClean="0">
                <a:latin typeface="Arial" panose="020B0604020202020204" pitchFamily="34" charset="0"/>
                <a:ea typeface="DejaVu Sans"/>
                <a:cs typeface="DejaVu Sans"/>
              </a:rPr>
              <a:t>is</a:t>
            </a:r>
            <a:r>
              <a:rPr lang="fr-FR" altLang="en-US" sz="2000" dirty="0" smtClean="0">
                <a:latin typeface="Arial" panose="020B0604020202020204" pitchFamily="34" charset="0"/>
                <a:ea typeface="DejaVu Sans"/>
                <a:cs typeface="DejaVu Sans"/>
              </a:rPr>
              <a:t> ${</a:t>
            </a:r>
            <a:r>
              <a:rPr lang="fr-FR" altLang="en-US" sz="2000" dirty="0" err="1" smtClean="0">
                <a:latin typeface="Arial" panose="020B0604020202020204" pitchFamily="34" charset="0"/>
                <a:ea typeface="DejaVu Sans"/>
                <a:cs typeface="DejaVu Sans"/>
              </a:rPr>
              <a:t>config.dayOfWeek</a:t>
            </a:r>
            <a:r>
              <a:rPr lang="fr-FR" altLang="en-US" sz="2000" dirty="0" smtClean="0">
                <a:latin typeface="Arial" panose="020B0604020202020204" pitchFamily="34" charset="0"/>
                <a:ea typeface="DejaVu Sans"/>
                <a:cs typeface="DejaVu Sans"/>
              </a:rPr>
              <a: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31</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39545108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32</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err="1" smtClean="0">
                <a:latin typeface="Arial" panose="020B0604020202020204" pitchFamily="34" charset="0"/>
                <a:ea typeface="DejaVu Sans"/>
                <a:cs typeface="DejaVu Sans"/>
              </a:rPr>
              <a:t>def</a:t>
            </a:r>
            <a:r>
              <a:rPr lang="fr-FR" altLang="en-US" sz="2000" dirty="0" smtClean="0">
                <a:latin typeface="Arial" panose="020B0604020202020204" pitchFamily="34" charset="0"/>
                <a:ea typeface="DejaVu Sans"/>
                <a:cs typeface="DejaVu Sans"/>
              </a:rPr>
              <a:t> call(</a:t>
            </a:r>
            <a:r>
              <a:rPr lang="fr-FR" altLang="en-US" sz="2000" dirty="0" err="1" smtClean="0">
                <a:latin typeface="Arial" panose="020B0604020202020204" pitchFamily="34" charset="0"/>
                <a:ea typeface="DejaVu Sans"/>
                <a:cs typeface="DejaVu Sans"/>
              </a:rPr>
              <a:t>Map</a:t>
            </a:r>
            <a:r>
              <a:rPr lang="fr-FR" altLang="en-US" sz="2000" dirty="0" smtClean="0">
                <a:latin typeface="Arial" panose="020B0604020202020204" pitchFamily="34" charset="0"/>
                <a:ea typeface="DejaVu Sans"/>
                <a:cs typeface="DejaVu Sans"/>
              </a:rPr>
              <a:t> config = [:]) {</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    sh "</a:t>
            </a:r>
            <a:r>
              <a:rPr lang="fr-FR" altLang="en-US" sz="2000" dirty="0" err="1" smtClean="0">
                <a:latin typeface="Arial" panose="020B0604020202020204" pitchFamily="34" charset="0"/>
                <a:ea typeface="DejaVu Sans"/>
                <a:cs typeface="DejaVu Sans"/>
              </a:rPr>
              <a:t>echo</a:t>
            </a:r>
            <a:r>
              <a:rPr lang="fr-FR" altLang="en-US" sz="2000" dirty="0" smtClean="0">
                <a:latin typeface="Arial" panose="020B0604020202020204" pitchFamily="34" charset="0"/>
                <a:ea typeface="DejaVu Sans"/>
                <a:cs typeface="DejaVu Sans"/>
              </a:rPr>
              <a:t> Hello ${config.name}. </a:t>
            </a:r>
            <a:r>
              <a:rPr lang="fr-FR" altLang="en-US" sz="2000" dirty="0" err="1" smtClean="0">
                <a:latin typeface="Arial" panose="020B0604020202020204" pitchFamily="34" charset="0"/>
                <a:ea typeface="DejaVu Sans"/>
                <a:cs typeface="DejaVu Sans"/>
              </a:rPr>
              <a:t>Today</a:t>
            </a:r>
            <a:r>
              <a:rPr lang="fr-FR" altLang="en-US" sz="2000" dirty="0" smtClean="0">
                <a:latin typeface="Arial" panose="020B0604020202020204" pitchFamily="34" charset="0"/>
                <a:ea typeface="DejaVu Sans"/>
                <a:cs typeface="DejaVu Sans"/>
              </a:rPr>
              <a:t> </a:t>
            </a:r>
            <a:r>
              <a:rPr lang="fr-FR" altLang="en-US" sz="2000" dirty="0" err="1" smtClean="0">
                <a:latin typeface="Arial" panose="020B0604020202020204" pitchFamily="34" charset="0"/>
                <a:ea typeface="DejaVu Sans"/>
                <a:cs typeface="DejaVu Sans"/>
              </a:rPr>
              <a:t>is</a:t>
            </a:r>
            <a:r>
              <a:rPr lang="fr-FR" altLang="en-US" sz="2000" dirty="0" smtClean="0">
                <a:latin typeface="Arial" panose="020B0604020202020204" pitchFamily="34" charset="0"/>
                <a:ea typeface="DejaVu Sans"/>
                <a:cs typeface="DejaVu Sans"/>
              </a:rPr>
              <a:t> ${</a:t>
            </a:r>
            <a:r>
              <a:rPr lang="fr-FR" altLang="en-US" sz="2000" dirty="0" err="1" smtClean="0">
                <a:latin typeface="Arial" panose="020B0604020202020204" pitchFamily="34" charset="0"/>
                <a:ea typeface="DejaVu Sans"/>
                <a:cs typeface="DejaVu Sans"/>
              </a:rPr>
              <a:t>config.dayOfWeek</a:t>
            </a:r>
            <a:r>
              <a:rPr lang="fr-FR" altLang="en-US" sz="2000" dirty="0" smtClean="0">
                <a:latin typeface="Arial" panose="020B0604020202020204" pitchFamily="34" charset="0"/>
                <a:ea typeface="DejaVu Sans"/>
                <a:cs typeface="DejaVu Sans"/>
              </a:rPr>
              <a:t>}."</a:t>
            </a:r>
          </a:p>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fr-FR" altLang="en-US" sz="2000" dirty="0" smtClean="0">
                <a:latin typeface="Arial" panose="020B0604020202020204" pitchFamily="34" charset="0"/>
                <a:ea typeface="DejaVu Sans"/>
                <a:cs typeface="DejaVu Sans"/>
              </a:rPr>
              <a:t>}</a:t>
            </a: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32</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1293668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33</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33</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2292792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2018" name="Rectangle 6"/>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Lst>
              <a:defRPr sz="1200">
                <a:solidFill>
                  <a:srgbClr val="000000"/>
                </a:solidFill>
                <a:latin typeface="Times New Roman" panose="02020603050405020304" pitchFamily="18" charset="0"/>
              </a:defRPr>
            </a:lvl9pPr>
          </a:lstStyle>
          <a:p>
            <a:pPr>
              <a:spcBef>
                <a:spcPct val="0"/>
              </a:spcBef>
            </a:pPr>
            <a:fld id="{E774B510-9BC0-4AB4-AE7A-D4EB3DC965CB}" type="slidenum">
              <a:rPr lang="en-US" altLang="en-US" sz="1400" smtClean="0">
                <a:ea typeface="DejaVu Sans"/>
                <a:cs typeface="DejaVu Sans"/>
              </a:rPr>
              <a:pPr>
                <a:spcBef>
                  <a:spcPct val="0"/>
                </a:spcBef>
              </a:pPr>
              <a:t>34</a:t>
            </a:fld>
            <a:endParaRPr lang="en-US" altLang="en-US" sz="1400" smtClean="0">
              <a:ea typeface="DejaVu Sans"/>
              <a:cs typeface="DejaVu Sans"/>
            </a:endParaRPr>
          </a:p>
        </p:txBody>
      </p:sp>
      <p:sp>
        <p:nvSpPr>
          <p:cNvPr id="342019" name="Rectangle 1"/>
          <p:cNvSpPr>
            <a:spLocks noGrp="1" noRot="1" noChangeAspect="1" noChangeArrowheads="1" noTextEdit="1"/>
          </p:cNvSpPr>
          <p:nvPr>
            <p:ph type="sldImg"/>
          </p:nvPr>
        </p:nvSpPr>
        <p:spPr>
          <a:xfrm>
            <a:off x="685800" y="1143000"/>
            <a:ext cx="5486400" cy="30861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2020" name="Text Box 2"/>
          <p:cNvSpPr>
            <a:spLocks noGrp="1" noChangeArrowheads="1"/>
          </p:cNvSpPr>
          <p:nvPr>
            <p:ph type="body" idx="1"/>
          </p:nvPr>
        </p:nvSpPr>
        <p:spPr>
          <a:xfrm>
            <a:off x="685800" y="4400550"/>
            <a:ext cx="5486400" cy="3600450"/>
          </a:xfrm>
          <a:noFill/>
          <a:extLst>
            <a:ext uri="{91240B29-F687-4F45-9708-019B960494DF}">
              <a14:hiddenLine xmlns:a14="http://schemas.microsoft.com/office/drawing/2010/main" w="9525">
                <a:solidFill>
                  <a:srgbClr val="3465A4"/>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215900" indent="-214313" eaLnBrk="1">
              <a:spcBef>
                <a:spcPct val="0"/>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fr-FR" altLang="en-US" sz="2000" dirty="0" smtClean="0">
              <a:latin typeface="Arial" panose="020B0604020202020204" pitchFamily="34" charset="0"/>
              <a:ea typeface="DejaVu Sans"/>
              <a:cs typeface="DejaVu Sans"/>
            </a:endParaRPr>
          </a:p>
        </p:txBody>
      </p:sp>
      <p:sp>
        <p:nvSpPr>
          <p:cNvPr id="137219" name="Text Box 3"/>
          <p:cNvSpPr txBox="1">
            <a:spLocks noChangeArrowheads="1"/>
          </p:cNvSpPr>
          <p:nvPr/>
        </p:nvSpPr>
        <p:spPr bwMode="auto">
          <a:xfrm>
            <a:off x="3884613" y="8685213"/>
            <a:ext cx="29718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1pPr>
            <a:lvl2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2pPr>
            <a:lvl3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3pPr>
            <a:lvl4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4pPr>
            <a:lvl5pPr>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5pPr>
            <a:lvl6pPr marL="25146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6pPr>
            <a:lvl7pPr marL="29718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7pPr>
            <a:lvl8pPr marL="34290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8pPr>
            <a:lvl9pPr marL="3886200" indent="-228600" defTabSz="457200" fontAlgn="base" hangingPunct="0">
              <a:lnSpc>
                <a:spcPct val="93000"/>
              </a:lnSpc>
              <a:spcBef>
                <a:spcPct val="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a:solidFill>
                  <a:srgbClr val="000000"/>
                </a:solidFill>
                <a:latin typeface="Arial" panose="020B0604020202020204" pitchFamily="34" charset="0"/>
                <a:cs typeface="DejaVu Sans" charset="0"/>
              </a:defRPr>
            </a:lvl9pPr>
          </a:lstStyle>
          <a:p>
            <a:pPr algn="r" eaLnBrk="1" hangingPunct="1">
              <a:buClr>
                <a:srgbClr val="000000"/>
              </a:buClr>
              <a:buSzPct val="100000"/>
              <a:buFont typeface="Times New Roman" panose="02020603050405020304" pitchFamily="18" charset="0"/>
              <a:buNone/>
              <a:defRPr/>
            </a:pPr>
            <a:fld id="{009BD0FD-2531-44DC-B665-EB824C938A42}" type="slidenum">
              <a:rPr lang="fr-FR" altLang="en-US" sz="1200" smtClean="0">
                <a:latin typeface="+mn-lt" charset="0"/>
                <a:ea typeface="+mn-ea"/>
                <a:cs typeface="+mn-ea" charset="0"/>
              </a:rPr>
              <a:pPr algn="r" eaLnBrk="1" hangingPunct="1">
                <a:buClr>
                  <a:srgbClr val="000000"/>
                </a:buClr>
                <a:buSzPct val="100000"/>
                <a:buFont typeface="Times New Roman" panose="02020603050405020304" pitchFamily="18" charset="0"/>
                <a:buNone/>
                <a:defRPr/>
              </a:pPr>
              <a:t>34</a:t>
            </a:fld>
            <a:endParaRPr lang="fr-FR" altLang="en-US" sz="1200" smtClean="0">
              <a:latin typeface="+mn-lt" charset="0"/>
              <a:ea typeface="+mn-ea"/>
              <a:cs typeface="+mn-ea" charset="0"/>
            </a:endParaRPr>
          </a:p>
        </p:txBody>
      </p:sp>
    </p:spTree>
    <p:extLst>
      <p:ext uri="{BB962C8B-B14F-4D97-AF65-F5344CB8AC3E}">
        <p14:creationId xmlns:p14="http://schemas.microsoft.com/office/powerpoint/2010/main" val="2630855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24/08/2025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3081409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24/08/2025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283908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F233D1D7-325F-46D8-B3AF-5D2A9231722A}" type="datetimeFigureOut">
              <a:rPr lang="fr-FR" smtClean="0"/>
              <a:t>24/08/2025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3616844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F233D1D7-325F-46D8-B3AF-5D2A9231722A}" type="datetimeFigureOut">
              <a:rPr lang="fr-FR" smtClean="0"/>
              <a:t>24/08/2025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1612368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F233D1D7-325F-46D8-B3AF-5D2A9231722A}" type="datetimeFigureOut">
              <a:rPr lang="fr-FR" smtClean="0"/>
              <a:t>24/08/2025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396507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F233D1D7-325F-46D8-B3AF-5D2A9231722A}" type="datetimeFigureOut">
              <a:rPr lang="fr-FR" smtClean="0"/>
              <a:t>24/08/2025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288909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233D1D7-325F-46D8-B3AF-5D2A9231722A}" type="datetimeFigureOut">
              <a:rPr lang="fr-FR" smtClean="0"/>
              <a:t>24/08/2025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86521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233D1D7-325F-46D8-B3AF-5D2A9231722A}" type="datetimeFigureOut">
              <a:rPr lang="fr-FR" smtClean="0"/>
              <a:t>24/08/2025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66368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233D1D7-325F-46D8-B3AF-5D2A9231722A}" type="datetimeFigureOut">
              <a:rPr lang="fr-FR" smtClean="0"/>
              <a:t>24/08/2025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222898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24/08/2025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4260705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233D1D7-325F-46D8-B3AF-5D2A9231722A}" type="datetimeFigureOut">
              <a:rPr lang="fr-FR" smtClean="0"/>
              <a:t>24/08/2025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3670D75-9D67-407C-AE47-84BA33C97B35}" type="slidenum">
              <a:rPr lang="fr-FR" smtClean="0"/>
              <a:t>‹#›</a:t>
            </a:fld>
            <a:endParaRPr lang="fr-FR"/>
          </a:p>
        </p:txBody>
      </p:sp>
    </p:spTree>
    <p:extLst>
      <p:ext uri="{BB962C8B-B14F-4D97-AF65-F5344CB8AC3E}">
        <p14:creationId xmlns:p14="http://schemas.microsoft.com/office/powerpoint/2010/main" val="3121935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33D1D7-325F-46D8-B3AF-5D2A9231722A}" type="datetimeFigureOut">
              <a:rPr lang="fr-FR" smtClean="0"/>
              <a:t>24/08/2025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70D75-9D67-407C-AE47-84BA33C97B35}" type="slidenum">
              <a:rPr lang="fr-FR" smtClean="0"/>
              <a:t>‹#›</a:t>
            </a:fld>
            <a:endParaRPr lang="fr-FR"/>
          </a:p>
        </p:txBody>
      </p:sp>
    </p:spTree>
    <p:extLst>
      <p:ext uri="{BB962C8B-B14F-4D97-AF65-F5344CB8AC3E}">
        <p14:creationId xmlns:p14="http://schemas.microsoft.com/office/powerpoint/2010/main" val="82499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groovy-lang.org/documentation.html"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labs/securit&#233;%20reseau/vlans"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hyperlink" Target="../labs/securit&#233;%20reseau/vlan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hyperlink" Target="../labs/securit&#233;%20reseau/vlans"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labs/securit&#233;%20reseau/vlan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22589" y="2543234"/>
            <a:ext cx="3264035" cy="1384995"/>
          </a:xfrm>
          <a:prstGeom prst="rect">
            <a:avLst/>
          </a:prstGeom>
        </p:spPr>
        <p:txBody>
          <a:bodyPr wrap="none">
            <a:spAutoFit/>
          </a:bodyPr>
          <a:lstStyle/>
          <a:p>
            <a:pPr algn="ctr"/>
            <a:r>
              <a:rPr lang="fr-FR" sz="2800" dirty="0" smtClean="0">
                <a:solidFill>
                  <a:srgbClr val="1C3158"/>
                </a:solidFill>
                <a:latin typeface="Comic Sans MS" pitchFamily="66" charset="0"/>
              </a:rPr>
              <a:t>Formation Jenkins</a:t>
            </a:r>
            <a:endParaRPr lang="fr-FR" sz="2800" dirty="0">
              <a:solidFill>
                <a:srgbClr val="1C3158"/>
              </a:solidFill>
              <a:latin typeface="Comic Sans MS" pitchFamily="66" charset="0"/>
            </a:endParaRPr>
          </a:p>
          <a:p>
            <a:pPr algn="ctr"/>
            <a:r>
              <a:rPr lang="fr-FR" sz="2800" b="1" dirty="0" smtClean="0">
                <a:solidFill>
                  <a:srgbClr val="1C3158"/>
                </a:solidFill>
                <a:latin typeface="Comic Sans MS" pitchFamily="66" charset="0"/>
              </a:rPr>
              <a:t> </a:t>
            </a:r>
          </a:p>
          <a:p>
            <a:pPr algn="ctr"/>
            <a:r>
              <a:rPr lang="fr-FR" sz="2800" dirty="0" err="1" smtClean="0">
                <a:solidFill>
                  <a:srgbClr val="1C3158"/>
                </a:solidFill>
                <a:latin typeface="Comic Sans MS" pitchFamily="66" charset="0"/>
              </a:rPr>
              <a:t>Groovy</a:t>
            </a:r>
            <a:endParaRPr lang="fr-FR" sz="2800" dirty="0">
              <a:solidFill>
                <a:srgbClr val="1C3158"/>
              </a:solidFill>
              <a:latin typeface="Comic Sans MS" pitchFamily="66" charset="0"/>
            </a:endParaRPr>
          </a:p>
        </p:txBody>
      </p:sp>
      <p:cxnSp>
        <p:nvCxnSpPr>
          <p:cNvPr id="4" name="Connecteur droit 3"/>
          <p:cNvCxnSpPr>
            <a:cxnSpLocks/>
          </p:cNvCxnSpPr>
          <p:nvPr/>
        </p:nvCxnSpPr>
        <p:spPr>
          <a:xfrm flipH="1">
            <a:off x="6266500" y="3227040"/>
            <a:ext cx="5176200" cy="17384"/>
          </a:xfrm>
          <a:prstGeom prst="line">
            <a:avLst/>
          </a:prstGeom>
          <a:ln w="22225">
            <a:solidFill>
              <a:srgbClr val="1C3158"/>
            </a:solidFill>
          </a:ln>
        </p:spPr>
        <p:style>
          <a:lnRef idx="1">
            <a:schemeClr val="accent1"/>
          </a:lnRef>
          <a:fillRef idx="0">
            <a:schemeClr val="accent1"/>
          </a:fillRef>
          <a:effectRef idx="0">
            <a:schemeClr val="accent1"/>
          </a:effectRef>
          <a:fontRef idx="minor">
            <a:schemeClr val="tx1"/>
          </a:fontRef>
        </p:style>
      </p:cxnSp>
      <p:pic>
        <p:nvPicPr>
          <p:cNvPr id="1027" name="Picture 3" descr="C:\Users\bepro-17\AppData\Roaming\Skype\live#3ambenalaya.bepro\media_messaging\media_cache_v3\^2DF5C670F0A42E46084157BFD3139AC68F80CB1B7C725AE391^pimgpsh_fullsize_dist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353" y="5376618"/>
            <a:ext cx="1552248" cy="154641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729466" y="6221574"/>
            <a:ext cx="4296872" cy="646331"/>
          </a:xfrm>
          <a:prstGeom prst="rect">
            <a:avLst/>
          </a:prstGeom>
        </p:spPr>
        <p:txBody>
          <a:bodyPr wrap="square">
            <a:spAutoFit/>
          </a:bodyPr>
          <a:lstStyle/>
          <a:p>
            <a:pPr algn="ctr"/>
            <a:r>
              <a:rPr lang="fr-FR" b="1" i="1" dirty="0">
                <a:solidFill>
                  <a:srgbClr val="1C3158"/>
                </a:solidFill>
              </a:rPr>
              <a:t>Béchir BEJAOUI</a:t>
            </a:r>
          </a:p>
          <a:p>
            <a:pPr algn="ctr"/>
            <a:r>
              <a:rPr lang="fr-FR" dirty="0">
                <a:solidFill>
                  <a:srgbClr val="1C3158"/>
                </a:solidFill>
              </a:rPr>
              <a:t>Formateur et consultant indépendant</a:t>
            </a:r>
          </a:p>
        </p:txBody>
      </p:sp>
      <p:pic>
        <p:nvPicPr>
          <p:cNvPr id="1026"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0411" y="226498"/>
            <a:ext cx="3522523" cy="4862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2263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b="1" dirty="0"/>
              <a:t>Introduction à </a:t>
            </a:r>
            <a:r>
              <a:rPr lang="fr-FR" b="1" dirty="0" err="1"/>
              <a:t>Groovy</a:t>
            </a:r>
            <a:endParaRPr lang="fr-FR" altLang="en-US"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42917" y="802481"/>
            <a:ext cx="11401778" cy="2092881"/>
          </a:xfrm>
          <a:prstGeom prst="rect">
            <a:avLst/>
          </a:prstGeom>
        </p:spPr>
        <p:txBody>
          <a:bodyPr wrap="square">
            <a:spAutoFit/>
          </a:bodyPr>
          <a:lstStyle/>
          <a:p>
            <a:r>
              <a:rPr lang="fr-FR" b="1" dirty="0">
                <a:latin typeface="Söhne"/>
                <a:ea typeface="Verdana" panose="020B0604030504040204" pitchFamily="34" charset="0"/>
              </a:rPr>
              <a:t>Qu'est-ce que </a:t>
            </a:r>
            <a:r>
              <a:rPr lang="fr-FR" b="1" dirty="0" err="1">
                <a:latin typeface="Söhne"/>
                <a:ea typeface="Verdana" panose="020B0604030504040204" pitchFamily="34" charset="0"/>
              </a:rPr>
              <a:t>Groovy</a:t>
            </a:r>
            <a:r>
              <a:rPr lang="fr-FR" b="1" dirty="0">
                <a:latin typeface="Söhne"/>
                <a:ea typeface="Verdana" panose="020B0604030504040204" pitchFamily="34" charset="0"/>
              </a:rPr>
              <a:t> ? </a:t>
            </a:r>
            <a:endParaRPr lang="fr-FR" b="1" dirty="0" smtClean="0">
              <a:latin typeface="Söhne"/>
              <a:ea typeface="Verdana" panose="020B0604030504040204" pitchFamily="34" charset="0"/>
            </a:endParaRPr>
          </a:p>
          <a:p>
            <a:pPr lvl="1"/>
            <a:r>
              <a:rPr lang="fr-FR" sz="1600" dirty="0" err="1" smtClean="0">
                <a:latin typeface="Söhne"/>
              </a:rPr>
              <a:t>Groovy</a:t>
            </a:r>
            <a:r>
              <a:rPr lang="fr-FR" sz="1600" dirty="0" smtClean="0">
                <a:latin typeface="Söhne"/>
              </a:rPr>
              <a:t> </a:t>
            </a:r>
            <a:r>
              <a:rPr lang="fr-FR" sz="1600" dirty="0">
                <a:latin typeface="Söhne"/>
              </a:rPr>
              <a:t>est un langage de programmation polyvalent qui s'exécute sur la machine virtuelle Java (JVM). Il combine les meilleures fonctionnalités de Java avec une syntaxe concise et expressive inspirée de Python et de </a:t>
            </a:r>
            <a:r>
              <a:rPr lang="fr-FR" sz="1600" dirty="0" smtClean="0">
                <a:latin typeface="Söhne"/>
              </a:rPr>
              <a:t>Ruby</a:t>
            </a:r>
          </a:p>
          <a:p>
            <a:pPr lvl="1"/>
            <a:endParaRPr lang="fr-FR" sz="1600" dirty="0" smtClean="0">
              <a:latin typeface="Söhne"/>
            </a:endParaRPr>
          </a:p>
          <a:p>
            <a:pPr lvl="1"/>
            <a:r>
              <a:rPr lang="fr-FR" sz="1600" dirty="0">
                <a:latin typeface="Söhne"/>
                <a:hlinkClick r:id="rId5"/>
              </a:rPr>
              <a:t>https://</a:t>
            </a:r>
            <a:r>
              <a:rPr lang="fr-FR" sz="1600" dirty="0" smtClean="0">
                <a:latin typeface="Söhne"/>
                <a:hlinkClick r:id="rId5"/>
              </a:rPr>
              <a:t>groovy-lang.org/documentation.html</a:t>
            </a:r>
            <a:endParaRPr lang="fr-FR" sz="1600" dirty="0" smtClean="0">
              <a:latin typeface="Söhne"/>
            </a:endParaRPr>
          </a:p>
          <a:p>
            <a:pPr lvl="1"/>
            <a:endParaRPr lang="fr-FR" sz="1600" dirty="0" smtClean="0">
              <a:latin typeface="Söhne"/>
            </a:endParaRPr>
          </a:p>
          <a:p>
            <a:pPr lvl="1"/>
            <a:r>
              <a:rPr lang="fr-FR" sz="1600" dirty="0" err="1" smtClean="0">
                <a:latin typeface="Söhne"/>
              </a:rPr>
              <a:t>Groovy</a:t>
            </a:r>
            <a:r>
              <a:rPr lang="fr-FR" sz="1600" dirty="0" smtClean="0">
                <a:latin typeface="Söhne"/>
              </a:rPr>
              <a:t> </a:t>
            </a:r>
            <a:r>
              <a:rPr lang="fr-FR" sz="1600" dirty="0">
                <a:latin typeface="Söhne"/>
              </a:rPr>
              <a:t>s'intègre parfaitement avec les bibliothèques et les frameworks Java existants, ce qui facilite son adoption dans les projets Java</a:t>
            </a:r>
            <a:endParaRPr lang="fr-FR" sz="1400" dirty="0" smtClean="0">
              <a:latin typeface="Söhne"/>
            </a:endParaRPr>
          </a:p>
        </p:txBody>
      </p:sp>
      <p:sp>
        <p:nvSpPr>
          <p:cNvPr id="3" name="Rectangle 2"/>
          <p:cNvSpPr/>
          <p:nvPr/>
        </p:nvSpPr>
        <p:spPr>
          <a:xfrm>
            <a:off x="279723" y="3026593"/>
            <a:ext cx="3124573" cy="338554"/>
          </a:xfrm>
          <a:prstGeom prst="rect">
            <a:avLst/>
          </a:prstGeom>
        </p:spPr>
        <p:txBody>
          <a:bodyPr wrap="none">
            <a:spAutoFit/>
          </a:bodyPr>
          <a:lstStyle/>
          <a:p>
            <a:r>
              <a:rPr lang="fr-FR" sz="1600" b="1" dirty="0">
                <a:solidFill>
                  <a:srgbClr val="0D0D0D"/>
                </a:solidFill>
                <a:latin typeface="Söhne"/>
              </a:rPr>
              <a:t>Les Fondamentaux de </a:t>
            </a:r>
            <a:r>
              <a:rPr lang="fr-FR" sz="1600" b="1" dirty="0" err="1">
                <a:solidFill>
                  <a:srgbClr val="0D0D0D"/>
                </a:solidFill>
                <a:latin typeface="Söhne"/>
              </a:rPr>
              <a:t>Groovy</a:t>
            </a:r>
            <a:endParaRPr lang="fr-FR" sz="1600" dirty="0"/>
          </a:p>
        </p:txBody>
      </p:sp>
      <p:sp>
        <p:nvSpPr>
          <p:cNvPr id="7" name="Rectangle 6"/>
          <p:cNvSpPr/>
          <p:nvPr/>
        </p:nvSpPr>
        <p:spPr>
          <a:xfrm>
            <a:off x="279723" y="3365147"/>
            <a:ext cx="1790875" cy="338554"/>
          </a:xfrm>
          <a:prstGeom prst="rect">
            <a:avLst/>
          </a:prstGeom>
        </p:spPr>
        <p:txBody>
          <a:bodyPr wrap="none">
            <a:spAutoFit/>
          </a:bodyPr>
          <a:lstStyle/>
          <a:p>
            <a:r>
              <a:rPr lang="fr-FR" sz="1600" b="1" dirty="0">
                <a:solidFill>
                  <a:srgbClr val="0D0D0D"/>
                </a:solidFill>
                <a:latin typeface="Söhne"/>
              </a:rPr>
              <a:t>Syntaxe de base</a:t>
            </a:r>
            <a:endParaRPr lang="fr-FR" sz="1600" b="1" dirty="0"/>
          </a:p>
        </p:txBody>
      </p:sp>
      <p:sp>
        <p:nvSpPr>
          <p:cNvPr id="9" name="Rectangle 8"/>
          <p:cNvSpPr/>
          <p:nvPr/>
        </p:nvSpPr>
        <p:spPr>
          <a:xfrm>
            <a:off x="428977" y="3810748"/>
            <a:ext cx="3640667" cy="1077218"/>
          </a:xfrm>
          <a:prstGeom prst="rect">
            <a:avLst/>
          </a:prstGeom>
        </p:spPr>
        <p:txBody>
          <a:bodyPr wrap="square">
            <a:spAutoFit/>
          </a:bodyPr>
          <a:lstStyle/>
          <a:p>
            <a:r>
              <a:rPr lang="fr-FR" sz="1600" dirty="0">
                <a:latin typeface="Söhne "/>
              </a:rPr>
              <a:t>// Exemple de syntaxe de base</a:t>
            </a:r>
          </a:p>
          <a:p>
            <a:pPr lvl="1"/>
            <a:r>
              <a:rPr lang="fr-FR" sz="1600" dirty="0" err="1">
                <a:latin typeface="Söhne "/>
              </a:rPr>
              <a:t>def</a:t>
            </a:r>
            <a:r>
              <a:rPr lang="fr-FR" sz="1600" dirty="0">
                <a:latin typeface="Söhne "/>
              </a:rPr>
              <a:t> message = "Bonjour, </a:t>
            </a:r>
            <a:r>
              <a:rPr lang="fr-FR" sz="1600" dirty="0" err="1">
                <a:latin typeface="Söhne "/>
              </a:rPr>
              <a:t>Groovy</a:t>
            </a:r>
            <a:r>
              <a:rPr lang="fr-FR" sz="1600" dirty="0">
                <a:latin typeface="Söhne "/>
              </a:rPr>
              <a:t> !" </a:t>
            </a:r>
          </a:p>
          <a:p>
            <a:pPr lvl="1"/>
            <a:r>
              <a:rPr lang="fr-FR" sz="1600" dirty="0" err="1">
                <a:latin typeface="Söhne "/>
              </a:rPr>
              <a:t>println</a:t>
            </a:r>
            <a:r>
              <a:rPr lang="fr-FR" sz="1600" dirty="0">
                <a:latin typeface="Söhne "/>
              </a:rPr>
              <a:t> message</a:t>
            </a:r>
          </a:p>
        </p:txBody>
      </p:sp>
      <p:sp>
        <p:nvSpPr>
          <p:cNvPr id="10" name="Rectangle 9"/>
          <p:cNvSpPr/>
          <p:nvPr/>
        </p:nvSpPr>
        <p:spPr>
          <a:xfrm>
            <a:off x="279723" y="4860880"/>
            <a:ext cx="3144579" cy="338554"/>
          </a:xfrm>
          <a:prstGeom prst="rect">
            <a:avLst/>
          </a:prstGeom>
        </p:spPr>
        <p:txBody>
          <a:bodyPr wrap="none">
            <a:spAutoFit/>
          </a:bodyPr>
          <a:lstStyle/>
          <a:p>
            <a:r>
              <a:rPr lang="fr-FR" sz="1600" b="1" dirty="0">
                <a:solidFill>
                  <a:srgbClr val="0D0D0D"/>
                </a:solidFill>
                <a:latin typeface="Söhne"/>
              </a:rPr>
              <a:t>Types de données et variables</a:t>
            </a:r>
            <a:endParaRPr lang="fr-FR" sz="1600" b="1" dirty="0"/>
          </a:p>
        </p:txBody>
      </p:sp>
      <p:sp>
        <p:nvSpPr>
          <p:cNvPr id="11" name="Rectangle 10"/>
          <p:cNvSpPr/>
          <p:nvPr/>
        </p:nvSpPr>
        <p:spPr>
          <a:xfrm>
            <a:off x="376783" y="5199434"/>
            <a:ext cx="4511305" cy="1077218"/>
          </a:xfrm>
          <a:prstGeom prst="rect">
            <a:avLst/>
          </a:prstGeom>
        </p:spPr>
        <p:txBody>
          <a:bodyPr wrap="square">
            <a:spAutoFit/>
          </a:bodyPr>
          <a:lstStyle/>
          <a:p>
            <a:r>
              <a:rPr lang="fr-FR" sz="1600" dirty="0">
                <a:latin typeface="Söhne "/>
              </a:rPr>
              <a:t>// Exemple de types de données et variables </a:t>
            </a:r>
            <a:endParaRPr lang="fr-FR" sz="1600" dirty="0" smtClean="0">
              <a:latin typeface="Söhne "/>
            </a:endParaRPr>
          </a:p>
          <a:p>
            <a:r>
              <a:rPr lang="fr-FR" sz="1600" dirty="0" err="1" smtClean="0">
                <a:latin typeface="Söhne "/>
              </a:rPr>
              <a:t>def</a:t>
            </a:r>
            <a:r>
              <a:rPr lang="fr-FR" sz="1600" dirty="0" smtClean="0">
                <a:latin typeface="Söhne "/>
              </a:rPr>
              <a:t> </a:t>
            </a:r>
            <a:r>
              <a:rPr lang="fr-FR" sz="1600" dirty="0" err="1">
                <a:latin typeface="Söhne "/>
              </a:rPr>
              <a:t>num</a:t>
            </a:r>
            <a:r>
              <a:rPr lang="fr-FR" sz="1600" dirty="0">
                <a:latin typeface="Söhne "/>
              </a:rPr>
              <a:t> = 10 </a:t>
            </a:r>
            <a:endParaRPr lang="fr-FR" sz="1600" dirty="0" smtClean="0">
              <a:latin typeface="Söhne "/>
            </a:endParaRPr>
          </a:p>
          <a:p>
            <a:r>
              <a:rPr lang="fr-FR" sz="1600" dirty="0" err="1" smtClean="0">
                <a:latin typeface="Söhne "/>
              </a:rPr>
              <a:t>def</a:t>
            </a:r>
            <a:r>
              <a:rPr lang="fr-FR" sz="1600" dirty="0" smtClean="0">
                <a:latin typeface="Söhne "/>
              </a:rPr>
              <a:t> </a:t>
            </a:r>
            <a:r>
              <a:rPr lang="fr-FR" sz="1600" dirty="0">
                <a:latin typeface="Söhne "/>
              </a:rPr>
              <a:t>texte = "</a:t>
            </a:r>
            <a:r>
              <a:rPr lang="fr-FR" sz="1600" dirty="0" err="1">
                <a:latin typeface="Söhne "/>
              </a:rPr>
              <a:t>Groovy</a:t>
            </a:r>
            <a:r>
              <a:rPr lang="fr-FR" sz="1600" dirty="0">
                <a:latin typeface="Söhne "/>
              </a:rPr>
              <a:t>" </a:t>
            </a:r>
            <a:endParaRPr lang="fr-FR" sz="1600" dirty="0" smtClean="0">
              <a:latin typeface="Söhne "/>
            </a:endParaRPr>
          </a:p>
          <a:p>
            <a:r>
              <a:rPr lang="fr-FR" sz="1600" dirty="0" err="1" smtClean="0">
                <a:latin typeface="Söhne "/>
              </a:rPr>
              <a:t>def</a:t>
            </a:r>
            <a:r>
              <a:rPr lang="fr-FR" sz="1600" dirty="0" smtClean="0">
                <a:latin typeface="Söhne "/>
              </a:rPr>
              <a:t> </a:t>
            </a:r>
            <a:r>
              <a:rPr lang="fr-FR" sz="1600" dirty="0">
                <a:latin typeface="Söhne "/>
              </a:rPr>
              <a:t>liste = [1, 2, 3, 4, 5]</a:t>
            </a:r>
          </a:p>
        </p:txBody>
      </p:sp>
      <p:sp>
        <p:nvSpPr>
          <p:cNvPr id="13" name="Rectangle 12"/>
          <p:cNvSpPr/>
          <p:nvPr/>
        </p:nvSpPr>
        <p:spPr>
          <a:xfrm>
            <a:off x="4888088" y="3318306"/>
            <a:ext cx="4064000" cy="1569660"/>
          </a:xfrm>
          <a:prstGeom prst="rect">
            <a:avLst/>
          </a:prstGeom>
        </p:spPr>
        <p:txBody>
          <a:bodyPr wrap="square">
            <a:spAutoFit/>
          </a:bodyPr>
          <a:lstStyle/>
          <a:p>
            <a:r>
              <a:rPr lang="fr-FR" sz="1600" dirty="0">
                <a:latin typeface="Söhne "/>
              </a:rPr>
              <a:t>// Exemple de structures de </a:t>
            </a:r>
            <a:r>
              <a:rPr lang="fr-FR" sz="1600" dirty="0" smtClean="0">
                <a:latin typeface="Söhne "/>
              </a:rPr>
              <a:t>contrôle</a:t>
            </a:r>
          </a:p>
          <a:p>
            <a:r>
              <a:rPr lang="fr-FR" sz="1600" dirty="0" smtClean="0">
                <a:latin typeface="Söhne "/>
              </a:rPr>
              <a:t>       </a:t>
            </a:r>
            <a:r>
              <a:rPr lang="fr-FR" sz="1600" dirty="0" err="1" smtClean="0">
                <a:latin typeface="Söhne "/>
              </a:rPr>
              <a:t>def</a:t>
            </a:r>
            <a:r>
              <a:rPr lang="fr-FR" sz="1600" dirty="0" smtClean="0">
                <a:latin typeface="Söhne "/>
              </a:rPr>
              <a:t> </a:t>
            </a:r>
            <a:r>
              <a:rPr lang="fr-FR" sz="1600" dirty="0">
                <a:latin typeface="Söhne "/>
              </a:rPr>
              <a:t>x = 5 </a:t>
            </a:r>
            <a:endParaRPr lang="fr-FR" sz="1600" dirty="0" smtClean="0">
              <a:latin typeface="Söhne "/>
            </a:endParaRPr>
          </a:p>
          <a:p>
            <a:pPr lvl="1"/>
            <a:r>
              <a:rPr lang="fr-FR" sz="1600" dirty="0" smtClean="0">
                <a:latin typeface="Söhne "/>
              </a:rPr>
              <a:t>if </a:t>
            </a:r>
            <a:r>
              <a:rPr lang="fr-FR" sz="1600" dirty="0">
                <a:latin typeface="Söhne "/>
              </a:rPr>
              <a:t>(x &gt; 0</a:t>
            </a:r>
            <a:r>
              <a:rPr lang="fr-FR" sz="1600" dirty="0" smtClean="0">
                <a:latin typeface="Söhne "/>
              </a:rPr>
              <a:t>)</a:t>
            </a:r>
          </a:p>
          <a:p>
            <a:pPr lvl="1"/>
            <a:r>
              <a:rPr lang="fr-FR" sz="1600" dirty="0" smtClean="0">
                <a:latin typeface="Söhne "/>
              </a:rPr>
              <a:t>{ </a:t>
            </a:r>
            <a:r>
              <a:rPr lang="fr-FR" sz="1600" dirty="0" err="1">
                <a:latin typeface="Söhne "/>
              </a:rPr>
              <a:t>println</a:t>
            </a:r>
            <a:r>
              <a:rPr lang="fr-FR" sz="1600" dirty="0">
                <a:latin typeface="Söhne "/>
              </a:rPr>
              <a:t> "x est positif" } </a:t>
            </a:r>
            <a:endParaRPr lang="fr-FR" sz="1600" dirty="0" smtClean="0">
              <a:latin typeface="Söhne "/>
            </a:endParaRPr>
          </a:p>
          <a:p>
            <a:pPr lvl="1"/>
            <a:r>
              <a:rPr lang="fr-FR" sz="1600" dirty="0" err="1" smtClean="0">
                <a:latin typeface="Söhne "/>
              </a:rPr>
              <a:t>else</a:t>
            </a:r>
            <a:r>
              <a:rPr lang="fr-FR" sz="1600" dirty="0" smtClean="0">
                <a:latin typeface="Söhne "/>
              </a:rPr>
              <a:t> </a:t>
            </a:r>
          </a:p>
          <a:p>
            <a:pPr lvl="1"/>
            <a:r>
              <a:rPr lang="fr-FR" sz="1600" dirty="0" smtClean="0">
                <a:latin typeface="Söhne "/>
              </a:rPr>
              <a:t>{ </a:t>
            </a:r>
            <a:r>
              <a:rPr lang="fr-FR" sz="1600" dirty="0" err="1">
                <a:latin typeface="Söhne "/>
              </a:rPr>
              <a:t>println</a:t>
            </a:r>
            <a:r>
              <a:rPr lang="fr-FR" sz="1600" dirty="0">
                <a:latin typeface="Söhne "/>
              </a:rPr>
              <a:t> "x est négatif ou nul" }</a:t>
            </a:r>
          </a:p>
        </p:txBody>
      </p:sp>
      <p:sp>
        <p:nvSpPr>
          <p:cNvPr id="12" name="Rectangle 11"/>
          <p:cNvSpPr/>
          <p:nvPr/>
        </p:nvSpPr>
        <p:spPr>
          <a:xfrm>
            <a:off x="4888088" y="3026593"/>
            <a:ext cx="3607078" cy="338554"/>
          </a:xfrm>
          <a:prstGeom prst="rect">
            <a:avLst/>
          </a:prstGeom>
        </p:spPr>
        <p:txBody>
          <a:bodyPr wrap="none">
            <a:spAutoFit/>
          </a:bodyPr>
          <a:lstStyle/>
          <a:p>
            <a:r>
              <a:rPr lang="fr-FR" sz="1600" b="1" dirty="0">
                <a:solidFill>
                  <a:srgbClr val="0D0D0D"/>
                </a:solidFill>
                <a:latin typeface="Söhne"/>
              </a:rPr>
              <a:t>Structures de contrôle </a:t>
            </a:r>
            <a:r>
              <a:rPr lang="fr-FR" sz="1600" b="1" dirty="0" smtClean="0">
                <a:solidFill>
                  <a:srgbClr val="0D0D0D"/>
                </a:solidFill>
                <a:latin typeface="Söhne"/>
              </a:rPr>
              <a:t>conditions</a:t>
            </a:r>
            <a:endParaRPr lang="fr-FR" sz="1600" b="1" dirty="0"/>
          </a:p>
        </p:txBody>
      </p:sp>
      <p:sp>
        <p:nvSpPr>
          <p:cNvPr id="15" name="Rectangle 14"/>
          <p:cNvSpPr/>
          <p:nvPr/>
        </p:nvSpPr>
        <p:spPr>
          <a:xfrm>
            <a:off x="4853795" y="4860880"/>
            <a:ext cx="3206327" cy="338554"/>
          </a:xfrm>
          <a:prstGeom prst="rect">
            <a:avLst/>
          </a:prstGeom>
        </p:spPr>
        <p:txBody>
          <a:bodyPr wrap="none">
            <a:spAutoFit/>
          </a:bodyPr>
          <a:lstStyle/>
          <a:p>
            <a:r>
              <a:rPr lang="fr-FR" sz="1600" b="1" dirty="0">
                <a:solidFill>
                  <a:srgbClr val="0D0D0D"/>
                </a:solidFill>
                <a:latin typeface="Söhne"/>
              </a:rPr>
              <a:t>Structures de contrôle </a:t>
            </a:r>
            <a:r>
              <a:rPr lang="fr-FR" sz="1600" b="1" dirty="0" smtClean="0">
                <a:solidFill>
                  <a:srgbClr val="0D0D0D"/>
                </a:solidFill>
                <a:latin typeface="Söhne"/>
              </a:rPr>
              <a:t>boucles</a:t>
            </a:r>
            <a:endParaRPr lang="fr-FR" sz="1600" b="1" dirty="0"/>
          </a:p>
        </p:txBody>
      </p:sp>
      <p:sp>
        <p:nvSpPr>
          <p:cNvPr id="14" name="Rectangle 13"/>
          <p:cNvSpPr/>
          <p:nvPr/>
        </p:nvSpPr>
        <p:spPr>
          <a:xfrm>
            <a:off x="5034307" y="5543625"/>
            <a:ext cx="2296697" cy="830997"/>
          </a:xfrm>
          <a:prstGeom prst="rect">
            <a:avLst/>
          </a:prstGeom>
        </p:spPr>
        <p:txBody>
          <a:bodyPr wrap="square">
            <a:spAutoFit/>
          </a:bodyPr>
          <a:lstStyle/>
          <a:p>
            <a:r>
              <a:rPr lang="fr-FR" sz="1600" dirty="0">
                <a:latin typeface="Söhne "/>
              </a:rPr>
              <a:t>for(x in 1..5){</a:t>
            </a:r>
            <a:br>
              <a:rPr lang="fr-FR" sz="1600" dirty="0">
                <a:latin typeface="Söhne "/>
              </a:rPr>
            </a:br>
            <a:r>
              <a:rPr lang="fr-FR" sz="1600" dirty="0">
                <a:latin typeface="Söhne "/>
              </a:rPr>
              <a:t>  </a:t>
            </a:r>
            <a:r>
              <a:rPr lang="fr-FR" sz="1600" dirty="0" err="1">
                <a:latin typeface="Söhne "/>
              </a:rPr>
              <a:t>println</a:t>
            </a:r>
            <a:r>
              <a:rPr lang="fr-FR" sz="1600" dirty="0">
                <a:latin typeface="Söhne "/>
              </a:rPr>
              <a:t> x //0,1,2,3,4,5</a:t>
            </a:r>
            <a:br>
              <a:rPr lang="fr-FR" sz="1600" dirty="0">
                <a:latin typeface="Söhne "/>
              </a:rPr>
            </a:br>
            <a:r>
              <a:rPr lang="fr-FR" sz="1600" dirty="0">
                <a:latin typeface="Söhne "/>
              </a:rPr>
              <a:t>}</a:t>
            </a:r>
          </a:p>
        </p:txBody>
      </p:sp>
      <p:sp>
        <p:nvSpPr>
          <p:cNvPr id="16" name="Rectangle 15"/>
          <p:cNvSpPr/>
          <p:nvPr/>
        </p:nvSpPr>
        <p:spPr>
          <a:xfrm>
            <a:off x="7879643" y="5503648"/>
            <a:ext cx="1746050" cy="1323439"/>
          </a:xfrm>
          <a:prstGeom prst="rect">
            <a:avLst/>
          </a:prstGeom>
        </p:spPr>
        <p:txBody>
          <a:bodyPr wrap="square">
            <a:spAutoFit/>
          </a:bodyPr>
          <a:lstStyle/>
          <a:p>
            <a:r>
              <a:rPr lang="en-US" sz="1600" dirty="0" err="1"/>
              <a:t>def</a:t>
            </a:r>
            <a:r>
              <a:rPr lang="en-US" sz="1600" dirty="0"/>
              <a:t> y = 10</a:t>
            </a:r>
          </a:p>
          <a:p>
            <a:r>
              <a:rPr lang="en-US" sz="1600" dirty="0"/>
              <a:t>for(x in 0..&lt;y</a:t>
            </a:r>
            <a:r>
              <a:rPr lang="en-US" sz="1600" dirty="0" smtClean="0"/>
              <a:t>) {</a:t>
            </a:r>
            <a:endParaRPr lang="en-US" sz="1600" dirty="0"/>
          </a:p>
          <a:p>
            <a:r>
              <a:rPr lang="en-US" sz="1600" dirty="0"/>
              <a:t>    //0,1,2,3,4,5</a:t>
            </a:r>
          </a:p>
          <a:p>
            <a:r>
              <a:rPr lang="en-US" sz="1600" dirty="0"/>
              <a:t>    </a:t>
            </a:r>
            <a:r>
              <a:rPr lang="en-US" sz="1600" dirty="0" err="1"/>
              <a:t>println</a:t>
            </a:r>
            <a:r>
              <a:rPr lang="en-US" sz="1600" dirty="0"/>
              <a:t> x </a:t>
            </a:r>
          </a:p>
          <a:p>
            <a:r>
              <a:rPr lang="en-US" sz="1600" dirty="0"/>
              <a:t>}</a:t>
            </a:r>
            <a:endParaRPr lang="fr-FR" sz="1600" dirty="0"/>
          </a:p>
        </p:txBody>
      </p:sp>
    </p:spTree>
    <p:extLst>
      <p:ext uri="{BB962C8B-B14F-4D97-AF65-F5344CB8AC3E}">
        <p14:creationId xmlns:p14="http://schemas.microsoft.com/office/powerpoint/2010/main" val="220487482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a:t>Introduction à </a:t>
            </a:r>
            <a:r>
              <a:rPr lang="fr-FR" sz="1600" b="1" dirty="0" err="1"/>
              <a:t>Groovy</a:t>
            </a:r>
            <a:endParaRPr lang="fr-FR" altLang="en-US" sz="1600"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72698" y="852605"/>
            <a:ext cx="2430474" cy="338554"/>
          </a:xfrm>
          <a:prstGeom prst="rect">
            <a:avLst/>
          </a:prstGeom>
        </p:spPr>
        <p:txBody>
          <a:bodyPr wrap="none">
            <a:spAutoFit/>
          </a:bodyPr>
          <a:lstStyle/>
          <a:p>
            <a:r>
              <a:rPr lang="fr-FR" sz="1600" b="1" dirty="0">
                <a:solidFill>
                  <a:srgbClr val="0D0D0D"/>
                </a:solidFill>
                <a:latin typeface="Söhne"/>
              </a:rPr>
              <a:t>Fonctions et méthodes</a:t>
            </a:r>
            <a:endParaRPr lang="fr-FR" sz="1600" b="1" dirty="0"/>
          </a:p>
        </p:txBody>
      </p:sp>
      <p:sp>
        <p:nvSpPr>
          <p:cNvPr id="8" name="Rectangle 7"/>
          <p:cNvSpPr/>
          <p:nvPr/>
        </p:nvSpPr>
        <p:spPr>
          <a:xfrm>
            <a:off x="272698" y="1191159"/>
            <a:ext cx="3215569" cy="954107"/>
          </a:xfrm>
          <a:prstGeom prst="rect">
            <a:avLst/>
          </a:prstGeom>
        </p:spPr>
        <p:txBody>
          <a:bodyPr wrap="square">
            <a:spAutoFit/>
          </a:bodyPr>
          <a:lstStyle/>
          <a:p>
            <a:r>
              <a:rPr lang="fr-FR" sz="1400" dirty="0">
                <a:solidFill>
                  <a:srgbClr val="0D0D0D"/>
                </a:solidFill>
                <a:latin typeface="Söhne "/>
              </a:rPr>
              <a:t>// Exemple de fonction </a:t>
            </a:r>
            <a:endParaRPr lang="fr-FR" sz="1400" dirty="0" smtClean="0">
              <a:solidFill>
                <a:srgbClr val="0D0D0D"/>
              </a:solidFill>
              <a:latin typeface="Söhne "/>
            </a:endParaRPr>
          </a:p>
          <a:p>
            <a:pPr lvl="1"/>
            <a:r>
              <a:rPr lang="fr-FR" sz="1400" dirty="0" err="1" smtClean="0">
                <a:solidFill>
                  <a:srgbClr val="0D0D0D"/>
                </a:solidFill>
                <a:latin typeface="Söhne "/>
              </a:rPr>
              <a:t>def</a:t>
            </a:r>
            <a:r>
              <a:rPr lang="fr-FR" sz="1400" dirty="0" smtClean="0">
                <a:solidFill>
                  <a:srgbClr val="0D0D0D"/>
                </a:solidFill>
                <a:latin typeface="Söhne "/>
              </a:rPr>
              <a:t> </a:t>
            </a:r>
            <a:r>
              <a:rPr lang="fr-FR" sz="1400" dirty="0">
                <a:solidFill>
                  <a:srgbClr val="0D0D0D"/>
                </a:solidFill>
                <a:latin typeface="Söhne "/>
              </a:rPr>
              <a:t>carre(n) </a:t>
            </a:r>
            <a:endParaRPr lang="fr-FR" sz="1400" dirty="0" smtClean="0">
              <a:solidFill>
                <a:srgbClr val="0D0D0D"/>
              </a:solidFill>
              <a:latin typeface="Söhne "/>
            </a:endParaRPr>
          </a:p>
          <a:p>
            <a:pPr lvl="1"/>
            <a:r>
              <a:rPr lang="fr-FR" sz="1400" dirty="0" smtClean="0">
                <a:solidFill>
                  <a:srgbClr val="0D0D0D"/>
                </a:solidFill>
                <a:latin typeface="Söhne "/>
              </a:rPr>
              <a:t>{ </a:t>
            </a:r>
            <a:r>
              <a:rPr lang="fr-FR" sz="1400" dirty="0">
                <a:solidFill>
                  <a:srgbClr val="0D0D0D"/>
                </a:solidFill>
                <a:latin typeface="Söhne "/>
              </a:rPr>
              <a:t>return n * n } </a:t>
            </a:r>
            <a:endParaRPr lang="fr-FR" sz="1400" dirty="0" smtClean="0">
              <a:solidFill>
                <a:srgbClr val="0D0D0D"/>
              </a:solidFill>
              <a:latin typeface="Söhne "/>
            </a:endParaRPr>
          </a:p>
          <a:p>
            <a:pPr lvl="1"/>
            <a:r>
              <a:rPr lang="fr-FR" sz="1400" dirty="0" err="1" smtClean="0">
                <a:solidFill>
                  <a:srgbClr val="0D0D0D"/>
                </a:solidFill>
                <a:latin typeface="Söhne "/>
              </a:rPr>
              <a:t>println</a:t>
            </a:r>
            <a:r>
              <a:rPr lang="fr-FR" sz="1400" dirty="0" smtClean="0">
                <a:solidFill>
                  <a:srgbClr val="0D0D0D"/>
                </a:solidFill>
                <a:latin typeface="Söhne "/>
              </a:rPr>
              <a:t> </a:t>
            </a:r>
            <a:r>
              <a:rPr lang="fr-FR" sz="1400" dirty="0">
                <a:solidFill>
                  <a:srgbClr val="0D0D0D"/>
                </a:solidFill>
                <a:latin typeface="Söhne "/>
              </a:rPr>
              <a:t>carre(5) // Affiche 25</a:t>
            </a:r>
            <a:endParaRPr lang="fr-FR" sz="1400" dirty="0">
              <a:latin typeface="Söhne "/>
            </a:endParaRPr>
          </a:p>
        </p:txBody>
      </p:sp>
      <p:sp>
        <p:nvSpPr>
          <p:cNvPr id="12" name="Rectangle 11"/>
          <p:cNvSpPr/>
          <p:nvPr/>
        </p:nvSpPr>
        <p:spPr>
          <a:xfrm>
            <a:off x="196556" y="2422265"/>
            <a:ext cx="2488182" cy="338554"/>
          </a:xfrm>
          <a:prstGeom prst="rect">
            <a:avLst/>
          </a:prstGeom>
        </p:spPr>
        <p:txBody>
          <a:bodyPr wrap="none">
            <a:spAutoFit/>
          </a:bodyPr>
          <a:lstStyle/>
          <a:p>
            <a:r>
              <a:rPr lang="fr-FR" sz="1600" b="1" dirty="0">
                <a:solidFill>
                  <a:srgbClr val="0D0D0D"/>
                </a:solidFill>
                <a:latin typeface="Söhne"/>
              </a:rPr>
              <a:t>Gestion des exceptions</a:t>
            </a:r>
            <a:endParaRPr lang="fr-FR" sz="1600" b="1" dirty="0"/>
          </a:p>
        </p:txBody>
      </p:sp>
      <p:sp>
        <p:nvSpPr>
          <p:cNvPr id="13" name="Rectangle 12"/>
          <p:cNvSpPr/>
          <p:nvPr/>
        </p:nvSpPr>
        <p:spPr>
          <a:xfrm>
            <a:off x="272698" y="2837512"/>
            <a:ext cx="3717924" cy="954107"/>
          </a:xfrm>
          <a:prstGeom prst="rect">
            <a:avLst/>
          </a:prstGeom>
        </p:spPr>
        <p:txBody>
          <a:bodyPr wrap="square">
            <a:spAutoFit/>
          </a:bodyPr>
          <a:lstStyle/>
          <a:p>
            <a:r>
              <a:rPr lang="fr-FR" sz="1400" dirty="0">
                <a:solidFill>
                  <a:srgbClr val="0D0D0D"/>
                </a:solidFill>
                <a:latin typeface="Söhne "/>
              </a:rPr>
              <a:t>// Exemple de gestion des exceptions </a:t>
            </a:r>
            <a:endParaRPr lang="fr-FR" sz="1400" dirty="0" smtClean="0">
              <a:solidFill>
                <a:srgbClr val="0D0D0D"/>
              </a:solidFill>
              <a:latin typeface="Söhne "/>
            </a:endParaRPr>
          </a:p>
          <a:p>
            <a:r>
              <a:rPr lang="fr-FR" sz="1400" dirty="0" smtClean="0">
                <a:solidFill>
                  <a:srgbClr val="0D0D0D"/>
                </a:solidFill>
                <a:latin typeface="Söhne "/>
              </a:rPr>
              <a:t>      </a:t>
            </a:r>
            <a:r>
              <a:rPr lang="fr-FR" sz="1400" dirty="0" err="1" smtClean="0">
                <a:solidFill>
                  <a:srgbClr val="0D0D0D"/>
                </a:solidFill>
                <a:latin typeface="Söhne "/>
              </a:rPr>
              <a:t>try</a:t>
            </a:r>
            <a:r>
              <a:rPr lang="fr-FR" sz="1400" dirty="0" smtClean="0">
                <a:solidFill>
                  <a:srgbClr val="0D0D0D"/>
                </a:solidFill>
                <a:latin typeface="Söhne "/>
              </a:rPr>
              <a:t> </a:t>
            </a:r>
            <a:r>
              <a:rPr lang="fr-FR" sz="1400" dirty="0">
                <a:solidFill>
                  <a:srgbClr val="0D0D0D"/>
                </a:solidFill>
                <a:latin typeface="Söhne "/>
              </a:rPr>
              <a:t>{ </a:t>
            </a:r>
            <a:r>
              <a:rPr lang="fr-FR" sz="1400" dirty="0" err="1">
                <a:solidFill>
                  <a:srgbClr val="0D0D0D"/>
                </a:solidFill>
                <a:latin typeface="Söhne "/>
              </a:rPr>
              <a:t>def</a:t>
            </a:r>
            <a:r>
              <a:rPr lang="fr-FR" sz="1400" dirty="0">
                <a:solidFill>
                  <a:srgbClr val="0D0D0D"/>
                </a:solidFill>
                <a:latin typeface="Söhne "/>
              </a:rPr>
              <a:t> </a:t>
            </a:r>
            <a:r>
              <a:rPr lang="fr-FR" sz="1400" dirty="0" err="1">
                <a:solidFill>
                  <a:srgbClr val="0D0D0D"/>
                </a:solidFill>
                <a:latin typeface="Söhne "/>
              </a:rPr>
              <a:t>resultat</a:t>
            </a:r>
            <a:r>
              <a:rPr lang="fr-FR" sz="1400" dirty="0">
                <a:solidFill>
                  <a:srgbClr val="0D0D0D"/>
                </a:solidFill>
                <a:latin typeface="Söhne "/>
              </a:rPr>
              <a:t> = 10 / 0 } </a:t>
            </a:r>
            <a:endParaRPr lang="fr-FR" sz="1400" dirty="0" smtClean="0">
              <a:solidFill>
                <a:srgbClr val="0D0D0D"/>
              </a:solidFill>
              <a:latin typeface="Söhne "/>
            </a:endParaRPr>
          </a:p>
          <a:p>
            <a:r>
              <a:rPr lang="fr-FR" sz="1400" dirty="0" smtClean="0">
                <a:solidFill>
                  <a:srgbClr val="0D0D0D"/>
                </a:solidFill>
                <a:latin typeface="Söhne "/>
              </a:rPr>
              <a:t>      catch </a:t>
            </a:r>
            <a:r>
              <a:rPr lang="fr-FR" sz="1400" dirty="0">
                <a:solidFill>
                  <a:srgbClr val="0D0D0D"/>
                </a:solidFill>
                <a:latin typeface="Söhne "/>
              </a:rPr>
              <a:t>(</a:t>
            </a:r>
            <a:r>
              <a:rPr lang="fr-FR" sz="1400" dirty="0" err="1">
                <a:solidFill>
                  <a:srgbClr val="0D0D0D"/>
                </a:solidFill>
                <a:latin typeface="Söhne "/>
              </a:rPr>
              <a:t>ArithmeticException</a:t>
            </a:r>
            <a:r>
              <a:rPr lang="fr-FR" sz="1400" dirty="0">
                <a:solidFill>
                  <a:srgbClr val="0D0D0D"/>
                </a:solidFill>
                <a:latin typeface="Söhne "/>
              </a:rPr>
              <a:t> e</a:t>
            </a:r>
            <a:r>
              <a:rPr lang="fr-FR" sz="1400" dirty="0" smtClean="0">
                <a:solidFill>
                  <a:srgbClr val="0D0D0D"/>
                </a:solidFill>
                <a:latin typeface="Söhne "/>
              </a:rPr>
              <a:t>)</a:t>
            </a:r>
          </a:p>
          <a:p>
            <a:r>
              <a:rPr lang="fr-FR" sz="1400" dirty="0" smtClean="0">
                <a:solidFill>
                  <a:srgbClr val="0D0D0D"/>
                </a:solidFill>
                <a:latin typeface="Söhne "/>
              </a:rPr>
              <a:t>      { </a:t>
            </a:r>
            <a:r>
              <a:rPr lang="fr-FR" sz="1400" dirty="0" err="1">
                <a:solidFill>
                  <a:srgbClr val="0D0D0D"/>
                </a:solidFill>
                <a:latin typeface="Söhne "/>
              </a:rPr>
              <a:t>println</a:t>
            </a:r>
            <a:r>
              <a:rPr lang="fr-FR" sz="1400" dirty="0">
                <a:solidFill>
                  <a:srgbClr val="0D0D0D"/>
                </a:solidFill>
                <a:latin typeface="Söhne "/>
              </a:rPr>
              <a:t> "Erreur : ${</a:t>
            </a:r>
            <a:r>
              <a:rPr lang="fr-FR" sz="1400" dirty="0" err="1">
                <a:solidFill>
                  <a:srgbClr val="0D0D0D"/>
                </a:solidFill>
                <a:latin typeface="Söhne "/>
              </a:rPr>
              <a:t>e.message</a:t>
            </a:r>
            <a:r>
              <a:rPr lang="fr-FR" sz="1400" dirty="0">
                <a:solidFill>
                  <a:srgbClr val="0D0D0D"/>
                </a:solidFill>
                <a:latin typeface="Söhne "/>
              </a:rPr>
              <a:t>}" }</a:t>
            </a:r>
            <a:endParaRPr lang="fr-FR" sz="1400" dirty="0">
              <a:latin typeface="Söhne "/>
            </a:endParaRPr>
          </a:p>
        </p:txBody>
      </p:sp>
      <p:sp>
        <p:nvSpPr>
          <p:cNvPr id="14" name="Rectangle 13"/>
          <p:cNvSpPr/>
          <p:nvPr/>
        </p:nvSpPr>
        <p:spPr>
          <a:xfrm>
            <a:off x="196556" y="4422858"/>
            <a:ext cx="3834576" cy="338554"/>
          </a:xfrm>
          <a:prstGeom prst="rect">
            <a:avLst/>
          </a:prstGeom>
        </p:spPr>
        <p:txBody>
          <a:bodyPr wrap="none">
            <a:spAutoFit/>
          </a:bodyPr>
          <a:lstStyle/>
          <a:p>
            <a:r>
              <a:rPr lang="fr-FR" sz="1600" b="1" dirty="0">
                <a:solidFill>
                  <a:srgbClr val="0D0D0D"/>
                </a:solidFill>
                <a:latin typeface="Söhne"/>
              </a:rPr>
              <a:t>Traitement des chaînes de caractères</a:t>
            </a:r>
            <a:endParaRPr lang="fr-FR" sz="1600" b="1" dirty="0"/>
          </a:p>
        </p:txBody>
      </p:sp>
      <p:sp>
        <p:nvSpPr>
          <p:cNvPr id="15" name="Rectangle 14"/>
          <p:cNvSpPr/>
          <p:nvPr/>
        </p:nvSpPr>
        <p:spPr>
          <a:xfrm>
            <a:off x="272698" y="4771072"/>
            <a:ext cx="3627613" cy="954107"/>
          </a:xfrm>
          <a:prstGeom prst="rect">
            <a:avLst/>
          </a:prstGeom>
        </p:spPr>
        <p:txBody>
          <a:bodyPr wrap="square">
            <a:spAutoFit/>
          </a:bodyPr>
          <a:lstStyle/>
          <a:p>
            <a:r>
              <a:rPr lang="fr-FR" sz="1400" dirty="0">
                <a:solidFill>
                  <a:srgbClr val="0D0D0D"/>
                </a:solidFill>
                <a:latin typeface="Söhne "/>
              </a:rPr>
              <a:t>// Exemple de traitement des chaînes </a:t>
            </a:r>
            <a:endParaRPr lang="fr-FR" sz="1400" dirty="0" smtClean="0">
              <a:solidFill>
                <a:srgbClr val="0D0D0D"/>
              </a:solidFill>
              <a:latin typeface="Söhne "/>
            </a:endParaRPr>
          </a:p>
          <a:p>
            <a:r>
              <a:rPr lang="fr-FR" sz="1400" dirty="0" smtClean="0">
                <a:solidFill>
                  <a:srgbClr val="0D0D0D"/>
                </a:solidFill>
                <a:latin typeface="Söhne "/>
              </a:rPr>
              <a:t>     </a:t>
            </a:r>
            <a:r>
              <a:rPr lang="fr-FR" sz="1400" dirty="0" err="1" smtClean="0">
                <a:solidFill>
                  <a:srgbClr val="0D0D0D"/>
                </a:solidFill>
                <a:latin typeface="Söhne "/>
              </a:rPr>
              <a:t>def</a:t>
            </a:r>
            <a:r>
              <a:rPr lang="fr-FR" sz="1400" dirty="0" smtClean="0">
                <a:solidFill>
                  <a:srgbClr val="0D0D0D"/>
                </a:solidFill>
                <a:latin typeface="Söhne "/>
              </a:rPr>
              <a:t> </a:t>
            </a:r>
            <a:r>
              <a:rPr lang="fr-FR" sz="1400" dirty="0">
                <a:solidFill>
                  <a:srgbClr val="0D0D0D"/>
                </a:solidFill>
                <a:latin typeface="Söhne "/>
              </a:rPr>
              <a:t>chaine = "Bonjour" </a:t>
            </a:r>
            <a:endParaRPr lang="fr-FR" sz="1400" dirty="0" smtClean="0">
              <a:solidFill>
                <a:srgbClr val="0D0D0D"/>
              </a:solidFill>
              <a:latin typeface="Söhne "/>
            </a:endParaRPr>
          </a:p>
          <a:p>
            <a:r>
              <a:rPr lang="fr-FR" sz="1400" dirty="0" smtClean="0">
                <a:solidFill>
                  <a:srgbClr val="0D0D0D"/>
                </a:solidFill>
                <a:latin typeface="Söhne "/>
              </a:rPr>
              <a:t>     // </a:t>
            </a:r>
            <a:r>
              <a:rPr lang="fr-FR" sz="1400" dirty="0">
                <a:solidFill>
                  <a:srgbClr val="0D0D0D"/>
                </a:solidFill>
                <a:latin typeface="Söhne "/>
              </a:rPr>
              <a:t>Affiche "BONJOUR</a:t>
            </a:r>
            <a:r>
              <a:rPr lang="fr-FR" sz="1400" dirty="0" smtClean="0">
                <a:solidFill>
                  <a:srgbClr val="0D0D0D"/>
                </a:solidFill>
                <a:latin typeface="Söhne "/>
              </a:rPr>
              <a:t>"</a:t>
            </a:r>
          </a:p>
          <a:p>
            <a:r>
              <a:rPr lang="fr-FR" sz="1400" dirty="0" smtClean="0">
                <a:solidFill>
                  <a:srgbClr val="0D0D0D"/>
                </a:solidFill>
                <a:latin typeface="Söhne "/>
              </a:rPr>
              <a:t>     </a:t>
            </a:r>
            <a:r>
              <a:rPr lang="fr-FR" sz="1400" dirty="0" err="1" smtClean="0">
                <a:solidFill>
                  <a:srgbClr val="0D0D0D"/>
                </a:solidFill>
                <a:latin typeface="Söhne "/>
              </a:rPr>
              <a:t>println</a:t>
            </a:r>
            <a:r>
              <a:rPr lang="fr-FR" sz="1400" dirty="0" smtClean="0">
                <a:solidFill>
                  <a:srgbClr val="0D0D0D"/>
                </a:solidFill>
                <a:latin typeface="Söhne "/>
              </a:rPr>
              <a:t> </a:t>
            </a:r>
            <a:r>
              <a:rPr lang="fr-FR" sz="1400" dirty="0" err="1">
                <a:solidFill>
                  <a:srgbClr val="0D0D0D"/>
                </a:solidFill>
                <a:latin typeface="Söhne "/>
              </a:rPr>
              <a:t>chaine.toUpperCase</a:t>
            </a:r>
            <a:r>
              <a:rPr lang="fr-FR" sz="1400" dirty="0" smtClean="0">
                <a:solidFill>
                  <a:srgbClr val="0D0D0D"/>
                </a:solidFill>
                <a:latin typeface="Söhne "/>
              </a:rPr>
              <a:t>()</a:t>
            </a:r>
            <a:endParaRPr lang="fr-FR" sz="1400" dirty="0">
              <a:latin typeface="Söhne "/>
            </a:endParaRPr>
          </a:p>
        </p:txBody>
      </p:sp>
      <p:sp>
        <p:nvSpPr>
          <p:cNvPr id="16" name="Rectangle 15"/>
          <p:cNvSpPr/>
          <p:nvPr/>
        </p:nvSpPr>
        <p:spPr>
          <a:xfrm>
            <a:off x="5077090" y="805934"/>
            <a:ext cx="2489784" cy="338554"/>
          </a:xfrm>
          <a:prstGeom prst="rect">
            <a:avLst/>
          </a:prstGeom>
        </p:spPr>
        <p:txBody>
          <a:bodyPr wrap="none">
            <a:spAutoFit/>
          </a:bodyPr>
          <a:lstStyle/>
          <a:p>
            <a:r>
              <a:rPr lang="fr-FR" sz="1600" b="1" dirty="0">
                <a:solidFill>
                  <a:srgbClr val="0D0D0D"/>
                </a:solidFill>
                <a:latin typeface="Söhne"/>
              </a:rPr>
              <a:t>Gestion des collections</a:t>
            </a:r>
            <a:endParaRPr lang="fr-FR" sz="1600" b="1" dirty="0"/>
          </a:p>
        </p:txBody>
      </p:sp>
      <p:sp>
        <p:nvSpPr>
          <p:cNvPr id="17" name="Rectangle 16"/>
          <p:cNvSpPr/>
          <p:nvPr/>
        </p:nvSpPr>
        <p:spPr>
          <a:xfrm>
            <a:off x="5144824" y="1191159"/>
            <a:ext cx="3914509" cy="2893100"/>
          </a:xfrm>
          <a:prstGeom prst="rect">
            <a:avLst/>
          </a:prstGeom>
        </p:spPr>
        <p:txBody>
          <a:bodyPr wrap="square">
            <a:spAutoFit/>
          </a:bodyPr>
          <a:lstStyle/>
          <a:p>
            <a:r>
              <a:rPr lang="fr-FR" sz="1400" dirty="0" smtClean="0">
                <a:solidFill>
                  <a:srgbClr val="0D0D0D"/>
                </a:solidFill>
                <a:latin typeface="Söhne"/>
              </a:rPr>
              <a:t>// Exemple 1 de gestion des collections </a:t>
            </a:r>
          </a:p>
          <a:p>
            <a:pPr lvl="1"/>
            <a:r>
              <a:rPr lang="fr-FR" sz="1400" dirty="0" err="1" smtClean="0">
                <a:solidFill>
                  <a:srgbClr val="0D0D0D"/>
                </a:solidFill>
                <a:latin typeface="Söhne"/>
              </a:rPr>
              <a:t>def</a:t>
            </a:r>
            <a:r>
              <a:rPr lang="fr-FR" sz="1400" dirty="0" smtClean="0">
                <a:solidFill>
                  <a:srgbClr val="0D0D0D"/>
                </a:solidFill>
                <a:latin typeface="Söhne"/>
              </a:rPr>
              <a:t> nombres = [1, 2, 3, 4, 5] </a:t>
            </a:r>
          </a:p>
          <a:p>
            <a:pPr lvl="1"/>
            <a:r>
              <a:rPr lang="fr-FR" sz="1400" dirty="0" err="1" smtClean="0">
                <a:solidFill>
                  <a:srgbClr val="0D0D0D"/>
                </a:solidFill>
                <a:latin typeface="Söhne"/>
              </a:rPr>
              <a:t>def</a:t>
            </a:r>
            <a:r>
              <a:rPr lang="fr-FR" sz="1400" dirty="0" smtClean="0">
                <a:solidFill>
                  <a:srgbClr val="0D0D0D"/>
                </a:solidFill>
                <a:latin typeface="Söhne"/>
              </a:rPr>
              <a:t> </a:t>
            </a:r>
            <a:r>
              <a:rPr lang="fr-FR" sz="1400" dirty="0">
                <a:solidFill>
                  <a:srgbClr val="0D0D0D"/>
                </a:solidFill>
                <a:latin typeface="Söhne"/>
              </a:rPr>
              <a:t>carres = </a:t>
            </a:r>
            <a:r>
              <a:rPr lang="fr-FR" sz="1400" dirty="0" err="1">
                <a:solidFill>
                  <a:srgbClr val="0D0D0D"/>
                </a:solidFill>
                <a:latin typeface="Söhne"/>
              </a:rPr>
              <a:t>nombres.collect</a:t>
            </a:r>
            <a:r>
              <a:rPr lang="fr-FR" sz="1400" dirty="0">
                <a:solidFill>
                  <a:srgbClr val="0D0D0D"/>
                </a:solidFill>
                <a:latin typeface="Söhne"/>
              </a:rPr>
              <a:t> { </a:t>
            </a:r>
            <a:r>
              <a:rPr lang="fr-FR" sz="1400" dirty="0" err="1">
                <a:solidFill>
                  <a:srgbClr val="0D0D0D"/>
                </a:solidFill>
                <a:latin typeface="Söhne"/>
              </a:rPr>
              <a:t>it</a:t>
            </a:r>
            <a:r>
              <a:rPr lang="fr-FR" sz="1400" dirty="0">
                <a:solidFill>
                  <a:srgbClr val="0D0D0D"/>
                </a:solidFill>
                <a:latin typeface="Söhne"/>
              </a:rPr>
              <a:t> * </a:t>
            </a:r>
            <a:r>
              <a:rPr lang="fr-FR" sz="1400" dirty="0" err="1">
                <a:solidFill>
                  <a:srgbClr val="0D0D0D"/>
                </a:solidFill>
                <a:latin typeface="Söhne"/>
              </a:rPr>
              <a:t>it</a:t>
            </a:r>
            <a:r>
              <a:rPr lang="fr-FR" sz="1400" dirty="0">
                <a:solidFill>
                  <a:srgbClr val="0D0D0D"/>
                </a:solidFill>
                <a:latin typeface="Söhne"/>
              </a:rPr>
              <a:t> </a:t>
            </a:r>
            <a:r>
              <a:rPr lang="fr-FR" sz="1400" dirty="0" smtClean="0">
                <a:solidFill>
                  <a:srgbClr val="0D0D0D"/>
                </a:solidFill>
                <a:latin typeface="Söhne"/>
              </a:rPr>
              <a:t>}</a:t>
            </a:r>
          </a:p>
          <a:p>
            <a:pPr lvl="1"/>
            <a:r>
              <a:rPr lang="fr-FR" sz="1400" dirty="0" smtClean="0">
                <a:solidFill>
                  <a:srgbClr val="0D0D0D"/>
                </a:solidFill>
                <a:latin typeface="Söhne"/>
              </a:rPr>
              <a:t> </a:t>
            </a:r>
            <a:r>
              <a:rPr lang="fr-FR" sz="1400" dirty="0">
                <a:solidFill>
                  <a:srgbClr val="0D0D0D"/>
                </a:solidFill>
                <a:latin typeface="Söhne"/>
              </a:rPr>
              <a:t>// Affiche [1, 4, 9, 16, 25</a:t>
            </a:r>
            <a:r>
              <a:rPr lang="fr-FR" sz="1400" dirty="0" smtClean="0">
                <a:solidFill>
                  <a:srgbClr val="0D0D0D"/>
                </a:solidFill>
                <a:latin typeface="Söhne"/>
              </a:rPr>
              <a:t>]</a:t>
            </a:r>
          </a:p>
          <a:p>
            <a:pPr lvl="1"/>
            <a:r>
              <a:rPr lang="fr-FR" sz="1400" dirty="0" err="1" smtClean="0">
                <a:solidFill>
                  <a:srgbClr val="0D0D0D"/>
                </a:solidFill>
                <a:latin typeface="Söhne"/>
              </a:rPr>
              <a:t>println</a:t>
            </a:r>
            <a:r>
              <a:rPr lang="fr-FR" sz="1400" dirty="0" smtClean="0">
                <a:solidFill>
                  <a:srgbClr val="0D0D0D"/>
                </a:solidFill>
                <a:latin typeface="Söhne"/>
              </a:rPr>
              <a:t> carres</a:t>
            </a:r>
          </a:p>
          <a:p>
            <a:pPr lvl="1"/>
            <a:r>
              <a:rPr lang="fr-FR" sz="1400" dirty="0" smtClean="0">
                <a:solidFill>
                  <a:srgbClr val="0D0D0D"/>
                </a:solidFill>
                <a:latin typeface="Söhne"/>
              </a:rPr>
              <a:t>//Affiche 4</a:t>
            </a:r>
          </a:p>
          <a:p>
            <a:pPr lvl="1"/>
            <a:r>
              <a:rPr lang="fr-FR" sz="1400" dirty="0">
                <a:solidFill>
                  <a:srgbClr val="0D0D0D"/>
                </a:solidFill>
                <a:latin typeface="Söhne"/>
              </a:rPr>
              <a:t>c</a:t>
            </a:r>
            <a:r>
              <a:rPr lang="fr-FR" sz="1400" dirty="0" smtClean="0">
                <a:solidFill>
                  <a:srgbClr val="0D0D0D"/>
                </a:solidFill>
                <a:latin typeface="Söhne"/>
              </a:rPr>
              <a:t>arres[1]</a:t>
            </a:r>
          </a:p>
          <a:p>
            <a:pPr marL="0" lvl="1"/>
            <a:r>
              <a:rPr lang="fr-FR" sz="1400" dirty="0">
                <a:solidFill>
                  <a:srgbClr val="0D0D0D"/>
                </a:solidFill>
                <a:latin typeface="Söhne"/>
              </a:rPr>
              <a:t>// Exemple </a:t>
            </a:r>
            <a:r>
              <a:rPr lang="fr-FR" sz="1400" dirty="0" smtClean="0">
                <a:solidFill>
                  <a:srgbClr val="0D0D0D"/>
                </a:solidFill>
                <a:latin typeface="Söhne"/>
              </a:rPr>
              <a:t>2 </a:t>
            </a:r>
            <a:r>
              <a:rPr lang="fr-FR" sz="1400" dirty="0">
                <a:solidFill>
                  <a:srgbClr val="0D0D0D"/>
                </a:solidFill>
                <a:latin typeface="Söhne"/>
              </a:rPr>
              <a:t>de gestion des collections </a:t>
            </a:r>
            <a:endParaRPr lang="fr-FR" sz="1400" dirty="0" smtClean="0">
              <a:solidFill>
                <a:srgbClr val="0D0D0D"/>
              </a:solidFill>
              <a:latin typeface="Söhne"/>
            </a:endParaRPr>
          </a:p>
          <a:p>
            <a:pPr lvl="1"/>
            <a:r>
              <a:rPr lang="fr-FR" sz="1400" dirty="0" err="1"/>
              <a:t>def</a:t>
            </a:r>
            <a:r>
              <a:rPr lang="fr-FR" sz="1400" dirty="0"/>
              <a:t> no = [1,2,3,4]</a:t>
            </a:r>
            <a:endParaRPr lang="fr-FR" sz="1400" dirty="0" smtClean="0">
              <a:solidFill>
                <a:srgbClr val="0D0D0D"/>
              </a:solidFill>
              <a:latin typeface="Söhne"/>
            </a:endParaRPr>
          </a:p>
          <a:p>
            <a:pPr lvl="1"/>
            <a:r>
              <a:rPr lang="fr-FR" sz="1400" dirty="0" smtClean="0">
                <a:solidFill>
                  <a:srgbClr val="0D0D0D"/>
                </a:solidFill>
                <a:latin typeface="Söhne"/>
              </a:rPr>
              <a:t>//Ajouter l'élément 5 à la collection</a:t>
            </a:r>
          </a:p>
          <a:p>
            <a:pPr lvl="1"/>
            <a:r>
              <a:rPr lang="fr-FR" sz="1400" dirty="0" err="1">
                <a:latin typeface="Söhne "/>
              </a:rPr>
              <a:t>def</a:t>
            </a:r>
            <a:r>
              <a:rPr lang="fr-FR" sz="1400" dirty="0">
                <a:latin typeface="Söhne "/>
              </a:rPr>
              <a:t> no2 = no +5 //=[1,2,3,4,5</a:t>
            </a:r>
            <a:r>
              <a:rPr lang="fr-FR" sz="1400" dirty="0" smtClean="0">
                <a:latin typeface="Söhne "/>
              </a:rPr>
              <a:t>]</a:t>
            </a:r>
          </a:p>
          <a:p>
            <a:pPr lvl="1"/>
            <a:r>
              <a:rPr lang="fr-FR" sz="1400" dirty="0" smtClean="0">
                <a:latin typeface="Söhne "/>
              </a:rPr>
              <a:t>//Exclure 2 et 4 </a:t>
            </a:r>
            <a:r>
              <a:rPr lang="fr-FR" sz="1400" dirty="0">
                <a:latin typeface="Söhne "/>
              </a:rPr>
              <a:t/>
            </a:r>
            <a:br>
              <a:rPr lang="fr-FR" sz="1400" dirty="0">
                <a:latin typeface="Söhne "/>
              </a:rPr>
            </a:br>
            <a:r>
              <a:rPr lang="fr-FR" sz="1400" dirty="0" err="1">
                <a:latin typeface="Söhne "/>
              </a:rPr>
              <a:t>def</a:t>
            </a:r>
            <a:r>
              <a:rPr lang="fr-FR" sz="1400" dirty="0">
                <a:latin typeface="Söhne "/>
              </a:rPr>
              <a:t> no3 = no - [2,3] //=[1,4]</a:t>
            </a:r>
          </a:p>
        </p:txBody>
      </p:sp>
      <p:sp>
        <p:nvSpPr>
          <p:cNvPr id="18" name="Rectangle 17"/>
          <p:cNvSpPr/>
          <p:nvPr/>
        </p:nvSpPr>
        <p:spPr>
          <a:xfrm>
            <a:off x="5144824" y="4432518"/>
            <a:ext cx="2215671" cy="338554"/>
          </a:xfrm>
          <a:prstGeom prst="rect">
            <a:avLst/>
          </a:prstGeom>
        </p:spPr>
        <p:txBody>
          <a:bodyPr wrap="none">
            <a:spAutoFit/>
          </a:bodyPr>
          <a:lstStyle/>
          <a:p>
            <a:r>
              <a:rPr lang="fr-FR" sz="1600" b="1" dirty="0" smtClean="0">
                <a:solidFill>
                  <a:srgbClr val="0D0D0D"/>
                </a:solidFill>
                <a:latin typeface="Söhne"/>
              </a:rPr>
              <a:t>Méta programmation</a:t>
            </a:r>
            <a:endParaRPr lang="fr-FR" sz="1600" b="1" dirty="0"/>
          </a:p>
        </p:txBody>
      </p:sp>
      <p:sp>
        <p:nvSpPr>
          <p:cNvPr id="20" name="Rectangle 19"/>
          <p:cNvSpPr/>
          <p:nvPr/>
        </p:nvSpPr>
        <p:spPr>
          <a:xfrm>
            <a:off x="5077090" y="4812942"/>
            <a:ext cx="6096000" cy="954107"/>
          </a:xfrm>
          <a:prstGeom prst="rect">
            <a:avLst/>
          </a:prstGeom>
        </p:spPr>
        <p:txBody>
          <a:bodyPr>
            <a:spAutoFit/>
          </a:bodyPr>
          <a:lstStyle/>
          <a:p>
            <a:r>
              <a:rPr lang="fr-FR" sz="1400" dirty="0" smtClean="0">
                <a:latin typeface="Söhne"/>
              </a:rPr>
              <a:t>//Exemple de méta programmation </a:t>
            </a:r>
          </a:p>
          <a:p>
            <a:pPr lvl="1"/>
            <a:r>
              <a:rPr lang="fr-FR" sz="1400" dirty="0" err="1" smtClean="0">
                <a:latin typeface="Söhne"/>
              </a:rPr>
              <a:t>def</a:t>
            </a:r>
            <a:r>
              <a:rPr lang="fr-FR" sz="1400" dirty="0" smtClean="0">
                <a:latin typeface="Söhne"/>
              </a:rPr>
              <a:t> </a:t>
            </a:r>
            <a:r>
              <a:rPr lang="fr-FR" sz="1400" dirty="0" err="1">
                <a:latin typeface="Söhne"/>
              </a:rPr>
              <a:t>arg</a:t>
            </a:r>
            <a:r>
              <a:rPr lang="fr-FR" sz="1400" dirty="0">
                <a:latin typeface="Söhne"/>
              </a:rPr>
              <a:t> = ["</a:t>
            </a:r>
            <a:r>
              <a:rPr lang="fr-FR" sz="1400" dirty="0" err="1">
                <a:latin typeface="Söhne"/>
              </a:rPr>
              <a:t>Groovy</a:t>
            </a:r>
            <a:r>
              <a:rPr lang="fr-FR" sz="1400" dirty="0">
                <a:latin typeface="Söhne"/>
              </a:rPr>
              <a:t>","Java","Python","</a:t>
            </a:r>
            <a:r>
              <a:rPr lang="fr-FR" sz="1400" dirty="0" err="1">
                <a:latin typeface="Söhne"/>
              </a:rPr>
              <a:t>nodeJS</a:t>
            </a:r>
            <a:r>
              <a:rPr lang="fr-FR" sz="1400" dirty="0" smtClean="0">
                <a:latin typeface="Söhne"/>
              </a:rPr>
              <a:t>"]</a:t>
            </a:r>
          </a:p>
          <a:p>
            <a:pPr lvl="1"/>
            <a:r>
              <a:rPr lang="fr-FR" sz="1400" dirty="0" smtClean="0">
                <a:latin typeface="Söhne"/>
              </a:rPr>
              <a:t>//Affiche le type de </a:t>
            </a:r>
            <a:r>
              <a:rPr lang="fr-FR" sz="1400" dirty="0" err="1" smtClean="0">
                <a:latin typeface="Söhne"/>
              </a:rPr>
              <a:t>arg</a:t>
            </a:r>
            <a:r>
              <a:rPr lang="fr-FR" sz="1400" dirty="0" smtClean="0">
                <a:latin typeface="Söhne"/>
              </a:rPr>
              <a:t> qui est le type tableau dans ce cas</a:t>
            </a:r>
            <a:endParaRPr lang="fr-FR" sz="1400" dirty="0">
              <a:latin typeface="Söhne"/>
            </a:endParaRPr>
          </a:p>
          <a:p>
            <a:pPr lvl="1"/>
            <a:r>
              <a:rPr lang="fr-FR" sz="1400" dirty="0" err="1">
                <a:latin typeface="Söhne"/>
              </a:rPr>
              <a:t>println</a:t>
            </a:r>
            <a:r>
              <a:rPr lang="fr-FR" sz="1400" dirty="0">
                <a:latin typeface="Söhne"/>
              </a:rPr>
              <a:t> </a:t>
            </a:r>
            <a:r>
              <a:rPr lang="fr-FR" sz="1400" dirty="0" err="1">
                <a:latin typeface="Söhne"/>
              </a:rPr>
              <a:t>arg.class</a:t>
            </a:r>
            <a:endParaRPr lang="fr-FR" sz="1400" dirty="0">
              <a:latin typeface="Söhne"/>
            </a:endParaRPr>
          </a:p>
        </p:txBody>
      </p:sp>
    </p:spTree>
    <p:extLst>
      <p:ext uri="{BB962C8B-B14F-4D97-AF65-F5344CB8AC3E}">
        <p14:creationId xmlns:p14="http://schemas.microsoft.com/office/powerpoint/2010/main" val="133000655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a:t>Introduction à </a:t>
            </a:r>
            <a:r>
              <a:rPr lang="fr-FR" sz="1600" b="1" dirty="0" err="1"/>
              <a:t>Groovy</a:t>
            </a:r>
            <a:endParaRPr lang="fr-FR" altLang="en-US" sz="1600"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72698" y="852605"/>
            <a:ext cx="2215671" cy="338554"/>
          </a:xfrm>
          <a:prstGeom prst="rect">
            <a:avLst/>
          </a:prstGeom>
        </p:spPr>
        <p:txBody>
          <a:bodyPr wrap="none">
            <a:spAutoFit/>
          </a:bodyPr>
          <a:lstStyle/>
          <a:p>
            <a:r>
              <a:rPr lang="fr-FR" sz="1600" b="1" dirty="0" smtClean="0">
                <a:solidFill>
                  <a:srgbClr val="0D0D0D"/>
                </a:solidFill>
                <a:latin typeface="Söhne"/>
              </a:rPr>
              <a:t>Programmation OOP</a:t>
            </a:r>
            <a:endParaRPr lang="fr-FR" sz="1600" b="1" dirty="0"/>
          </a:p>
        </p:txBody>
      </p:sp>
      <p:sp>
        <p:nvSpPr>
          <p:cNvPr id="2" name="Rectangle 1"/>
          <p:cNvSpPr/>
          <p:nvPr/>
        </p:nvSpPr>
        <p:spPr>
          <a:xfrm>
            <a:off x="338666" y="1273093"/>
            <a:ext cx="3630506" cy="3539430"/>
          </a:xfrm>
          <a:prstGeom prst="rect">
            <a:avLst/>
          </a:prstGeom>
        </p:spPr>
        <p:txBody>
          <a:bodyPr wrap="square">
            <a:spAutoFit/>
          </a:bodyPr>
          <a:lstStyle/>
          <a:p>
            <a:r>
              <a:rPr lang="fr-FR" sz="1600" dirty="0"/>
              <a:t>class Person {</a:t>
            </a:r>
          </a:p>
          <a:p>
            <a:r>
              <a:rPr lang="fr-FR" sz="1600" dirty="0"/>
              <a:t>  String </a:t>
            </a:r>
            <a:r>
              <a:rPr lang="fr-FR" sz="1600" dirty="0" err="1"/>
              <a:t>name</a:t>
            </a:r>
            <a:r>
              <a:rPr lang="fr-FR" sz="1600" dirty="0"/>
              <a:t>;</a:t>
            </a:r>
          </a:p>
          <a:p>
            <a:r>
              <a:rPr lang="fr-FR" sz="1600" dirty="0"/>
              <a:t>  </a:t>
            </a:r>
            <a:r>
              <a:rPr lang="fr-FR" sz="1600" dirty="0" err="1"/>
              <a:t>int</a:t>
            </a:r>
            <a:r>
              <a:rPr lang="fr-FR" sz="1600" dirty="0"/>
              <a:t> ID;</a:t>
            </a:r>
          </a:p>
          <a:p>
            <a:r>
              <a:rPr lang="fr-FR" sz="1600" dirty="0"/>
              <a:t>}</a:t>
            </a:r>
          </a:p>
          <a:p>
            <a:endParaRPr lang="fr-FR" sz="1600" dirty="0"/>
          </a:p>
          <a:p>
            <a:r>
              <a:rPr lang="fr-FR" sz="1600" dirty="0" err="1"/>
              <a:t>def</a:t>
            </a:r>
            <a:r>
              <a:rPr lang="fr-FR" sz="1600" dirty="0"/>
              <a:t> mari = new Person(</a:t>
            </a:r>
            <a:r>
              <a:rPr lang="fr-FR" sz="1600" dirty="0" err="1"/>
              <a:t>name</a:t>
            </a:r>
            <a:r>
              <a:rPr lang="fr-FR" sz="1600" dirty="0"/>
              <a:t>: '</a:t>
            </a:r>
            <a:r>
              <a:rPr lang="fr-FR" sz="1600" dirty="0" err="1"/>
              <a:t>Bechir</a:t>
            </a:r>
            <a:r>
              <a:rPr lang="fr-FR" sz="1600" dirty="0"/>
              <a:t>')</a:t>
            </a:r>
          </a:p>
          <a:p>
            <a:r>
              <a:rPr lang="fr-FR" sz="1600" dirty="0" err="1"/>
              <a:t>def</a:t>
            </a:r>
            <a:r>
              <a:rPr lang="fr-FR" sz="1600" dirty="0"/>
              <a:t> femme = new Person()</a:t>
            </a:r>
          </a:p>
          <a:p>
            <a:endParaRPr lang="fr-FR" sz="1600" dirty="0" smtClean="0"/>
          </a:p>
          <a:p>
            <a:r>
              <a:rPr lang="fr-FR" sz="1600" dirty="0" smtClean="0"/>
              <a:t>femme.name </a:t>
            </a:r>
            <a:r>
              <a:rPr lang="fr-FR" sz="1600" dirty="0"/>
              <a:t>= '</a:t>
            </a:r>
            <a:r>
              <a:rPr lang="fr-FR" sz="1600" dirty="0" err="1"/>
              <a:t>Dorra</a:t>
            </a:r>
            <a:r>
              <a:rPr lang="fr-FR" sz="1600" dirty="0" smtClean="0"/>
              <a:t>' </a:t>
            </a:r>
          </a:p>
          <a:p>
            <a:r>
              <a:rPr lang="fr-FR" sz="1600" dirty="0" smtClean="0"/>
              <a:t>//ou également</a:t>
            </a:r>
          </a:p>
          <a:p>
            <a:r>
              <a:rPr lang="fr-FR" sz="1600" dirty="0" err="1" smtClean="0"/>
              <a:t>femme.setName</a:t>
            </a:r>
            <a:r>
              <a:rPr lang="fr-FR" sz="1600" dirty="0"/>
              <a:t>('</a:t>
            </a:r>
            <a:r>
              <a:rPr lang="fr-FR" sz="1600" dirty="0" err="1"/>
              <a:t>Dorra</a:t>
            </a:r>
            <a:r>
              <a:rPr lang="fr-FR" sz="1600" dirty="0" smtClean="0"/>
              <a:t>')</a:t>
            </a:r>
          </a:p>
          <a:p>
            <a:endParaRPr lang="fr-FR" sz="1600" dirty="0"/>
          </a:p>
          <a:p>
            <a:r>
              <a:rPr lang="fr-FR" sz="1600" dirty="0" err="1"/>
              <a:t>println</a:t>
            </a:r>
            <a:r>
              <a:rPr lang="fr-FR" sz="1600" dirty="0"/>
              <a:t> </a:t>
            </a:r>
            <a:r>
              <a:rPr lang="fr-FR" sz="1600" dirty="0" err="1"/>
              <a:t>mari.getName</a:t>
            </a:r>
            <a:r>
              <a:rPr lang="fr-FR" sz="1600" dirty="0"/>
              <a:t>()</a:t>
            </a:r>
          </a:p>
          <a:p>
            <a:r>
              <a:rPr lang="fr-FR" sz="1600" dirty="0" err="1"/>
              <a:t>println</a:t>
            </a:r>
            <a:r>
              <a:rPr lang="fr-FR" sz="1600" dirty="0"/>
              <a:t> </a:t>
            </a:r>
            <a:r>
              <a:rPr lang="fr-FR" sz="1600" dirty="0" err="1"/>
              <a:t>femme.getName</a:t>
            </a:r>
            <a:r>
              <a:rPr lang="fr-FR" sz="1600" dirty="0"/>
              <a:t>()</a:t>
            </a:r>
          </a:p>
        </p:txBody>
      </p:sp>
    </p:spTree>
    <p:extLst>
      <p:ext uri="{BB962C8B-B14F-4D97-AF65-F5344CB8AC3E}">
        <p14:creationId xmlns:p14="http://schemas.microsoft.com/office/powerpoint/2010/main" val="275938946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t>Groovy</a:t>
            </a:r>
            <a:r>
              <a:rPr lang="fr-FR" sz="1600" b="1" dirty="0" smtClean="0"/>
              <a:t> dans Jenkins</a:t>
            </a:r>
            <a:endParaRPr lang="fr-FR" altLang="en-US" sz="1600"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72698" y="852605"/>
            <a:ext cx="3036409" cy="338554"/>
          </a:xfrm>
          <a:prstGeom prst="rect">
            <a:avLst/>
          </a:prstGeom>
        </p:spPr>
        <p:txBody>
          <a:bodyPr wrap="none">
            <a:spAutoFit/>
          </a:bodyPr>
          <a:lstStyle/>
          <a:p>
            <a:r>
              <a:rPr lang="fr-FR" sz="1600" b="1" dirty="0" smtClean="0">
                <a:solidFill>
                  <a:srgbClr val="0D0D0D"/>
                </a:solidFill>
                <a:latin typeface="Söhne"/>
              </a:rPr>
              <a:t>Représentation de la pipeline</a:t>
            </a:r>
            <a:endParaRPr lang="fr-FR" sz="1600" b="1" dirty="0"/>
          </a:p>
        </p:txBody>
      </p:sp>
      <p:sp>
        <p:nvSpPr>
          <p:cNvPr id="3" name="Rectangle 2"/>
          <p:cNvSpPr/>
          <p:nvPr/>
        </p:nvSpPr>
        <p:spPr>
          <a:xfrm>
            <a:off x="535091" y="1299572"/>
            <a:ext cx="10498667" cy="338554"/>
          </a:xfrm>
          <a:prstGeom prst="rect">
            <a:avLst/>
          </a:prstGeom>
        </p:spPr>
        <p:txBody>
          <a:bodyPr wrap="square">
            <a:spAutoFit/>
          </a:bodyPr>
          <a:lstStyle/>
          <a:p>
            <a:r>
              <a:rPr lang="fr-FR" sz="1600" dirty="0">
                <a:latin typeface="Söhne "/>
              </a:rPr>
              <a:t>Jenkins propose deux syntaxes différentes pour les </a:t>
            </a:r>
            <a:r>
              <a:rPr lang="fr-FR" sz="1600" dirty="0" smtClean="0">
                <a:latin typeface="Söhne "/>
              </a:rPr>
              <a:t>pipelines </a:t>
            </a:r>
            <a:r>
              <a:rPr lang="fr-FR" sz="1600" dirty="0">
                <a:latin typeface="Söhne "/>
              </a:rPr>
              <a:t>déclaratif et </a:t>
            </a:r>
            <a:r>
              <a:rPr lang="fr-FR" sz="1600" dirty="0" err="1" smtClean="0">
                <a:latin typeface="Söhne "/>
              </a:rPr>
              <a:t>scripté</a:t>
            </a:r>
            <a:r>
              <a:rPr lang="fr-FR" sz="1600" dirty="0" smtClean="0">
                <a:latin typeface="Söhne "/>
              </a:rPr>
              <a:t> </a:t>
            </a:r>
            <a:endParaRPr lang="fr-FR" sz="1400" b="1" dirty="0">
              <a:latin typeface="Söhne "/>
            </a:endParaRPr>
          </a:p>
        </p:txBody>
      </p:sp>
      <p:sp>
        <p:nvSpPr>
          <p:cNvPr id="2" name="Rectangle 1"/>
          <p:cNvSpPr/>
          <p:nvPr/>
        </p:nvSpPr>
        <p:spPr>
          <a:xfrm>
            <a:off x="535091" y="1795549"/>
            <a:ext cx="10959255" cy="584775"/>
          </a:xfrm>
          <a:prstGeom prst="rect">
            <a:avLst/>
          </a:prstGeom>
        </p:spPr>
        <p:txBody>
          <a:bodyPr wrap="square">
            <a:spAutoFit/>
          </a:bodyPr>
          <a:lstStyle/>
          <a:p>
            <a:r>
              <a:rPr lang="fr-FR" sz="1600" dirty="0">
                <a:latin typeface="Söhne"/>
              </a:rPr>
              <a:t>Lorsque le pipeline Jenkins a été introduit pour la première fois, le pipeline </a:t>
            </a:r>
            <a:r>
              <a:rPr lang="fr-FR" sz="1600" dirty="0" err="1">
                <a:latin typeface="Söhne"/>
              </a:rPr>
              <a:t>scripté</a:t>
            </a:r>
            <a:r>
              <a:rPr lang="fr-FR" sz="1600" dirty="0">
                <a:latin typeface="Söhne"/>
              </a:rPr>
              <a:t> </a:t>
            </a:r>
            <a:endParaRPr lang="fr-FR" sz="1600" dirty="0" smtClean="0">
              <a:latin typeface="Söhne"/>
            </a:endParaRPr>
          </a:p>
          <a:p>
            <a:r>
              <a:rPr lang="fr-FR" sz="1600" dirty="0" smtClean="0">
                <a:latin typeface="Söhne"/>
              </a:rPr>
              <a:t>était </a:t>
            </a:r>
            <a:r>
              <a:rPr lang="fr-FR" sz="1600" dirty="0">
                <a:latin typeface="Söhne"/>
              </a:rPr>
              <a:t>la seule option disponible</a:t>
            </a:r>
          </a:p>
        </p:txBody>
      </p:sp>
      <p:sp>
        <p:nvSpPr>
          <p:cNvPr id="11" name="Rectangle 10"/>
          <p:cNvSpPr/>
          <p:nvPr/>
        </p:nvSpPr>
        <p:spPr>
          <a:xfrm>
            <a:off x="5912855" y="2475713"/>
            <a:ext cx="3820425" cy="2800767"/>
          </a:xfrm>
          <a:prstGeom prst="rect">
            <a:avLst/>
          </a:prstGeom>
        </p:spPr>
        <p:txBody>
          <a:bodyPr wrap="square">
            <a:spAutoFit/>
          </a:bodyPr>
          <a:lstStyle/>
          <a:p>
            <a:r>
              <a:rPr lang="fr-FR" sz="1600" b="1" dirty="0" err="1">
                <a:solidFill>
                  <a:srgbClr val="FF0000"/>
                </a:solidFill>
              </a:rPr>
              <a:t>node</a:t>
            </a:r>
            <a:r>
              <a:rPr lang="fr-FR" sz="1600" b="1" dirty="0">
                <a:solidFill>
                  <a:srgbClr val="FF0000"/>
                </a:solidFill>
              </a:rPr>
              <a:t> {</a:t>
            </a:r>
          </a:p>
          <a:p>
            <a:r>
              <a:rPr lang="fr-FR" sz="1600" dirty="0"/>
              <a:t>    stage('</a:t>
            </a:r>
            <a:r>
              <a:rPr lang="fr-FR" sz="1600" dirty="0" err="1"/>
              <a:t>Build</a:t>
            </a:r>
            <a:r>
              <a:rPr lang="fr-FR" sz="1600" dirty="0"/>
              <a:t>') {</a:t>
            </a:r>
          </a:p>
          <a:p>
            <a:r>
              <a:rPr lang="fr-FR" sz="1600" dirty="0"/>
              <a:t>        </a:t>
            </a:r>
            <a:r>
              <a:rPr lang="fr-FR" sz="1600" dirty="0" err="1"/>
              <a:t>echo</a:t>
            </a:r>
            <a:r>
              <a:rPr lang="fr-FR" sz="1600" dirty="0"/>
              <a:t> 'Building the </a:t>
            </a:r>
            <a:r>
              <a:rPr lang="fr-FR" sz="1600" dirty="0" err="1"/>
              <a:t>project</a:t>
            </a:r>
            <a:r>
              <a:rPr lang="fr-FR" sz="1600" dirty="0"/>
              <a:t>...'</a:t>
            </a:r>
          </a:p>
          <a:p>
            <a:r>
              <a:rPr lang="fr-FR" sz="1600" dirty="0"/>
              <a:t>    }</a:t>
            </a:r>
          </a:p>
          <a:p>
            <a:r>
              <a:rPr lang="fr-FR" sz="1600" dirty="0"/>
              <a:t>    stage('Test') {</a:t>
            </a:r>
          </a:p>
          <a:p>
            <a:r>
              <a:rPr lang="fr-FR" sz="1600" dirty="0"/>
              <a:t>        </a:t>
            </a:r>
            <a:r>
              <a:rPr lang="fr-FR" sz="1600" dirty="0" err="1"/>
              <a:t>echo</a:t>
            </a:r>
            <a:r>
              <a:rPr lang="fr-FR" sz="1600" dirty="0"/>
              <a:t> 'Running tests...'</a:t>
            </a:r>
          </a:p>
          <a:p>
            <a:r>
              <a:rPr lang="fr-FR" sz="1600" dirty="0"/>
              <a:t>    }</a:t>
            </a:r>
          </a:p>
          <a:p>
            <a:r>
              <a:rPr lang="fr-FR" sz="1600" dirty="0"/>
              <a:t>    stage('</a:t>
            </a:r>
            <a:r>
              <a:rPr lang="fr-FR" sz="1600" dirty="0" err="1"/>
              <a:t>Deploy</a:t>
            </a:r>
            <a:r>
              <a:rPr lang="fr-FR" sz="1600" dirty="0"/>
              <a:t>') {</a:t>
            </a:r>
          </a:p>
          <a:p>
            <a:r>
              <a:rPr lang="fr-FR" sz="1600" dirty="0"/>
              <a:t>        </a:t>
            </a:r>
            <a:r>
              <a:rPr lang="fr-FR" sz="1600" dirty="0" err="1"/>
              <a:t>echo</a:t>
            </a:r>
            <a:r>
              <a:rPr lang="fr-FR" sz="1600" dirty="0"/>
              <a:t> '</a:t>
            </a:r>
            <a:r>
              <a:rPr lang="fr-FR" sz="1600" dirty="0" err="1"/>
              <a:t>Deploying</a:t>
            </a:r>
            <a:r>
              <a:rPr lang="fr-FR" sz="1600" dirty="0"/>
              <a:t> the application...'</a:t>
            </a:r>
          </a:p>
          <a:p>
            <a:r>
              <a:rPr lang="fr-FR" sz="1600" dirty="0"/>
              <a:t>    }</a:t>
            </a:r>
          </a:p>
          <a:p>
            <a:r>
              <a:rPr lang="fr-FR" sz="1600" dirty="0"/>
              <a:t>}</a:t>
            </a:r>
          </a:p>
        </p:txBody>
      </p:sp>
      <p:sp>
        <p:nvSpPr>
          <p:cNvPr id="12" name="Rectangle 11"/>
          <p:cNvSpPr/>
          <p:nvPr/>
        </p:nvSpPr>
        <p:spPr>
          <a:xfrm>
            <a:off x="6258558" y="6163675"/>
            <a:ext cx="2803973" cy="338554"/>
          </a:xfrm>
          <a:prstGeom prst="rect">
            <a:avLst/>
          </a:prstGeom>
        </p:spPr>
        <p:txBody>
          <a:bodyPr wrap="none">
            <a:spAutoFit/>
          </a:bodyPr>
          <a:lstStyle/>
          <a:p>
            <a:r>
              <a:rPr lang="fr-FR" sz="1600" dirty="0" smtClean="0">
                <a:latin typeface="Söhne"/>
              </a:rPr>
              <a:t>Exemple de pipeline scriptée</a:t>
            </a:r>
            <a:endParaRPr lang="fr-FR" sz="1600" dirty="0"/>
          </a:p>
        </p:txBody>
      </p:sp>
      <p:sp>
        <p:nvSpPr>
          <p:cNvPr id="14" name="Rectangle 13"/>
          <p:cNvSpPr/>
          <p:nvPr/>
        </p:nvSpPr>
        <p:spPr>
          <a:xfrm>
            <a:off x="885353" y="2475713"/>
            <a:ext cx="4343660" cy="3539430"/>
          </a:xfrm>
          <a:prstGeom prst="rect">
            <a:avLst/>
          </a:prstGeom>
        </p:spPr>
        <p:txBody>
          <a:bodyPr wrap="square">
            <a:spAutoFit/>
          </a:bodyPr>
          <a:lstStyle/>
          <a:p>
            <a:r>
              <a:rPr lang="fr-FR" sz="1600" b="1" dirty="0">
                <a:solidFill>
                  <a:srgbClr val="FF0000"/>
                </a:solidFill>
              </a:rPr>
              <a:t>pipeline {</a:t>
            </a:r>
          </a:p>
          <a:p>
            <a:r>
              <a:rPr lang="fr-FR" sz="1600" b="1" dirty="0">
                <a:solidFill>
                  <a:srgbClr val="FF0000"/>
                </a:solidFill>
              </a:rPr>
              <a:t>        agent </a:t>
            </a:r>
            <a:r>
              <a:rPr lang="fr-FR" sz="1600" b="1" dirty="0" err="1">
                <a:solidFill>
                  <a:srgbClr val="FF0000"/>
                </a:solidFill>
              </a:rPr>
              <a:t>any</a:t>
            </a:r>
            <a:endParaRPr lang="fr-FR" sz="1600" b="1" dirty="0">
              <a:solidFill>
                <a:srgbClr val="FF0000"/>
              </a:solidFill>
            </a:endParaRPr>
          </a:p>
          <a:p>
            <a:r>
              <a:rPr lang="fr-FR" sz="1600" dirty="0"/>
              <a:t>        stages{</a:t>
            </a:r>
          </a:p>
          <a:p>
            <a:r>
              <a:rPr lang="fr-FR" sz="1600" dirty="0"/>
              <a:t>            stage('</a:t>
            </a:r>
            <a:r>
              <a:rPr lang="fr-FR" sz="1600" dirty="0" err="1"/>
              <a:t>Build</a:t>
            </a:r>
            <a:r>
              <a:rPr lang="fr-FR" sz="1600" dirty="0"/>
              <a:t>') {</a:t>
            </a:r>
          </a:p>
          <a:p>
            <a:r>
              <a:rPr lang="fr-FR" sz="1600" b="1" dirty="0">
                <a:solidFill>
                  <a:srgbClr val="FF0000"/>
                </a:solidFill>
              </a:rPr>
              <a:t>            </a:t>
            </a:r>
            <a:r>
              <a:rPr lang="fr-FR" sz="1600" b="1" dirty="0" err="1" smtClean="0">
                <a:solidFill>
                  <a:srgbClr val="FF0000"/>
                </a:solidFill>
              </a:rPr>
              <a:t>steps</a:t>
            </a:r>
            <a:r>
              <a:rPr lang="fr-FR" sz="1600" b="1" dirty="0" smtClean="0">
                <a:solidFill>
                  <a:srgbClr val="FF0000"/>
                </a:solidFill>
              </a:rPr>
              <a:t> {</a:t>
            </a:r>
            <a:r>
              <a:rPr lang="fr-FR" sz="1600" b="1" dirty="0" err="1" smtClean="0">
                <a:solidFill>
                  <a:srgbClr val="FF0000"/>
                </a:solidFill>
              </a:rPr>
              <a:t>echo</a:t>
            </a:r>
            <a:r>
              <a:rPr lang="fr-FR" sz="1600" b="1" dirty="0" smtClean="0">
                <a:solidFill>
                  <a:srgbClr val="FF0000"/>
                </a:solidFill>
              </a:rPr>
              <a:t> </a:t>
            </a:r>
            <a:r>
              <a:rPr lang="fr-FR" sz="1600" b="1" dirty="0">
                <a:solidFill>
                  <a:srgbClr val="FF0000"/>
                </a:solidFill>
              </a:rPr>
              <a:t>'Building the </a:t>
            </a:r>
            <a:r>
              <a:rPr lang="fr-FR" sz="1600" b="1" dirty="0" err="1">
                <a:solidFill>
                  <a:srgbClr val="FF0000"/>
                </a:solidFill>
              </a:rPr>
              <a:t>project</a:t>
            </a:r>
            <a:r>
              <a:rPr lang="fr-FR" sz="1600" b="1" dirty="0" smtClean="0">
                <a:solidFill>
                  <a:srgbClr val="FF0000"/>
                </a:solidFill>
              </a:rPr>
              <a:t>...'}</a:t>
            </a:r>
            <a:endParaRPr lang="fr-FR" sz="1600" b="1" dirty="0">
              <a:solidFill>
                <a:srgbClr val="FF0000"/>
              </a:solidFill>
            </a:endParaRPr>
          </a:p>
          <a:p>
            <a:r>
              <a:rPr lang="fr-FR" sz="1600" dirty="0"/>
              <a:t>        }</a:t>
            </a:r>
          </a:p>
          <a:p>
            <a:r>
              <a:rPr lang="fr-FR" sz="1600" dirty="0"/>
              <a:t>        stage('Test') {</a:t>
            </a:r>
          </a:p>
          <a:p>
            <a:r>
              <a:rPr lang="fr-FR" sz="1600" dirty="0"/>
              <a:t>            </a:t>
            </a:r>
            <a:r>
              <a:rPr lang="fr-FR" sz="1600" b="1" dirty="0" err="1" smtClean="0">
                <a:solidFill>
                  <a:srgbClr val="FF0000"/>
                </a:solidFill>
              </a:rPr>
              <a:t>steps</a:t>
            </a:r>
            <a:r>
              <a:rPr lang="fr-FR" sz="1600" b="1" dirty="0" smtClean="0">
                <a:solidFill>
                  <a:srgbClr val="FF0000"/>
                </a:solidFill>
              </a:rPr>
              <a:t> {</a:t>
            </a:r>
            <a:r>
              <a:rPr lang="fr-FR" sz="1600" b="1" dirty="0" err="1" smtClean="0">
                <a:solidFill>
                  <a:srgbClr val="FF0000"/>
                </a:solidFill>
              </a:rPr>
              <a:t>echo</a:t>
            </a:r>
            <a:r>
              <a:rPr lang="fr-FR" sz="1600" b="1" dirty="0" smtClean="0">
                <a:solidFill>
                  <a:srgbClr val="FF0000"/>
                </a:solidFill>
              </a:rPr>
              <a:t> </a:t>
            </a:r>
            <a:r>
              <a:rPr lang="fr-FR" sz="1600" b="1" dirty="0">
                <a:solidFill>
                  <a:srgbClr val="FF0000"/>
                </a:solidFill>
              </a:rPr>
              <a:t>'Running tests</a:t>
            </a:r>
            <a:r>
              <a:rPr lang="fr-FR" sz="1600" b="1" dirty="0" smtClean="0">
                <a:solidFill>
                  <a:srgbClr val="FF0000"/>
                </a:solidFill>
              </a:rPr>
              <a:t>...'}</a:t>
            </a:r>
            <a:endParaRPr lang="fr-FR" sz="1600" b="1" dirty="0">
              <a:solidFill>
                <a:srgbClr val="FF0000"/>
              </a:solidFill>
            </a:endParaRPr>
          </a:p>
          <a:p>
            <a:r>
              <a:rPr lang="fr-FR" sz="1600" dirty="0"/>
              <a:t>        }</a:t>
            </a:r>
          </a:p>
          <a:p>
            <a:r>
              <a:rPr lang="fr-FR" sz="1600" dirty="0"/>
              <a:t>        stage('</a:t>
            </a:r>
            <a:r>
              <a:rPr lang="fr-FR" sz="1600" dirty="0" err="1"/>
              <a:t>Deploy</a:t>
            </a:r>
            <a:r>
              <a:rPr lang="fr-FR" sz="1600" dirty="0"/>
              <a:t>') {</a:t>
            </a:r>
          </a:p>
          <a:p>
            <a:r>
              <a:rPr lang="fr-FR" sz="1600" dirty="0"/>
              <a:t>            </a:t>
            </a:r>
            <a:r>
              <a:rPr lang="fr-FR" sz="1600" b="1" dirty="0" err="1" smtClean="0">
                <a:solidFill>
                  <a:srgbClr val="FF0000"/>
                </a:solidFill>
              </a:rPr>
              <a:t>steps</a:t>
            </a:r>
            <a:r>
              <a:rPr lang="fr-FR" sz="1600" b="1" dirty="0" smtClean="0">
                <a:solidFill>
                  <a:srgbClr val="FF0000"/>
                </a:solidFill>
              </a:rPr>
              <a:t> {</a:t>
            </a:r>
            <a:r>
              <a:rPr lang="fr-FR" sz="1600" b="1" dirty="0" err="1" smtClean="0">
                <a:solidFill>
                  <a:srgbClr val="FF0000"/>
                </a:solidFill>
              </a:rPr>
              <a:t>echo</a:t>
            </a:r>
            <a:r>
              <a:rPr lang="fr-FR" sz="1600" b="1" dirty="0" smtClean="0">
                <a:solidFill>
                  <a:srgbClr val="FF0000"/>
                </a:solidFill>
              </a:rPr>
              <a:t> </a:t>
            </a:r>
            <a:r>
              <a:rPr lang="fr-FR" sz="1600" b="1" dirty="0">
                <a:solidFill>
                  <a:srgbClr val="FF0000"/>
                </a:solidFill>
              </a:rPr>
              <a:t>'</a:t>
            </a:r>
            <a:r>
              <a:rPr lang="fr-FR" sz="1600" b="1" dirty="0" err="1">
                <a:solidFill>
                  <a:srgbClr val="FF0000"/>
                </a:solidFill>
              </a:rPr>
              <a:t>Deploying</a:t>
            </a:r>
            <a:r>
              <a:rPr lang="fr-FR" sz="1600" b="1" dirty="0">
                <a:solidFill>
                  <a:srgbClr val="FF0000"/>
                </a:solidFill>
              </a:rPr>
              <a:t> </a:t>
            </a:r>
            <a:r>
              <a:rPr lang="fr-FR" sz="1600" b="1" dirty="0" smtClean="0">
                <a:solidFill>
                  <a:srgbClr val="FF0000"/>
                </a:solidFill>
              </a:rPr>
              <a:t>the application...'}</a:t>
            </a:r>
            <a:endParaRPr lang="fr-FR" sz="1600" b="1" dirty="0">
              <a:solidFill>
                <a:srgbClr val="FF0000"/>
              </a:solidFill>
            </a:endParaRPr>
          </a:p>
          <a:p>
            <a:r>
              <a:rPr lang="fr-FR" sz="1600" dirty="0"/>
              <a:t>        }</a:t>
            </a:r>
          </a:p>
          <a:p>
            <a:r>
              <a:rPr lang="fr-FR" sz="1600" dirty="0"/>
              <a:t>    }  </a:t>
            </a:r>
          </a:p>
          <a:p>
            <a:r>
              <a:rPr lang="fr-FR" sz="1600" dirty="0"/>
              <a:t>}</a:t>
            </a:r>
          </a:p>
        </p:txBody>
      </p:sp>
      <p:sp>
        <p:nvSpPr>
          <p:cNvPr id="16" name="Rectangle 15"/>
          <p:cNvSpPr/>
          <p:nvPr/>
        </p:nvSpPr>
        <p:spPr>
          <a:xfrm>
            <a:off x="1308788" y="6163675"/>
            <a:ext cx="2917786" cy="338554"/>
          </a:xfrm>
          <a:prstGeom prst="rect">
            <a:avLst/>
          </a:prstGeom>
        </p:spPr>
        <p:txBody>
          <a:bodyPr wrap="none">
            <a:spAutoFit/>
          </a:bodyPr>
          <a:lstStyle/>
          <a:p>
            <a:r>
              <a:rPr lang="fr-FR" sz="1600" dirty="0" smtClean="0">
                <a:latin typeface="Söhne"/>
              </a:rPr>
              <a:t>Exemple de pipeline </a:t>
            </a:r>
            <a:r>
              <a:rPr lang="fr-FR" sz="1600" dirty="0" err="1" smtClean="0">
                <a:latin typeface="Söhne"/>
              </a:rPr>
              <a:t>declaratif</a:t>
            </a:r>
            <a:endParaRPr lang="fr-FR" sz="1600" dirty="0"/>
          </a:p>
        </p:txBody>
      </p:sp>
    </p:spTree>
    <p:extLst>
      <p:ext uri="{BB962C8B-B14F-4D97-AF65-F5344CB8AC3E}">
        <p14:creationId xmlns:p14="http://schemas.microsoft.com/office/powerpoint/2010/main" val="161325711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t>Groovy</a:t>
            </a:r>
            <a:r>
              <a:rPr lang="fr-FR" sz="1600" b="1" dirty="0" smtClean="0"/>
              <a:t> dans Jenkins</a:t>
            </a:r>
            <a:endParaRPr lang="fr-FR" altLang="en-US" sz="1600"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72698" y="852605"/>
            <a:ext cx="3036409" cy="338554"/>
          </a:xfrm>
          <a:prstGeom prst="rect">
            <a:avLst/>
          </a:prstGeom>
        </p:spPr>
        <p:txBody>
          <a:bodyPr wrap="none">
            <a:spAutoFit/>
          </a:bodyPr>
          <a:lstStyle/>
          <a:p>
            <a:r>
              <a:rPr lang="fr-FR" sz="1600" b="1" dirty="0" smtClean="0">
                <a:solidFill>
                  <a:srgbClr val="0D0D0D"/>
                </a:solidFill>
                <a:latin typeface="Söhne"/>
              </a:rPr>
              <a:t>Représentation de la pipeline</a:t>
            </a:r>
            <a:endParaRPr lang="fr-FR" sz="1600" b="1" dirty="0"/>
          </a:p>
        </p:txBody>
      </p:sp>
      <p:sp>
        <p:nvSpPr>
          <p:cNvPr id="3" name="Rectangle 2"/>
          <p:cNvSpPr/>
          <p:nvPr/>
        </p:nvSpPr>
        <p:spPr>
          <a:xfrm>
            <a:off x="535092" y="1375602"/>
            <a:ext cx="10498667" cy="584775"/>
          </a:xfrm>
          <a:prstGeom prst="rect">
            <a:avLst/>
          </a:prstGeom>
        </p:spPr>
        <p:txBody>
          <a:bodyPr wrap="square">
            <a:spAutoFit/>
          </a:bodyPr>
          <a:lstStyle/>
          <a:p>
            <a:r>
              <a:rPr lang="fr-FR" sz="1600" dirty="0" smtClean="0">
                <a:solidFill>
                  <a:srgbClr val="101820"/>
                </a:solidFill>
                <a:latin typeface="Söhne "/>
              </a:rPr>
              <a:t>Il est possible d'implémenter </a:t>
            </a:r>
            <a:r>
              <a:rPr lang="fr-FR" sz="1600" dirty="0">
                <a:solidFill>
                  <a:srgbClr val="101820"/>
                </a:solidFill>
                <a:latin typeface="Söhne "/>
              </a:rPr>
              <a:t>un processus de construction et de publication complexe en écrivant des scripts de pipeline </a:t>
            </a:r>
            <a:r>
              <a:rPr lang="fr-FR" sz="1600" dirty="0" smtClean="0">
                <a:solidFill>
                  <a:srgbClr val="101820"/>
                </a:solidFill>
                <a:latin typeface="Söhne "/>
              </a:rPr>
              <a:t>personnalisés "méthode déclarative" structurée sous forme de </a:t>
            </a:r>
            <a:r>
              <a:rPr lang="fr-FR" sz="1600" b="1" dirty="0" smtClean="0">
                <a:solidFill>
                  <a:srgbClr val="101820"/>
                </a:solidFill>
                <a:latin typeface="Söhne "/>
              </a:rPr>
              <a:t>stages</a:t>
            </a:r>
            <a:r>
              <a:rPr lang="fr-FR" sz="1600" dirty="0" smtClean="0">
                <a:solidFill>
                  <a:srgbClr val="101820"/>
                </a:solidFill>
                <a:latin typeface="Söhne "/>
              </a:rPr>
              <a:t> et </a:t>
            </a:r>
            <a:r>
              <a:rPr lang="fr-FR" sz="1600" b="1" dirty="0" err="1" smtClean="0">
                <a:solidFill>
                  <a:srgbClr val="101820"/>
                </a:solidFill>
                <a:latin typeface="Söhne "/>
              </a:rPr>
              <a:t>steps</a:t>
            </a:r>
            <a:endParaRPr lang="fr-FR" sz="1600" b="1" dirty="0">
              <a:latin typeface="Söhne "/>
            </a:endParaRPr>
          </a:p>
        </p:txBody>
      </p:sp>
      <p:sp>
        <p:nvSpPr>
          <p:cNvPr id="4" name="Rectangle 3"/>
          <p:cNvSpPr/>
          <p:nvPr/>
        </p:nvSpPr>
        <p:spPr>
          <a:xfrm>
            <a:off x="921172" y="2106116"/>
            <a:ext cx="7667413" cy="369332"/>
          </a:xfrm>
          <a:prstGeom prst="rect">
            <a:avLst/>
          </a:prstGeom>
        </p:spPr>
        <p:txBody>
          <a:bodyPr wrap="square">
            <a:spAutoFit/>
          </a:bodyPr>
          <a:lstStyle/>
          <a:p>
            <a:r>
              <a:rPr lang="fr-FR" dirty="0"/>
              <a:t>https://www.jenkins.io/doc/pipeline/steps/#pipeline-steps-reference</a:t>
            </a:r>
          </a:p>
        </p:txBody>
      </p:sp>
      <p:sp>
        <p:nvSpPr>
          <p:cNvPr id="7" name="Rectangle 6"/>
          <p:cNvSpPr/>
          <p:nvPr/>
        </p:nvSpPr>
        <p:spPr>
          <a:xfrm>
            <a:off x="535092" y="2621187"/>
            <a:ext cx="5315879" cy="338554"/>
          </a:xfrm>
          <a:prstGeom prst="rect">
            <a:avLst/>
          </a:prstGeom>
        </p:spPr>
        <p:txBody>
          <a:bodyPr wrap="none">
            <a:spAutoFit/>
          </a:bodyPr>
          <a:lstStyle/>
          <a:p>
            <a:r>
              <a:rPr lang="fr-FR" sz="1600" dirty="0">
                <a:latin typeface="Söhne "/>
              </a:rPr>
              <a:t>Jenkins Pipeline peut être créé des manières suivantes :</a:t>
            </a:r>
          </a:p>
        </p:txBody>
      </p:sp>
      <p:sp>
        <p:nvSpPr>
          <p:cNvPr id="8" name="Rectangle 7"/>
          <p:cNvSpPr/>
          <p:nvPr/>
        </p:nvSpPr>
        <p:spPr>
          <a:xfrm>
            <a:off x="1043091" y="3122320"/>
            <a:ext cx="5852161" cy="830997"/>
          </a:xfrm>
          <a:prstGeom prst="rect">
            <a:avLst/>
          </a:prstGeom>
        </p:spPr>
        <p:txBody>
          <a:bodyPr wrap="square">
            <a:spAutoFit/>
          </a:bodyPr>
          <a:lstStyle/>
          <a:p>
            <a:r>
              <a:rPr lang="fr-FR" sz="1600" dirty="0">
                <a:solidFill>
                  <a:srgbClr val="101820"/>
                </a:solidFill>
                <a:latin typeface="Söhne "/>
              </a:rPr>
              <a:t>Via l'interface utilisateur </a:t>
            </a:r>
            <a:r>
              <a:rPr lang="fr-FR" sz="1600" dirty="0" smtClean="0">
                <a:solidFill>
                  <a:srgbClr val="101820"/>
                </a:solidFill>
                <a:latin typeface="Söhne "/>
              </a:rPr>
              <a:t>classique</a:t>
            </a:r>
          </a:p>
          <a:p>
            <a:endParaRPr lang="fr-FR" sz="1600" dirty="0" smtClean="0">
              <a:solidFill>
                <a:srgbClr val="101820"/>
              </a:solidFill>
              <a:latin typeface="Söhne "/>
            </a:endParaRPr>
          </a:p>
          <a:p>
            <a:r>
              <a:rPr lang="fr-FR" sz="1600" dirty="0" smtClean="0">
                <a:solidFill>
                  <a:srgbClr val="101820"/>
                </a:solidFill>
                <a:latin typeface="Söhne "/>
              </a:rPr>
              <a:t>Via l'interface utilisateur de Blue </a:t>
            </a:r>
            <a:r>
              <a:rPr lang="fr-FR" sz="1600" dirty="0" err="1" smtClean="0">
                <a:solidFill>
                  <a:srgbClr val="101820"/>
                </a:solidFill>
                <a:latin typeface="Söhne "/>
              </a:rPr>
              <a:t>Ocean</a:t>
            </a:r>
            <a:endParaRPr lang="fr-FR" sz="1600" dirty="0">
              <a:latin typeface="Söhne "/>
            </a:endParaRPr>
          </a:p>
        </p:txBody>
      </p:sp>
      <p:sp>
        <p:nvSpPr>
          <p:cNvPr id="9" name="Rectangle 8"/>
          <p:cNvSpPr/>
          <p:nvPr/>
        </p:nvSpPr>
        <p:spPr>
          <a:xfrm>
            <a:off x="535092" y="4251363"/>
            <a:ext cx="10811430" cy="1323439"/>
          </a:xfrm>
          <a:prstGeom prst="rect">
            <a:avLst/>
          </a:prstGeom>
        </p:spPr>
        <p:txBody>
          <a:bodyPr wrap="square">
            <a:spAutoFit/>
          </a:bodyPr>
          <a:lstStyle/>
          <a:p>
            <a:r>
              <a:rPr lang="fr-FR" sz="1600" dirty="0">
                <a:solidFill>
                  <a:srgbClr val="101820"/>
                </a:solidFill>
                <a:latin typeface="Söhne"/>
              </a:rPr>
              <a:t>Dans </a:t>
            </a:r>
            <a:r>
              <a:rPr lang="fr-FR" sz="1600" dirty="0" smtClean="0">
                <a:solidFill>
                  <a:srgbClr val="101820"/>
                </a:solidFill>
                <a:latin typeface="Söhne"/>
              </a:rPr>
              <a:t>un contexte SCM "Source Control Management",</a:t>
            </a:r>
            <a:r>
              <a:rPr lang="fr-FR" sz="1600" dirty="0">
                <a:solidFill>
                  <a:srgbClr val="101820"/>
                </a:solidFill>
                <a:latin typeface="Söhne"/>
              </a:rPr>
              <a:t> </a:t>
            </a:r>
            <a:r>
              <a:rPr lang="fr-FR" sz="1600" dirty="0">
                <a:latin typeface="Söhne"/>
              </a:rPr>
              <a:t>le fichier Jenkins</a:t>
            </a:r>
            <a:r>
              <a:rPr lang="fr-FR" sz="1600" dirty="0">
                <a:solidFill>
                  <a:srgbClr val="101820"/>
                </a:solidFill>
                <a:latin typeface="Söhne"/>
              </a:rPr>
              <a:t> </a:t>
            </a:r>
            <a:r>
              <a:rPr lang="fr-FR" sz="1600" b="1" dirty="0" err="1" smtClean="0">
                <a:solidFill>
                  <a:srgbClr val="101820"/>
                </a:solidFill>
                <a:latin typeface="Söhne"/>
              </a:rPr>
              <a:t>Jenkinsfile</a:t>
            </a:r>
            <a:r>
              <a:rPr lang="fr-FR" sz="1600" dirty="0" smtClean="0">
                <a:solidFill>
                  <a:srgbClr val="101820"/>
                </a:solidFill>
                <a:latin typeface="Söhne"/>
              </a:rPr>
              <a:t> peut </a:t>
            </a:r>
            <a:r>
              <a:rPr lang="fr-FR" sz="1600" dirty="0">
                <a:solidFill>
                  <a:srgbClr val="101820"/>
                </a:solidFill>
                <a:latin typeface="Söhne"/>
              </a:rPr>
              <a:t>être écrit à la main et soumis au référentiel de contrôle de source du </a:t>
            </a:r>
            <a:r>
              <a:rPr lang="fr-FR" sz="1600" dirty="0" smtClean="0">
                <a:solidFill>
                  <a:srgbClr val="101820"/>
                </a:solidFill>
                <a:latin typeface="Söhne"/>
              </a:rPr>
              <a:t>projet</a:t>
            </a:r>
          </a:p>
          <a:p>
            <a:endParaRPr lang="fr-FR" sz="1600" dirty="0">
              <a:solidFill>
                <a:srgbClr val="101820"/>
              </a:solidFill>
              <a:latin typeface="Söhne"/>
            </a:endParaRPr>
          </a:p>
          <a:p>
            <a:r>
              <a:rPr lang="fr-FR" sz="1600" dirty="0">
                <a:latin typeface="Söhne"/>
              </a:rPr>
              <a:t>Le fichier Jenkins est un code de base pour Jenkins qui l'exécute en tant que script </a:t>
            </a:r>
            <a:r>
              <a:rPr lang="fr-FR" sz="1600" dirty="0" err="1">
                <a:latin typeface="Söhne"/>
              </a:rPr>
              <a:t>Groovy</a:t>
            </a:r>
            <a:r>
              <a:rPr lang="fr-FR" sz="1600" dirty="0">
                <a:latin typeface="Söhne"/>
              </a:rPr>
              <a:t> dans la console de script Jenkins</a:t>
            </a:r>
          </a:p>
        </p:txBody>
      </p:sp>
    </p:spTree>
    <p:extLst>
      <p:ext uri="{BB962C8B-B14F-4D97-AF65-F5344CB8AC3E}">
        <p14:creationId xmlns:p14="http://schemas.microsoft.com/office/powerpoint/2010/main" val="353001416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t>Groovy</a:t>
            </a:r>
            <a:r>
              <a:rPr lang="fr-FR" sz="1600" b="1" dirty="0" smtClean="0"/>
              <a:t> dans Jenkins</a:t>
            </a:r>
            <a:endParaRPr lang="fr-FR" altLang="en-US" sz="1600" b="1" dirty="0">
              <a:latin typeface="Times New Roman" panose="02020603050405020304" pitchFamily="18" charset="0"/>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72698" y="852605"/>
            <a:ext cx="3333413" cy="369332"/>
          </a:xfrm>
          <a:prstGeom prst="rect">
            <a:avLst/>
          </a:prstGeom>
        </p:spPr>
        <p:txBody>
          <a:bodyPr wrap="none">
            <a:spAutoFit/>
          </a:bodyPr>
          <a:lstStyle/>
          <a:p>
            <a:r>
              <a:rPr lang="fr-FR" b="1" dirty="0"/>
              <a:t>Inconvénients du pipeline </a:t>
            </a:r>
            <a:r>
              <a:rPr lang="fr-FR" b="1" dirty="0" err="1"/>
              <a:t>scripté</a:t>
            </a:r>
            <a:endParaRPr lang="fr-FR" b="1" dirty="0"/>
          </a:p>
        </p:txBody>
      </p:sp>
      <p:sp>
        <p:nvSpPr>
          <p:cNvPr id="3" name="Rectangle 2"/>
          <p:cNvSpPr/>
          <p:nvPr/>
        </p:nvSpPr>
        <p:spPr>
          <a:xfrm>
            <a:off x="535091" y="1299572"/>
            <a:ext cx="10498667" cy="5078313"/>
          </a:xfrm>
          <a:prstGeom prst="rect">
            <a:avLst/>
          </a:prstGeom>
        </p:spPr>
        <p:txBody>
          <a:bodyPr wrap="square">
            <a:spAutoFit/>
          </a:bodyPr>
          <a:lstStyle/>
          <a:p>
            <a:r>
              <a:rPr lang="fr-FR" sz="1600" dirty="0">
                <a:latin typeface="Söhne"/>
              </a:rPr>
              <a:t>La communauté de développement a constaté que les </a:t>
            </a:r>
            <a:r>
              <a:rPr lang="fr-FR" sz="1600" dirty="0" smtClean="0">
                <a:latin typeface="Söhne"/>
              </a:rPr>
              <a:t>développeurs de </a:t>
            </a:r>
            <a:r>
              <a:rPr lang="fr-FR" sz="1600" dirty="0">
                <a:latin typeface="Söhne"/>
              </a:rPr>
              <a:t>pipelines possédant de solides compétences en Java et </a:t>
            </a:r>
            <a:r>
              <a:rPr lang="fr-FR" sz="1600" dirty="0" err="1">
                <a:latin typeface="Söhne"/>
              </a:rPr>
              <a:t>Groovy</a:t>
            </a:r>
            <a:r>
              <a:rPr lang="fr-FR" sz="1600" dirty="0">
                <a:latin typeface="Söhne"/>
              </a:rPr>
              <a:t>, mais peu d'expérience avec Jenkins, écrivent souvent du code </a:t>
            </a:r>
            <a:r>
              <a:rPr lang="fr-FR" sz="1600" dirty="0" err="1">
                <a:latin typeface="Söhne"/>
              </a:rPr>
              <a:t>Groovy</a:t>
            </a:r>
            <a:r>
              <a:rPr lang="fr-FR" sz="1600" dirty="0">
                <a:latin typeface="Söhne"/>
              </a:rPr>
              <a:t> compliqué pour ajouter des </a:t>
            </a:r>
            <a:r>
              <a:rPr lang="fr-FR" sz="1600" dirty="0" smtClean="0">
                <a:latin typeface="Söhne"/>
              </a:rPr>
              <a:t>fonctionnalités</a:t>
            </a:r>
          </a:p>
          <a:p>
            <a:endParaRPr lang="fr-FR" sz="1600" b="1" dirty="0">
              <a:latin typeface="Söhne"/>
            </a:endParaRPr>
          </a:p>
          <a:p>
            <a:r>
              <a:rPr lang="fr-FR" sz="1600" dirty="0">
                <a:latin typeface="Söhne"/>
              </a:rPr>
              <a:t>Un pipeline Jenkins doit être un composant simple, facile à lire et à gérer. Un code excessif dans un pipeline </a:t>
            </a:r>
            <a:r>
              <a:rPr lang="fr-FR" sz="1600" dirty="0" err="1">
                <a:latin typeface="Söhne"/>
              </a:rPr>
              <a:t>scripté</a:t>
            </a:r>
            <a:r>
              <a:rPr lang="fr-FR" sz="1600" dirty="0">
                <a:latin typeface="Söhne"/>
              </a:rPr>
              <a:t> viole l'un des principes fondamentaux de </a:t>
            </a:r>
            <a:r>
              <a:rPr lang="fr-FR" sz="1600" dirty="0" smtClean="0">
                <a:latin typeface="Söhne"/>
              </a:rPr>
              <a:t>CI/CD parmi les principes </a:t>
            </a:r>
            <a:r>
              <a:rPr lang="fr-FR" sz="1600" b="1" dirty="0" smtClean="0">
                <a:latin typeface="Söhne"/>
              </a:rPr>
              <a:t>"Start </a:t>
            </a:r>
            <a:r>
              <a:rPr lang="fr-FR" sz="1600" b="1" dirty="0" err="1" smtClean="0">
                <a:latin typeface="Söhne"/>
              </a:rPr>
              <a:t>slowly</a:t>
            </a:r>
            <a:r>
              <a:rPr lang="fr-FR" sz="1600" b="1" dirty="0" smtClean="0">
                <a:latin typeface="Söhne"/>
              </a:rPr>
              <a:t> and </a:t>
            </a:r>
            <a:r>
              <a:rPr lang="fr-FR" sz="1600" b="1" dirty="0" err="1" smtClean="0">
                <a:latin typeface="Söhne"/>
              </a:rPr>
              <a:t>Smal</a:t>
            </a:r>
            <a:r>
              <a:rPr lang="fr-FR" sz="1600" b="1" dirty="0" smtClean="0">
                <a:latin typeface="Söhne"/>
              </a:rPr>
              <a:t>"</a:t>
            </a:r>
          </a:p>
          <a:p>
            <a:endParaRPr lang="fr-FR" sz="1600" b="1" dirty="0">
              <a:latin typeface="Söhne"/>
            </a:endParaRPr>
          </a:p>
          <a:p>
            <a:endParaRPr lang="fr-FR" sz="1600" b="1" dirty="0" smtClean="0">
              <a:latin typeface="Söhne"/>
            </a:endParaRPr>
          </a:p>
          <a:p>
            <a:r>
              <a:rPr lang="fr-FR" sz="1600" dirty="0">
                <a:latin typeface="Söhne"/>
              </a:rPr>
              <a:t>Contrairement au pipeline </a:t>
            </a:r>
            <a:r>
              <a:rPr lang="fr-FR" sz="1600" dirty="0" err="1">
                <a:latin typeface="Söhne"/>
              </a:rPr>
              <a:t>scripté</a:t>
            </a:r>
            <a:r>
              <a:rPr lang="fr-FR" sz="1600" dirty="0">
                <a:latin typeface="Söhne"/>
              </a:rPr>
              <a:t>, le pipeline déclaratif Jenkins ne permet </a:t>
            </a:r>
            <a:r>
              <a:rPr lang="fr-FR" sz="1600" u="sng" dirty="0">
                <a:latin typeface="Söhne"/>
              </a:rPr>
              <a:t>pas à un développeur d'injecter du </a:t>
            </a:r>
            <a:r>
              <a:rPr lang="fr-FR" sz="1600" u="sng" dirty="0" smtClean="0">
                <a:latin typeface="Söhne"/>
              </a:rPr>
              <a:t>code </a:t>
            </a:r>
            <a:r>
              <a:rPr lang="fr-FR" sz="1600" u="sng" dirty="0">
                <a:latin typeface="Söhne"/>
              </a:rPr>
              <a:t>ou une référence API </a:t>
            </a:r>
            <a:r>
              <a:rPr lang="fr-FR" sz="1600" u="sng" dirty="0" smtClean="0">
                <a:latin typeface="Söhne"/>
              </a:rPr>
              <a:t>Java</a:t>
            </a:r>
          </a:p>
          <a:p>
            <a:endParaRPr lang="fr-FR" sz="1600" b="1" u="sng" dirty="0">
              <a:latin typeface="Söhne"/>
            </a:endParaRPr>
          </a:p>
          <a:p>
            <a:endParaRPr lang="fr-FR" sz="1600" b="1" u="sng" dirty="0" smtClean="0">
              <a:latin typeface="Söhne"/>
            </a:endParaRPr>
          </a:p>
          <a:p>
            <a:r>
              <a:rPr lang="fr-FR" sz="1600" dirty="0">
                <a:latin typeface="Söhne"/>
              </a:rPr>
              <a:t>En </a:t>
            </a:r>
            <a:r>
              <a:rPr lang="fr-FR" sz="1600" dirty="0" smtClean="0">
                <a:latin typeface="Söhne"/>
              </a:rPr>
              <a:t>termes </a:t>
            </a:r>
            <a:r>
              <a:rPr lang="fr-FR" sz="1600" dirty="0">
                <a:latin typeface="Söhne"/>
              </a:rPr>
              <a:t>simples, </a:t>
            </a:r>
            <a:r>
              <a:rPr lang="fr-FR" sz="1600" dirty="0" smtClean="0">
                <a:latin typeface="Söhne"/>
              </a:rPr>
              <a:t>il faut jamais mettre du </a:t>
            </a:r>
            <a:r>
              <a:rPr lang="fr-FR" sz="1600" dirty="0">
                <a:latin typeface="Söhne"/>
              </a:rPr>
              <a:t>code complexe dans un pipeline, même si cela semble </a:t>
            </a:r>
            <a:r>
              <a:rPr lang="fr-FR" sz="1600" dirty="0" smtClean="0">
                <a:latin typeface="Söhne"/>
              </a:rPr>
              <a:t>possible. </a:t>
            </a:r>
            <a:r>
              <a:rPr lang="fr-FR" sz="1600" dirty="0">
                <a:latin typeface="Söhne"/>
              </a:rPr>
              <a:t>Jenkins propose plusieurs façons de mettre une logique complexe à la </a:t>
            </a:r>
            <a:r>
              <a:rPr lang="fr-FR" sz="1600" dirty="0" smtClean="0">
                <a:latin typeface="Söhne"/>
              </a:rPr>
              <a:t>disposition</a:t>
            </a:r>
            <a:endParaRPr lang="fr-FR" sz="1600" b="1" u="sng" dirty="0" smtClean="0">
              <a:latin typeface="Söhne"/>
            </a:endParaRPr>
          </a:p>
          <a:p>
            <a:pPr lvl="1"/>
            <a:endParaRPr lang="fr-FR" sz="1600" dirty="0">
              <a:latin typeface="Söhne"/>
            </a:endParaRPr>
          </a:p>
          <a:p>
            <a:pPr lvl="1"/>
            <a:r>
              <a:rPr lang="fr-FR" sz="1600" dirty="0" smtClean="0">
                <a:latin typeface="Söhne"/>
              </a:rPr>
              <a:t>Les bibliothèques</a:t>
            </a:r>
          </a:p>
          <a:p>
            <a:pPr lvl="1"/>
            <a:r>
              <a:rPr lang="fr-FR" sz="1600" dirty="0" smtClean="0">
                <a:latin typeface="Söhne"/>
              </a:rPr>
              <a:t>Les plugins</a:t>
            </a:r>
          </a:p>
          <a:p>
            <a:pPr lvl="1"/>
            <a:endParaRPr lang="fr-FR" sz="1600" dirty="0">
              <a:latin typeface="Söhne"/>
            </a:endParaRPr>
          </a:p>
          <a:p>
            <a:pPr marL="0" lvl="1"/>
            <a:r>
              <a:rPr lang="fr-FR" dirty="0"/>
              <a:t>Les pipelines </a:t>
            </a:r>
            <a:r>
              <a:rPr lang="fr-FR" dirty="0" err="1"/>
              <a:t>scriptés</a:t>
            </a:r>
            <a:r>
              <a:rPr lang="fr-FR" dirty="0"/>
              <a:t> et déclaratifs ne diffèrent que par leur approche </a:t>
            </a:r>
            <a:r>
              <a:rPr lang="fr-FR" dirty="0" smtClean="0"/>
              <a:t>programmatique, </a:t>
            </a:r>
            <a:r>
              <a:rPr lang="fr-FR" dirty="0"/>
              <a:t>Il n'y a aucune différence dans la perspective des performances d'exécution, de l'évolutivité et de la résolution des problèmes</a:t>
            </a:r>
            <a:endParaRPr lang="fr-FR" sz="1600" dirty="0">
              <a:latin typeface="Söhne"/>
            </a:endParaRPr>
          </a:p>
        </p:txBody>
      </p:sp>
    </p:spTree>
    <p:extLst>
      <p:ext uri="{BB962C8B-B14F-4D97-AF65-F5344CB8AC3E}">
        <p14:creationId xmlns:p14="http://schemas.microsoft.com/office/powerpoint/2010/main" val="150920441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pic>
        <p:nvPicPr>
          <p:cNvPr id="5" name="Picture 2" descr="Jenkins Workflo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3214" y="5890160"/>
            <a:ext cx="641481" cy="8855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13338" y="574915"/>
            <a:ext cx="2775119" cy="338554"/>
          </a:xfrm>
          <a:prstGeom prst="rect">
            <a:avLst/>
          </a:prstGeom>
        </p:spPr>
        <p:txBody>
          <a:bodyPr wrap="none">
            <a:spAutoFit/>
          </a:bodyPr>
          <a:lstStyle/>
          <a:p>
            <a:r>
              <a:rPr lang="fr-FR" sz="1600" b="1" dirty="0" smtClean="0">
                <a:solidFill>
                  <a:srgbClr val="0D0D0D"/>
                </a:solidFill>
                <a:latin typeface="Söhne"/>
              </a:rPr>
              <a:t>Anatomie de de la pipeline</a:t>
            </a:r>
            <a:endParaRPr lang="fr-FR" sz="1600" b="1" dirty="0"/>
          </a:p>
        </p:txBody>
      </p:sp>
      <p:sp>
        <p:nvSpPr>
          <p:cNvPr id="2" name="Rectangle 1"/>
          <p:cNvSpPr/>
          <p:nvPr/>
        </p:nvSpPr>
        <p:spPr>
          <a:xfrm>
            <a:off x="399626" y="913469"/>
            <a:ext cx="4511041" cy="6001643"/>
          </a:xfrm>
          <a:prstGeom prst="rect">
            <a:avLst/>
          </a:prstGeom>
        </p:spPr>
        <p:txBody>
          <a:bodyPr wrap="square">
            <a:spAutoFit/>
          </a:bodyPr>
          <a:lstStyle/>
          <a:p>
            <a:r>
              <a:rPr lang="fr-FR" sz="1600" dirty="0"/>
              <a:t>// </a:t>
            </a:r>
            <a:r>
              <a:rPr lang="fr-FR" sz="1600" dirty="0" err="1"/>
              <a:t>Jenkinsfile</a:t>
            </a:r>
            <a:r>
              <a:rPr lang="fr-FR" sz="1600" dirty="0"/>
              <a:t> (</a:t>
            </a:r>
            <a:r>
              <a:rPr lang="fr-FR" sz="1600" dirty="0" err="1"/>
              <a:t>Declarative</a:t>
            </a:r>
            <a:r>
              <a:rPr lang="fr-FR" sz="1600" dirty="0"/>
              <a:t> Pipeline)</a:t>
            </a:r>
          </a:p>
          <a:p>
            <a:r>
              <a:rPr lang="fr-FR" sz="1600" dirty="0"/>
              <a:t>pipeline {</a:t>
            </a:r>
          </a:p>
          <a:p>
            <a:r>
              <a:rPr lang="fr-FR" sz="1600" dirty="0"/>
              <a:t>  agent </a:t>
            </a:r>
            <a:r>
              <a:rPr lang="fr-FR" sz="1600" dirty="0" err="1"/>
              <a:t>any</a:t>
            </a:r>
            <a:r>
              <a:rPr lang="fr-FR" sz="1600" dirty="0"/>
              <a:t> //or agent{</a:t>
            </a:r>
            <a:r>
              <a:rPr lang="fr-FR" sz="1600" dirty="0" err="1"/>
              <a:t>node</a:t>
            </a:r>
            <a:r>
              <a:rPr lang="fr-FR" sz="1600" dirty="0"/>
              <a:t> {label 'nom label'}}</a:t>
            </a:r>
          </a:p>
          <a:p>
            <a:r>
              <a:rPr lang="fr-FR" sz="1600" dirty="0"/>
              <a:t>  triggers { </a:t>
            </a:r>
            <a:r>
              <a:rPr lang="fr-FR" sz="1600" dirty="0" err="1"/>
              <a:t>cron</a:t>
            </a:r>
            <a:r>
              <a:rPr lang="fr-FR" sz="1600" dirty="0"/>
              <a:t>('H */2 * * 1-3') }</a:t>
            </a:r>
          </a:p>
          <a:p>
            <a:r>
              <a:rPr lang="fr-FR" sz="1600" dirty="0"/>
              <a:t>  </a:t>
            </a:r>
            <a:r>
              <a:rPr lang="fr-FR" sz="1600" dirty="0" err="1"/>
              <a:t>environment</a:t>
            </a:r>
            <a:r>
              <a:rPr lang="fr-FR" sz="1600" dirty="0"/>
              <a:t> {</a:t>
            </a:r>
          </a:p>
          <a:p>
            <a:r>
              <a:rPr lang="fr-FR" sz="1600" dirty="0"/>
              <a:t>    name1 = value1</a:t>
            </a:r>
          </a:p>
          <a:p>
            <a:r>
              <a:rPr lang="fr-FR" sz="1600" dirty="0"/>
              <a:t>    </a:t>
            </a:r>
            <a:r>
              <a:rPr lang="fr-FR" sz="1600" dirty="0" err="1"/>
              <a:t>nameN</a:t>
            </a:r>
            <a:r>
              <a:rPr lang="fr-FR" sz="1600" dirty="0"/>
              <a:t> = </a:t>
            </a:r>
            <a:r>
              <a:rPr lang="fr-FR" sz="1600" dirty="0" err="1"/>
              <a:t>valueN</a:t>
            </a:r>
            <a:endParaRPr lang="fr-FR" sz="1600" dirty="0"/>
          </a:p>
          <a:p>
            <a:r>
              <a:rPr lang="fr-FR" sz="1600" dirty="0"/>
              <a:t>  }</a:t>
            </a:r>
          </a:p>
          <a:p>
            <a:r>
              <a:rPr lang="fr-FR" sz="1600" dirty="0"/>
              <a:t>  stages {</a:t>
            </a:r>
          </a:p>
          <a:p>
            <a:r>
              <a:rPr lang="fr-FR" sz="1600" dirty="0"/>
              <a:t>    stage('Stage 1') {</a:t>
            </a:r>
          </a:p>
          <a:p>
            <a:r>
              <a:rPr lang="fr-FR" sz="1600" dirty="0"/>
              <a:t>      </a:t>
            </a:r>
            <a:r>
              <a:rPr lang="fr-FR" sz="1600" dirty="0" err="1"/>
              <a:t>steps</a:t>
            </a:r>
            <a:r>
              <a:rPr lang="fr-FR" sz="1600" dirty="0"/>
              <a:t> {</a:t>
            </a:r>
          </a:p>
          <a:p>
            <a:r>
              <a:rPr lang="fr-FR" sz="1600" dirty="0"/>
              <a:t>        //Instructions</a:t>
            </a:r>
          </a:p>
          <a:p>
            <a:r>
              <a:rPr lang="fr-FR" sz="1600" dirty="0"/>
              <a:t>      }</a:t>
            </a:r>
          </a:p>
          <a:p>
            <a:r>
              <a:rPr lang="fr-FR" sz="1600" dirty="0"/>
              <a:t>    }</a:t>
            </a:r>
          </a:p>
          <a:p>
            <a:r>
              <a:rPr lang="fr-FR" sz="1600" dirty="0"/>
              <a:t>  }</a:t>
            </a:r>
          </a:p>
          <a:p>
            <a:r>
              <a:rPr lang="fr-FR" sz="1600" dirty="0"/>
              <a:t>  post{</a:t>
            </a:r>
          </a:p>
          <a:p>
            <a:r>
              <a:rPr lang="fr-FR" sz="1600" dirty="0"/>
              <a:t>      </a:t>
            </a:r>
            <a:r>
              <a:rPr lang="fr-FR" sz="1600" dirty="0" err="1"/>
              <a:t>always</a:t>
            </a:r>
            <a:r>
              <a:rPr lang="fr-FR" sz="1600" dirty="0"/>
              <a:t>  {} //</a:t>
            </a:r>
            <a:r>
              <a:rPr lang="fr-FR" sz="1600" dirty="0" err="1"/>
              <a:t>Execute</a:t>
            </a:r>
            <a:r>
              <a:rPr lang="fr-FR" sz="1600" dirty="0"/>
              <a:t> toujours </a:t>
            </a:r>
          </a:p>
          <a:p>
            <a:r>
              <a:rPr lang="fr-FR" sz="1600" dirty="0"/>
              <a:t>      </a:t>
            </a:r>
            <a:r>
              <a:rPr lang="fr-FR" sz="1600" dirty="0" err="1"/>
              <a:t>success</a:t>
            </a:r>
            <a:r>
              <a:rPr lang="fr-FR" sz="1600" dirty="0"/>
              <a:t> {} //</a:t>
            </a:r>
            <a:r>
              <a:rPr lang="fr-FR" sz="1600" dirty="0" err="1"/>
              <a:t>Execute</a:t>
            </a:r>
            <a:r>
              <a:rPr lang="fr-FR" sz="1600" dirty="0"/>
              <a:t> en </a:t>
            </a:r>
            <a:r>
              <a:rPr lang="fr-FR" sz="1600" dirty="0" err="1"/>
              <a:t>success</a:t>
            </a:r>
            <a:endParaRPr lang="fr-FR" sz="1600" dirty="0"/>
          </a:p>
          <a:p>
            <a:r>
              <a:rPr lang="fr-FR" sz="1600" dirty="0"/>
              <a:t>      </a:t>
            </a:r>
            <a:r>
              <a:rPr lang="fr-FR" sz="1600" dirty="0" err="1"/>
              <a:t>failure</a:t>
            </a:r>
            <a:r>
              <a:rPr lang="fr-FR" sz="1600" dirty="0"/>
              <a:t> {} //</a:t>
            </a:r>
            <a:r>
              <a:rPr lang="fr-FR" sz="1600" dirty="0" err="1"/>
              <a:t>Execute</a:t>
            </a:r>
            <a:r>
              <a:rPr lang="fr-FR" sz="1600" dirty="0"/>
              <a:t> en </a:t>
            </a:r>
            <a:r>
              <a:rPr lang="fr-FR" sz="1600" dirty="0" err="1"/>
              <a:t>echec</a:t>
            </a:r>
            <a:endParaRPr lang="fr-FR" sz="1600" dirty="0"/>
          </a:p>
          <a:p>
            <a:r>
              <a:rPr lang="fr-FR" sz="1600" dirty="0"/>
              <a:t>      </a:t>
            </a:r>
            <a:r>
              <a:rPr lang="fr-FR" sz="1600" dirty="0" err="1"/>
              <a:t>unstable</a:t>
            </a:r>
            <a:r>
              <a:rPr lang="fr-FR" sz="1600" dirty="0"/>
              <a:t>{} //</a:t>
            </a:r>
            <a:r>
              <a:rPr lang="fr-FR" sz="1600" dirty="0" err="1"/>
              <a:t>Execute</a:t>
            </a:r>
            <a:r>
              <a:rPr lang="fr-FR" sz="1600" dirty="0"/>
              <a:t> dans un </a:t>
            </a:r>
            <a:r>
              <a:rPr lang="fr-FR" sz="1600" dirty="0" err="1"/>
              <a:t>context</a:t>
            </a:r>
            <a:r>
              <a:rPr lang="fr-FR" sz="1600" dirty="0"/>
              <a:t> non stable</a:t>
            </a:r>
          </a:p>
          <a:p>
            <a:r>
              <a:rPr lang="fr-FR" sz="1600" dirty="0"/>
              <a:t>      </a:t>
            </a:r>
            <a:r>
              <a:rPr lang="fr-FR" sz="1600" dirty="0" err="1"/>
              <a:t>changed</a:t>
            </a:r>
            <a:r>
              <a:rPr lang="fr-FR" sz="1600" dirty="0"/>
              <a:t> {} //</a:t>
            </a:r>
            <a:r>
              <a:rPr lang="fr-FR" sz="1600" dirty="0" err="1"/>
              <a:t>Execute</a:t>
            </a:r>
            <a:r>
              <a:rPr lang="fr-FR" sz="1600" dirty="0"/>
              <a:t> lorsque la pipeline change d'état</a:t>
            </a:r>
          </a:p>
          <a:p>
            <a:r>
              <a:rPr lang="fr-FR" sz="1600" dirty="0"/>
              <a:t>  }</a:t>
            </a:r>
          </a:p>
          <a:p>
            <a:r>
              <a:rPr lang="fr-FR" sz="1600" dirty="0"/>
              <a:t>}</a:t>
            </a:r>
          </a:p>
        </p:txBody>
      </p:sp>
      <p:sp>
        <p:nvSpPr>
          <p:cNvPr id="10" name="Ellipse 9"/>
          <p:cNvSpPr/>
          <p:nvPr/>
        </p:nvSpPr>
        <p:spPr>
          <a:xfrm>
            <a:off x="1260949" y="1069143"/>
            <a:ext cx="392853" cy="36576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1</a:t>
            </a:r>
            <a:endParaRPr lang="fr-FR" b="1" dirty="0"/>
          </a:p>
        </p:txBody>
      </p:sp>
      <p:sp>
        <p:nvSpPr>
          <p:cNvPr id="12" name="Ellipse 11"/>
          <p:cNvSpPr/>
          <p:nvPr/>
        </p:nvSpPr>
        <p:spPr>
          <a:xfrm>
            <a:off x="4082042" y="1163969"/>
            <a:ext cx="392853" cy="36576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2</a:t>
            </a:r>
            <a:endParaRPr lang="fr-FR" b="1" dirty="0"/>
          </a:p>
        </p:txBody>
      </p:sp>
      <p:sp>
        <p:nvSpPr>
          <p:cNvPr id="13" name="Ellipse 12"/>
          <p:cNvSpPr/>
          <p:nvPr/>
        </p:nvSpPr>
        <p:spPr>
          <a:xfrm>
            <a:off x="3088457" y="1709223"/>
            <a:ext cx="392853" cy="36576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3</a:t>
            </a:r>
            <a:endParaRPr lang="fr-FR" b="1" dirty="0"/>
          </a:p>
        </p:txBody>
      </p:sp>
      <p:sp>
        <p:nvSpPr>
          <p:cNvPr id="14" name="Ellipse 13"/>
          <p:cNvSpPr/>
          <p:nvPr/>
        </p:nvSpPr>
        <p:spPr>
          <a:xfrm>
            <a:off x="2036495" y="2067165"/>
            <a:ext cx="392853" cy="36576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4</a:t>
            </a:r>
            <a:endParaRPr lang="fr-FR" b="1" dirty="0"/>
          </a:p>
        </p:txBody>
      </p:sp>
      <p:sp>
        <p:nvSpPr>
          <p:cNvPr id="15" name="Ellipse 14"/>
          <p:cNvSpPr/>
          <p:nvPr/>
        </p:nvSpPr>
        <p:spPr>
          <a:xfrm>
            <a:off x="1185652" y="2765335"/>
            <a:ext cx="392853" cy="36576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5</a:t>
            </a:r>
            <a:endParaRPr lang="fr-FR" b="1" dirty="0"/>
          </a:p>
        </p:txBody>
      </p:sp>
      <p:sp>
        <p:nvSpPr>
          <p:cNvPr id="16" name="Ellipse 15"/>
          <p:cNvSpPr/>
          <p:nvPr/>
        </p:nvSpPr>
        <p:spPr>
          <a:xfrm>
            <a:off x="1382078" y="3352602"/>
            <a:ext cx="392853" cy="36576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6</a:t>
            </a:r>
            <a:endParaRPr lang="fr-FR" b="1" dirty="0"/>
          </a:p>
        </p:txBody>
      </p:sp>
      <p:sp>
        <p:nvSpPr>
          <p:cNvPr id="17" name="Ellipse 16"/>
          <p:cNvSpPr/>
          <p:nvPr/>
        </p:nvSpPr>
        <p:spPr>
          <a:xfrm>
            <a:off x="989225" y="4546590"/>
            <a:ext cx="392853" cy="365760"/>
          </a:xfrm>
          <a:prstGeom prst="ellipse">
            <a:avLst/>
          </a:prstGeom>
          <a:solidFill>
            <a:srgbClr val="FF0000"/>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fr-FR" b="1" dirty="0" smtClean="0"/>
              <a:t>7</a:t>
            </a:r>
            <a:endParaRPr lang="fr-FR" b="1" dirty="0"/>
          </a:p>
        </p:txBody>
      </p:sp>
      <p:sp>
        <p:nvSpPr>
          <p:cNvPr id="11" name="ZoneTexte 10"/>
          <p:cNvSpPr txBox="1"/>
          <p:nvPr/>
        </p:nvSpPr>
        <p:spPr>
          <a:xfrm>
            <a:off x="5536222" y="920654"/>
            <a:ext cx="5206425" cy="646331"/>
          </a:xfrm>
          <a:prstGeom prst="rect">
            <a:avLst/>
          </a:prstGeom>
          <a:noFill/>
        </p:spPr>
        <p:txBody>
          <a:bodyPr wrap="none" rtlCol="0">
            <a:spAutoFit/>
          </a:bodyPr>
          <a:lstStyle/>
          <a:p>
            <a:r>
              <a:rPr lang="fr-FR" dirty="0" smtClean="0"/>
              <a:t>1: </a:t>
            </a:r>
            <a:r>
              <a:rPr lang="fr-FR" b="1" dirty="0" smtClean="0"/>
              <a:t>Pipeline</a:t>
            </a:r>
            <a:r>
              <a:rPr lang="fr-FR" dirty="0" smtClean="0"/>
              <a:t> représentant </a:t>
            </a:r>
            <a:r>
              <a:rPr lang="fr-FR" dirty="0"/>
              <a:t> </a:t>
            </a:r>
            <a:r>
              <a:rPr lang="fr-FR" dirty="0" smtClean="0"/>
              <a:t>le processus </a:t>
            </a:r>
            <a:r>
              <a:rPr lang="fr-FR" dirty="0"/>
              <a:t>de </a:t>
            </a:r>
            <a:r>
              <a:rPr lang="fr-FR" dirty="0" smtClean="0"/>
              <a:t>construction</a:t>
            </a:r>
          </a:p>
          <a:p>
            <a:r>
              <a:rPr lang="fr-FR" dirty="0" smtClean="0"/>
              <a:t> </a:t>
            </a:r>
            <a:r>
              <a:rPr lang="fr-FR" dirty="0"/>
              <a:t>et de publication complexe</a:t>
            </a:r>
            <a:r>
              <a:rPr lang="fr-FR" dirty="0" smtClean="0"/>
              <a:t> </a:t>
            </a:r>
            <a:endParaRPr lang="fr-FR" dirty="0"/>
          </a:p>
        </p:txBody>
      </p:sp>
      <p:sp>
        <p:nvSpPr>
          <p:cNvPr id="19" name="ZoneTexte 18"/>
          <p:cNvSpPr txBox="1"/>
          <p:nvPr/>
        </p:nvSpPr>
        <p:spPr>
          <a:xfrm>
            <a:off x="5536222" y="1603714"/>
            <a:ext cx="6056338" cy="646331"/>
          </a:xfrm>
          <a:prstGeom prst="rect">
            <a:avLst/>
          </a:prstGeom>
          <a:noFill/>
        </p:spPr>
        <p:txBody>
          <a:bodyPr wrap="none" rtlCol="0">
            <a:spAutoFit/>
          </a:bodyPr>
          <a:lstStyle/>
          <a:p>
            <a:r>
              <a:rPr lang="fr-FR" dirty="0" smtClean="0"/>
              <a:t>2: </a:t>
            </a:r>
            <a:r>
              <a:rPr lang="fr-FR" b="1" dirty="0"/>
              <a:t>A</a:t>
            </a:r>
            <a:r>
              <a:rPr lang="fr-FR" b="1" dirty="0" smtClean="0"/>
              <a:t>gent</a:t>
            </a:r>
            <a:r>
              <a:rPr lang="fr-FR" dirty="0" smtClean="0"/>
              <a:t> la section </a:t>
            </a:r>
            <a:r>
              <a:rPr lang="fr-FR" dirty="0"/>
              <a:t>doit être définie au niveau </a:t>
            </a:r>
            <a:r>
              <a:rPr lang="fr-FR" dirty="0" smtClean="0"/>
              <a:t>supérieur</a:t>
            </a:r>
          </a:p>
          <a:p>
            <a:r>
              <a:rPr lang="fr-FR" dirty="0" smtClean="0"/>
              <a:t> </a:t>
            </a:r>
            <a:r>
              <a:rPr lang="fr-FR" dirty="0"/>
              <a:t>à l'intérieur du bloc de pipeline, </a:t>
            </a:r>
            <a:r>
              <a:rPr lang="fr-FR" dirty="0" smtClean="0"/>
              <a:t> </a:t>
            </a:r>
            <a:r>
              <a:rPr lang="fr-FR" dirty="0"/>
              <a:t>son utilisation </a:t>
            </a:r>
            <a:r>
              <a:rPr lang="fr-FR" dirty="0" smtClean="0"/>
              <a:t>est </a:t>
            </a:r>
            <a:r>
              <a:rPr lang="fr-FR" dirty="0"/>
              <a:t>facultative</a:t>
            </a:r>
            <a:r>
              <a:rPr lang="fr-FR" dirty="0" smtClean="0"/>
              <a:t> </a:t>
            </a:r>
            <a:endParaRPr lang="fr-FR" dirty="0"/>
          </a:p>
        </p:txBody>
      </p:sp>
      <p:sp>
        <p:nvSpPr>
          <p:cNvPr id="20" name="ZoneTexte 19"/>
          <p:cNvSpPr txBox="1"/>
          <p:nvPr/>
        </p:nvSpPr>
        <p:spPr>
          <a:xfrm>
            <a:off x="5536222" y="2323502"/>
            <a:ext cx="6660478" cy="923330"/>
          </a:xfrm>
          <a:prstGeom prst="rect">
            <a:avLst/>
          </a:prstGeom>
          <a:noFill/>
        </p:spPr>
        <p:txBody>
          <a:bodyPr wrap="none" rtlCol="0">
            <a:spAutoFit/>
          </a:bodyPr>
          <a:lstStyle/>
          <a:p>
            <a:r>
              <a:rPr lang="fr-FR" dirty="0" smtClean="0"/>
              <a:t>3: </a:t>
            </a:r>
            <a:r>
              <a:rPr lang="fr-FR" b="1" dirty="0" smtClean="0"/>
              <a:t>Trigger</a:t>
            </a:r>
            <a:r>
              <a:rPr lang="fr-FR" dirty="0" smtClean="0"/>
              <a:t> </a:t>
            </a:r>
            <a:r>
              <a:rPr lang="fr-FR" dirty="0"/>
              <a:t>définit la manière </a:t>
            </a:r>
            <a:r>
              <a:rPr lang="fr-FR" dirty="0" smtClean="0"/>
              <a:t>du déclenchement. </a:t>
            </a:r>
          </a:p>
          <a:p>
            <a:r>
              <a:rPr lang="fr-FR" dirty="0"/>
              <a:t> </a:t>
            </a:r>
            <a:r>
              <a:rPr lang="fr-FR" dirty="0" smtClean="0"/>
              <a:t>   Selon </a:t>
            </a:r>
            <a:r>
              <a:rPr lang="fr-FR" dirty="0"/>
              <a:t>la documentation de Jenkins, les déclencheurs actuellement </a:t>
            </a:r>
            <a:endParaRPr lang="fr-FR" dirty="0" smtClean="0"/>
          </a:p>
          <a:p>
            <a:r>
              <a:rPr lang="fr-FR" dirty="0"/>
              <a:t> </a:t>
            </a:r>
            <a:r>
              <a:rPr lang="fr-FR" dirty="0" smtClean="0"/>
              <a:t>   disponibles </a:t>
            </a:r>
            <a:r>
              <a:rPr lang="fr-FR" dirty="0"/>
              <a:t>sont </a:t>
            </a:r>
            <a:r>
              <a:rPr lang="fr-FR" dirty="0" err="1"/>
              <a:t>cron</a:t>
            </a:r>
            <a:r>
              <a:rPr lang="fr-FR" dirty="0"/>
              <a:t>, </a:t>
            </a:r>
            <a:r>
              <a:rPr lang="fr-FR" dirty="0" err="1"/>
              <a:t>pollSCM</a:t>
            </a:r>
            <a:r>
              <a:rPr lang="fr-FR" dirty="0"/>
              <a:t> et </a:t>
            </a:r>
            <a:r>
              <a:rPr lang="fr-FR" dirty="0" err="1"/>
              <a:t>Upstream</a:t>
            </a:r>
            <a:endParaRPr lang="fr-FR" dirty="0"/>
          </a:p>
        </p:txBody>
      </p:sp>
      <p:sp>
        <p:nvSpPr>
          <p:cNvPr id="21" name="ZoneTexte 20"/>
          <p:cNvSpPr txBox="1"/>
          <p:nvPr/>
        </p:nvSpPr>
        <p:spPr>
          <a:xfrm>
            <a:off x="5531522" y="3320289"/>
            <a:ext cx="6565900" cy="646331"/>
          </a:xfrm>
          <a:prstGeom prst="rect">
            <a:avLst/>
          </a:prstGeom>
          <a:noFill/>
        </p:spPr>
        <p:txBody>
          <a:bodyPr wrap="none" rtlCol="0">
            <a:spAutoFit/>
          </a:bodyPr>
          <a:lstStyle/>
          <a:p>
            <a:r>
              <a:rPr lang="fr-FR" dirty="0" smtClean="0"/>
              <a:t>4: </a:t>
            </a:r>
            <a:r>
              <a:rPr lang="fr-FR" b="1" dirty="0" smtClean="0"/>
              <a:t>Environnement</a:t>
            </a:r>
            <a:r>
              <a:rPr lang="fr-FR" dirty="0" smtClean="0"/>
              <a:t> définit les variables </a:t>
            </a:r>
            <a:r>
              <a:rPr lang="fr-FR" dirty="0"/>
              <a:t>d'environnement </a:t>
            </a:r>
            <a:r>
              <a:rPr lang="fr-FR" dirty="0" smtClean="0"/>
              <a:t>qui peuvent</a:t>
            </a:r>
          </a:p>
          <a:p>
            <a:r>
              <a:rPr lang="fr-FR" dirty="0"/>
              <a:t>  </a:t>
            </a:r>
            <a:r>
              <a:rPr lang="fr-FR" dirty="0" smtClean="0"/>
              <a:t>  </a:t>
            </a:r>
            <a:r>
              <a:rPr lang="fr-FR" dirty="0"/>
              <a:t>être définies globalement</a:t>
            </a:r>
          </a:p>
        </p:txBody>
      </p:sp>
      <p:sp>
        <p:nvSpPr>
          <p:cNvPr id="22" name="ZoneTexte 21"/>
          <p:cNvSpPr txBox="1"/>
          <p:nvPr/>
        </p:nvSpPr>
        <p:spPr>
          <a:xfrm>
            <a:off x="5531522" y="4003349"/>
            <a:ext cx="6696770" cy="646331"/>
          </a:xfrm>
          <a:prstGeom prst="rect">
            <a:avLst/>
          </a:prstGeom>
          <a:noFill/>
        </p:spPr>
        <p:txBody>
          <a:bodyPr wrap="none" rtlCol="0">
            <a:spAutoFit/>
          </a:bodyPr>
          <a:lstStyle/>
          <a:p>
            <a:r>
              <a:rPr lang="fr-FR" dirty="0" smtClean="0"/>
              <a:t>5: </a:t>
            </a:r>
            <a:r>
              <a:rPr lang="fr-FR" b="1" dirty="0" smtClean="0"/>
              <a:t>Stages</a:t>
            </a:r>
            <a:r>
              <a:rPr lang="fr-FR" dirty="0" smtClean="0"/>
              <a:t> représente la zone de définition des stages qui représentent</a:t>
            </a:r>
          </a:p>
          <a:p>
            <a:r>
              <a:rPr lang="fr-FR" dirty="0"/>
              <a:t> </a:t>
            </a:r>
            <a:r>
              <a:rPr lang="fr-FR" dirty="0" smtClean="0"/>
              <a:t>   les étapes d'intégration et de déploiement</a:t>
            </a:r>
          </a:p>
        </p:txBody>
      </p:sp>
      <p:sp>
        <p:nvSpPr>
          <p:cNvPr id="23" name="ZoneTexte 22"/>
          <p:cNvSpPr txBox="1"/>
          <p:nvPr/>
        </p:nvSpPr>
        <p:spPr>
          <a:xfrm>
            <a:off x="5531522" y="4676970"/>
            <a:ext cx="3934923" cy="369332"/>
          </a:xfrm>
          <a:prstGeom prst="rect">
            <a:avLst/>
          </a:prstGeom>
          <a:noFill/>
        </p:spPr>
        <p:txBody>
          <a:bodyPr wrap="none" rtlCol="0">
            <a:spAutoFit/>
          </a:bodyPr>
          <a:lstStyle/>
          <a:p>
            <a:r>
              <a:rPr lang="fr-FR" dirty="0" smtClean="0"/>
              <a:t>6: </a:t>
            </a:r>
            <a:r>
              <a:rPr lang="fr-FR" b="1" dirty="0" err="1" smtClean="0"/>
              <a:t>Steps</a:t>
            </a:r>
            <a:r>
              <a:rPr lang="fr-FR" dirty="0" smtClean="0"/>
              <a:t> représente un pas dans le stage</a:t>
            </a:r>
          </a:p>
        </p:txBody>
      </p:sp>
      <p:sp>
        <p:nvSpPr>
          <p:cNvPr id="24" name="ZoneTexte 23"/>
          <p:cNvSpPr txBox="1"/>
          <p:nvPr/>
        </p:nvSpPr>
        <p:spPr>
          <a:xfrm>
            <a:off x="5549892" y="5243829"/>
            <a:ext cx="6529160" cy="646331"/>
          </a:xfrm>
          <a:prstGeom prst="rect">
            <a:avLst/>
          </a:prstGeom>
          <a:noFill/>
        </p:spPr>
        <p:txBody>
          <a:bodyPr wrap="none" rtlCol="0">
            <a:spAutoFit/>
          </a:bodyPr>
          <a:lstStyle/>
          <a:p>
            <a:r>
              <a:rPr lang="fr-FR" dirty="0" smtClean="0"/>
              <a:t>7: </a:t>
            </a:r>
            <a:r>
              <a:rPr lang="fr-FR" b="1" dirty="0" smtClean="0"/>
              <a:t>Post</a:t>
            </a:r>
            <a:r>
              <a:rPr lang="fr-FR" dirty="0" smtClean="0"/>
              <a:t> représentent les instructions qui peuvent être ajoutées juste</a:t>
            </a:r>
          </a:p>
          <a:p>
            <a:r>
              <a:rPr lang="fr-FR" dirty="0"/>
              <a:t> </a:t>
            </a:r>
            <a:r>
              <a:rPr lang="fr-FR" dirty="0" smtClean="0"/>
              <a:t>    après la fin d'exécution </a:t>
            </a:r>
          </a:p>
        </p:txBody>
      </p:sp>
    </p:spTree>
    <p:extLst>
      <p:ext uri="{BB962C8B-B14F-4D97-AF65-F5344CB8AC3E}">
        <p14:creationId xmlns:p14="http://schemas.microsoft.com/office/powerpoint/2010/main" val="47578384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3" name="Rectangle 2"/>
          <p:cNvSpPr/>
          <p:nvPr/>
        </p:nvSpPr>
        <p:spPr>
          <a:xfrm>
            <a:off x="332720" y="726706"/>
            <a:ext cx="10465575" cy="584775"/>
          </a:xfrm>
          <a:prstGeom prst="rect">
            <a:avLst/>
          </a:prstGeom>
        </p:spPr>
        <p:txBody>
          <a:bodyPr wrap="square">
            <a:spAutoFit/>
          </a:bodyPr>
          <a:lstStyle/>
          <a:p>
            <a:r>
              <a:rPr lang="fr-FR" sz="1600" dirty="0">
                <a:solidFill>
                  <a:srgbClr val="101820"/>
                </a:solidFill>
                <a:latin typeface="Söhne"/>
              </a:rPr>
              <a:t>Nous avons plusieurs étapes dans notre construction dans lesquelles chaque section d'étape comporte des étapes et des commandes différentes à suivre.</a:t>
            </a:r>
            <a:endParaRPr lang="fr-FR" sz="1600" dirty="0">
              <a:latin typeface="Söhne"/>
            </a:endParaRPr>
          </a:p>
        </p:txBody>
      </p:sp>
      <p:sp>
        <p:nvSpPr>
          <p:cNvPr id="4" name="Rectangle 3"/>
          <p:cNvSpPr/>
          <p:nvPr/>
        </p:nvSpPr>
        <p:spPr>
          <a:xfrm>
            <a:off x="786430" y="1463272"/>
            <a:ext cx="6096000" cy="5078313"/>
          </a:xfrm>
          <a:prstGeom prst="rect">
            <a:avLst/>
          </a:prstGeom>
        </p:spPr>
        <p:txBody>
          <a:bodyPr>
            <a:spAutoFit/>
          </a:bodyPr>
          <a:lstStyle/>
          <a:p>
            <a:r>
              <a:rPr lang="en-US" dirty="0">
                <a:latin typeface="Roboto Mono"/>
              </a:rPr>
              <a:t>stages {</a:t>
            </a:r>
            <a:r>
              <a:rPr lang="en-US" dirty="0"/>
              <a:t/>
            </a:r>
            <a:br>
              <a:rPr lang="en-US" dirty="0"/>
            </a:br>
            <a:r>
              <a:rPr lang="en-US" dirty="0">
                <a:latin typeface="Roboto Mono"/>
              </a:rPr>
              <a:t>  </a:t>
            </a:r>
            <a:r>
              <a:rPr lang="en-US" dirty="0" smtClean="0">
                <a:latin typeface="Roboto Mono"/>
              </a:rPr>
              <a:t>stage(Compilation') </a:t>
            </a:r>
            <a:r>
              <a:rPr lang="en-US" dirty="0">
                <a:latin typeface="Roboto Mono"/>
              </a:rPr>
              <a:t>{</a:t>
            </a:r>
            <a:r>
              <a:rPr lang="en-US" dirty="0"/>
              <a:t/>
            </a:r>
            <a:br>
              <a:rPr lang="en-US" dirty="0"/>
            </a:br>
            <a:r>
              <a:rPr lang="en-US" dirty="0">
                <a:latin typeface="Roboto Mono"/>
              </a:rPr>
              <a:t>    steps {</a:t>
            </a:r>
            <a:r>
              <a:rPr lang="en-US" dirty="0"/>
              <a:t/>
            </a:r>
            <a:br>
              <a:rPr lang="en-US" dirty="0"/>
            </a:br>
            <a:r>
              <a:rPr lang="en-US" dirty="0">
                <a:latin typeface="Roboto Mono"/>
              </a:rPr>
              <a:t>      </a:t>
            </a:r>
            <a:r>
              <a:rPr lang="en-US" dirty="0" err="1">
                <a:latin typeface="Roboto Mono"/>
              </a:rPr>
              <a:t>sh</a:t>
            </a:r>
            <a:r>
              <a:rPr lang="en-US" dirty="0">
                <a:latin typeface="Roboto Mono"/>
              </a:rPr>
              <a:t> 'echo </a:t>
            </a:r>
            <a:r>
              <a:rPr lang="en-US" dirty="0" smtClean="0">
                <a:latin typeface="Roboto Mono"/>
              </a:rPr>
              <a:t>"Phase de </a:t>
            </a:r>
            <a:r>
              <a:rPr lang="en-US" dirty="0" err="1" smtClean="0">
                <a:latin typeface="Roboto Mono"/>
              </a:rPr>
              <a:t>compiltion</a:t>
            </a:r>
            <a:r>
              <a:rPr lang="en-US" dirty="0" smtClean="0">
                <a:latin typeface="Roboto Mono"/>
              </a:rPr>
              <a:t>"'</a:t>
            </a:r>
          </a:p>
          <a:p>
            <a:r>
              <a:rPr lang="en-US" dirty="0">
                <a:latin typeface="Roboto Mono"/>
              </a:rPr>
              <a:t> </a:t>
            </a:r>
            <a:r>
              <a:rPr lang="en-US" dirty="0" smtClean="0">
                <a:latin typeface="Roboto Mono"/>
              </a:rPr>
              <a:t>     bat compile.bat</a:t>
            </a:r>
            <a:r>
              <a:rPr lang="en-US" dirty="0"/>
              <a:t/>
            </a:r>
            <a:br>
              <a:rPr lang="en-US" dirty="0"/>
            </a:br>
            <a:r>
              <a:rPr lang="en-US" dirty="0">
                <a:latin typeface="Roboto Mono"/>
              </a:rPr>
              <a:t>    }</a:t>
            </a:r>
            <a:r>
              <a:rPr lang="en-US" dirty="0"/>
              <a:t/>
            </a:r>
            <a:br>
              <a:rPr lang="en-US" dirty="0"/>
            </a:br>
            <a:r>
              <a:rPr lang="en-US" dirty="0">
                <a:latin typeface="Roboto Mono"/>
              </a:rPr>
              <a:t>  }</a:t>
            </a:r>
            <a:r>
              <a:rPr lang="en-US" dirty="0"/>
              <a:t/>
            </a:r>
            <a:br>
              <a:rPr lang="en-US" dirty="0"/>
            </a:br>
            <a:r>
              <a:rPr lang="en-US" dirty="0">
                <a:latin typeface="Roboto Mono"/>
              </a:rPr>
              <a:t>  stage('Test') {</a:t>
            </a:r>
            <a:r>
              <a:rPr lang="en-US" dirty="0"/>
              <a:t/>
            </a:r>
            <a:br>
              <a:rPr lang="en-US" dirty="0"/>
            </a:br>
            <a:r>
              <a:rPr lang="en-US" dirty="0">
                <a:latin typeface="Roboto Mono"/>
              </a:rPr>
              <a:t>    steps</a:t>
            </a:r>
            <a:r>
              <a:rPr lang="en-US" dirty="0"/>
              <a:t/>
            </a:r>
            <a:br>
              <a:rPr lang="en-US" dirty="0"/>
            </a:br>
            <a:r>
              <a:rPr lang="en-US" dirty="0">
                <a:latin typeface="Roboto Mono"/>
              </a:rPr>
              <a:t>       </a:t>
            </a:r>
            <a:r>
              <a:rPr lang="en-US" dirty="0" err="1">
                <a:latin typeface="Roboto Mono"/>
              </a:rPr>
              <a:t>sh</a:t>
            </a:r>
            <a:r>
              <a:rPr lang="en-US" dirty="0">
                <a:latin typeface="Roboto Mono"/>
              </a:rPr>
              <a:t> 'echo "Phase de </a:t>
            </a:r>
            <a:r>
              <a:rPr lang="en-US" dirty="0" smtClean="0">
                <a:latin typeface="Roboto Mono"/>
              </a:rPr>
              <a:t>test"'</a:t>
            </a:r>
            <a:endParaRPr lang="en-US" dirty="0">
              <a:latin typeface="Roboto Mono"/>
            </a:endParaRPr>
          </a:p>
          <a:p>
            <a:r>
              <a:rPr lang="en-US" dirty="0">
                <a:latin typeface="Roboto Mono"/>
              </a:rPr>
              <a:t>      bat </a:t>
            </a:r>
            <a:r>
              <a:rPr lang="en-US" dirty="0" smtClean="0">
                <a:latin typeface="Roboto Mono"/>
              </a:rPr>
              <a:t>test.bat</a:t>
            </a:r>
            <a:r>
              <a:rPr lang="en-US" dirty="0">
                <a:latin typeface="Roboto Mono"/>
              </a:rPr>
              <a:t>    }</a:t>
            </a:r>
            <a:r>
              <a:rPr lang="en-US" dirty="0"/>
              <a:t/>
            </a:r>
            <a:br>
              <a:rPr lang="en-US" dirty="0"/>
            </a:br>
            <a:r>
              <a:rPr lang="en-US" dirty="0">
                <a:latin typeface="Roboto Mono"/>
              </a:rPr>
              <a:t>  }</a:t>
            </a:r>
            <a:r>
              <a:rPr lang="en-US" dirty="0"/>
              <a:t/>
            </a:r>
            <a:br>
              <a:rPr lang="en-US" dirty="0"/>
            </a:br>
            <a:r>
              <a:rPr lang="en-US" dirty="0">
                <a:latin typeface="Roboto Mono"/>
              </a:rPr>
              <a:t>  stage(</a:t>
            </a:r>
            <a:r>
              <a:rPr lang="en-US" dirty="0" smtClean="0">
                <a:latin typeface="Roboto Mono"/>
              </a:rPr>
              <a:t>'</a:t>
            </a:r>
            <a:r>
              <a:rPr lang="en-US" dirty="0" err="1" smtClean="0">
                <a:latin typeface="Roboto Mono"/>
              </a:rPr>
              <a:t>Deploiement</a:t>
            </a:r>
            <a:r>
              <a:rPr lang="en-US" dirty="0" smtClean="0">
                <a:latin typeface="Roboto Mono"/>
              </a:rPr>
              <a:t>') </a:t>
            </a:r>
            <a:r>
              <a:rPr lang="en-US" dirty="0">
                <a:latin typeface="Roboto Mono"/>
              </a:rPr>
              <a:t>{</a:t>
            </a:r>
            <a:r>
              <a:rPr lang="en-US" dirty="0"/>
              <a:t/>
            </a:r>
            <a:br>
              <a:rPr lang="en-US" dirty="0"/>
            </a:br>
            <a:r>
              <a:rPr lang="en-US" dirty="0">
                <a:latin typeface="Roboto Mono"/>
              </a:rPr>
              <a:t>    steps {</a:t>
            </a:r>
            <a:r>
              <a:rPr lang="en-US" dirty="0"/>
              <a:t/>
            </a:r>
            <a:br>
              <a:rPr lang="en-US" dirty="0"/>
            </a:br>
            <a:r>
              <a:rPr lang="en-US" dirty="0">
                <a:latin typeface="Roboto Mono"/>
              </a:rPr>
              <a:t>       </a:t>
            </a:r>
            <a:r>
              <a:rPr lang="en-US" dirty="0" err="1">
                <a:latin typeface="Roboto Mono"/>
              </a:rPr>
              <a:t>sh</a:t>
            </a:r>
            <a:r>
              <a:rPr lang="en-US" dirty="0">
                <a:latin typeface="Roboto Mono"/>
              </a:rPr>
              <a:t> 'echo "Phase de </a:t>
            </a:r>
            <a:r>
              <a:rPr lang="en-US" dirty="0" err="1" smtClean="0">
                <a:latin typeface="Roboto Mono"/>
              </a:rPr>
              <a:t>deploiement</a:t>
            </a:r>
            <a:r>
              <a:rPr lang="en-US" dirty="0" smtClean="0">
                <a:latin typeface="Roboto Mono"/>
              </a:rPr>
              <a:t>"'</a:t>
            </a:r>
            <a:endParaRPr lang="en-US" dirty="0">
              <a:latin typeface="Roboto Mono"/>
            </a:endParaRPr>
          </a:p>
          <a:p>
            <a:r>
              <a:rPr lang="en-US" dirty="0">
                <a:latin typeface="Roboto Mono"/>
              </a:rPr>
              <a:t>      bat </a:t>
            </a:r>
            <a:r>
              <a:rPr lang="en-US" dirty="0" smtClean="0">
                <a:latin typeface="Roboto Mono"/>
              </a:rPr>
              <a:t>deploiement.bat</a:t>
            </a:r>
            <a:r>
              <a:rPr lang="en-US" dirty="0">
                <a:latin typeface="Roboto Mono"/>
              </a:rPr>
              <a:t>    }</a:t>
            </a:r>
            <a:r>
              <a:rPr lang="en-US" dirty="0"/>
              <a:t/>
            </a:r>
            <a:br>
              <a:rPr lang="en-US" dirty="0"/>
            </a:br>
            <a:r>
              <a:rPr lang="en-US" dirty="0">
                <a:latin typeface="Roboto Mono"/>
              </a:rPr>
              <a:t>  }</a:t>
            </a:r>
            <a:r>
              <a:rPr lang="en-US" dirty="0"/>
              <a:t/>
            </a:r>
            <a:br>
              <a:rPr lang="en-US" dirty="0"/>
            </a:br>
            <a:r>
              <a:rPr lang="en-US" dirty="0">
                <a:latin typeface="Roboto Mono"/>
              </a:rPr>
              <a:t>}</a:t>
            </a:r>
            <a:endParaRPr lang="fr-FR" dirty="0"/>
          </a:p>
        </p:txBody>
      </p:sp>
    </p:spTree>
    <p:extLst>
      <p:ext uri="{BB962C8B-B14F-4D97-AF65-F5344CB8AC3E}">
        <p14:creationId xmlns:p14="http://schemas.microsoft.com/office/powerpoint/2010/main" val="102311583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5" name="Rectangle 4"/>
          <p:cNvSpPr/>
          <p:nvPr/>
        </p:nvSpPr>
        <p:spPr>
          <a:xfrm>
            <a:off x="270933" y="1070802"/>
            <a:ext cx="11406293" cy="646331"/>
          </a:xfrm>
          <a:prstGeom prst="rect">
            <a:avLst/>
          </a:prstGeom>
        </p:spPr>
        <p:txBody>
          <a:bodyPr wrap="square">
            <a:spAutoFit/>
          </a:bodyPr>
          <a:lstStyle/>
          <a:p>
            <a:r>
              <a:rPr lang="fr-FR" dirty="0">
                <a:latin typeface="Montserrat"/>
              </a:rPr>
              <a:t>La partie centrale et fondamentale du pipeline est </a:t>
            </a:r>
            <a:r>
              <a:rPr lang="fr-FR" i="1" dirty="0">
                <a:latin typeface="Montserrat"/>
              </a:rPr>
              <a:t>l'étape</a:t>
            </a:r>
            <a:r>
              <a:rPr lang="fr-FR" dirty="0">
                <a:latin typeface="Montserrat"/>
              </a:rPr>
              <a:t> . Les pipelines sont constitués de plusieurs </a:t>
            </a:r>
            <a:r>
              <a:rPr lang="fr-FR" dirty="0" smtClean="0">
                <a:latin typeface="Montserrat"/>
              </a:rPr>
              <a:t>étapes </a:t>
            </a:r>
            <a:r>
              <a:rPr lang="fr-FR" b="1" dirty="0" err="1" smtClean="0">
                <a:latin typeface="Montserrat"/>
              </a:rPr>
              <a:t>Steps</a:t>
            </a:r>
            <a:r>
              <a:rPr lang="fr-FR" dirty="0" smtClean="0">
                <a:latin typeface="Montserrat"/>
              </a:rPr>
              <a:t> </a:t>
            </a:r>
            <a:r>
              <a:rPr lang="fr-FR" dirty="0">
                <a:latin typeface="Montserrat"/>
              </a:rPr>
              <a:t>qui vous permettent de créer, tester et déployer des applications.</a:t>
            </a:r>
            <a:endParaRPr lang="fr-FR" dirty="0"/>
          </a:p>
        </p:txBody>
      </p:sp>
      <p:sp>
        <p:nvSpPr>
          <p:cNvPr id="6" name="Rectangle 5"/>
          <p:cNvSpPr/>
          <p:nvPr/>
        </p:nvSpPr>
        <p:spPr>
          <a:xfrm>
            <a:off x="270933" y="701470"/>
            <a:ext cx="813043" cy="369332"/>
          </a:xfrm>
          <a:prstGeom prst="rect">
            <a:avLst/>
          </a:prstGeom>
        </p:spPr>
        <p:txBody>
          <a:bodyPr wrap="none">
            <a:spAutoFit/>
          </a:bodyPr>
          <a:lstStyle/>
          <a:p>
            <a:r>
              <a:rPr lang="fr-FR" b="1" dirty="0" err="1">
                <a:solidFill>
                  <a:srgbClr val="101820"/>
                </a:solidFill>
                <a:latin typeface="Montserrat"/>
              </a:rPr>
              <a:t>Steps</a:t>
            </a:r>
            <a:endParaRPr lang="fr-FR" dirty="0"/>
          </a:p>
        </p:txBody>
      </p:sp>
      <p:sp>
        <p:nvSpPr>
          <p:cNvPr id="7" name="Rectangle 6"/>
          <p:cNvSpPr/>
          <p:nvPr/>
        </p:nvSpPr>
        <p:spPr>
          <a:xfrm>
            <a:off x="521546" y="1960232"/>
            <a:ext cx="2506133" cy="2308324"/>
          </a:xfrm>
          <a:prstGeom prst="rect">
            <a:avLst/>
          </a:prstGeom>
        </p:spPr>
        <p:txBody>
          <a:bodyPr wrap="square">
            <a:spAutoFit/>
          </a:bodyPr>
          <a:lstStyle/>
          <a:p>
            <a:r>
              <a:rPr lang="en-US" sz="1600" dirty="0">
                <a:latin typeface="Roboto Mono"/>
              </a:rPr>
              <a:t>stages {</a:t>
            </a:r>
            <a:r>
              <a:rPr lang="en-US" sz="1600" dirty="0"/>
              <a:t/>
            </a:r>
            <a:br>
              <a:rPr lang="en-US" sz="1600" dirty="0"/>
            </a:br>
            <a:r>
              <a:rPr lang="en-US" sz="1600" dirty="0">
                <a:latin typeface="Roboto Mono"/>
              </a:rPr>
              <a:t>  stage('Build') {</a:t>
            </a:r>
            <a:r>
              <a:rPr lang="en-US" sz="1600" dirty="0"/>
              <a:t/>
            </a:r>
            <a:br>
              <a:rPr lang="en-US" sz="1600" dirty="0"/>
            </a:br>
            <a:r>
              <a:rPr lang="en-US" sz="1600" dirty="0">
                <a:latin typeface="Roboto Mono"/>
              </a:rPr>
              <a:t>    steps {</a:t>
            </a:r>
            <a:r>
              <a:rPr lang="en-US" sz="1600" dirty="0"/>
              <a:t/>
            </a:r>
            <a:br>
              <a:rPr lang="en-US" sz="1600" dirty="0"/>
            </a:br>
            <a:r>
              <a:rPr lang="en-US" sz="1600" dirty="0">
                <a:latin typeface="Roboto Mono"/>
              </a:rPr>
              <a:t>      </a:t>
            </a:r>
            <a:r>
              <a:rPr lang="en-US" sz="1600" dirty="0" err="1">
                <a:latin typeface="Roboto Mono"/>
              </a:rPr>
              <a:t>sh</a:t>
            </a:r>
            <a:r>
              <a:rPr lang="en-US" sz="1600" dirty="0">
                <a:latin typeface="Roboto Mono"/>
              </a:rPr>
              <a:t> 'echo "Step 1"'</a:t>
            </a:r>
            <a:r>
              <a:rPr lang="en-US" sz="1600" dirty="0"/>
              <a:t/>
            </a:r>
            <a:br>
              <a:rPr lang="en-US" sz="1600" dirty="0"/>
            </a:br>
            <a:r>
              <a:rPr lang="en-US" sz="1600" dirty="0">
                <a:latin typeface="Roboto Mono"/>
              </a:rPr>
              <a:t>      </a:t>
            </a:r>
            <a:r>
              <a:rPr lang="en-US" sz="1600" dirty="0" err="1">
                <a:latin typeface="Roboto Mono"/>
              </a:rPr>
              <a:t>sh</a:t>
            </a:r>
            <a:r>
              <a:rPr lang="en-US" sz="1600" dirty="0">
                <a:latin typeface="Roboto Mono"/>
              </a:rPr>
              <a:t> 'echo "Step 2"'</a:t>
            </a:r>
            <a:r>
              <a:rPr lang="en-US" sz="1600" dirty="0"/>
              <a:t/>
            </a:r>
            <a:br>
              <a:rPr lang="en-US" sz="1600" dirty="0"/>
            </a:br>
            <a:r>
              <a:rPr lang="en-US" sz="1600" dirty="0">
                <a:latin typeface="Roboto Mono"/>
              </a:rPr>
              <a:t>      </a:t>
            </a:r>
            <a:r>
              <a:rPr lang="en-US" sz="1600" dirty="0" err="1">
                <a:latin typeface="Roboto Mono"/>
              </a:rPr>
              <a:t>sh</a:t>
            </a:r>
            <a:r>
              <a:rPr lang="en-US" sz="1600" dirty="0">
                <a:latin typeface="Roboto Mono"/>
              </a:rPr>
              <a:t> 'echo "Step 3"'</a:t>
            </a:r>
            <a:r>
              <a:rPr lang="en-US" sz="1600" dirty="0"/>
              <a:t/>
            </a:r>
            <a:br>
              <a:rPr lang="en-US" sz="1600" dirty="0"/>
            </a:br>
            <a:r>
              <a:rPr lang="en-US" sz="1600" dirty="0">
                <a:latin typeface="Roboto Mono"/>
              </a:rPr>
              <a:t>    }</a:t>
            </a:r>
            <a:r>
              <a:rPr lang="en-US" sz="1600" dirty="0"/>
              <a:t/>
            </a:r>
            <a:br>
              <a:rPr lang="en-US" sz="1600" dirty="0"/>
            </a:br>
            <a:r>
              <a:rPr lang="en-US" sz="1600" dirty="0">
                <a:latin typeface="Roboto Mono"/>
              </a:rPr>
              <a:t>  }</a:t>
            </a:r>
            <a:r>
              <a:rPr lang="en-US" sz="1600" dirty="0"/>
              <a:t/>
            </a:r>
            <a:br>
              <a:rPr lang="en-US" sz="1600" dirty="0"/>
            </a:br>
            <a:r>
              <a:rPr lang="en-US" sz="1600" dirty="0">
                <a:latin typeface="Roboto Mono"/>
              </a:rPr>
              <a:t>}</a:t>
            </a:r>
            <a:endParaRPr lang="fr-FR" sz="1600" dirty="0"/>
          </a:p>
        </p:txBody>
      </p:sp>
      <p:sp>
        <p:nvSpPr>
          <p:cNvPr id="9" name="Rectangle 8"/>
          <p:cNvSpPr/>
          <p:nvPr/>
        </p:nvSpPr>
        <p:spPr>
          <a:xfrm>
            <a:off x="3342639" y="1960232"/>
            <a:ext cx="4338321" cy="2862322"/>
          </a:xfrm>
          <a:prstGeom prst="rect">
            <a:avLst/>
          </a:prstGeom>
        </p:spPr>
        <p:txBody>
          <a:bodyPr wrap="square">
            <a:spAutoFit/>
          </a:bodyPr>
          <a:lstStyle/>
          <a:p>
            <a:r>
              <a:rPr lang="en-US" sz="1600" dirty="0">
                <a:latin typeface="Roboto Mono"/>
              </a:rPr>
              <a:t>stages {</a:t>
            </a:r>
            <a:r>
              <a:rPr lang="en-US" sz="1600" dirty="0"/>
              <a:t/>
            </a:r>
            <a:br>
              <a:rPr lang="en-US" sz="1600" dirty="0"/>
            </a:br>
            <a:r>
              <a:rPr lang="en-US" sz="1600" dirty="0">
                <a:latin typeface="Roboto Mono"/>
              </a:rPr>
              <a:t>  stage('Build') {</a:t>
            </a:r>
            <a:r>
              <a:rPr lang="en-US" sz="1600" dirty="0"/>
              <a:t/>
            </a:r>
            <a:br>
              <a:rPr lang="en-US" sz="1600" dirty="0"/>
            </a:br>
            <a:r>
              <a:rPr lang="en-US" sz="1600" dirty="0">
                <a:latin typeface="Roboto Mono"/>
              </a:rPr>
              <a:t>    steps {</a:t>
            </a:r>
            <a:r>
              <a:rPr lang="en-US" sz="1600" dirty="0"/>
              <a:t/>
            </a:r>
            <a:br>
              <a:rPr lang="en-US" sz="1600" dirty="0"/>
            </a:br>
            <a:r>
              <a:rPr lang="en-US" sz="1600" dirty="0">
                <a:latin typeface="Roboto Mono"/>
              </a:rPr>
              <a:t>     </a:t>
            </a:r>
            <a:r>
              <a:rPr lang="en-US" sz="1600" dirty="0" smtClean="0">
                <a:latin typeface="Roboto Mono"/>
              </a:rPr>
              <a:t> </a:t>
            </a:r>
            <a:r>
              <a:rPr lang="fr-FR" b="1" dirty="0" err="1" smtClean="0">
                <a:solidFill>
                  <a:srgbClr val="FF0000"/>
                </a:solidFill>
              </a:rPr>
              <a:t>retry</a:t>
            </a:r>
            <a:r>
              <a:rPr lang="fr-FR" b="1" dirty="0" smtClean="0">
                <a:solidFill>
                  <a:srgbClr val="FF0000"/>
                </a:solidFill>
              </a:rPr>
              <a:t>(x</a:t>
            </a:r>
            <a:r>
              <a:rPr lang="fr-FR" b="1" dirty="0">
                <a:solidFill>
                  <a:srgbClr val="FF0000"/>
                </a:solidFill>
              </a:rPr>
              <a:t>)</a:t>
            </a:r>
            <a:endParaRPr lang="en-US" sz="1600" b="1" dirty="0" smtClean="0">
              <a:solidFill>
                <a:srgbClr val="FF0000"/>
              </a:solidFill>
              <a:latin typeface="Roboto Mono"/>
            </a:endParaRPr>
          </a:p>
          <a:p>
            <a:r>
              <a:rPr lang="en-US" sz="1600" dirty="0">
                <a:latin typeface="Roboto Mono"/>
              </a:rPr>
              <a:t> </a:t>
            </a:r>
            <a:r>
              <a:rPr lang="en-US" sz="1600" dirty="0" smtClean="0">
                <a:latin typeface="Roboto Mono"/>
              </a:rPr>
              <a:t>     </a:t>
            </a:r>
            <a:r>
              <a:rPr lang="en-US" sz="1600" dirty="0" err="1">
                <a:latin typeface="Roboto Mono"/>
              </a:rPr>
              <a:t>sh</a:t>
            </a:r>
            <a:r>
              <a:rPr lang="en-US" sz="1600" dirty="0">
                <a:latin typeface="Roboto Mono"/>
              </a:rPr>
              <a:t> 'echo "Step 1"'</a:t>
            </a:r>
            <a:r>
              <a:rPr lang="en-US" sz="1600" dirty="0"/>
              <a:t/>
            </a:r>
            <a:br>
              <a:rPr lang="en-US" sz="1600" dirty="0"/>
            </a:br>
            <a:r>
              <a:rPr lang="en-US" sz="1600" dirty="0">
                <a:latin typeface="Roboto Mono"/>
              </a:rPr>
              <a:t>      </a:t>
            </a:r>
            <a:r>
              <a:rPr lang="en-US" sz="1600" dirty="0" err="1">
                <a:latin typeface="Roboto Mono"/>
              </a:rPr>
              <a:t>sh</a:t>
            </a:r>
            <a:r>
              <a:rPr lang="en-US" sz="1600" dirty="0">
                <a:latin typeface="Roboto Mono"/>
              </a:rPr>
              <a:t> 'echo "Step 2"'</a:t>
            </a:r>
            <a:r>
              <a:rPr lang="en-US" sz="1600" dirty="0"/>
              <a:t/>
            </a:r>
            <a:br>
              <a:rPr lang="en-US" sz="1600" dirty="0"/>
            </a:br>
            <a:r>
              <a:rPr lang="en-US" sz="1600" dirty="0">
                <a:latin typeface="Roboto Mono"/>
              </a:rPr>
              <a:t>      </a:t>
            </a:r>
            <a:r>
              <a:rPr lang="en-US" sz="1600" dirty="0" err="1">
                <a:latin typeface="Roboto Mono"/>
              </a:rPr>
              <a:t>sh</a:t>
            </a:r>
            <a:r>
              <a:rPr lang="en-US" sz="1600" dirty="0">
                <a:latin typeface="Roboto Mono"/>
              </a:rPr>
              <a:t> 'echo "Step 3</a:t>
            </a:r>
            <a:r>
              <a:rPr lang="en-US" sz="1600" dirty="0" smtClean="0">
                <a:latin typeface="Roboto Mono"/>
              </a:rPr>
              <a:t>"'</a:t>
            </a:r>
          </a:p>
          <a:p>
            <a:r>
              <a:rPr lang="en-US" sz="1600" dirty="0">
                <a:latin typeface="Roboto Mono"/>
              </a:rPr>
              <a:t> </a:t>
            </a:r>
            <a:r>
              <a:rPr lang="en-US" sz="1600" dirty="0" smtClean="0">
                <a:latin typeface="Roboto Mono"/>
              </a:rPr>
              <a:t>     </a:t>
            </a:r>
            <a:r>
              <a:rPr lang="fr-FR" b="1" dirty="0" smtClean="0">
                <a:solidFill>
                  <a:srgbClr val="FF0000"/>
                </a:solidFill>
              </a:rPr>
              <a:t>timeout(time</a:t>
            </a:r>
            <a:r>
              <a:rPr lang="fr-FR" b="1" dirty="0">
                <a:solidFill>
                  <a:srgbClr val="FF0000"/>
                </a:solidFill>
              </a:rPr>
              <a:t>: x, unit: 'MINUTES')</a:t>
            </a:r>
            <a:r>
              <a:rPr lang="en-US" sz="1600" b="1" dirty="0">
                <a:solidFill>
                  <a:srgbClr val="FF0000"/>
                </a:solidFill>
              </a:rPr>
              <a:t/>
            </a:r>
            <a:br>
              <a:rPr lang="en-US" sz="1600" b="1" dirty="0">
                <a:solidFill>
                  <a:srgbClr val="FF0000"/>
                </a:solidFill>
              </a:rPr>
            </a:br>
            <a:r>
              <a:rPr lang="en-US" sz="1600" dirty="0">
                <a:latin typeface="Roboto Mono"/>
              </a:rPr>
              <a:t>    }</a:t>
            </a:r>
            <a:r>
              <a:rPr lang="en-US" sz="1600" dirty="0"/>
              <a:t/>
            </a:r>
            <a:br>
              <a:rPr lang="en-US" sz="1600" dirty="0"/>
            </a:br>
            <a:r>
              <a:rPr lang="en-US" sz="1600" dirty="0">
                <a:latin typeface="Roboto Mono"/>
              </a:rPr>
              <a:t>  }</a:t>
            </a:r>
            <a:r>
              <a:rPr lang="en-US" sz="1600" dirty="0"/>
              <a:t/>
            </a:r>
            <a:br>
              <a:rPr lang="en-US" sz="1600" dirty="0"/>
            </a:br>
            <a:r>
              <a:rPr lang="en-US" sz="1600" dirty="0">
                <a:latin typeface="Roboto Mono"/>
              </a:rPr>
              <a:t>}</a:t>
            </a:r>
            <a:endParaRPr lang="fr-FR" sz="1600" dirty="0"/>
          </a:p>
        </p:txBody>
      </p:sp>
      <p:cxnSp>
        <p:nvCxnSpPr>
          <p:cNvPr id="10" name="Connecteur droit avec flèche 9"/>
          <p:cNvCxnSpPr/>
          <p:nvPr/>
        </p:nvCxnSpPr>
        <p:spPr>
          <a:xfrm flipH="1">
            <a:off x="4578773" y="2018453"/>
            <a:ext cx="4240107" cy="82634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Connecteur droit avec flèche 12"/>
          <p:cNvCxnSpPr/>
          <p:nvPr/>
        </p:nvCxnSpPr>
        <p:spPr>
          <a:xfrm flipH="1" flipV="1">
            <a:off x="7044267" y="3887893"/>
            <a:ext cx="1280160" cy="5147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Rectangle 14"/>
          <p:cNvSpPr/>
          <p:nvPr/>
        </p:nvSpPr>
        <p:spPr>
          <a:xfrm>
            <a:off x="8818880" y="1787085"/>
            <a:ext cx="2318263" cy="584775"/>
          </a:xfrm>
          <a:prstGeom prst="rect">
            <a:avLst/>
          </a:prstGeom>
        </p:spPr>
        <p:txBody>
          <a:bodyPr wrap="none">
            <a:spAutoFit/>
          </a:bodyPr>
          <a:lstStyle/>
          <a:p>
            <a:r>
              <a:rPr lang="fr-FR" sz="1600" dirty="0" smtClean="0">
                <a:latin typeface="Söhne"/>
              </a:rPr>
              <a:t>Répète x fois tentatives</a:t>
            </a:r>
          </a:p>
          <a:p>
            <a:r>
              <a:rPr lang="fr-FR" sz="1600" dirty="0" smtClean="0">
                <a:latin typeface="Söhne"/>
              </a:rPr>
              <a:t>D'exécution  </a:t>
            </a:r>
            <a:endParaRPr lang="fr-FR" sz="1600" dirty="0">
              <a:latin typeface="Söhne"/>
            </a:endParaRPr>
          </a:p>
        </p:txBody>
      </p:sp>
      <p:sp>
        <p:nvSpPr>
          <p:cNvPr id="17" name="Rectangle 16"/>
          <p:cNvSpPr/>
          <p:nvPr/>
        </p:nvSpPr>
        <p:spPr>
          <a:xfrm>
            <a:off x="8385387" y="4268556"/>
            <a:ext cx="3682418" cy="584775"/>
          </a:xfrm>
          <a:prstGeom prst="rect">
            <a:avLst/>
          </a:prstGeom>
        </p:spPr>
        <p:txBody>
          <a:bodyPr wrap="none">
            <a:spAutoFit/>
          </a:bodyPr>
          <a:lstStyle/>
          <a:p>
            <a:r>
              <a:rPr lang="fr-FR" sz="1600" dirty="0" smtClean="0">
                <a:latin typeface="Söhne"/>
              </a:rPr>
              <a:t>Définie un intervalle en dehors du quel</a:t>
            </a:r>
          </a:p>
          <a:p>
            <a:r>
              <a:rPr lang="fr-FR" sz="1600" dirty="0" smtClean="0">
                <a:latin typeface="Söhne"/>
              </a:rPr>
              <a:t>L'étape </a:t>
            </a:r>
            <a:r>
              <a:rPr lang="fr-FR" sz="1600" dirty="0" err="1" smtClean="0">
                <a:latin typeface="Söhne"/>
              </a:rPr>
              <a:t>echoue</a:t>
            </a:r>
            <a:endParaRPr lang="fr-FR" sz="1600" dirty="0">
              <a:latin typeface="Söhne"/>
            </a:endParaRPr>
          </a:p>
        </p:txBody>
      </p:sp>
    </p:spTree>
    <p:extLst>
      <p:ext uri="{BB962C8B-B14F-4D97-AF65-F5344CB8AC3E}">
        <p14:creationId xmlns:p14="http://schemas.microsoft.com/office/powerpoint/2010/main" val="320195580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6" name="Rectangle 5"/>
          <p:cNvSpPr/>
          <p:nvPr/>
        </p:nvSpPr>
        <p:spPr>
          <a:xfrm>
            <a:off x="270933" y="701470"/>
            <a:ext cx="813043" cy="369332"/>
          </a:xfrm>
          <a:prstGeom prst="rect">
            <a:avLst/>
          </a:prstGeom>
        </p:spPr>
        <p:txBody>
          <a:bodyPr wrap="none">
            <a:spAutoFit/>
          </a:bodyPr>
          <a:lstStyle/>
          <a:p>
            <a:r>
              <a:rPr lang="fr-FR" b="1" dirty="0" err="1" smtClean="0">
                <a:solidFill>
                  <a:srgbClr val="101820"/>
                </a:solidFill>
                <a:latin typeface="Montserrat"/>
              </a:rPr>
              <a:t>When</a:t>
            </a:r>
            <a:endParaRPr lang="fr-FR" dirty="0"/>
          </a:p>
        </p:txBody>
      </p:sp>
      <p:sp>
        <p:nvSpPr>
          <p:cNvPr id="2" name="Rectangle 1"/>
          <p:cNvSpPr/>
          <p:nvPr/>
        </p:nvSpPr>
        <p:spPr>
          <a:xfrm>
            <a:off x="325119" y="1151190"/>
            <a:ext cx="10959253" cy="584775"/>
          </a:xfrm>
          <a:prstGeom prst="rect">
            <a:avLst/>
          </a:prstGeom>
        </p:spPr>
        <p:txBody>
          <a:bodyPr wrap="square">
            <a:spAutoFit/>
          </a:bodyPr>
          <a:lstStyle/>
          <a:p>
            <a:r>
              <a:rPr lang="fr-FR" sz="1600" dirty="0">
                <a:solidFill>
                  <a:srgbClr val="101820"/>
                </a:solidFill>
                <a:latin typeface="Montserrat"/>
              </a:rPr>
              <a:t>La commande </a:t>
            </a:r>
            <a:r>
              <a:rPr lang="fr-FR" sz="1600" dirty="0" err="1">
                <a:latin typeface="Montserrat"/>
              </a:rPr>
              <a:t>when</a:t>
            </a:r>
            <a:r>
              <a:rPr lang="fr-FR" sz="1600" dirty="0">
                <a:solidFill>
                  <a:srgbClr val="101820"/>
                </a:solidFill>
                <a:latin typeface="Montserrat"/>
              </a:rPr>
              <a:t>  permet au pipeline de déterminer s'il doit effectuer cette phase en fonction des conditions données. La commande </a:t>
            </a:r>
            <a:r>
              <a:rPr lang="fr-FR" sz="1600" dirty="0" err="1">
                <a:latin typeface="Montserrat"/>
              </a:rPr>
              <a:t>when</a:t>
            </a:r>
            <a:r>
              <a:rPr lang="fr-FR" sz="1600" dirty="0">
                <a:latin typeface="Montserrat"/>
              </a:rPr>
              <a:t>  </a:t>
            </a:r>
            <a:r>
              <a:rPr lang="fr-FR" sz="1600" dirty="0">
                <a:solidFill>
                  <a:srgbClr val="101820"/>
                </a:solidFill>
                <a:latin typeface="Montserrat"/>
              </a:rPr>
              <a:t>doit contenir au moins une condition</a:t>
            </a:r>
            <a:endParaRPr lang="fr-FR" sz="1600" dirty="0"/>
          </a:p>
        </p:txBody>
      </p:sp>
      <p:sp>
        <p:nvSpPr>
          <p:cNvPr id="3" name="Rectangle 2"/>
          <p:cNvSpPr/>
          <p:nvPr/>
        </p:nvSpPr>
        <p:spPr>
          <a:xfrm>
            <a:off x="325119" y="1747641"/>
            <a:ext cx="11176001" cy="584775"/>
          </a:xfrm>
          <a:prstGeom prst="rect">
            <a:avLst/>
          </a:prstGeom>
        </p:spPr>
        <p:txBody>
          <a:bodyPr wrap="square">
            <a:spAutoFit/>
          </a:bodyPr>
          <a:lstStyle/>
          <a:p>
            <a:r>
              <a:rPr lang="fr-FR" sz="1600" dirty="0">
                <a:solidFill>
                  <a:srgbClr val="101820"/>
                </a:solidFill>
                <a:latin typeface="Montserrat"/>
              </a:rPr>
              <a:t>Des structures conditionnelles de pipeline plus complexes peuvent être construites à l’aide de conditions imbriquées : </a:t>
            </a:r>
            <a:r>
              <a:rPr lang="fr-FR" sz="1600" b="1" dirty="0">
                <a:solidFill>
                  <a:srgbClr val="101820"/>
                </a:solidFill>
                <a:latin typeface="Montserrat"/>
              </a:rPr>
              <a:t>not</a:t>
            </a:r>
            <a:r>
              <a:rPr lang="fr-FR" sz="1600" dirty="0">
                <a:solidFill>
                  <a:srgbClr val="101820"/>
                </a:solidFill>
                <a:latin typeface="Montserrat"/>
              </a:rPr>
              <a:t> , </a:t>
            </a:r>
            <a:r>
              <a:rPr lang="fr-FR" sz="1600" b="1" dirty="0" err="1">
                <a:solidFill>
                  <a:srgbClr val="101820"/>
                </a:solidFill>
                <a:latin typeface="Montserrat"/>
              </a:rPr>
              <a:t>allOf</a:t>
            </a:r>
            <a:r>
              <a:rPr lang="fr-FR" sz="1600" dirty="0">
                <a:solidFill>
                  <a:srgbClr val="101820"/>
                </a:solidFill>
                <a:latin typeface="Montserrat"/>
              </a:rPr>
              <a:t> ou </a:t>
            </a:r>
            <a:r>
              <a:rPr lang="fr-FR" sz="1600" b="1" dirty="0" err="1">
                <a:solidFill>
                  <a:srgbClr val="101820"/>
                </a:solidFill>
                <a:latin typeface="Montserrat"/>
              </a:rPr>
              <a:t>anyOf</a:t>
            </a:r>
            <a:endParaRPr lang="fr-FR" sz="1600" dirty="0"/>
          </a:p>
        </p:txBody>
      </p:sp>
      <p:sp>
        <p:nvSpPr>
          <p:cNvPr id="8" name="Rectangle 7"/>
          <p:cNvSpPr/>
          <p:nvPr/>
        </p:nvSpPr>
        <p:spPr>
          <a:xfrm>
            <a:off x="3752425" y="2245068"/>
            <a:ext cx="4321387" cy="4401205"/>
          </a:xfrm>
          <a:prstGeom prst="rect">
            <a:avLst/>
          </a:prstGeom>
        </p:spPr>
        <p:txBody>
          <a:bodyPr wrap="square">
            <a:spAutoFit/>
          </a:bodyPr>
          <a:lstStyle/>
          <a:p>
            <a:r>
              <a:rPr lang="fr-FR" sz="1400" dirty="0"/>
              <a:t>pipeline {</a:t>
            </a:r>
          </a:p>
          <a:p>
            <a:r>
              <a:rPr lang="fr-FR" sz="1400" dirty="0"/>
              <a:t>    agent </a:t>
            </a:r>
            <a:r>
              <a:rPr lang="fr-FR" sz="1400" dirty="0" err="1"/>
              <a:t>any</a:t>
            </a:r>
            <a:endParaRPr lang="fr-FR" sz="1400" dirty="0"/>
          </a:p>
          <a:p>
            <a:r>
              <a:rPr lang="fr-FR" sz="1400" dirty="0"/>
              <a:t>    </a:t>
            </a:r>
            <a:r>
              <a:rPr lang="fr-FR" sz="1400" b="1" dirty="0" err="1">
                <a:solidFill>
                  <a:srgbClr val="FF0000"/>
                </a:solidFill>
              </a:rPr>
              <a:t>environment</a:t>
            </a:r>
            <a:r>
              <a:rPr lang="fr-FR" sz="1400" b="1" dirty="0">
                <a:solidFill>
                  <a:srgbClr val="FF0000"/>
                </a:solidFill>
              </a:rPr>
              <a:t> {</a:t>
            </a:r>
          </a:p>
          <a:p>
            <a:r>
              <a:rPr lang="fr-FR" sz="1400" b="1" dirty="0">
                <a:solidFill>
                  <a:srgbClr val="FF0000"/>
                </a:solidFill>
              </a:rPr>
              <a:t>        IS_PRODUCTION = 'false'</a:t>
            </a:r>
          </a:p>
          <a:p>
            <a:r>
              <a:rPr lang="fr-FR" sz="1400" b="1" dirty="0">
                <a:solidFill>
                  <a:srgbClr val="FF0000"/>
                </a:solidFill>
              </a:rPr>
              <a:t>    }</a:t>
            </a:r>
          </a:p>
          <a:p>
            <a:r>
              <a:rPr lang="fr-FR" sz="1400" dirty="0"/>
              <a:t>    stages {</a:t>
            </a:r>
          </a:p>
          <a:p>
            <a:r>
              <a:rPr lang="fr-FR" sz="1400" dirty="0"/>
              <a:t>        stage('Test') {</a:t>
            </a:r>
          </a:p>
          <a:p>
            <a:r>
              <a:rPr lang="fr-FR" sz="1400" dirty="0"/>
              <a:t>            </a:t>
            </a:r>
            <a:r>
              <a:rPr lang="fr-FR" sz="1400" b="1" dirty="0" err="1">
                <a:solidFill>
                  <a:srgbClr val="FF0000"/>
                </a:solidFill>
              </a:rPr>
              <a:t>when</a:t>
            </a:r>
            <a:r>
              <a:rPr lang="fr-FR" sz="1400" b="1" dirty="0">
                <a:solidFill>
                  <a:srgbClr val="FF0000"/>
                </a:solidFill>
              </a:rPr>
              <a:t> {</a:t>
            </a:r>
          </a:p>
          <a:p>
            <a:r>
              <a:rPr lang="fr-FR" sz="1400" b="1" dirty="0">
                <a:solidFill>
                  <a:srgbClr val="FF0000"/>
                </a:solidFill>
              </a:rPr>
              <a:t>                not {</a:t>
            </a:r>
          </a:p>
          <a:p>
            <a:r>
              <a:rPr lang="fr-FR" sz="1400" b="1" dirty="0">
                <a:solidFill>
                  <a:srgbClr val="FF0000"/>
                </a:solidFill>
              </a:rPr>
              <a:t>                    </a:t>
            </a:r>
            <a:r>
              <a:rPr lang="fr-FR" sz="1400" b="1" dirty="0" err="1">
                <a:solidFill>
                  <a:srgbClr val="FF0000"/>
                </a:solidFill>
              </a:rPr>
              <a:t>environment</a:t>
            </a:r>
            <a:r>
              <a:rPr lang="fr-FR" sz="1400" b="1" dirty="0">
                <a:solidFill>
                  <a:srgbClr val="FF0000"/>
                </a:solidFill>
              </a:rPr>
              <a:t> </a:t>
            </a:r>
            <a:r>
              <a:rPr lang="fr-FR" sz="1400" b="1" dirty="0" err="1">
                <a:solidFill>
                  <a:srgbClr val="FF0000"/>
                </a:solidFill>
              </a:rPr>
              <a:t>name</a:t>
            </a:r>
            <a:r>
              <a:rPr lang="fr-FR" sz="1400" b="1" dirty="0">
                <a:solidFill>
                  <a:srgbClr val="FF0000"/>
                </a:solidFill>
              </a:rPr>
              <a:t>: 'IS_PRODUCTION', value: '</a:t>
            </a:r>
            <a:r>
              <a:rPr lang="fr-FR" sz="1400" b="1" dirty="0" err="1">
                <a:solidFill>
                  <a:srgbClr val="FF0000"/>
                </a:solidFill>
              </a:rPr>
              <a:t>true</a:t>
            </a:r>
            <a:r>
              <a:rPr lang="fr-FR" sz="1400" b="1" dirty="0">
                <a:solidFill>
                  <a:srgbClr val="FF0000"/>
                </a:solidFill>
              </a:rPr>
              <a:t>'</a:t>
            </a:r>
          </a:p>
          <a:p>
            <a:r>
              <a:rPr lang="fr-FR" sz="1400" b="1" dirty="0">
                <a:solidFill>
                  <a:srgbClr val="FF0000"/>
                </a:solidFill>
              </a:rPr>
              <a:t>                }</a:t>
            </a:r>
          </a:p>
          <a:p>
            <a:r>
              <a:rPr lang="fr-FR" sz="1400" dirty="0"/>
              <a:t>            }</a:t>
            </a:r>
          </a:p>
          <a:p>
            <a:r>
              <a:rPr lang="fr-FR" sz="1400" dirty="0"/>
              <a:t>            </a:t>
            </a:r>
            <a:r>
              <a:rPr lang="fr-FR" sz="1400" dirty="0" err="1"/>
              <a:t>steps</a:t>
            </a:r>
            <a:r>
              <a:rPr lang="fr-FR" sz="1400" dirty="0"/>
              <a:t> {</a:t>
            </a:r>
          </a:p>
          <a:p>
            <a:r>
              <a:rPr lang="fr-FR" sz="1400" dirty="0"/>
              <a:t>                </a:t>
            </a:r>
            <a:r>
              <a:rPr lang="fr-FR" sz="1400" dirty="0" err="1"/>
              <a:t>echo</a:t>
            </a:r>
            <a:r>
              <a:rPr lang="fr-FR" sz="1400" dirty="0"/>
              <a:t> 'Running tests for non-production </a:t>
            </a:r>
            <a:r>
              <a:rPr lang="fr-FR" sz="1400" dirty="0" err="1"/>
              <a:t>environment</a:t>
            </a:r>
            <a:r>
              <a:rPr lang="fr-FR" sz="1400" dirty="0"/>
              <a:t>...'</a:t>
            </a:r>
          </a:p>
          <a:p>
            <a:r>
              <a:rPr lang="fr-FR" sz="1400" dirty="0"/>
              <a:t>            }</a:t>
            </a:r>
          </a:p>
          <a:p>
            <a:r>
              <a:rPr lang="fr-FR" sz="1400" dirty="0"/>
              <a:t>        }</a:t>
            </a:r>
          </a:p>
          <a:p>
            <a:r>
              <a:rPr lang="fr-FR" sz="1400" dirty="0"/>
              <a:t>    }</a:t>
            </a:r>
          </a:p>
          <a:p>
            <a:r>
              <a:rPr lang="fr-FR" sz="1400" dirty="0"/>
              <a:t>}</a:t>
            </a:r>
          </a:p>
        </p:txBody>
      </p:sp>
      <p:sp>
        <p:nvSpPr>
          <p:cNvPr id="11" name="Rectangle 10"/>
          <p:cNvSpPr/>
          <p:nvPr/>
        </p:nvSpPr>
        <p:spPr>
          <a:xfrm>
            <a:off x="5314855" y="6102680"/>
            <a:ext cx="2361544" cy="338554"/>
          </a:xfrm>
          <a:prstGeom prst="rect">
            <a:avLst/>
          </a:prstGeom>
        </p:spPr>
        <p:txBody>
          <a:bodyPr wrap="none">
            <a:spAutoFit/>
          </a:bodyPr>
          <a:lstStyle/>
          <a:p>
            <a:r>
              <a:rPr lang="fr-FR" sz="1600" dirty="0" smtClean="0">
                <a:solidFill>
                  <a:srgbClr val="101820"/>
                </a:solidFill>
                <a:latin typeface="Söhne"/>
              </a:rPr>
              <a:t>Exemple </a:t>
            </a:r>
            <a:r>
              <a:rPr lang="fr-FR" sz="1600" dirty="0" err="1" smtClean="0">
                <a:solidFill>
                  <a:srgbClr val="101820"/>
                </a:solidFill>
                <a:latin typeface="Söhne"/>
              </a:rPr>
              <a:t>when</a:t>
            </a:r>
            <a:r>
              <a:rPr lang="fr-FR" sz="1600" dirty="0" smtClean="0">
                <a:solidFill>
                  <a:srgbClr val="101820"/>
                </a:solidFill>
                <a:latin typeface="Söhne"/>
              </a:rPr>
              <a:t> avec not</a:t>
            </a:r>
            <a:endParaRPr lang="fr-FR" sz="1600" dirty="0">
              <a:latin typeface="Söhne"/>
            </a:endParaRPr>
          </a:p>
        </p:txBody>
      </p:sp>
    </p:spTree>
    <p:extLst>
      <p:ext uri="{BB962C8B-B14F-4D97-AF65-F5344CB8AC3E}">
        <p14:creationId xmlns:p14="http://schemas.microsoft.com/office/powerpoint/2010/main" val="407550669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6" name="Rectangle 5"/>
          <p:cNvSpPr/>
          <p:nvPr/>
        </p:nvSpPr>
        <p:spPr>
          <a:xfrm>
            <a:off x="270933" y="701470"/>
            <a:ext cx="813043" cy="369332"/>
          </a:xfrm>
          <a:prstGeom prst="rect">
            <a:avLst/>
          </a:prstGeom>
        </p:spPr>
        <p:txBody>
          <a:bodyPr wrap="none">
            <a:spAutoFit/>
          </a:bodyPr>
          <a:lstStyle/>
          <a:p>
            <a:r>
              <a:rPr lang="fr-FR" b="1" dirty="0" err="1" smtClean="0">
                <a:solidFill>
                  <a:srgbClr val="101820"/>
                </a:solidFill>
                <a:latin typeface="Montserrat"/>
              </a:rPr>
              <a:t>When</a:t>
            </a:r>
            <a:endParaRPr lang="fr-FR" dirty="0"/>
          </a:p>
        </p:txBody>
      </p:sp>
      <p:sp>
        <p:nvSpPr>
          <p:cNvPr id="7" name="Rectangle 6"/>
          <p:cNvSpPr/>
          <p:nvPr/>
        </p:nvSpPr>
        <p:spPr>
          <a:xfrm>
            <a:off x="440266" y="1070802"/>
            <a:ext cx="10857654" cy="830997"/>
          </a:xfrm>
          <a:prstGeom prst="rect">
            <a:avLst/>
          </a:prstGeom>
        </p:spPr>
        <p:txBody>
          <a:bodyPr wrap="square">
            <a:spAutoFit/>
          </a:bodyPr>
          <a:lstStyle/>
          <a:p>
            <a:r>
              <a:rPr lang="fr-FR" sz="1600" dirty="0">
                <a:latin typeface="Söhne "/>
              </a:rPr>
              <a:t>Ici, l'étape Déploiement ne s'exécutera que si les deux conditions sont remplies : la variable d'environnement </a:t>
            </a:r>
            <a:r>
              <a:rPr lang="fr-FR" sz="1600" b="1" dirty="0">
                <a:latin typeface="Söhne "/>
              </a:rPr>
              <a:t>EST_PRODUCTION</a:t>
            </a:r>
            <a:r>
              <a:rPr lang="fr-FR" sz="1600" dirty="0">
                <a:latin typeface="Söhne "/>
              </a:rPr>
              <a:t> est définie à </a:t>
            </a:r>
            <a:r>
              <a:rPr lang="fr-FR" sz="1600" b="1" dirty="0">
                <a:latin typeface="Söhne "/>
              </a:rPr>
              <a:t>'</a:t>
            </a:r>
            <a:r>
              <a:rPr lang="fr-FR" sz="1600" b="1" dirty="0" err="1">
                <a:latin typeface="Söhne "/>
              </a:rPr>
              <a:t>true</a:t>
            </a:r>
            <a:r>
              <a:rPr lang="fr-FR" sz="1600" dirty="0">
                <a:latin typeface="Söhne "/>
              </a:rPr>
              <a:t>', et la variable d'environnement </a:t>
            </a:r>
            <a:r>
              <a:rPr lang="fr-FR" sz="1600" b="1" dirty="0">
                <a:latin typeface="Söhne "/>
              </a:rPr>
              <a:t>NOM_BRANCHE</a:t>
            </a:r>
            <a:r>
              <a:rPr lang="fr-FR" sz="1600" dirty="0">
                <a:latin typeface="Söhne "/>
              </a:rPr>
              <a:t> est définie à </a:t>
            </a:r>
            <a:r>
              <a:rPr lang="fr-FR" sz="1600" b="1" dirty="0">
                <a:latin typeface="Söhne "/>
              </a:rPr>
              <a:t>'master</a:t>
            </a:r>
            <a:r>
              <a:rPr lang="fr-FR" sz="1600" dirty="0">
                <a:latin typeface="Söhne "/>
              </a:rPr>
              <a:t>'. Elle utilise la condition </a:t>
            </a:r>
            <a:r>
              <a:rPr lang="fr-FR" sz="1600" b="1" dirty="0" err="1">
                <a:latin typeface="Söhne "/>
              </a:rPr>
              <a:t>allOf</a:t>
            </a:r>
            <a:r>
              <a:rPr lang="fr-FR" sz="1600" dirty="0">
                <a:latin typeface="Söhne "/>
              </a:rPr>
              <a:t> pour combiner plusieurs conditions.</a:t>
            </a:r>
          </a:p>
        </p:txBody>
      </p:sp>
      <p:sp>
        <p:nvSpPr>
          <p:cNvPr id="9" name="Rectangle 8"/>
          <p:cNvSpPr/>
          <p:nvPr/>
        </p:nvSpPr>
        <p:spPr>
          <a:xfrm>
            <a:off x="3054895" y="2049363"/>
            <a:ext cx="6096000" cy="4401205"/>
          </a:xfrm>
          <a:prstGeom prst="rect">
            <a:avLst/>
          </a:prstGeom>
        </p:spPr>
        <p:txBody>
          <a:bodyPr>
            <a:spAutoFit/>
          </a:bodyPr>
          <a:lstStyle/>
          <a:p>
            <a:r>
              <a:rPr lang="fr-FR" sz="1400" dirty="0">
                <a:latin typeface="Söhne "/>
              </a:rPr>
              <a:t>pipeline {</a:t>
            </a:r>
          </a:p>
          <a:p>
            <a:r>
              <a:rPr lang="fr-FR" sz="1400" dirty="0">
                <a:latin typeface="Söhne "/>
              </a:rPr>
              <a:t>    agent </a:t>
            </a:r>
            <a:r>
              <a:rPr lang="fr-FR" sz="1400" dirty="0" err="1">
                <a:latin typeface="Söhne "/>
              </a:rPr>
              <a:t>any</a:t>
            </a:r>
            <a:endParaRPr lang="fr-FR" sz="1400" dirty="0">
              <a:latin typeface="Söhne "/>
            </a:endParaRPr>
          </a:p>
          <a:p>
            <a:r>
              <a:rPr lang="fr-FR" sz="1400" dirty="0">
                <a:latin typeface="Söhne "/>
              </a:rPr>
              <a:t>    </a:t>
            </a:r>
            <a:r>
              <a:rPr lang="fr-FR" sz="1400" b="1" dirty="0" err="1">
                <a:solidFill>
                  <a:srgbClr val="FF0000"/>
                </a:solidFill>
                <a:latin typeface="Söhne "/>
              </a:rPr>
              <a:t>environment</a:t>
            </a:r>
            <a:r>
              <a:rPr lang="fr-FR" sz="1400" b="1" dirty="0">
                <a:solidFill>
                  <a:srgbClr val="FF0000"/>
                </a:solidFill>
                <a:latin typeface="Söhne "/>
              </a:rPr>
              <a:t> {</a:t>
            </a:r>
          </a:p>
          <a:p>
            <a:r>
              <a:rPr lang="fr-FR" sz="1400" b="1" dirty="0">
                <a:solidFill>
                  <a:srgbClr val="FF0000"/>
                </a:solidFill>
                <a:latin typeface="Söhne "/>
              </a:rPr>
              <a:t>        EST_PRODUCTION = '</a:t>
            </a:r>
            <a:r>
              <a:rPr lang="fr-FR" sz="1400" b="1" dirty="0" err="1">
                <a:solidFill>
                  <a:srgbClr val="FF0000"/>
                </a:solidFill>
                <a:latin typeface="Söhne "/>
              </a:rPr>
              <a:t>true</a:t>
            </a:r>
            <a:r>
              <a:rPr lang="fr-FR" sz="1400" b="1" dirty="0">
                <a:solidFill>
                  <a:srgbClr val="FF0000"/>
                </a:solidFill>
                <a:latin typeface="Söhne "/>
              </a:rPr>
              <a:t>'</a:t>
            </a:r>
          </a:p>
          <a:p>
            <a:r>
              <a:rPr lang="fr-FR" sz="1400" b="1" dirty="0">
                <a:solidFill>
                  <a:srgbClr val="FF0000"/>
                </a:solidFill>
                <a:latin typeface="Söhne "/>
              </a:rPr>
              <a:t>        NOM_BRANCHE = 'master'</a:t>
            </a:r>
          </a:p>
          <a:p>
            <a:r>
              <a:rPr lang="fr-FR" sz="1400" b="1" dirty="0">
                <a:solidFill>
                  <a:srgbClr val="FF0000"/>
                </a:solidFill>
                <a:latin typeface="Söhne "/>
              </a:rPr>
              <a:t>    }</a:t>
            </a:r>
          </a:p>
          <a:p>
            <a:r>
              <a:rPr lang="fr-FR" sz="1400" dirty="0">
                <a:latin typeface="Söhne "/>
              </a:rPr>
              <a:t>    stages {</a:t>
            </a:r>
          </a:p>
          <a:p>
            <a:r>
              <a:rPr lang="fr-FR" sz="1400" dirty="0">
                <a:latin typeface="Söhne "/>
              </a:rPr>
              <a:t>        stage('Déploiement') {</a:t>
            </a:r>
          </a:p>
          <a:p>
            <a:r>
              <a:rPr lang="fr-FR" sz="1400" dirty="0">
                <a:latin typeface="Söhne "/>
              </a:rPr>
              <a:t>            </a:t>
            </a:r>
            <a:r>
              <a:rPr lang="fr-FR" sz="1400" b="1" dirty="0" err="1">
                <a:solidFill>
                  <a:srgbClr val="FF0000"/>
                </a:solidFill>
                <a:latin typeface="Söhne "/>
              </a:rPr>
              <a:t>when</a:t>
            </a:r>
            <a:r>
              <a:rPr lang="fr-FR" sz="1400" b="1" dirty="0">
                <a:solidFill>
                  <a:srgbClr val="FF0000"/>
                </a:solidFill>
                <a:latin typeface="Söhne "/>
              </a:rPr>
              <a:t> {</a:t>
            </a:r>
          </a:p>
          <a:p>
            <a:r>
              <a:rPr lang="fr-FR" sz="1400" b="1" dirty="0">
                <a:solidFill>
                  <a:srgbClr val="FF0000"/>
                </a:solidFill>
                <a:latin typeface="Söhne "/>
              </a:rPr>
              <a:t>                </a:t>
            </a:r>
            <a:r>
              <a:rPr lang="fr-FR" sz="1400" b="1" dirty="0" err="1">
                <a:solidFill>
                  <a:srgbClr val="FF0000"/>
                </a:solidFill>
                <a:latin typeface="Söhne "/>
              </a:rPr>
              <a:t>allOf</a:t>
            </a:r>
            <a:r>
              <a:rPr lang="fr-FR" sz="1400" b="1" dirty="0">
                <a:solidFill>
                  <a:srgbClr val="FF0000"/>
                </a:solidFill>
                <a:latin typeface="Söhne "/>
              </a:rPr>
              <a:t> {</a:t>
            </a:r>
          </a:p>
          <a:p>
            <a:r>
              <a:rPr lang="fr-FR" sz="1400" b="1" dirty="0">
                <a:solidFill>
                  <a:srgbClr val="FF0000"/>
                </a:solidFill>
                <a:latin typeface="Söhne "/>
              </a:rPr>
              <a:t>                    </a:t>
            </a:r>
            <a:r>
              <a:rPr lang="fr-FR" sz="1400" b="1" dirty="0" err="1">
                <a:solidFill>
                  <a:srgbClr val="FF0000"/>
                </a:solidFill>
                <a:latin typeface="Söhne "/>
              </a:rPr>
              <a:t>environment</a:t>
            </a:r>
            <a:r>
              <a:rPr lang="fr-FR" sz="1400" b="1" dirty="0">
                <a:solidFill>
                  <a:srgbClr val="FF0000"/>
                </a:solidFill>
                <a:latin typeface="Söhne "/>
              </a:rPr>
              <a:t> </a:t>
            </a:r>
            <a:r>
              <a:rPr lang="fr-FR" sz="1400" b="1" dirty="0" err="1">
                <a:solidFill>
                  <a:srgbClr val="FF0000"/>
                </a:solidFill>
                <a:latin typeface="Söhne "/>
              </a:rPr>
              <a:t>name</a:t>
            </a:r>
            <a:r>
              <a:rPr lang="fr-FR" sz="1400" b="1" dirty="0">
                <a:solidFill>
                  <a:srgbClr val="FF0000"/>
                </a:solidFill>
                <a:latin typeface="Söhne "/>
              </a:rPr>
              <a:t>: 'EST_PRODUCTION', value: '</a:t>
            </a:r>
            <a:r>
              <a:rPr lang="fr-FR" sz="1400" b="1" dirty="0" err="1">
                <a:solidFill>
                  <a:srgbClr val="FF0000"/>
                </a:solidFill>
                <a:latin typeface="Söhne "/>
              </a:rPr>
              <a:t>true</a:t>
            </a:r>
            <a:r>
              <a:rPr lang="fr-FR" sz="1400" b="1" dirty="0">
                <a:solidFill>
                  <a:srgbClr val="FF0000"/>
                </a:solidFill>
                <a:latin typeface="Söhne "/>
              </a:rPr>
              <a:t>'</a:t>
            </a:r>
          </a:p>
          <a:p>
            <a:r>
              <a:rPr lang="fr-FR" sz="1400" b="1" dirty="0">
                <a:solidFill>
                  <a:srgbClr val="FF0000"/>
                </a:solidFill>
                <a:latin typeface="Söhne "/>
              </a:rPr>
              <a:t>                    </a:t>
            </a:r>
            <a:r>
              <a:rPr lang="fr-FR" sz="1400" b="1" dirty="0" err="1">
                <a:solidFill>
                  <a:srgbClr val="FF0000"/>
                </a:solidFill>
                <a:latin typeface="Söhne "/>
              </a:rPr>
              <a:t>environment</a:t>
            </a:r>
            <a:r>
              <a:rPr lang="fr-FR" sz="1400" b="1" dirty="0">
                <a:solidFill>
                  <a:srgbClr val="FF0000"/>
                </a:solidFill>
                <a:latin typeface="Söhne "/>
              </a:rPr>
              <a:t> </a:t>
            </a:r>
            <a:r>
              <a:rPr lang="fr-FR" sz="1400" b="1" dirty="0" err="1">
                <a:solidFill>
                  <a:srgbClr val="FF0000"/>
                </a:solidFill>
                <a:latin typeface="Söhne "/>
              </a:rPr>
              <a:t>name</a:t>
            </a:r>
            <a:r>
              <a:rPr lang="fr-FR" sz="1400" b="1" dirty="0">
                <a:solidFill>
                  <a:srgbClr val="FF0000"/>
                </a:solidFill>
                <a:latin typeface="Söhne "/>
              </a:rPr>
              <a:t>: 'NOM_BRANCHE', value: 'master'</a:t>
            </a:r>
          </a:p>
          <a:p>
            <a:r>
              <a:rPr lang="fr-FR" sz="1400" b="1" dirty="0">
                <a:solidFill>
                  <a:srgbClr val="FF0000"/>
                </a:solidFill>
                <a:latin typeface="Söhne "/>
              </a:rPr>
              <a:t>                }</a:t>
            </a:r>
          </a:p>
          <a:p>
            <a:r>
              <a:rPr lang="fr-FR" sz="1400" dirty="0">
                <a:latin typeface="Söhne "/>
              </a:rPr>
              <a:t>            }</a:t>
            </a:r>
          </a:p>
          <a:p>
            <a:r>
              <a:rPr lang="fr-FR" sz="1400" dirty="0">
                <a:latin typeface="Söhne "/>
              </a:rPr>
              <a:t>            </a:t>
            </a:r>
            <a:r>
              <a:rPr lang="fr-FR" sz="1400" dirty="0" err="1">
                <a:latin typeface="Söhne "/>
              </a:rPr>
              <a:t>steps</a:t>
            </a:r>
            <a:r>
              <a:rPr lang="fr-FR" sz="1400" dirty="0">
                <a:latin typeface="Söhne "/>
              </a:rPr>
              <a:t> {</a:t>
            </a:r>
          </a:p>
          <a:p>
            <a:r>
              <a:rPr lang="fr-FR" sz="1400" dirty="0">
                <a:latin typeface="Söhne "/>
              </a:rPr>
              <a:t>                </a:t>
            </a:r>
            <a:r>
              <a:rPr lang="fr-FR" sz="1400" dirty="0" err="1">
                <a:latin typeface="Söhne "/>
              </a:rPr>
              <a:t>echo</a:t>
            </a:r>
            <a:r>
              <a:rPr lang="fr-FR" sz="1400" dirty="0">
                <a:latin typeface="Söhne "/>
              </a:rPr>
              <a:t> 'Déploiement en production pour la branche master...'</a:t>
            </a:r>
          </a:p>
          <a:p>
            <a:r>
              <a:rPr lang="fr-FR" sz="1400" dirty="0">
                <a:latin typeface="Söhne "/>
              </a:rPr>
              <a:t>            }</a:t>
            </a:r>
          </a:p>
          <a:p>
            <a:r>
              <a:rPr lang="fr-FR" sz="1400" dirty="0">
                <a:latin typeface="Söhne "/>
              </a:rPr>
              <a:t>        }</a:t>
            </a:r>
          </a:p>
          <a:p>
            <a:r>
              <a:rPr lang="fr-FR" sz="1400" dirty="0">
                <a:latin typeface="Söhne "/>
              </a:rPr>
              <a:t>    }</a:t>
            </a:r>
          </a:p>
          <a:p>
            <a:r>
              <a:rPr lang="fr-FR" sz="1400" dirty="0">
                <a:latin typeface="Söhne "/>
              </a:rPr>
              <a:t>}</a:t>
            </a:r>
          </a:p>
        </p:txBody>
      </p:sp>
    </p:spTree>
    <p:extLst>
      <p:ext uri="{BB962C8B-B14F-4D97-AF65-F5344CB8AC3E}">
        <p14:creationId xmlns:p14="http://schemas.microsoft.com/office/powerpoint/2010/main" val="241650922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6" name="Rectangle 5"/>
          <p:cNvSpPr/>
          <p:nvPr/>
        </p:nvSpPr>
        <p:spPr>
          <a:xfrm>
            <a:off x="270933" y="701470"/>
            <a:ext cx="813043" cy="369332"/>
          </a:xfrm>
          <a:prstGeom prst="rect">
            <a:avLst/>
          </a:prstGeom>
        </p:spPr>
        <p:txBody>
          <a:bodyPr wrap="none">
            <a:spAutoFit/>
          </a:bodyPr>
          <a:lstStyle/>
          <a:p>
            <a:r>
              <a:rPr lang="fr-FR" b="1" dirty="0" err="1" smtClean="0">
                <a:solidFill>
                  <a:srgbClr val="101820"/>
                </a:solidFill>
                <a:latin typeface="Montserrat"/>
              </a:rPr>
              <a:t>When</a:t>
            </a:r>
            <a:endParaRPr lang="fr-FR" dirty="0"/>
          </a:p>
        </p:txBody>
      </p:sp>
      <p:sp>
        <p:nvSpPr>
          <p:cNvPr id="3" name="Rectangle 2"/>
          <p:cNvSpPr/>
          <p:nvPr/>
        </p:nvSpPr>
        <p:spPr>
          <a:xfrm>
            <a:off x="447040" y="1125696"/>
            <a:ext cx="11155680" cy="830997"/>
          </a:xfrm>
          <a:prstGeom prst="rect">
            <a:avLst/>
          </a:prstGeom>
        </p:spPr>
        <p:txBody>
          <a:bodyPr wrap="square">
            <a:spAutoFit/>
          </a:bodyPr>
          <a:lstStyle/>
          <a:p>
            <a:r>
              <a:rPr lang="fr-FR" sz="1600" dirty="0">
                <a:latin typeface="Söhne "/>
              </a:rPr>
              <a:t>Cet exemple démontre que l'étape Déploiement s'exécutera si la variable d'environnement </a:t>
            </a:r>
            <a:r>
              <a:rPr lang="fr-FR" sz="1600" b="1" dirty="0">
                <a:latin typeface="Söhne "/>
              </a:rPr>
              <a:t>NOM_BRANCHE</a:t>
            </a:r>
            <a:r>
              <a:rPr lang="fr-FR" sz="1600" dirty="0">
                <a:latin typeface="Söhne "/>
              </a:rPr>
              <a:t> est soit 'master', soit </a:t>
            </a:r>
            <a:r>
              <a:rPr lang="fr-FR" sz="1600" b="1" dirty="0">
                <a:latin typeface="Söhne "/>
              </a:rPr>
              <a:t>'</a:t>
            </a:r>
            <a:r>
              <a:rPr lang="fr-FR" sz="1600" b="1" dirty="0" err="1">
                <a:latin typeface="Söhne "/>
              </a:rPr>
              <a:t>develop</a:t>
            </a:r>
            <a:r>
              <a:rPr lang="fr-FR" sz="1600" dirty="0">
                <a:latin typeface="Söhne "/>
              </a:rPr>
              <a:t>'. Elle utilise la condition </a:t>
            </a:r>
            <a:r>
              <a:rPr lang="fr-FR" sz="1600" b="1" dirty="0" err="1">
                <a:latin typeface="Söhne "/>
              </a:rPr>
              <a:t>anyOf</a:t>
            </a:r>
            <a:r>
              <a:rPr lang="fr-FR" sz="1600" dirty="0">
                <a:latin typeface="Söhne "/>
              </a:rPr>
              <a:t> pour spécifier qu'au moins l'une des conditions spécifiées doit être vraie pour que l'étape s'exécute.</a:t>
            </a:r>
          </a:p>
        </p:txBody>
      </p:sp>
      <p:sp>
        <p:nvSpPr>
          <p:cNvPr id="4" name="Rectangle 3"/>
          <p:cNvSpPr/>
          <p:nvPr/>
        </p:nvSpPr>
        <p:spPr>
          <a:xfrm>
            <a:off x="2810934" y="1956693"/>
            <a:ext cx="6096000" cy="4401205"/>
          </a:xfrm>
          <a:prstGeom prst="rect">
            <a:avLst/>
          </a:prstGeom>
        </p:spPr>
        <p:txBody>
          <a:bodyPr>
            <a:spAutoFit/>
          </a:bodyPr>
          <a:lstStyle/>
          <a:p>
            <a:r>
              <a:rPr lang="fr-FR" sz="1400" dirty="0"/>
              <a:t>pipeline {</a:t>
            </a:r>
          </a:p>
          <a:p>
            <a:r>
              <a:rPr lang="fr-FR" sz="1400" dirty="0"/>
              <a:t>    agent </a:t>
            </a:r>
            <a:r>
              <a:rPr lang="fr-FR" sz="1400" dirty="0" err="1"/>
              <a:t>any</a:t>
            </a:r>
            <a:endParaRPr lang="fr-FR" sz="1400" dirty="0"/>
          </a:p>
          <a:p>
            <a:r>
              <a:rPr lang="fr-FR" sz="1400" b="1" dirty="0">
                <a:solidFill>
                  <a:srgbClr val="FF0000"/>
                </a:solidFill>
              </a:rPr>
              <a:t>    </a:t>
            </a:r>
            <a:r>
              <a:rPr lang="fr-FR" sz="1400" b="1" dirty="0" err="1">
                <a:solidFill>
                  <a:srgbClr val="FF0000"/>
                </a:solidFill>
              </a:rPr>
              <a:t>environment</a:t>
            </a:r>
            <a:r>
              <a:rPr lang="fr-FR" sz="1400" b="1" dirty="0">
                <a:solidFill>
                  <a:srgbClr val="FF0000"/>
                </a:solidFill>
              </a:rPr>
              <a:t> {</a:t>
            </a:r>
          </a:p>
          <a:p>
            <a:r>
              <a:rPr lang="fr-FR" sz="1400" b="1" dirty="0">
                <a:solidFill>
                  <a:srgbClr val="FF0000"/>
                </a:solidFill>
              </a:rPr>
              <a:t>        NOM_BRANCHE = 'master'</a:t>
            </a:r>
          </a:p>
          <a:p>
            <a:r>
              <a:rPr lang="fr-FR" sz="1400" b="1" dirty="0">
                <a:solidFill>
                  <a:srgbClr val="FF0000"/>
                </a:solidFill>
              </a:rPr>
              <a:t>    }</a:t>
            </a:r>
          </a:p>
          <a:p>
            <a:r>
              <a:rPr lang="fr-FR" sz="1400" dirty="0"/>
              <a:t>    stages {</a:t>
            </a:r>
          </a:p>
          <a:p>
            <a:r>
              <a:rPr lang="fr-FR" sz="1400" dirty="0"/>
              <a:t>        stage('Déploiement') {</a:t>
            </a:r>
          </a:p>
          <a:p>
            <a:r>
              <a:rPr lang="fr-FR" sz="1400" dirty="0"/>
              <a:t>            </a:t>
            </a:r>
            <a:r>
              <a:rPr lang="fr-FR" sz="1400" b="1" dirty="0" err="1">
                <a:solidFill>
                  <a:srgbClr val="FF0000"/>
                </a:solidFill>
              </a:rPr>
              <a:t>when</a:t>
            </a:r>
            <a:r>
              <a:rPr lang="fr-FR" sz="1400" b="1" dirty="0">
                <a:solidFill>
                  <a:srgbClr val="FF0000"/>
                </a:solidFill>
              </a:rPr>
              <a:t> {</a:t>
            </a:r>
          </a:p>
          <a:p>
            <a:r>
              <a:rPr lang="fr-FR" sz="1400" b="1" dirty="0">
                <a:solidFill>
                  <a:srgbClr val="FF0000"/>
                </a:solidFill>
              </a:rPr>
              <a:t>                </a:t>
            </a:r>
            <a:r>
              <a:rPr lang="fr-FR" sz="1400" b="1" dirty="0" err="1">
                <a:solidFill>
                  <a:srgbClr val="FF0000"/>
                </a:solidFill>
              </a:rPr>
              <a:t>anyOf</a:t>
            </a:r>
            <a:r>
              <a:rPr lang="fr-FR" sz="1400" b="1" dirty="0">
                <a:solidFill>
                  <a:srgbClr val="FF0000"/>
                </a:solidFill>
              </a:rPr>
              <a:t> {</a:t>
            </a:r>
          </a:p>
          <a:p>
            <a:r>
              <a:rPr lang="fr-FR" sz="1400" b="1" dirty="0">
                <a:solidFill>
                  <a:srgbClr val="FF0000"/>
                </a:solidFill>
              </a:rPr>
              <a:t>                    </a:t>
            </a:r>
            <a:r>
              <a:rPr lang="fr-FR" sz="1400" b="1" dirty="0" err="1">
                <a:solidFill>
                  <a:srgbClr val="FF0000"/>
                </a:solidFill>
              </a:rPr>
              <a:t>environment</a:t>
            </a:r>
            <a:r>
              <a:rPr lang="fr-FR" sz="1400" b="1" dirty="0">
                <a:solidFill>
                  <a:srgbClr val="FF0000"/>
                </a:solidFill>
              </a:rPr>
              <a:t> </a:t>
            </a:r>
            <a:r>
              <a:rPr lang="fr-FR" sz="1400" b="1" dirty="0" err="1">
                <a:solidFill>
                  <a:srgbClr val="FF0000"/>
                </a:solidFill>
              </a:rPr>
              <a:t>name</a:t>
            </a:r>
            <a:r>
              <a:rPr lang="fr-FR" sz="1400" b="1" dirty="0">
                <a:solidFill>
                  <a:srgbClr val="FF0000"/>
                </a:solidFill>
              </a:rPr>
              <a:t>: 'NOM_BRANCHE', value: 'master'</a:t>
            </a:r>
          </a:p>
          <a:p>
            <a:r>
              <a:rPr lang="fr-FR" sz="1400" b="1" dirty="0">
                <a:solidFill>
                  <a:srgbClr val="FF0000"/>
                </a:solidFill>
              </a:rPr>
              <a:t>                    </a:t>
            </a:r>
            <a:r>
              <a:rPr lang="fr-FR" sz="1400" b="1" dirty="0" err="1">
                <a:solidFill>
                  <a:srgbClr val="FF0000"/>
                </a:solidFill>
              </a:rPr>
              <a:t>environment</a:t>
            </a:r>
            <a:r>
              <a:rPr lang="fr-FR" sz="1400" b="1" dirty="0">
                <a:solidFill>
                  <a:srgbClr val="FF0000"/>
                </a:solidFill>
              </a:rPr>
              <a:t> </a:t>
            </a:r>
            <a:r>
              <a:rPr lang="fr-FR" sz="1400" b="1" dirty="0" err="1">
                <a:solidFill>
                  <a:srgbClr val="FF0000"/>
                </a:solidFill>
              </a:rPr>
              <a:t>name</a:t>
            </a:r>
            <a:r>
              <a:rPr lang="fr-FR" sz="1400" b="1" dirty="0">
                <a:solidFill>
                  <a:srgbClr val="FF0000"/>
                </a:solidFill>
              </a:rPr>
              <a:t>: 'NOM_BRANCHE', value: '</a:t>
            </a:r>
            <a:r>
              <a:rPr lang="fr-FR" sz="1400" b="1" dirty="0" err="1">
                <a:solidFill>
                  <a:srgbClr val="FF0000"/>
                </a:solidFill>
              </a:rPr>
              <a:t>develop</a:t>
            </a:r>
            <a:r>
              <a:rPr lang="fr-FR" sz="1400" b="1" dirty="0">
                <a:solidFill>
                  <a:srgbClr val="FF0000"/>
                </a:solidFill>
              </a:rPr>
              <a:t>'</a:t>
            </a:r>
          </a:p>
          <a:p>
            <a:r>
              <a:rPr lang="fr-FR" sz="1400" b="1" dirty="0">
                <a:solidFill>
                  <a:srgbClr val="FF0000"/>
                </a:solidFill>
              </a:rPr>
              <a:t>                }</a:t>
            </a:r>
          </a:p>
          <a:p>
            <a:r>
              <a:rPr lang="fr-FR" sz="1400" b="1" dirty="0">
                <a:solidFill>
                  <a:srgbClr val="FF0000"/>
                </a:solidFill>
              </a:rPr>
              <a:t>            }</a:t>
            </a:r>
          </a:p>
          <a:p>
            <a:r>
              <a:rPr lang="fr-FR" sz="1400" dirty="0"/>
              <a:t>            </a:t>
            </a:r>
            <a:r>
              <a:rPr lang="fr-FR" sz="1400" dirty="0" err="1"/>
              <a:t>steps</a:t>
            </a:r>
            <a:r>
              <a:rPr lang="fr-FR" sz="1400" dirty="0"/>
              <a:t> {</a:t>
            </a:r>
          </a:p>
          <a:p>
            <a:r>
              <a:rPr lang="fr-FR" sz="1400" dirty="0"/>
              <a:t>                </a:t>
            </a:r>
            <a:r>
              <a:rPr lang="fr-FR" sz="1400" dirty="0" err="1"/>
              <a:t>echo</a:t>
            </a:r>
            <a:r>
              <a:rPr lang="fr-FR" sz="1400" dirty="0"/>
              <a:t> 'Déploiement sur la plateforme de test pour les branches master ou </a:t>
            </a:r>
            <a:r>
              <a:rPr lang="fr-FR" sz="1400" dirty="0" err="1"/>
              <a:t>develop</a:t>
            </a:r>
            <a:r>
              <a:rPr lang="fr-FR" sz="1400" dirty="0"/>
              <a:t>...'</a:t>
            </a:r>
          </a:p>
          <a:p>
            <a:r>
              <a:rPr lang="fr-FR" sz="1400" dirty="0"/>
              <a:t>            }</a:t>
            </a:r>
          </a:p>
          <a:p>
            <a:r>
              <a:rPr lang="fr-FR" sz="1400" dirty="0"/>
              <a:t>        }</a:t>
            </a:r>
          </a:p>
          <a:p>
            <a:r>
              <a:rPr lang="fr-FR" sz="1400" dirty="0"/>
              <a:t>    }</a:t>
            </a:r>
          </a:p>
          <a:p>
            <a:r>
              <a:rPr lang="fr-FR" sz="1400" dirty="0"/>
              <a:t>}</a:t>
            </a:r>
          </a:p>
        </p:txBody>
      </p:sp>
    </p:spTree>
    <p:extLst>
      <p:ext uri="{BB962C8B-B14F-4D97-AF65-F5344CB8AC3E}">
        <p14:creationId xmlns:p14="http://schemas.microsoft.com/office/powerpoint/2010/main" val="47458377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6" name="Rectangle 5"/>
          <p:cNvSpPr/>
          <p:nvPr/>
        </p:nvSpPr>
        <p:spPr>
          <a:xfrm>
            <a:off x="270933" y="701470"/>
            <a:ext cx="3070071" cy="369332"/>
          </a:xfrm>
          <a:prstGeom prst="rect">
            <a:avLst/>
          </a:prstGeom>
        </p:spPr>
        <p:txBody>
          <a:bodyPr wrap="none">
            <a:spAutoFit/>
          </a:bodyPr>
          <a:lstStyle/>
          <a:p>
            <a:r>
              <a:rPr lang="fr-FR" b="1" dirty="0" smtClean="0">
                <a:solidFill>
                  <a:srgbClr val="101820"/>
                </a:solidFill>
                <a:latin typeface="Montserrat"/>
              </a:rPr>
              <a:t>La gestion des exceptions</a:t>
            </a:r>
            <a:endParaRPr lang="fr-FR" dirty="0"/>
          </a:p>
        </p:txBody>
      </p:sp>
      <p:sp>
        <p:nvSpPr>
          <p:cNvPr id="2" name="Rectangle 1"/>
          <p:cNvSpPr/>
          <p:nvPr/>
        </p:nvSpPr>
        <p:spPr>
          <a:xfrm>
            <a:off x="379306" y="1920301"/>
            <a:ext cx="6096000" cy="3139321"/>
          </a:xfrm>
          <a:prstGeom prst="rect">
            <a:avLst/>
          </a:prstGeom>
        </p:spPr>
        <p:txBody>
          <a:bodyPr>
            <a:spAutoFit/>
          </a:bodyPr>
          <a:lstStyle/>
          <a:p>
            <a:r>
              <a:rPr lang="en-US" dirty="0">
                <a:latin typeface="Roboto Mono"/>
              </a:rPr>
              <a:t>node {</a:t>
            </a:r>
            <a:r>
              <a:rPr lang="en-US" dirty="0"/>
              <a:t/>
            </a:r>
            <a:br>
              <a:rPr lang="en-US" dirty="0"/>
            </a:br>
            <a:r>
              <a:rPr lang="en-US" dirty="0">
                <a:latin typeface="Roboto Mono"/>
              </a:rPr>
              <a:t>  stage('</a:t>
            </a:r>
            <a:r>
              <a:rPr lang="en-US" dirty="0" err="1">
                <a:latin typeface="Roboto Mono"/>
              </a:rPr>
              <a:t>SampleTryCatch</a:t>
            </a:r>
            <a:r>
              <a:rPr lang="en-US" dirty="0">
                <a:latin typeface="Roboto Mono"/>
              </a:rPr>
              <a:t>') {</a:t>
            </a:r>
            <a:r>
              <a:rPr lang="en-US" dirty="0"/>
              <a:t/>
            </a:r>
            <a:br>
              <a:rPr lang="en-US" dirty="0"/>
            </a:br>
            <a:r>
              <a:rPr lang="en-US" dirty="0">
                <a:latin typeface="Roboto Mono"/>
              </a:rPr>
              <a:t>    </a:t>
            </a:r>
            <a:r>
              <a:rPr lang="en-US" b="1" dirty="0">
                <a:solidFill>
                  <a:srgbClr val="FF0000"/>
                </a:solidFill>
                <a:latin typeface="Roboto Mono"/>
              </a:rPr>
              <a:t>try {</a:t>
            </a:r>
            <a:r>
              <a:rPr lang="en-US" dirty="0"/>
              <a:t/>
            </a:r>
            <a:br>
              <a:rPr lang="en-US" dirty="0"/>
            </a:br>
            <a:r>
              <a:rPr lang="en-US" dirty="0">
                <a:latin typeface="Roboto Mono"/>
              </a:rPr>
              <a:t>      </a:t>
            </a:r>
            <a:r>
              <a:rPr lang="en-US" dirty="0" err="1">
                <a:latin typeface="Roboto Mono"/>
              </a:rPr>
              <a:t>sh</a:t>
            </a:r>
            <a:r>
              <a:rPr lang="en-US" dirty="0">
                <a:latin typeface="Roboto Mono"/>
              </a:rPr>
              <a:t> 'exit 1'</a:t>
            </a:r>
            <a:r>
              <a:rPr lang="en-US" dirty="0"/>
              <a:t/>
            </a:r>
            <a:br>
              <a:rPr lang="en-US" dirty="0"/>
            </a:br>
            <a:r>
              <a:rPr lang="en-US" dirty="0">
                <a:latin typeface="Roboto Mono"/>
              </a:rPr>
              <a:t>    </a:t>
            </a:r>
            <a:r>
              <a:rPr lang="en-US" b="1" dirty="0">
                <a:solidFill>
                  <a:srgbClr val="FF0000"/>
                </a:solidFill>
                <a:latin typeface="Roboto Mono"/>
              </a:rPr>
              <a:t>}</a:t>
            </a:r>
            <a:r>
              <a:rPr lang="en-US" b="1" dirty="0"/>
              <a:t/>
            </a:r>
            <a:br>
              <a:rPr lang="en-US" b="1" dirty="0"/>
            </a:br>
            <a:r>
              <a:rPr lang="en-US" b="1" dirty="0">
                <a:latin typeface="Roboto Mono"/>
              </a:rPr>
              <a:t>    </a:t>
            </a:r>
            <a:r>
              <a:rPr lang="en-US" b="1" dirty="0">
                <a:solidFill>
                  <a:srgbClr val="FF0000"/>
                </a:solidFill>
                <a:latin typeface="Roboto Mono"/>
              </a:rPr>
              <a:t>catch (</a:t>
            </a:r>
            <a:r>
              <a:rPr lang="en-US" b="1" dirty="0" err="1">
                <a:solidFill>
                  <a:srgbClr val="FF0000"/>
                </a:solidFill>
                <a:latin typeface="Roboto Mono"/>
              </a:rPr>
              <a:t>exc</a:t>
            </a:r>
            <a:r>
              <a:rPr lang="en-US" b="1" dirty="0">
                <a:solidFill>
                  <a:srgbClr val="FF0000"/>
                </a:solidFill>
                <a:latin typeface="Roboto Mono"/>
              </a:rPr>
              <a:t>) {</a:t>
            </a:r>
            <a:r>
              <a:rPr lang="en-US" b="1" dirty="0">
                <a:solidFill>
                  <a:srgbClr val="FF0000"/>
                </a:solidFill>
              </a:rPr>
              <a:t/>
            </a:r>
            <a:br>
              <a:rPr lang="en-US" b="1" dirty="0">
                <a:solidFill>
                  <a:srgbClr val="FF0000"/>
                </a:solidFill>
              </a:rPr>
            </a:br>
            <a:r>
              <a:rPr lang="en-US" dirty="0">
                <a:latin typeface="Roboto Mono"/>
              </a:rPr>
              <a:t>      echo 'Something didn't work and got some exceptions'</a:t>
            </a:r>
            <a:r>
              <a:rPr lang="en-US" dirty="0"/>
              <a:t/>
            </a:r>
            <a:br>
              <a:rPr lang="en-US" dirty="0"/>
            </a:br>
            <a:r>
              <a:rPr lang="en-US" dirty="0">
                <a:latin typeface="Roboto Mono"/>
              </a:rPr>
              <a:t>      </a:t>
            </a:r>
            <a:r>
              <a:rPr lang="en-US" b="1" dirty="0">
                <a:solidFill>
                  <a:srgbClr val="FF0000"/>
                </a:solidFill>
                <a:latin typeface="Roboto Mono"/>
              </a:rPr>
              <a:t>throw</a:t>
            </a:r>
            <a:r>
              <a:rPr lang="en-US" b="1" dirty="0">
                <a:solidFill>
                  <a:srgbClr val="FF0000"/>
                </a:solidFill>
              </a:rPr>
              <a:t/>
            </a:r>
            <a:br>
              <a:rPr lang="en-US" b="1" dirty="0">
                <a:solidFill>
                  <a:srgbClr val="FF0000"/>
                </a:solidFill>
              </a:rPr>
            </a:br>
            <a:r>
              <a:rPr lang="en-US" b="1" dirty="0">
                <a:solidFill>
                  <a:srgbClr val="FF0000"/>
                </a:solidFill>
                <a:latin typeface="Roboto Mono"/>
              </a:rPr>
              <a:t>    }</a:t>
            </a:r>
            <a:r>
              <a:rPr lang="en-US" dirty="0"/>
              <a:t/>
            </a:r>
            <a:br>
              <a:rPr lang="en-US" dirty="0"/>
            </a:br>
            <a:r>
              <a:rPr lang="en-US" dirty="0">
                <a:latin typeface="Roboto Mono"/>
              </a:rPr>
              <a:t>  }</a:t>
            </a:r>
            <a:r>
              <a:rPr lang="en-US" dirty="0"/>
              <a:t/>
            </a:r>
            <a:br>
              <a:rPr lang="en-US" dirty="0"/>
            </a:br>
            <a:r>
              <a:rPr lang="en-US" dirty="0">
                <a:latin typeface="Roboto Mono"/>
              </a:rPr>
              <a:t>}</a:t>
            </a:r>
            <a:endParaRPr lang="fr-FR" dirty="0"/>
          </a:p>
        </p:txBody>
      </p:sp>
      <p:sp>
        <p:nvSpPr>
          <p:cNvPr id="5" name="Rectangle 4"/>
          <p:cNvSpPr/>
          <p:nvPr/>
        </p:nvSpPr>
        <p:spPr>
          <a:xfrm>
            <a:off x="270933" y="1197357"/>
            <a:ext cx="10586720" cy="646331"/>
          </a:xfrm>
          <a:prstGeom prst="rect">
            <a:avLst/>
          </a:prstGeom>
        </p:spPr>
        <p:txBody>
          <a:bodyPr wrap="square">
            <a:spAutoFit/>
          </a:bodyPr>
          <a:lstStyle/>
          <a:p>
            <a:r>
              <a:rPr lang="fr-FR" dirty="0">
                <a:latin typeface="Montserrat"/>
              </a:rPr>
              <a:t>Pour la gestion </a:t>
            </a:r>
            <a:r>
              <a:rPr lang="fr-FR" dirty="0">
                <a:latin typeface="Söhne"/>
              </a:rPr>
              <a:t>des</a:t>
            </a:r>
            <a:r>
              <a:rPr lang="fr-FR" dirty="0">
                <a:latin typeface="Montserrat"/>
              </a:rPr>
              <a:t> </a:t>
            </a:r>
            <a:r>
              <a:rPr lang="fr-FR" dirty="0" smtClean="0">
                <a:latin typeface="Montserrat"/>
              </a:rPr>
              <a:t>exceptions</a:t>
            </a:r>
            <a:r>
              <a:rPr lang="fr-FR" dirty="0">
                <a:latin typeface="Montserrat"/>
              </a:rPr>
              <a:t> vous pouvez maintenant utiliser le bloc </a:t>
            </a:r>
            <a:r>
              <a:rPr lang="fr-FR" b="1" dirty="0" err="1">
                <a:latin typeface="Montserrat"/>
              </a:rPr>
              <a:t>try</a:t>
            </a:r>
            <a:r>
              <a:rPr lang="fr-FR" b="1" dirty="0">
                <a:latin typeface="Montserrat"/>
              </a:rPr>
              <a:t> catch </a:t>
            </a:r>
            <a:r>
              <a:rPr lang="fr-FR" dirty="0">
                <a:latin typeface="Montserrat"/>
              </a:rPr>
              <a:t>afin d'exécuter les exceptions </a:t>
            </a:r>
            <a:r>
              <a:rPr lang="fr-FR" dirty="0" err="1">
                <a:latin typeface="Montserrat"/>
              </a:rPr>
              <a:t>step</a:t>
            </a:r>
            <a:r>
              <a:rPr lang="fr-FR" dirty="0">
                <a:latin typeface="Montserrat"/>
              </a:rPr>
              <a:t> et </a:t>
            </a:r>
            <a:r>
              <a:rPr lang="fr-FR" b="1" dirty="0">
                <a:latin typeface="Montserrat"/>
              </a:rPr>
              <a:t>catch</a:t>
            </a:r>
            <a:endParaRPr lang="fr-FR" b="1" dirty="0"/>
          </a:p>
        </p:txBody>
      </p:sp>
    </p:spTree>
    <p:extLst>
      <p:ext uri="{BB962C8B-B14F-4D97-AF65-F5344CB8AC3E}">
        <p14:creationId xmlns:p14="http://schemas.microsoft.com/office/powerpoint/2010/main" val="59404013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2" name="Rectangle 1"/>
          <p:cNvSpPr/>
          <p:nvPr/>
        </p:nvSpPr>
        <p:spPr>
          <a:xfrm>
            <a:off x="407821" y="751747"/>
            <a:ext cx="1861407" cy="338554"/>
          </a:xfrm>
          <a:prstGeom prst="rect">
            <a:avLst/>
          </a:prstGeom>
        </p:spPr>
        <p:txBody>
          <a:bodyPr wrap="none">
            <a:spAutoFit/>
          </a:bodyPr>
          <a:lstStyle/>
          <a:p>
            <a:r>
              <a:rPr lang="fr-FR" sz="1600" b="1" dirty="0">
                <a:solidFill>
                  <a:srgbClr val="101820"/>
                </a:solidFill>
                <a:latin typeface="Söhne"/>
              </a:rPr>
              <a:t>Étapes </a:t>
            </a:r>
            <a:r>
              <a:rPr lang="fr-FR" sz="1600" b="1" dirty="0" smtClean="0">
                <a:latin typeface="Söhne"/>
              </a:rPr>
              <a:t>parallèles</a:t>
            </a:r>
            <a:endParaRPr lang="fr-FR" sz="1600" b="1" i="0" dirty="0">
              <a:effectLst/>
              <a:latin typeface="Söhne"/>
            </a:endParaRPr>
          </a:p>
        </p:txBody>
      </p:sp>
      <p:sp>
        <p:nvSpPr>
          <p:cNvPr id="5" name="Rectangle 4"/>
          <p:cNvSpPr/>
          <p:nvPr/>
        </p:nvSpPr>
        <p:spPr>
          <a:xfrm>
            <a:off x="407821" y="1166336"/>
            <a:ext cx="11182773" cy="830997"/>
          </a:xfrm>
          <a:prstGeom prst="rect">
            <a:avLst/>
          </a:prstGeom>
        </p:spPr>
        <p:txBody>
          <a:bodyPr wrap="square">
            <a:spAutoFit/>
          </a:bodyPr>
          <a:lstStyle/>
          <a:p>
            <a:r>
              <a:rPr lang="fr-FR" sz="1600" dirty="0">
                <a:solidFill>
                  <a:srgbClr val="101820"/>
                </a:solidFill>
                <a:latin typeface="Söhne"/>
              </a:rPr>
              <a:t>Les étapes du pipeline peuvent déclarer un certain nombre d'étapes imbriquées dans un bloc parallèle, qui peuvent être utilisées pour améliorer l'efficacité opérationnelle des étapes qui prennent du temps et n'ont aucune dépendance les unes sur les autres.</a:t>
            </a:r>
            <a:endParaRPr lang="fr-FR" sz="1600" dirty="0">
              <a:latin typeface="Söhne"/>
            </a:endParaRPr>
          </a:p>
        </p:txBody>
      </p:sp>
      <p:sp>
        <p:nvSpPr>
          <p:cNvPr id="8" name="Rectangle 7"/>
          <p:cNvSpPr/>
          <p:nvPr/>
        </p:nvSpPr>
        <p:spPr>
          <a:xfrm>
            <a:off x="693138" y="1908314"/>
            <a:ext cx="4517813" cy="4955203"/>
          </a:xfrm>
          <a:prstGeom prst="rect">
            <a:avLst/>
          </a:prstGeom>
        </p:spPr>
        <p:txBody>
          <a:bodyPr wrap="square">
            <a:spAutoFit/>
          </a:bodyPr>
          <a:lstStyle/>
          <a:p>
            <a:r>
              <a:rPr lang="fr-FR" sz="1600" dirty="0"/>
              <a:t>pipeline{</a:t>
            </a:r>
          </a:p>
          <a:p>
            <a:r>
              <a:rPr lang="fr-FR" sz="1600" dirty="0"/>
              <a:t>    agent none</a:t>
            </a:r>
          </a:p>
          <a:p>
            <a:r>
              <a:rPr lang="fr-FR" sz="1600" dirty="0"/>
              <a:t>    stages{</a:t>
            </a:r>
          </a:p>
          <a:p>
            <a:r>
              <a:rPr lang="fr-FR" sz="1600" dirty="0"/>
              <a:t>        stage('</a:t>
            </a:r>
            <a:r>
              <a:rPr lang="fr-FR" sz="1600" dirty="0" err="1"/>
              <a:t>Parallel</a:t>
            </a:r>
            <a:r>
              <a:rPr lang="fr-FR" sz="1600" dirty="0"/>
              <a:t>'){</a:t>
            </a:r>
          </a:p>
          <a:p>
            <a:r>
              <a:rPr lang="fr-FR" sz="1600" dirty="0"/>
              <a:t>            </a:t>
            </a:r>
            <a:r>
              <a:rPr lang="fr-FR" sz="1600" dirty="0" err="1"/>
              <a:t>parallel</a:t>
            </a:r>
            <a:r>
              <a:rPr lang="fr-FR" sz="1600" dirty="0"/>
              <a:t>{</a:t>
            </a:r>
          </a:p>
          <a:p>
            <a:r>
              <a:rPr lang="fr-FR" sz="1600" dirty="0"/>
              <a:t>                stage('Première tâche'){</a:t>
            </a:r>
          </a:p>
          <a:p>
            <a:r>
              <a:rPr lang="fr-FR" sz="1600" dirty="0"/>
              <a:t>                    </a:t>
            </a:r>
            <a:r>
              <a:rPr lang="fr-FR" sz="1600" dirty="0" err="1"/>
              <a:t>steps</a:t>
            </a:r>
            <a:r>
              <a:rPr lang="fr-FR" sz="1600" dirty="0"/>
              <a:t>{</a:t>
            </a:r>
          </a:p>
          <a:p>
            <a:r>
              <a:rPr lang="fr-FR" sz="1600" dirty="0"/>
              <a:t>                        </a:t>
            </a:r>
            <a:r>
              <a:rPr lang="fr-FR" sz="1600" dirty="0" err="1"/>
              <a:t>echo</a:t>
            </a:r>
            <a:r>
              <a:rPr lang="fr-FR" sz="1600" dirty="0"/>
              <a:t> '</a:t>
            </a:r>
            <a:r>
              <a:rPr lang="fr-FR" sz="1600" dirty="0" err="1"/>
              <a:t>Execution</a:t>
            </a:r>
            <a:r>
              <a:rPr lang="fr-FR" sz="1600" dirty="0"/>
              <a:t> de la première tâche'</a:t>
            </a:r>
          </a:p>
          <a:p>
            <a:r>
              <a:rPr lang="fr-FR" sz="1600" dirty="0"/>
              <a:t>                    }</a:t>
            </a:r>
          </a:p>
          <a:p>
            <a:r>
              <a:rPr lang="fr-FR" sz="1600" dirty="0"/>
              <a:t>                }</a:t>
            </a:r>
          </a:p>
          <a:p>
            <a:r>
              <a:rPr lang="fr-FR" sz="1600" dirty="0"/>
              <a:t>                stage('Deuxième tâche'){</a:t>
            </a:r>
          </a:p>
          <a:p>
            <a:r>
              <a:rPr lang="fr-FR" sz="1600" dirty="0"/>
              <a:t>                    </a:t>
            </a:r>
            <a:r>
              <a:rPr lang="fr-FR" sz="1600" dirty="0" err="1"/>
              <a:t>steps</a:t>
            </a:r>
            <a:r>
              <a:rPr lang="fr-FR" sz="1600" dirty="0"/>
              <a:t>{</a:t>
            </a:r>
          </a:p>
          <a:p>
            <a:r>
              <a:rPr lang="fr-FR" sz="1600" dirty="0"/>
              <a:t>                        </a:t>
            </a:r>
            <a:r>
              <a:rPr lang="fr-FR" sz="1600" dirty="0" err="1"/>
              <a:t>echo</a:t>
            </a:r>
            <a:r>
              <a:rPr lang="fr-FR" sz="1600" dirty="0"/>
              <a:t> '</a:t>
            </a:r>
            <a:r>
              <a:rPr lang="fr-FR" sz="1600" dirty="0" err="1"/>
              <a:t>Execution</a:t>
            </a:r>
            <a:r>
              <a:rPr lang="fr-FR" sz="1600" dirty="0"/>
              <a:t> de la deuxième tâche'</a:t>
            </a:r>
          </a:p>
          <a:p>
            <a:r>
              <a:rPr lang="fr-FR" sz="1600" dirty="0"/>
              <a:t>                    }</a:t>
            </a:r>
          </a:p>
          <a:p>
            <a:r>
              <a:rPr lang="fr-FR" sz="1600" dirty="0"/>
              <a:t>                }</a:t>
            </a:r>
          </a:p>
          <a:p>
            <a:r>
              <a:rPr lang="fr-FR" sz="1600" dirty="0"/>
              <a:t>            }</a:t>
            </a:r>
          </a:p>
          <a:p>
            <a:r>
              <a:rPr lang="fr-FR" sz="1600" dirty="0"/>
              <a:t>        }</a:t>
            </a:r>
          </a:p>
          <a:p>
            <a:r>
              <a:rPr lang="fr-FR" sz="1600" dirty="0"/>
              <a:t>    }</a:t>
            </a:r>
          </a:p>
          <a:p>
            <a:r>
              <a:rPr lang="fr-FR" sz="1600" dirty="0"/>
              <a:t>}</a:t>
            </a:r>
          </a:p>
        </p:txBody>
      </p:sp>
      <p:sp>
        <p:nvSpPr>
          <p:cNvPr id="9" name="Rectangle 8"/>
          <p:cNvSpPr/>
          <p:nvPr/>
        </p:nvSpPr>
        <p:spPr>
          <a:xfrm>
            <a:off x="1578505" y="6272085"/>
            <a:ext cx="2842445" cy="338554"/>
          </a:xfrm>
          <a:prstGeom prst="rect">
            <a:avLst/>
          </a:prstGeom>
        </p:spPr>
        <p:txBody>
          <a:bodyPr wrap="none">
            <a:spAutoFit/>
          </a:bodyPr>
          <a:lstStyle/>
          <a:p>
            <a:r>
              <a:rPr lang="fr-FR" sz="1600" dirty="0" smtClean="0">
                <a:solidFill>
                  <a:srgbClr val="101820"/>
                </a:solidFill>
                <a:latin typeface="Söhne"/>
              </a:rPr>
              <a:t>Exécution sur le même agent</a:t>
            </a:r>
            <a:endParaRPr lang="fr-FR" sz="1600" dirty="0"/>
          </a:p>
        </p:txBody>
      </p:sp>
      <p:sp>
        <p:nvSpPr>
          <p:cNvPr id="11" name="Rectangle 10"/>
          <p:cNvSpPr/>
          <p:nvPr/>
        </p:nvSpPr>
        <p:spPr>
          <a:xfrm>
            <a:off x="6190308" y="1908314"/>
            <a:ext cx="4552199" cy="4616648"/>
          </a:xfrm>
          <a:prstGeom prst="rect">
            <a:avLst/>
          </a:prstGeom>
        </p:spPr>
        <p:txBody>
          <a:bodyPr wrap="square">
            <a:spAutoFit/>
          </a:bodyPr>
          <a:lstStyle/>
          <a:p>
            <a:r>
              <a:rPr lang="fr-FR" sz="1400" dirty="0"/>
              <a:t>pipeline{</a:t>
            </a:r>
          </a:p>
          <a:p>
            <a:r>
              <a:rPr lang="fr-FR" sz="1400" dirty="0"/>
              <a:t>    agent none</a:t>
            </a:r>
          </a:p>
          <a:p>
            <a:r>
              <a:rPr lang="fr-FR" sz="1400" dirty="0"/>
              <a:t>    stages{</a:t>
            </a:r>
          </a:p>
          <a:p>
            <a:r>
              <a:rPr lang="fr-FR" sz="1400" dirty="0"/>
              <a:t>        stage('</a:t>
            </a:r>
            <a:r>
              <a:rPr lang="fr-FR" sz="1400" dirty="0" err="1"/>
              <a:t>Parallel</a:t>
            </a:r>
            <a:r>
              <a:rPr lang="fr-FR" sz="1400" dirty="0"/>
              <a:t>'){</a:t>
            </a:r>
          </a:p>
          <a:p>
            <a:r>
              <a:rPr lang="fr-FR" sz="1400" dirty="0"/>
              <a:t>            </a:t>
            </a:r>
            <a:r>
              <a:rPr lang="fr-FR" sz="1400" dirty="0" err="1"/>
              <a:t>parallel</a:t>
            </a:r>
            <a:r>
              <a:rPr lang="fr-FR" sz="1400" dirty="0"/>
              <a:t>{</a:t>
            </a:r>
          </a:p>
          <a:p>
            <a:r>
              <a:rPr lang="fr-FR" sz="1400" dirty="0"/>
              <a:t>                stage('Première tâche'){</a:t>
            </a:r>
          </a:p>
          <a:p>
            <a:r>
              <a:rPr lang="fr-FR" sz="1400" dirty="0"/>
              <a:t>                    </a:t>
            </a:r>
            <a:r>
              <a:rPr lang="fr-FR" sz="1400" b="1" dirty="0"/>
              <a:t>agent {label 'label 1'}</a:t>
            </a:r>
          </a:p>
          <a:p>
            <a:r>
              <a:rPr lang="fr-FR" sz="1400" dirty="0"/>
              <a:t>                    </a:t>
            </a:r>
            <a:r>
              <a:rPr lang="fr-FR" sz="1400" dirty="0" err="1"/>
              <a:t>steps</a:t>
            </a:r>
            <a:r>
              <a:rPr lang="fr-FR" sz="1400" dirty="0"/>
              <a:t>{</a:t>
            </a:r>
          </a:p>
          <a:p>
            <a:r>
              <a:rPr lang="fr-FR" sz="1400" dirty="0"/>
              <a:t>                        </a:t>
            </a:r>
            <a:r>
              <a:rPr lang="fr-FR" sz="1400" dirty="0" err="1"/>
              <a:t>echo</a:t>
            </a:r>
            <a:r>
              <a:rPr lang="fr-FR" sz="1400" dirty="0"/>
              <a:t> '</a:t>
            </a:r>
            <a:r>
              <a:rPr lang="fr-FR" sz="1400" dirty="0" err="1"/>
              <a:t>Execution</a:t>
            </a:r>
            <a:r>
              <a:rPr lang="fr-FR" sz="1400" dirty="0"/>
              <a:t> de la première tâche'</a:t>
            </a:r>
          </a:p>
          <a:p>
            <a:r>
              <a:rPr lang="fr-FR" sz="1400" dirty="0"/>
              <a:t>                    }</a:t>
            </a:r>
          </a:p>
          <a:p>
            <a:r>
              <a:rPr lang="fr-FR" sz="1400" dirty="0"/>
              <a:t>                }</a:t>
            </a:r>
          </a:p>
          <a:p>
            <a:r>
              <a:rPr lang="fr-FR" sz="1400" dirty="0"/>
              <a:t>                stage('Deuxième tâche'){</a:t>
            </a:r>
          </a:p>
          <a:p>
            <a:r>
              <a:rPr lang="fr-FR" sz="1400" dirty="0"/>
              <a:t>                     </a:t>
            </a:r>
            <a:r>
              <a:rPr lang="fr-FR" sz="1400" b="1" dirty="0"/>
              <a:t>agent {label 'label 2'}</a:t>
            </a:r>
          </a:p>
          <a:p>
            <a:r>
              <a:rPr lang="fr-FR" sz="1400" dirty="0"/>
              <a:t>                    </a:t>
            </a:r>
            <a:r>
              <a:rPr lang="fr-FR" sz="1400" dirty="0" err="1"/>
              <a:t>steps</a:t>
            </a:r>
            <a:r>
              <a:rPr lang="fr-FR" sz="1400" dirty="0"/>
              <a:t>{</a:t>
            </a:r>
          </a:p>
          <a:p>
            <a:r>
              <a:rPr lang="fr-FR" sz="1400" dirty="0"/>
              <a:t>                        </a:t>
            </a:r>
            <a:r>
              <a:rPr lang="fr-FR" sz="1400" dirty="0" err="1"/>
              <a:t>echo</a:t>
            </a:r>
            <a:r>
              <a:rPr lang="fr-FR" sz="1400" dirty="0"/>
              <a:t> '</a:t>
            </a:r>
            <a:r>
              <a:rPr lang="fr-FR" sz="1400" dirty="0" err="1"/>
              <a:t>Execution</a:t>
            </a:r>
            <a:r>
              <a:rPr lang="fr-FR" sz="1400" dirty="0"/>
              <a:t> de la deuxième tâche'</a:t>
            </a:r>
          </a:p>
          <a:p>
            <a:r>
              <a:rPr lang="fr-FR" sz="1400" dirty="0"/>
              <a:t>                    }</a:t>
            </a:r>
          </a:p>
          <a:p>
            <a:r>
              <a:rPr lang="fr-FR" sz="1400" dirty="0"/>
              <a:t>                }</a:t>
            </a:r>
          </a:p>
          <a:p>
            <a:r>
              <a:rPr lang="fr-FR" sz="1400" dirty="0"/>
              <a:t>            }</a:t>
            </a:r>
          </a:p>
          <a:p>
            <a:r>
              <a:rPr lang="fr-FR" sz="1400" dirty="0"/>
              <a:t>        }</a:t>
            </a:r>
          </a:p>
          <a:p>
            <a:r>
              <a:rPr lang="fr-FR" sz="1400" dirty="0"/>
              <a:t>    }</a:t>
            </a:r>
          </a:p>
          <a:p>
            <a:r>
              <a:rPr lang="fr-FR" sz="1400" dirty="0"/>
              <a:t>}</a:t>
            </a:r>
          </a:p>
        </p:txBody>
      </p:sp>
      <p:sp>
        <p:nvSpPr>
          <p:cNvPr id="13" name="Rectangle 12"/>
          <p:cNvSpPr/>
          <p:nvPr/>
        </p:nvSpPr>
        <p:spPr>
          <a:xfrm>
            <a:off x="7359545" y="6272085"/>
            <a:ext cx="3558475" cy="338554"/>
          </a:xfrm>
          <a:prstGeom prst="rect">
            <a:avLst/>
          </a:prstGeom>
        </p:spPr>
        <p:txBody>
          <a:bodyPr wrap="none">
            <a:spAutoFit/>
          </a:bodyPr>
          <a:lstStyle/>
          <a:p>
            <a:r>
              <a:rPr lang="fr-FR" sz="1600" dirty="0" smtClean="0">
                <a:solidFill>
                  <a:srgbClr val="101820"/>
                </a:solidFill>
                <a:latin typeface="Söhne"/>
              </a:rPr>
              <a:t>Exécution sur </a:t>
            </a:r>
            <a:r>
              <a:rPr lang="fr-FR" sz="1600" dirty="0">
                <a:solidFill>
                  <a:srgbClr val="101820"/>
                </a:solidFill>
                <a:latin typeface="Söhne"/>
              </a:rPr>
              <a:t> </a:t>
            </a:r>
            <a:r>
              <a:rPr lang="fr-FR" sz="1600" dirty="0" smtClean="0">
                <a:solidFill>
                  <a:srgbClr val="101820"/>
                </a:solidFill>
                <a:latin typeface="Söhne"/>
              </a:rPr>
              <a:t>deux agents différents</a:t>
            </a:r>
            <a:endParaRPr lang="fr-FR" sz="1600" dirty="0"/>
          </a:p>
        </p:txBody>
      </p:sp>
    </p:spTree>
    <p:extLst>
      <p:ext uri="{BB962C8B-B14F-4D97-AF65-F5344CB8AC3E}">
        <p14:creationId xmlns:p14="http://schemas.microsoft.com/office/powerpoint/2010/main" val="274192437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3" name="Rectangle 1"/>
          <p:cNvSpPr>
            <a:spLocks noChangeArrowheads="1"/>
          </p:cNvSpPr>
          <p:nvPr/>
        </p:nvSpPr>
        <p:spPr bwMode="auto">
          <a:xfrm>
            <a:off x="476517" y="746614"/>
            <a:ext cx="1160894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400" b="1" i="0" u="none" strike="noStrike" cap="none" normalizeH="0" baseline="0" dirty="0" err="1" smtClean="0">
                <a:ln>
                  <a:noFill/>
                </a:ln>
                <a:solidFill>
                  <a:srgbClr val="292929"/>
                </a:solidFill>
                <a:effectLst/>
                <a:latin typeface="Söhne"/>
              </a:rPr>
              <a:t>Poll</a:t>
            </a:r>
            <a:r>
              <a:rPr kumimoji="0" lang="fr-FR" altLang="en-US" sz="1400" b="1" i="0" u="none" strike="noStrike" cap="none" normalizeH="0" baseline="0" dirty="0" smtClean="0">
                <a:ln>
                  <a:noFill/>
                </a:ln>
                <a:solidFill>
                  <a:srgbClr val="292929"/>
                </a:solidFill>
                <a:effectLst/>
                <a:latin typeface="Söhne"/>
              </a:rPr>
              <a:t> SCM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en-US" sz="1400" b="1" i="0" u="none" strike="noStrike" cap="none" normalizeH="0" baseline="0" dirty="0" smtClean="0">
              <a:ln>
                <a:noFill/>
              </a:ln>
              <a:solidFill>
                <a:srgbClr val="292929"/>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en-US" sz="1400" b="1" i="0" u="none" strike="noStrike" cap="none" normalizeH="0" baseline="0" dirty="0" smtClean="0">
                <a:ln>
                  <a:noFill/>
                </a:ln>
                <a:solidFill>
                  <a:srgbClr val="292929"/>
                </a:solidFill>
                <a:effectLst/>
                <a:latin typeface="Söhne"/>
              </a:rPr>
              <a:t>Description</a:t>
            </a:r>
            <a:r>
              <a:rPr kumimoji="0" lang="fr-FR" altLang="en-US" sz="1400" b="0" i="0" u="none" strike="noStrike" cap="none" normalizeH="0" baseline="0" dirty="0" smtClean="0">
                <a:ln>
                  <a:noFill/>
                </a:ln>
                <a:solidFill>
                  <a:srgbClr val="292929"/>
                </a:solidFill>
                <a:effectLst/>
                <a:latin typeface="Söhne"/>
              </a:rPr>
              <a:t> : Jenkins interroge régulièrement le système de contrôle de version (par exemple, Git, SVN) pour détecter les changements de code.</a:t>
            </a:r>
          </a:p>
          <a:p>
            <a:pPr marL="0" marR="0" lvl="0" indent="0" algn="l" defTabSz="914400" rtl="0" eaLnBrk="0" fontAlgn="base" latinLnBrk="0" hangingPunct="0">
              <a:lnSpc>
                <a:spcPct val="100000"/>
              </a:lnSpc>
              <a:spcBef>
                <a:spcPct val="0"/>
              </a:spcBef>
              <a:spcAft>
                <a:spcPct val="0"/>
              </a:spcAft>
              <a:buClrTx/>
              <a:buSzTx/>
              <a:tabLst/>
            </a:pPr>
            <a:r>
              <a:rPr lang="fr-FR" altLang="en-US" sz="1400" dirty="0">
                <a:solidFill>
                  <a:srgbClr val="292929"/>
                </a:solidFill>
                <a:latin typeface="Söhne"/>
              </a:rPr>
              <a:t> </a:t>
            </a:r>
            <a:r>
              <a:rPr kumimoji="0" lang="fr-FR" altLang="en-US" sz="1400" b="0" i="0" u="none" strike="noStrike" cap="none" normalizeH="0" baseline="0" dirty="0" smtClean="0">
                <a:ln>
                  <a:noFill/>
                </a:ln>
                <a:solidFill>
                  <a:srgbClr val="292929"/>
                </a:solidFill>
                <a:effectLst/>
                <a:latin typeface="Söhne"/>
              </a:rPr>
              <a:t> Si des changements sont détectés, la pipeline est déclenchée.</a:t>
            </a:r>
          </a:p>
          <a:p>
            <a:pPr marL="0" marR="0" lvl="0" indent="0" algn="l" defTabSz="914400" rtl="0" eaLnBrk="0" fontAlgn="base" latinLnBrk="0" hangingPunct="0">
              <a:lnSpc>
                <a:spcPct val="100000"/>
              </a:lnSpc>
              <a:spcBef>
                <a:spcPct val="0"/>
              </a:spcBef>
              <a:spcAft>
                <a:spcPct val="0"/>
              </a:spcAft>
              <a:buClrTx/>
              <a:buSzTx/>
              <a:tabLst/>
            </a:pPr>
            <a:endParaRPr kumimoji="0" lang="fr-FR" altLang="en-US" sz="1400" b="0" i="0" u="none" strike="noStrike" cap="none" normalizeH="0" baseline="0" dirty="0" smtClean="0">
              <a:ln>
                <a:noFill/>
              </a:ln>
              <a:solidFill>
                <a:srgbClr val="292929"/>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en-US" sz="1400" b="1" i="0" u="none" strike="noStrike" cap="none" normalizeH="0" baseline="0" dirty="0" smtClean="0">
                <a:ln>
                  <a:noFill/>
                </a:ln>
                <a:solidFill>
                  <a:srgbClr val="292929"/>
                </a:solidFill>
                <a:effectLst/>
                <a:latin typeface="Söhne"/>
              </a:rPr>
              <a:t>Utilisation</a:t>
            </a:r>
            <a:r>
              <a:rPr kumimoji="0" lang="fr-FR" altLang="en-US" sz="1400" b="0" i="0" u="none" strike="noStrike" cap="none" normalizeH="0" baseline="0" dirty="0" smtClean="0">
                <a:ln>
                  <a:noFill/>
                </a:ln>
                <a:solidFill>
                  <a:srgbClr val="292929"/>
                </a:solidFill>
                <a:effectLst/>
                <a:latin typeface="Söhne"/>
              </a:rPr>
              <a:t> : Vous pouvez définir un intervalle de polling en utilisant une syntaxe </a:t>
            </a:r>
            <a:r>
              <a:rPr kumimoji="0" lang="fr-FR" altLang="en-US" sz="1400" b="0" i="0" u="none" strike="noStrike" cap="none" normalizeH="0" baseline="0" dirty="0" err="1" smtClean="0">
                <a:ln>
                  <a:noFill/>
                </a:ln>
                <a:solidFill>
                  <a:srgbClr val="292929"/>
                </a:solidFill>
                <a:effectLst/>
                <a:latin typeface="Söhne"/>
              </a:rPr>
              <a:t>Cron</a:t>
            </a:r>
            <a:r>
              <a:rPr kumimoji="0" lang="fr-FR" altLang="en-US" sz="1400" b="0" i="0" u="none" strike="noStrike" cap="none" normalizeH="0" baseline="0" dirty="0" smtClean="0">
                <a:ln>
                  <a:noFill/>
                </a:ln>
                <a:solidFill>
                  <a:srgbClr val="292929"/>
                </a:solidFill>
                <a:effectLst/>
                <a:latin typeface="Söhne"/>
              </a:rPr>
              <a:t>. Par exemple, vérifier toutes les 5 minutes :H/5 * * * *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en-US" sz="1400" b="0" i="0" u="none" strike="noStrike" cap="none" normalizeH="0" baseline="0" dirty="0" smtClean="0">
              <a:ln>
                <a:noFill/>
              </a:ln>
              <a:solidFill>
                <a:srgbClr val="292929"/>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en-US" sz="1400" b="1" i="0" u="none" strike="noStrike" cap="none" normalizeH="0" baseline="0" dirty="0" smtClean="0">
                <a:ln>
                  <a:noFill/>
                </a:ln>
                <a:solidFill>
                  <a:srgbClr val="292929"/>
                </a:solidFill>
                <a:effectLst/>
                <a:latin typeface="Söhne"/>
              </a:rPr>
              <a:t>Limitation</a:t>
            </a:r>
            <a:r>
              <a:rPr kumimoji="0" lang="fr-FR" altLang="en-US" sz="1400" b="0" i="0" u="none" strike="noStrike" cap="none" normalizeH="0" baseline="0" dirty="0" smtClean="0">
                <a:ln>
                  <a:noFill/>
                </a:ln>
                <a:solidFill>
                  <a:srgbClr val="292929"/>
                </a:solidFill>
                <a:effectLst/>
                <a:latin typeface="Söhne"/>
              </a:rPr>
              <a:t> : Ce mode ne déclenche pas automatiquement une pipeline, mais seulement si des changements sont détectés.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en-US" sz="1400" b="0" i="0" u="none" strike="noStrike" cap="none" normalizeH="0" baseline="0" dirty="0" smtClean="0">
              <a:ln>
                <a:noFill/>
              </a:ln>
              <a:solidFill>
                <a:schemeClr val="tx1"/>
              </a:solidFill>
              <a:effectLst/>
              <a:latin typeface="Söhne"/>
            </a:endParaRPr>
          </a:p>
        </p:txBody>
      </p:sp>
      <p:pic>
        <p:nvPicPr>
          <p:cNvPr id="5" name="Picture 4"/>
          <p:cNvPicPr>
            <a:picLocks noChangeAspect="1"/>
          </p:cNvPicPr>
          <p:nvPr/>
        </p:nvPicPr>
        <p:blipFill>
          <a:blip r:embed="rId4"/>
          <a:stretch>
            <a:fillRect/>
          </a:stretch>
        </p:blipFill>
        <p:spPr>
          <a:xfrm>
            <a:off x="476517" y="2685606"/>
            <a:ext cx="10522041" cy="3245115"/>
          </a:xfrm>
          <a:prstGeom prst="rect">
            <a:avLst/>
          </a:prstGeom>
        </p:spPr>
      </p:pic>
      <p:cxnSp>
        <p:nvCxnSpPr>
          <p:cNvPr id="7" name="Straight Arrow Connector 6"/>
          <p:cNvCxnSpPr/>
          <p:nvPr/>
        </p:nvCxnSpPr>
        <p:spPr>
          <a:xfrm flipH="1">
            <a:off x="1609859" y="3696237"/>
            <a:ext cx="637504" cy="573109"/>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8082942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18397" y="2085545"/>
            <a:ext cx="11303676" cy="3045322"/>
          </a:xfrm>
          <a:prstGeom prst="rect">
            <a:avLst/>
          </a:prstGeom>
        </p:spPr>
      </p:pic>
      <p:sp>
        <p:nvSpPr>
          <p:cNvPr id="340994" name="Rectangle 1">
            <a:hlinkClick r:id="rId4" action="ppaction://hlinkfile"/>
          </p:cNvPr>
          <p:cNvSpPr>
            <a:spLocks noChangeArrowheads="1"/>
          </p:cNvSpPr>
          <p:nvPr/>
        </p:nvSpPr>
        <p:spPr bwMode="auto">
          <a:xfrm>
            <a:off x="204965" y="2363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cxnSp>
        <p:nvCxnSpPr>
          <p:cNvPr id="7" name="Straight Arrow Connector 6"/>
          <p:cNvCxnSpPr/>
          <p:nvPr/>
        </p:nvCxnSpPr>
        <p:spPr>
          <a:xfrm flipH="1">
            <a:off x="1558343" y="3168203"/>
            <a:ext cx="637504" cy="573109"/>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4" name="Rectangle 2"/>
          <p:cNvSpPr>
            <a:spLocks noChangeArrowheads="1"/>
          </p:cNvSpPr>
          <p:nvPr/>
        </p:nvSpPr>
        <p:spPr bwMode="auto">
          <a:xfrm>
            <a:off x="341290" y="792883"/>
            <a:ext cx="1125789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400" b="1" i="0" u="none" strike="noStrike" cap="none" normalizeH="0" baseline="0" dirty="0" smtClean="0">
                <a:ln>
                  <a:noFill/>
                </a:ln>
                <a:solidFill>
                  <a:srgbClr val="292929"/>
                </a:solidFill>
                <a:effectLst/>
                <a:latin typeface="Söhne"/>
              </a:rPr>
              <a:t>Triggers basés sur les événements programmés (</a:t>
            </a:r>
            <a:r>
              <a:rPr kumimoji="0" lang="fr-FR" altLang="en-US" sz="1400" b="1" i="0" u="none" strike="noStrike" cap="none" normalizeH="0" baseline="0" dirty="0" err="1" smtClean="0">
                <a:ln>
                  <a:noFill/>
                </a:ln>
                <a:solidFill>
                  <a:srgbClr val="292929"/>
                </a:solidFill>
                <a:effectLst/>
                <a:latin typeface="Söhne"/>
              </a:rPr>
              <a:t>Cron</a:t>
            </a:r>
            <a:r>
              <a:rPr kumimoji="0" lang="fr-FR" altLang="en-US" sz="1400" b="1" i="0" u="none" strike="noStrike" cap="none" normalizeH="0" baseline="0" dirty="0" smtClean="0">
                <a:ln>
                  <a:noFill/>
                </a:ln>
                <a:solidFill>
                  <a:srgbClr val="292929"/>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en-US" sz="1400" b="1" i="0" u="none" strike="noStrike" cap="none" normalizeH="0" baseline="0" dirty="0" smtClean="0">
              <a:ln>
                <a:noFill/>
              </a:ln>
              <a:solidFill>
                <a:srgbClr val="292929"/>
              </a:solidFill>
              <a:effectLst/>
              <a:latin typeface="Söhne"/>
            </a:endParaRPr>
          </a:p>
          <a:p>
            <a:pPr lvl="0" eaLnBrk="0" fontAlgn="base" hangingPunct="0">
              <a:spcBef>
                <a:spcPct val="0"/>
              </a:spcBef>
              <a:spcAft>
                <a:spcPct val="0"/>
              </a:spcAft>
            </a:pPr>
            <a:r>
              <a:rPr kumimoji="0" lang="fr-FR" altLang="en-US" sz="1400" b="1" i="0" u="none" strike="noStrike" cap="none" normalizeH="0" baseline="0" dirty="0" smtClean="0">
                <a:ln>
                  <a:noFill/>
                </a:ln>
                <a:solidFill>
                  <a:srgbClr val="292929"/>
                </a:solidFill>
                <a:effectLst/>
                <a:latin typeface="Söhne"/>
              </a:rPr>
              <a:t>a)  </a:t>
            </a:r>
            <a:r>
              <a:rPr lang="fr-FR" altLang="en-US" sz="1400" b="1" dirty="0" err="1">
                <a:solidFill>
                  <a:srgbClr val="292929"/>
                </a:solidFill>
                <a:latin typeface="Söhne"/>
              </a:rPr>
              <a:t>Build</a:t>
            </a:r>
            <a:r>
              <a:rPr lang="fr-FR" altLang="en-US" sz="1400" b="1" dirty="0">
                <a:solidFill>
                  <a:srgbClr val="292929"/>
                </a:solidFill>
                <a:latin typeface="Söhne"/>
              </a:rPr>
              <a:t> </a:t>
            </a:r>
            <a:r>
              <a:rPr lang="fr-FR" altLang="en-US" sz="1400" b="1" dirty="0" err="1">
                <a:solidFill>
                  <a:srgbClr val="292929"/>
                </a:solidFill>
                <a:latin typeface="Söhne"/>
              </a:rPr>
              <a:t>periodically</a:t>
            </a:r>
            <a:r>
              <a:rPr lang="fr-FR" altLang="en-US" sz="1400" b="1" dirty="0">
                <a:solidFill>
                  <a:srgbClr val="292929"/>
                </a:solidFill>
                <a:latin typeface="Söhne"/>
              </a:rPr>
              <a:t> </a:t>
            </a:r>
            <a:r>
              <a:rPr kumimoji="0" lang="fr-FR" altLang="en-US" sz="1400" b="1" i="0" u="none" strike="noStrike" cap="none" normalizeH="0" baseline="0" dirty="0" smtClean="0">
                <a:ln>
                  <a:noFill/>
                </a:ln>
                <a:solidFill>
                  <a:srgbClr val="292929"/>
                </a:solidFill>
                <a:effectLst/>
                <a:latin typeface="Söhne"/>
              </a:rPr>
              <a:t>(</a:t>
            </a:r>
            <a:r>
              <a:rPr lang="fr-FR" altLang="en-US" sz="1400" b="1" dirty="0" err="1">
                <a:solidFill>
                  <a:srgbClr val="292929"/>
                </a:solidFill>
                <a:latin typeface="Söhne"/>
              </a:rPr>
              <a:t>Build</a:t>
            </a:r>
            <a:r>
              <a:rPr lang="fr-FR" altLang="en-US" sz="1400" b="1" dirty="0">
                <a:solidFill>
                  <a:srgbClr val="292929"/>
                </a:solidFill>
                <a:latin typeface="Söhne"/>
              </a:rPr>
              <a:t> </a:t>
            </a:r>
            <a:r>
              <a:rPr lang="fr-FR" altLang="en-US" sz="1400" b="1" dirty="0" smtClean="0">
                <a:solidFill>
                  <a:srgbClr val="292929"/>
                </a:solidFill>
                <a:latin typeface="Söhne"/>
              </a:rPr>
              <a:t>périodique</a:t>
            </a:r>
            <a:r>
              <a:rPr kumimoji="0" lang="fr-FR" altLang="en-US" sz="1400" b="1" i="0" u="none" strike="noStrike" cap="none" normalizeH="0" baseline="0" dirty="0" smtClean="0">
                <a:ln>
                  <a:noFill/>
                </a:ln>
                <a:solidFill>
                  <a:srgbClr val="292929"/>
                </a:solidFill>
                <a:effectLst/>
                <a:latin typeface="Söhne"/>
              </a:rPr>
              <a:t>) :</a:t>
            </a:r>
          </a:p>
          <a:p>
            <a:pPr lvl="1" eaLnBrk="0" fontAlgn="base" hangingPunct="0">
              <a:spcBef>
                <a:spcPct val="0"/>
              </a:spcBef>
              <a:spcAft>
                <a:spcPct val="0"/>
              </a:spcAft>
              <a:buFontTx/>
              <a:buChar char="•"/>
            </a:pPr>
            <a:r>
              <a:rPr kumimoji="0" lang="fr-FR" altLang="en-US" sz="1400" b="1" i="0" u="none" strike="noStrike" cap="none" normalizeH="0" baseline="0" dirty="0" smtClean="0">
                <a:ln>
                  <a:noFill/>
                </a:ln>
                <a:solidFill>
                  <a:srgbClr val="292929"/>
                </a:solidFill>
                <a:effectLst/>
                <a:latin typeface="Söhne"/>
              </a:rPr>
              <a:t>Description</a:t>
            </a:r>
            <a:r>
              <a:rPr kumimoji="0" lang="fr-FR" altLang="en-US" sz="1400" b="0" i="0" u="none" strike="noStrike" cap="none" normalizeH="0" baseline="0" dirty="0" smtClean="0">
                <a:ln>
                  <a:noFill/>
                </a:ln>
                <a:solidFill>
                  <a:srgbClr val="292929"/>
                </a:solidFill>
                <a:effectLst/>
                <a:latin typeface="Söhne"/>
              </a:rPr>
              <a:t> : Jenkins peut exécuter un pipeline à intervalles réguliers, même s'il n'y a pas de changements dans le code source.</a:t>
            </a:r>
          </a:p>
          <a:p>
            <a:pPr lvl="1" eaLnBrk="0" fontAlgn="base" hangingPunct="0">
              <a:spcBef>
                <a:spcPct val="0"/>
              </a:spcBef>
              <a:spcAft>
                <a:spcPct val="0"/>
              </a:spcAft>
              <a:buFontTx/>
              <a:buChar char="•"/>
            </a:pPr>
            <a:r>
              <a:rPr kumimoji="0" lang="fr-FR" altLang="en-US" sz="1400" b="1" i="0" u="none" strike="noStrike" cap="none" normalizeH="0" baseline="0" dirty="0" smtClean="0">
                <a:ln>
                  <a:noFill/>
                </a:ln>
                <a:solidFill>
                  <a:srgbClr val="292929"/>
                </a:solidFill>
                <a:effectLst/>
                <a:latin typeface="Söhne"/>
              </a:rPr>
              <a:t>Utilisation</a:t>
            </a:r>
            <a:r>
              <a:rPr kumimoji="0" lang="fr-FR" altLang="en-US" sz="1400" b="0" i="0" u="none" strike="noStrike" cap="none" normalizeH="0" baseline="0" dirty="0" smtClean="0">
                <a:ln>
                  <a:noFill/>
                </a:ln>
                <a:solidFill>
                  <a:srgbClr val="292929"/>
                </a:solidFill>
                <a:effectLst/>
                <a:latin typeface="Söhne"/>
              </a:rPr>
              <a:t> : Le déclenchement se fait selon une syntaxe </a:t>
            </a:r>
            <a:r>
              <a:rPr kumimoji="0" lang="fr-FR" altLang="en-US" sz="1400" b="1" i="0" u="none" strike="noStrike" cap="none" normalizeH="0" baseline="0" dirty="0" err="1" smtClean="0">
                <a:ln>
                  <a:noFill/>
                </a:ln>
                <a:solidFill>
                  <a:srgbClr val="292929"/>
                </a:solidFill>
                <a:effectLst/>
                <a:latin typeface="Söhne"/>
              </a:rPr>
              <a:t>cron</a:t>
            </a:r>
            <a:r>
              <a:rPr kumimoji="0" lang="fr-FR" altLang="en-US" sz="1400" b="0" i="0" u="none" strike="noStrike" cap="none" normalizeH="0" baseline="0" dirty="0" smtClean="0">
                <a:ln>
                  <a:noFill/>
                </a:ln>
                <a:solidFill>
                  <a:srgbClr val="292929"/>
                </a:solidFill>
                <a:effectLst/>
                <a:latin typeface="Söhne"/>
              </a:rPr>
              <a:t>. Par exemple, pour exécuter une pipeline tous les jours à minuit :0 0 * * *</a:t>
            </a:r>
          </a:p>
          <a:p>
            <a:pPr lvl="1" eaLnBrk="0" fontAlgn="base" hangingPunct="0">
              <a:spcBef>
                <a:spcPct val="0"/>
              </a:spcBef>
              <a:spcAft>
                <a:spcPct val="0"/>
              </a:spcAft>
            </a:pPr>
            <a:endParaRPr kumimoji="0" lang="fr-FR" altLang="en-US" sz="1400" b="0" i="0" u="none" strike="noStrike" cap="none" normalizeH="0" baseline="0" dirty="0" smtClean="0">
              <a:ln>
                <a:noFill/>
              </a:ln>
              <a:solidFill>
                <a:schemeClr val="tx1"/>
              </a:solidFill>
              <a:effectLst/>
              <a:latin typeface="Söhne"/>
            </a:endParaRPr>
          </a:p>
        </p:txBody>
      </p:sp>
    </p:spTree>
    <p:extLst>
      <p:ext uri="{BB962C8B-B14F-4D97-AF65-F5344CB8AC3E}">
        <p14:creationId xmlns:p14="http://schemas.microsoft.com/office/powerpoint/2010/main" val="356563862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2" name="Rectangle 1"/>
          <p:cNvSpPr/>
          <p:nvPr/>
        </p:nvSpPr>
        <p:spPr>
          <a:xfrm>
            <a:off x="298359" y="784058"/>
            <a:ext cx="11028609" cy="1815882"/>
          </a:xfrm>
          <a:prstGeom prst="rect">
            <a:avLst/>
          </a:prstGeom>
        </p:spPr>
        <p:txBody>
          <a:bodyPr wrap="square">
            <a:spAutoFit/>
          </a:bodyPr>
          <a:lstStyle/>
          <a:p>
            <a:r>
              <a:rPr lang="fr-FR" sz="1400" b="1" dirty="0">
                <a:solidFill>
                  <a:srgbClr val="292929"/>
                </a:solidFill>
                <a:latin typeface="Söhne"/>
              </a:rPr>
              <a:t>Triggers basés sur d'autres jobs ou pipelines</a:t>
            </a:r>
          </a:p>
          <a:p>
            <a:pPr lvl="1"/>
            <a:r>
              <a:rPr lang="fr-FR" sz="1400" b="1" dirty="0">
                <a:solidFill>
                  <a:srgbClr val="292929"/>
                </a:solidFill>
                <a:latin typeface="Söhne"/>
              </a:rPr>
              <a:t>a) </a:t>
            </a:r>
            <a:r>
              <a:rPr lang="fr-FR" sz="1400" b="1" dirty="0" err="1">
                <a:solidFill>
                  <a:srgbClr val="292929"/>
                </a:solidFill>
                <a:latin typeface="Söhne"/>
              </a:rPr>
              <a:t>Build</a:t>
            </a:r>
            <a:r>
              <a:rPr lang="fr-FR" sz="1400" b="1" dirty="0">
                <a:solidFill>
                  <a:srgbClr val="292929"/>
                </a:solidFill>
                <a:latin typeface="Söhne"/>
              </a:rPr>
              <a:t> après d'autres projets </a:t>
            </a:r>
            <a:r>
              <a:rPr lang="fr-FR" sz="1400" b="1" dirty="0" smtClean="0">
                <a:solidFill>
                  <a:srgbClr val="292929"/>
                </a:solidFill>
                <a:latin typeface="Söhne"/>
              </a:rPr>
              <a:t>:</a:t>
            </a:r>
          </a:p>
          <a:p>
            <a:pPr lvl="1"/>
            <a:endParaRPr lang="fr-FR" sz="1400" b="1" dirty="0">
              <a:solidFill>
                <a:srgbClr val="292929"/>
              </a:solidFill>
              <a:latin typeface="Söhne"/>
            </a:endParaRPr>
          </a:p>
          <a:p>
            <a:pPr lvl="2">
              <a:buFont typeface="Arial" panose="020B0604020202020204" pitchFamily="34" charset="0"/>
              <a:buChar char="•"/>
            </a:pPr>
            <a:r>
              <a:rPr lang="fr-FR" sz="1400" b="1" dirty="0">
                <a:solidFill>
                  <a:srgbClr val="292929"/>
                </a:solidFill>
                <a:latin typeface="Söhne"/>
              </a:rPr>
              <a:t>Description</a:t>
            </a:r>
            <a:r>
              <a:rPr lang="fr-FR" sz="1400" dirty="0">
                <a:solidFill>
                  <a:srgbClr val="292929"/>
                </a:solidFill>
                <a:latin typeface="Söhne"/>
              </a:rPr>
              <a:t> : Vous pouvez configurer une pipeline pour qu'elle soit déclenchée automatiquement après qu'une autre pipeline ou un autre job se soit terminé. Cela permet de créer des dépendances entre les jobs</a:t>
            </a:r>
            <a:r>
              <a:rPr lang="fr-FR" sz="1400" dirty="0" smtClean="0">
                <a:solidFill>
                  <a:srgbClr val="292929"/>
                </a:solidFill>
                <a:latin typeface="Söhne"/>
              </a:rPr>
              <a:t>.</a:t>
            </a:r>
          </a:p>
          <a:p>
            <a:pPr lvl="2">
              <a:buFont typeface="Arial" panose="020B0604020202020204" pitchFamily="34" charset="0"/>
              <a:buChar char="•"/>
            </a:pPr>
            <a:endParaRPr lang="fr-FR" sz="1400" dirty="0">
              <a:solidFill>
                <a:srgbClr val="292929"/>
              </a:solidFill>
              <a:latin typeface="Söhne"/>
            </a:endParaRPr>
          </a:p>
          <a:p>
            <a:pPr lvl="2">
              <a:buFont typeface="Arial" panose="020B0604020202020204" pitchFamily="34" charset="0"/>
              <a:buChar char="•"/>
            </a:pPr>
            <a:r>
              <a:rPr lang="fr-FR" sz="1400" b="1" dirty="0">
                <a:solidFill>
                  <a:srgbClr val="292929"/>
                </a:solidFill>
                <a:latin typeface="Söhne"/>
              </a:rPr>
              <a:t>Utilisation</a:t>
            </a:r>
            <a:r>
              <a:rPr lang="fr-FR" sz="1400" dirty="0">
                <a:solidFill>
                  <a:srgbClr val="292929"/>
                </a:solidFill>
                <a:latin typeface="Söhne"/>
              </a:rPr>
              <a:t> : Vous configurez cela dans l'interface de Jenkins en sélectionnant le job précédent dans la section "</a:t>
            </a:r>
            <a:r>
              <a:rPr lang="fr-FR" sz="1400" dirty="0" err="1">
                <a:solidFill>
                  <a:srgbClr val="292929"/>
                </a:solidFill>
                <a:latin typeface="Söhne"/>
              </a:rPr>
              <a:t>Build</a:t>
            </a:r>
            <a:r>
              <a:rPr lang="fr-FR" sz="1400" dirty="0">
                <a:solidFill>
                  <a:srgbClr val="292929"/>
                </a:solidFill>
                <a:latin typeface="Söhne"/>
              </a:rPr>
              <a:t> </a:t>
            </a:r>
            <a:r>
              <a:rPr lang="fr-FR" sz="1400" dirty="0" err="1">
                <a:solidFill>
                  <a:srgbClr val="292929"/>
                </a:solidFill>
                <a:latin typeface="Söhne"/>
              </a:rPr>
              <a:t>after</a:t>
            </a:r>
            <a:r>
              <a:rPr lang="fr-FR" sz="1400" dirty="0">
                <a:solidFill>
                  <a:srgbClr val="292929"/>
                </a:solidFill>
                <a:latin typeface="Söhne"/>
              </a:rPr>
              <a:t> </a:t>
            </a:r>
            <a:r>
              <a:rPr lang="fr-FR" sz="1400" dirty="0" err="1">
                <a:solidFill>
                  <a:srgbClr val="292929"/>
                </a:solidFill>
                <a:latin typeface="Söhne"/>
              </a:rPr>
              <a:t>other</a:t>
            </a:r>
            <a:r>
              <a:rPr lang="fr-FR" sz="1400" dirty="0">
                <a:solidFill>
                  <a:srgbClr val="292929"/>
                </a:solidFill>
                <a:latin typeface="Söhne"/>
              </a:rPr>
              <a:t> </a:t>
            </a:r>
            <a:r>
              <a:rPr lang="fr-FR" sz="1400" dirty="0" err="1">
                <a:solidFill>
                  <a:srgbClr val="292929"/>
                </a:solidFill>
                <a:latin typeface="Söhne"/>
              </a:rPr>
              <a:t>projects</a:t>
            </a:r>
            <a:r>
              <a:rPr lang="fr-FR" sz="1400" dirty="0">
                <a:solidFill>
                  <a:srgbClr val="292929"/>
                </a:solidFill>
                <a:latin typeface="Söhne"/>
              </a:rPr>
              <a:t>".</a:t>
            </a:r>
            <a:endParaRPr lang="fr-FR" sz="1400" b="0" i="0" dirty="0">
              <a:solidFill>
                <a:srgbClr val="292929"/>
              </a:solidFill>
              <a:effectLst/>
              <a:latin typeface="Söhne"/>
            </a:endParaRPr>
          </a:p>
        </p:txBody>
      </p:sp>
      <p:pic>
        <p:nvPicPr>
          <p:cNvPr id="3" name="Picture 2"/>
          <p:cNvPicPr>
            <a:picLocks noChangeAspect="1"/>
          </p:cNvPicPr>
          <p:nvPr/>
        </p:nvPicPr>
        <p:blipFill>
          <a:blip r:embed="rId4"/>
          <a:stretch>
            <a:fillRect/>
          </a:stretch>
        </p:blipFill>
        <p:spPr>
          <a:xfrm>
            <a:off x="2105696" y="2809083"/>
            <a:ext cx="7233339" cy="3767246"/>
          </a:xfrm>
          <a:prstGeom prst="rect">
            <a:avLst/>
          </a:prstGeom>
        </p:spPr>
      </p:pic>
    </p:spTree>
    <p:extLst>
      <p:ext uri="{BB962C8B-B14F-4D97-AF65-F5344CB8AC3E}">
        <p14:creationId xmlns:p14="http://schemas.microsoft.com/office/powerpoint/2010/main" val="2574306091"/>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2" name="Rectangle 1"/>
          <p:cNvSpPr/>
          <p:nvPr/>
        </p:nvSpPr>
        <p:spPr>
          <a:xfrm>
            <a:off x="298359" y="784058"/>
            <a:ext cx="11028609" cy="307777"/>
          </a:xfrm>
          <a:prstGeom prst="rect">
            <a:avLst/>
          </a:prstGeom>
        </p:spPr>
        <p:txBody>
          <a:bodyPr wrap="square">
            <a:spAutoFit/>
          </a:bodyPr>
          <a:lstStyle/>
          <a:p>
            <a:r>
              <a:rPr lang="fr-FR" sz="1400" b="1" dirty="0">
                <a:solidFill>
                  <a:srgbClr val="292929"/>
                </a:solidFill>
                <a:latin typeface="Söhne"/>
              </a:rPr>
              <a:t>Triggers basés </a:t>
            </a:r>
            <a:r>
              <a:rPr lang="fr-FR" sz="1400" b="1" dirty="0" smtClean="0">
                <a:solidFill>
                  <a:srgbClr val="292929"/>
                </a:solidFill>
                <a:latin typeface="Söhne"/>
              </a:rPr>
              <a:t>sur les </a:t>
            </a:r>
            <a:r>
              <a:rPr lang="fr-FR" sz="1400" b="1" dirty="0" err="1" smtClean="0">
                <a:solidFill>
                  <a:srgbClr val="292929"/>
                </a:solidFill>
                <a:latin typeface="Söhne"/>
              </a:rPr>
              <a:t>Webhooks</a:t>
            </a:r>
            <a:endParaRPr lang="fr-FR" sz="1400" b="1" dirty="0">
              <a:solidFill>
                <a:srgbClr val="292929"/>
              </a:solidFill>
              <a:latin typeface="Söhne"/>
            </a:endParaRPr>
          </a:p>
        </p:txBody>
      </p:sp>
      <p:sp>
        <p:nvSpPr>
          <p:cNvPr id="4" name="Rectangle 1"/>
          <p:cNvSpPr>
            <a:spLocks noChangeArrowheads="1"/>
          </p:cNvSpPr>
          <p:nvPr/>
        </p:nvSpPr>
        <p:spPr bwMode="auto">
          <a:xfrm>
            <a:off x="417891" y="1223235"/>
            <a:ext cx="1090907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Arial" panose="020B0604020202020204" pitchFamily="34" charset="0"/>
              </a:rPr>
              <a:t>Le </a:t>
            </a:r>
            <a:r>
              <a:rPr kumimoji="0" lang="en-US" altLang="en-US" sz="1400" b="0" i="0" u="none" strike="noStrike" cap="none" normalizeH="0" baseline="0" dirty="0" err="1" smtClean="0">
                <a:ln>
                  <a:noFill/>
                </a:ln>
                <a:solidFill>
                  <a:schemeClr val="tx1"/>
                </a:solidFill>
                <a:effectLst/>
                <a:latin typeface="Arial" panose="020B0604020202020204" pitchFamily="34" charset="0"/>
              </a:rPr>
              <a:t>webhook</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enverra</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une</a:t>
            </a:r>
            <a:r>
              <a:rPr kumimoji="0" lang="en-US" altLang="en-US" sz="1400" b="0" i="0" u="none" strike="noStrike" cap="none" normalizeH="0" baseline="0" dirty="0" smtClean="0">
                <a:ln>
                  <a:noFill/>
                </a:ln>
                <a:solidFill>
                  <a:schemeClr val="tx1"/>
                </a:solidFill>
                <a:effectLst/>
                <a:latin typeface="Arial" panose="020B0604020202020204" pitchFamily="34" charset="0"/>
              </a:rPr>
              <a:t> notification à Jenkins </a:t>
            </a:r>
            <a:r>
              <a:rPr kumimoji="0" lang="en-US" altLang="en-US" sz="1400" b="0" i="0" u="none" strike="noStrike" cap="none" normalizeH="0" baseline="0" dirty="0" err="1" smtClean="0">
                <a:ln>
                  <a:noFill/>
                </a:ln>
                <a:solidFill>
                  <a:schemeClr val="tx1"/>
                </a:solidFill>
                <a:effectLst/>
                <a:latin typeface="Arial" panose="020B0604020202020204" pitchFamily="34" charset="0"/>
              </a:rPr>
              <a:t>chaque</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fois</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qu'un</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événement</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spécifique</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comme</a:t>
            </a:r>
            <a:r>
              <a:rPr kumimoji="0" lang="en-US" altLang="en-US" sz="1400" b="0" i="0" u="none" strike="noStrike" cap="none" normalizeH="0" baseline="0" dirty="0" smtClean="0">
                <a:ln>
                  <a:noFill/>
                </a:ln>
                <a:solidFill>
                  <a:schemeClr val="tx1"/>
                </a:solidFill>
                <a:effectLst/>
                <a:latin typeface="Arial" panose="020B0604020202020204" pitchFamily="34" charset="0"/>
              </a:rPr>
              <a:t> un </a:t>
            </a:r>
            <a:r>
              <a:rPr kumimoji="0" lang="en-US" altLang="en-US" sz="1400" b="0" i="0" u="none" strike="noStrike" cap="none" normalizeH="0" baseline="0" dirty="0" smtClean="0">
                <a:ln>
                  <a:noFill/>
                </a:ln>
                <a:solidFill>
                  <a:schemeClr val="tx1"/>
                </a:solidFill>
                <a:effectLst/>
                <a:latin typeface="Arial Unicode MS"/>
              </a:rPr>
              <a:t>push</a:t>
            </a:r>
            <a:r>
              <a:rPr kumimoji="0" lang="en-US" altLang="en-US" sz="1400" b="0" i="0" u="none" strike="noStrike" cap="none" normalizeH="0" baseline="0" dirty="0" smtClean="0">
                <a:ln>
                  <a:noFill/>
                </a:ln>
                <a:solidFill>
                  <a:schemeClr val="tx1"/>
                </a:solidFill>
                <a:effectLst/>
              </a:rPr>
              <a:t>) se </a:t>
            </a:r>
            <a:r>
              <a:rPr kumimoji="0" lang="en-US" altLang="en-US" sz="1400" b="0" i="0" u="none" strike="noStrike" cap="none" normalizeH="0" baseline="0" dirty="0" err="1" smtClean="0">
                <a:ln>
                  <a:noFill/>
                </a:ln>
                <a:solidFill>
                  <a:schemeClr val="tx1"/>
                </a:solidFill>
                <a:effectLst/>
              </a:rPr>
              <a:t>produit</a:t>
            </a:r>
            <a:r>
              <a:rPr kumimoji="0" lang="en-US" altLang="en-US" sz="1400" b="0" i="0" u="none" strike="noStrike" cap="none" normalizeH="0" baseline="0" dirty="0" smtClean="0">
                <a:ln>
                  <a:noFill/>
                </a:ln>
                <a:solidFill>
                  <a:schemeClr val="tx1"/>
                </a:solidFill>
                <a:effectLst/>
              </a:rPr>
              <a:t> </a:t>
            </a:r>
            <a:r>
              <a:rPr kumimoji="0" lang="en-US" altLang="en-US" sz="1400" b="0" i="0" u="none" strike="noStrike" cap="none" normalizeH="0" baseline="0" dirty="0" err="1" smtClean="0">
                <a:ln>
                  <a:noFill/>
                </a:ln>
                <a:solidFill>
                  <a:schemeClr val="tx1"/>
                </a:solidFill>
                <a:effectLst/>
              </a:rPr>
              <a:t>dans</a:t>
            </a:r>
            <a:r>
              <a:rPr kumimoji="0" lang="en-US" altLang="en-US" sz="1400" b="0" i="0" u="none" strike="noStrike" cap="none" normalizeH="0" baseline="0" dirty="0" smtClean="0">
                <a:ln>
                  <a:noFill/>
                </a:ln>
                <a:solidFill>
                  <a:schemeClr val="tx1"/>
                </a:solidFill>
                <a:effectLst/>
              </a:rPr>
              <a:t> le </a:t>
            </a:r>
            <a:r>
              <a:rPr kumimoji="0" lang="en-US" altLang="en-US" sz="1400" b="0" i="0" u="none" strike="noStrike" cap="none" normalizeH="0" baseline="0" dirty="0" err="1" smtClean="0">
                <a:ln>
                  <a:noFill/>
                </a:ln>
                <a:solidFill>
                  <a:schemeClr val="tx1"/>
                </a:solidFill>
                <a:effectLst/>
              </a:rPr>
              <a:t>dépôt</a:t>
            </a:r>
            <a:r>
              <a:rPr kumimoji="0" lang="en-US" altLang="en-US" sz="1400" b="0" i="0" u="none" strike="noStrike" cap="none" normalizeH="0" baseline="0" dirty="0" smtClean="0">
                <a:ln>
                  <a:noFill/>
                </a:ln>
                <a:solidFill>
                  <a:schemeClr val="tx1"/>
                </a:solidFill>
                <a:effectLst/>
              </a:rPr>
              <a:t> </a:t>
            </a:r>
            <a:r>
              <a:rPr kumimoji="0" lang="en-US" altLang="en-US" sz="1400" b="0" i="0" u="none" strike="noStrike" cap="none" normalizeH="0" baseline="0" dirty="0" err="1" smtClean="0">
                <a:ln>
                  <a:noFill/>
                </a:ln>
                <a:solidFill>
                  <a:schemeClr val="tx1"/>
                </a:solidFill>
                <a:effectLst/>
              </a:rPr>
              <a:t>GitLab</a:t>
            </a:r>
            <a:r>
              <a:rPr kumimoji="0" lang="en-US" altLang="en-US" sz="1400" b="0" i="0" u="none" strike="noStrike" cap="none" normalizeH="0" baseline="0" dirty="0" smtClean="0">
                <a:ln>
                  <a:noFill/>
                </a:ln>
                <a:solidFill>
                  <a:schemeClr val="tx1"/>
                </a:solidFill>
                <a:effectLst/>
              </a:rPr>
              <a:t>.</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Arial" panose="020B0604020202020204" pitchFamily="34" charset="0"/>
              </a:rPr>
              <a:t>Accéder</a:t>
            </a:r>
            <a:r>
              <a:rPr kumimoji="0" lang="en-US" altLang="en-US" sz="1400" b="1" i="0" u="none" strike="noStrike" cap="none" normalizeH="0" baseline="0" dirty="0" smtClean="0">
                <a:ln>
                  <a:noFill/>
                </a:ln>
                <a:solidFill>
                  <a:schemeClr val="tx1"/>
                </a:solidFill>
                <a:effectLst/>
                <a:latin typeface="Arial" panose="020B0604020202020204" pitchFamily="34" charset="0"/>
              </a:rPr>
              <a:t> aux </a:t>
            </a:r>
            <a:r>
              <a:rPr kumimoji="0" lang="en-US" altLang="en-US" sz="1400" b="1" i="0" u="none" strike="noStrike" cap="none" normalizeH="0" baseline="0" dirty="0" err="1" smtClean="0">
                <a:ln>
                  <a:noFill/>
                </a:ln>
                <a:solidFill>
                  <a:schemeClr val="tx1"/>
                </a:solidFill>
                <a:effectLst/>
                <a:latin typeface="Arial" panose="020B0604020202020204" pitchFamily="34" charset="0"/>
              </a:rPr>
              <a:t>paramètres</a:t>
            </a:r>
            <a:r>
              <a:rPr kumimoji="0" lang="en-US" altLang="en-US" sz="1400" b="1" i="0" u="none" strike="noStrike" cap="none" normalizeH="0" baseline="0" dirty="0" smtClean="0">
                <a:ln>
                  <a:noFill/>
                </a:ln>
                <a:solidFill>
                  <a:schemeClr val="tx1"/>
                </a:solidFill>
                <a:effectLst/>
                <a:latin typeface="Arial" panose="020B0604020202020204" pitchFamily="34" charset="0"/>
              </a:rPr>
              <a:t> du </a:t>
            </a:r>
            <a:r>
              <a:rPr kumimoji="0" lang="en-US" altLang="en-US" sz="1400" b="1" i="0" u="none" strike="noStrike" cap="none" normalizeH="0" baseline="0" dirty="0" err="1" smtClean="0">
                <a:ln>
                  <a:noFill/>
                </a:ln>
                <a:solidFill>
                  <a:schemeClr val="tx1"/>
                </a:solidFill>
                <a:effectLst/>
                <a:latin typeface="Arial" panose="020B0604020202020204" pitchFamily="34" charset="0"/>
              </a:rPr>
              <a:t>projet</a:t>
            </a:r>
            <a:r>
              <a:rPr kumimoji="0" lang="en-US" altLang="en-US" sz="1400" b="1" i="0" u="none" strike="noStrike" cap="none" normalizeH="0" baseline="0" dirty="0" smtClean="0">
                <a:ln>
                  <a:noFill/>
                </a:ln>
                <a:solidFill>
                  <a:schemeClr val="tx1"/>
                </a:solidFill>
                <a:effectLst/>
                <a:latin typeface="Arial" panose="020B0604020202020204" pitchFamily="34" charset="0"/>
              </a:rPr>
              <a:t> </a:t>
            </a:r>
            <a:r>
              <a:rPr kumimoji="0" lang="en-US" altLang="en-US" sz="1400" b="1" i="0" u="none" strike="noStrike" cap="none" normalizeH="0" baseline="0" dirty="0" err="1" smtClean="0">
                <a:ln>
                  <a:noFill/>
                </a:ln>
                <a:solidFill>
                  <a:schemeClr val="tx1"/>
                </a:solidFill>
                <a:effectLst/>
                <a:latin typeface="Arial" panose="020B0604020202020204" pitchFamily="34" charset="0"/>
              </a:rPr>
              <a:t>GitLab</a:t>
            </a:r>
            <a:r>
              <a:rPr kumimoji="0" lang="en-US" altLang="en-US" sz="1400" b="0" i="0" u="none" strike="noStrike" cap="none" normalizeH="0" baseline="0" dirty="0" smtClean="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err="1" smtClean="0">
                <a:ln>
                  <a:noFill/>
                </a:ln>
                <a:solidFill>
                  <a:schemeClr val="tx1"/>
                </a:solidFill>
                <a:effectLst/>
                <a:latin typeface="Arial" panose="020B0604020202020204" pitchFamily="34" charset="0"/>
              </a:rPr>
              <a:t>Connectez-vous</a:t>
            </a:r>
            <a:r>
              <a:rPr kumimoji="0" lang="en-US" altLang="en-US" sz="1400" b="0" i="0" u="none" strike="noStrike" cap="none" normalizeH="0" baseline="0" dirty="0" smtClean="0">
                <a:ln>
                  <a:noFill/>
                </a:ln>
                <a:solidFill>
                  <a:schemeClr val="tx1"/>
                </a:solidFill>
                <a:effectLst/>
                <a:latin typeface="Arial" panose="020B0604020202020204" pitchFamily="34" charset="0"/>
              </a:rPr>
              <a:t> à </a:t>
            </a:r>
            <a:r>
              <a:rPr kumimoji="0" lang="en-US" altLang="en-US" sz="1400" b="0" i="0" u="none" strike="noStrike" cap="none" normalizeH="0" baseline="0" dirty="0" err="1" smtClean="0">
                <a:ln>
                  <a:noFill/>
                </a:ln>
                <a:solidFill>
                  <a:schemeClr val="tx1"/>
                </a:solidFill>
                <a:effectLst/>
                <a:latin typeface="Arial" panose="020B0604020202020204" pitchFamily="34" charset="0"/>
              </a:rPr>
              <a:t>votre</a:t>
            </a:r>
            <a:r>
              <a:rPr kumimoji="0" lang="en-US" altLang="en-US" sz="1400" b="0" i="0" u="none" strike="noStrike" cap="none" normalizeH="0" baseline="0" dirty="0" smtClean="0">
                <a:ln>
                  <a:noFill/>
                </a:ln>
                <a:solidFill>
                  <a:schemeClr val="tx1"/>
                </a:solidFill>
                <a:effectLst/>
                <a:latin typeface="Arial" panose="020B0604020202020204" pitchFamily="34" charset="0"/>
              </a:rPr>
              <a:t> instance </a:t>
            </a:r>
            <a:r>
              <a:rPr kumimoji="0" lang="en-US" altLang="en-US" sz="1400" b="0" i="0" u="none" strike="noStrike" cap="none" normalizeH="0" baseline="0" dirty="0" err="1" smtClean="0">
                <a:ln>
                  <a:noFill/>
                </a:ln>
                <a:solidFill>
                  <a:schemeClr val="tx1"/>
                </a:solidFill>
                <a:effectLst/>
                <a:latin typeface="Arial" panose="020B0604020202020204" pitchFamily="34" charset="0"/>
              </a:rPr>
              <a:t>GitLab</a:t>
            </a:r>
            <a:r>
              <a:rPr kumimoji="0" lang="en-US" altLang="en-US" sz="1400" b="0" i="0" u="none" strike="noStrike" cap="none" normalizeH="0" baseline="0" dirty="0" smtClean="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err="1" smtClean="0">
                <a:ln>
                  <a:noFill/>
                </a:ln>
                <a:solidFill>
                  <a:schemeClr val="tx1"/>
                </a:solidFill>
                <a:effectLst/>
                <a:latin typeface="Arial" panose="020B0604020202020204" pitchFamily="34" charset="0"/>
              </a:rPr>
              <a:t>Accédez</a:t>
            </a:r>
            <a:r>
              <a:rPr kumimoji="0" lang="en-US" altLang="en-US" sz="1400" b="0" i="0" u="none" strike="noStrike" cap="none" normalizeH="0" baseline="0" dirty="0" smtClean="0">
                <a:ln>
                  <a:noFill/>
                </a:ln>
                <a:solidFill>
                  <a:schemeClr val="tx1"/>
                </a:solidFill>
                <a:effectLst/>
                <a:latin typeface="Arial" panose="020B0604020202020204" pitchFamily="34" charset="0"/>
              </a:rPr>
              <a:t> au </a:t>
            </a:r>
            <a:r>
              <a:rPr kumimoji="0" lang="en-US" altLang="en-US" sz="1400" b="0" i="0" u="none" strike="noStrike" cap="none" normalizeH="0" baseline="0" dirty="0" err="1" smtClean="0">
                <a:ln>
                  <a:noFill/>
                </a:ln>
                <a:solidFill>
                  <a:schemeClr val="tx1"/>
                </a:solidFill>
                <a:effectLst/>
                <a:latin typeface="Arial" panose="020B0604020202020204" pitchFamily="34" charset="0"/>
              </a:rPr>
              <a:t>dépôt</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où</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vous</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voulez</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configurer</a:t>
            </a:r>
            <a:r>
              <a:rPr kumimoji="0" lang="en-US" altLang="en-US" sz="1400" b="0" i="0" u="none" strike="noStrike" cap="none" normalizeH="0" baseline="0" dirty="0" smtClean="0">
                <a:ln>
                  <a:noFill/>
                </a:ln>
                <a:solidFill>
                  <a:schemeClr val="tx1"/>
                </a:solidFill>
                <a:effectLst/>
                <a:latin typeface="Arial" panose="020B0604020202020204" pitchFamily="34" charset="0"/>
              </a:rPr>
              <a:t> le </a:t>
            </a:r>
            <a:r>
              <a:rPr kumimoji="0" lang="en-US" altLang="en-US" sz="1400" b="0" i="0" u="none" strike="noStrike" cap="none" normalizeH="0" baseline="0" dirty="0" err="1" smtClean="0">
                <a:ln>
                  <a:noFill/>
                </a:ln>
                <a:solidFill>
                  <a:schemeClr val="tx1"/>
                </a:solidFill>
                <a:effectLst/>
                <a:latin typeface="Arial" panose="020B0604020202020204" pitchFamily="34" charset="0"/>
              </a:rPr>
              <a:t>webhook</a:t>
            </a:r>
            <a:r>
              <a:rPr kumimoji="0" lang="en-US" altLang="en-US" sz="1400" b="0" i="0" u="none" strike="noStrike" cap="none" normalizeH="0" baseline="0" dirty="0" smtClean="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err="1" smtClean="0">
                <a:ln>
                  <a:noFill/>
                </a:ln>
                <a:solidFill>
                  <a:schemeClr val="tx1"/>
                </a:solidFill>
                <a:effectLst/>
                <a:latin typeface="Arial" panose="020B0604020202020204" pitchFamily="34" charset="0"/>
              </a:rPr>
              <a:t>Cliquez</a:t>
            </a:r>
            <a:r>
              <a:rPr kumimoji="0" lang="en-US" altLang="en-US" sz="1400" b="0" i="0" u="none" strike="noStrike" cap="none" normalizeH="0" baseline="0" dirty="0" smtClean="0">
                <a:ln>
                  <a:noFill/>
                </a:ln>
                <a:solidFill>
                  <a:schemeClr val="tx1"/>
                </a:solidFill>
                <a:effectLst/>
                <a:latin typeface="Arial" panose="020B0604020202020204" pitchFamily="34" charset="0"/>
              </a:rPr>
              <a:t> sur </a:t>
            </a:r>
            <a:r>
              <a:rPr kumimoji="0" lang="en-US" altLang="en-US" sz="1400" b="1" i="0" u="none" strike="noStrike" cap="none" normalizeH="0" baseline="0" dirty="0" smtClean="0">
                <a:ln>
                  <a:noFill/>
                </a:ln>
                <a:solidFill>
                  <a:schemeClr val="tx1"/>
                </a:solidFill>
                <a:effectLst/>
                <a:latin typeface="Arial" panose="020B0604020202020204" pitchFamily="34" charset="0"/>
              </a:rPr>
              <a:t>Settings</a:t>
            </a:r>
            <a:r>
              <a:rPr kumimoji="0" lang="en-US" altLang="en-US" sz="1400" b="0" i="0" u="none" strike="noStrike" cap="none" normalizeH="0" baseline="0" dirty="0" smtClean="0">
                <a:ln>
                  <a:noFill/>
                </a:ln>
                <a:solidFill>
                  <a:schemeClr val="tx1"/>
                </a:solidFill>
                <a:effectLst/>
                <a:latin typeface="Arial" panose="020B0604020202020204" pitchFamily="34" charset="0"/>
              </a:rPr>
              <a:t> (</a:t>
            </a:r>
            <a:r>
              <a:rPr kumimoji="0" lang="en-US" altLang="en-US" sz="1400" b="0" i="0" u="none" strike="noStrike" cap="none" normalizeH="0" baseline="0" dirty="0" err="1" smtClean="0">
                <a:ln>
                  <a:noFill/>
                </a:ln>
                <a:solidFill>
                  <a:schemeClr val="tx1"/>
                </a:solidFill>
                <a:effectLst/>
                <a:latin typeface="Arial" panose="020B0604020202020204" pitchFamily="34" charset="0"/>
              </a:rPr>
              <a:t>en</a:t>
            </a:r>
            <a:r>
              <a:rPr kumimoji="0" lang="en-US" altLang="en-US" sz="1400" b="0" i="0" u="none" strike="noStrike" cap="none" normalizeH="0" baseline="0" dirty="0" smtClean="0">
                <a:ln>
                  <a:noFill/>
                </a:ln>
                <a:solidFill>
                  <a:schemeClr val="tx1"/>
                </a:solidFill>
                <a:effectLst/>
                <a:latin typeface="Arial" panose="020B0604020202020204" pitchFamily="34" charset="0"/>
              </a:rPr>
              <a:t> bas à gauche) &gt; </a:t>
            </a:r>
            <a:r>
              <a:rPr kumimoji="0" lang="en-US" altLang="en-US" sz="1400" b="1" i="0" u="none" strike="noStrike" cap="none" normalizeH="0" baseline="0" dirty="0" err="1" smtClean="0">
                <a:ln>
                  <a:noFill/>
                </a:ln>
                <a:solidFill>
                  <a:schemeClr val="tx1"/>
                </a:solidFill>
                <a:effectLst/>
                <a:latin typeface="Arial" panose="020B0604020202020204" pitchFamily="34" charset="0"/>
              </a:rPr>
              <a:t>Webhooks</a:t>
            </a:r>
            <a:r>
              <a:rPr kumimoji="0" lang="en-US" altLang="en-US" sz="1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4"/>
          <a:stretch>
            <a:fillRect/>
          </a:stretch>
        </p:blipFill>
        <p:spPr>
          <a:xfrm>
            <a:off x="954878" y="2608230"/>
            <a:ext cx="2052243" cy="3401987"/>
          </a:xfrm>
          <a:prstGeom prst="rect">
            <a:avLst/>
          </a:prstGeom>
        </p:spPr>
      </p:pic>
      <p:cxnSp>
        <p:nvCxnSpPr>
          <p:cNvPr id="7" name="Straight Arrow Connector 6"/>
          <p:cNvCxnSpPr/>
          <p:nvPr/>
        </p:nvCxnSpPr>
        <p:spPr>
          <a:xfrm flipH="1">
            <a:off x="1980999" y="5029200"/>
            <a:ext cx="619985" cy="792051"/>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pic>
        <p:nvPicPr>
          <p:cNvPr id="8" name="Picture 7"/>
          <p:cNvPicPr>
            <a:picLocks noChangeAspect="1"/>
          </p:cNvPicPr>
          <p:nvPr/>
        </p:nvPicPr>
        <p:blipFill>
          <a:blip r:embed="rId5"/>
          <a:stretch>
            <a:fillRect/>
          </a:stretch>
        </p:blipFill>
        <p:spPr>
          <a:xfrm>
            <a:off x="3200400" y="2539046"/>
            <a:ext cx="5908646" cy="3417433"/>
          </a:xfrm>
          <a:prstGeom prst="rect">
            <a:avLst/>
          </a:prstGeom>
        </p:spPr>
      </p:pic>
      <p:sp>
        <p:nvSpPr>
          <p:cNvPr id="9" name="Oval 8"/>
          <p:cNvSpPr/>
          <p:nvPr/>
        </p:nvSpPr>
        <p:spPr>
          <a:xfrm>
            <a:off x="6059510" y="3354946"/>
            <a:ext cx="367048" cy="347730"/>
          </a:xfrm>
          <a:prstGeom prst="ellipse">
            <a:avLst/>
          </a:prstGeom>
          <a:solidFill>
            <a:srgbClr val="FF0000"/>
          </a:solidFill>
          <a:ln>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1</a:t>
            </a:r>
            <a:endParaRPr lang="en-US" dirty="0"/>
          </a:p>
        </p:txBody>
      </p:sp>
    </p:spTree>
    <p:extLst>
      <p:ext uri="{BB962C8B-B14F-4D97-AF65-F5344CB8AC3E}">
        <p14:creationId xmlns:p14="http://schemas.microsoft.com/office/powerpoint/2010/main" val="3833992160"/>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936383" y="1424615"/>
            <a:ext cx="3557964" cy="5132346"/>
          </a:xfrm>
          <a:prstGeom prst="rect">
            <a:avLst/>
          </a:prstGeom>
        </p:spPr>
      </p:pic>
      <p:sp>
        <p:nvSpPr>
          <p:cNvPr id="340994" name="Rectangle 1">
            <a:hlinkClick r:id="rId4" action="ppaction://hlinkfile"/>
          </p:cNvPr>
          <p:cNvSpPr>
            <a:spLocks noChangeArrowheads="1"/>
          </p:cNvSpPr>
          <p:nvPr/>
        </p:nvSpPr>
        <p:spPr bwMode="auto">
          <a:xfrm>
            <a:off x="204965" y="2363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2" name="Rectangle 1"/>
          <p:cNvSpPr/>
          <p:nvPr/>
        </p:nvSpPr>
        <p:spPr>
          <a:xfrm>
            <a:off x="298359" y="784058"/>
            <a:ext cx="11028609" cy="307777"/>
          </a:xfrm>
          <a:prstGeom prst="rect">
            <a:avLst/>
          </a:prstGeom>
        </p:spPr>
        <p:txBody>
          <a:bodyPr wrap="square">
            <a:spAutoFit/>
          </a:bodyPr>
          <a:lstStyle/>
          <a:p>
            <a:r>
              <a:rPr lang="fr-FR" sz="1400" b="1" dirty="0">
                <a:solidFill>
                  <a:srgbClr val="292929"/>
                </a:solidFill>
                <a:latin typeface="Söhne"/>
              </a:rPr>
              <a:t>Triggers basés </a:t>
            </a:r>
            <a:r>
              <a:rPr lang="fr-FR" sz="1400" b="1" dirty="0" smtClean="0">
                <a:solidFill>
                  <a:srgbClr val="292929"/>
                </a:solidFill>
                <a:latin typeface="Söhne"/>
              </a:rPr>
              <a:t>sur les </a:t>
            </a:r>
            <a:r>
              <a:rPr lang="fr-FR" sz="1400" b="1" dirty="0" err="1" smtClean="0">
                <a:solidFill>
                  <a:srgbClr val="292929"/>
                </a:solidFill>
                <a:latin typeface="Söhne"/>
              </a:rPr>
              <a:t>Webhooks</a:t>
            </a:r>
            <a:endParaRPr lang="fr-FR" sz="1400" b="1" dirty="0">
              <a:solidFill>
                <a:srgbClr val="292929"/>
              </a:solidFill>
              <a:latin typeface="Söhne"/>
            </a:endParaRPr>
          </a:p>
        </p:txBody>
      </p:sp>
      <p:pic>
        <p:nvPicPr>
          <p:cNvPr id="5" name="Picture 4"/>
          <p:cNvPicPr>
            <a:picLocks noChangeAspect="1"/>
          </p:cNvPicPr>
          <p:nvPr/>
        </p:nvPicPr>
        <p:blipFill>
          <a:blip r:embed="rId5"/>
          <a:stretch>
            <a:fillRect/>
          </a:stretch>
        </p:blipFill>
        <p:spPr>
          <a:xfrm>
            <a:off x="446163" y="1391177"/>
            <a:ext cx="2052243" cy="3401987"/>
          </a:xfrm>
          <a:prstGeom prst="rect">
            <a:avLst/>
          </a:prstGeom>
        </p:spPr>
      </p:pic>
      <p:cxnSp>
        <p:nvCxnSpPr>
          <p:cNvPr id="7" name="Straight Arrow Connector 6"/>
          <p:cNvCxnSpPr/>
          <p:nvPr/>
        </p:nvCxnSpPr>
        <p:spPr>
          <a:xfrm flipH="1">
            <a:off x="1472284" y="3812147"/>
            <a:ext cx="619985" cy="792051"/>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9" name="Oval 8"/>
          <p:cNvSpPr/>
          <p:nvPr/>
        </p:nvSpPr>
        <p:spPr>
          <a:xfrm>
            <a:off x="4531841" y="3567447"/>
            <a:ext cx="367048" cy="347730"/>
          </a:xfrm>
          <a:prstGeom prst="ellipse">
            <a:avLst/>
          </a:prstGeom>
          <a:solidFill>
            <a:srgbClr val="FF0000"/>
          </a:solidFill>
          <a:ln>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2</a:t>
            </a:r>
            <a:endParaRPr lang="en-US" dirty="0"/>
          </a:p>
        </p:txBody>
      </p:sp>
      <p:pic>
        <p:nvPicPr>
          <p:cNvPr id="6" name="Picture 5"/>
          <p:cNvPicPr>
            <a:picLocks noChangeAspect="1"/>
          </p:cNvPicPr>
          <p:nvPr/>
        </p:nvPicPr>
        <p:blipFill>
          <a:blip r:embed="rId6"/>
          <a:stretch>
            <a:fillRect/>
          </a:stretch>
        </p:blipFill>
        <p:spPr>
          <a:xfrm>
            <a:off x="5679583" y="937946"/>
            <a:ext cx="4910912" cy="1671986"/>
          </a:xfrm>
          <a:prstGeom prst="rect">
            <a:avLst/>
          </a:prstGeom>
        </p:spPr>
      </p:pic>
      <p:pic>
        <p:nvPicPr>
          <p:cNvPr id="10" name="Picture 9"/>
          <p:cNvPicPr>
            <a:picLocks noChangeAspect="1"/>
          </p:cNvPicPr>
          <p:nvPr/>
        </p:nvPicPr>
        <p:blipFill>
          <a:blip r:embed="rId7"/>
          <a:stretch>
            <a:fillRect/>
          </a:stretch>
        </p:blipFill>
        <p:spPr>
          <a:xfrm>
            <a:off x="6545863" y="2945062"/>
            <a:ext cx="4318222" cy="1638384"/>
          </a:xfrm>
          <a:prstGeom prst="rect">
            <a:avLst/>
          </a:prstGeom>
        </p:spPr>
      </p:pic>
      <p:cxnSp>
        <p:nvCxnSpPr>
          <p:cNvPr id="12" name="Straight Arrow Connector 11"/>
          <p:cNvCxnSpPr/>
          <p:nvPr/>
        </p:nvCxnSpPr>
        <p:spPr>
          <a:xfrm flipH="1">
            <a:off x="9403524" y="3203744"/>
            <a:ext cx="619985" cy="792051"/>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170033724"/>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936383" y="1424615"/>
            <a:ext cx="3557964" cy="5132346"/>
          </a:xfrm>
          <a:prstGeom prst="rect">
            <a:avLst/>
          </a:prstGeom>
        </p:spPr>
      </p:pic>
      <p:sp>
        <p:nvSpPr>
          <p:cNvPr id="340994" name="Rectangle 1">
            <a:hlinkClick r:id="rId4" action="ppaction://hlinkfile"/>
          </p:cNvPr>
          <p:cNvSpPr>
            <a:spLocks noChangeArrowheads="1"/>
          </p:cNvSpPr>
          <p:nvPr/>
        </p:nvSpPr>
        <p:spPr bwMode="auto">
          <a:xfrm>
            <a:off x="204965" y="2363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2" name="Rectangle 1"/>
          <p:cNvSpPr/>
          <p:nvPr/>
        </p:nvSpPr>
        <p:spPr>
          <a:xfrm>
            <a:off x="298359" y="784058"/>
            <a:ext cx="11028609" cy="307777"/>
          </a:xfrm>
          <a:prstGeom prst="rect">
            <a:avLst/>
          </a:prstGeom>
        </p:spPr>
        <p:txBody>
          <a:bodyPr wrap="square">
            <a:spAutoFit/>
          </a:bodyPr>
          <a:lstStyle/>
          <a:p>
            <a:r>
              <a:rPr lang="fr-FR" sz="1400" b="1" dirty="0">
                <a:solidFill>
                  <a:srgbClr val="292929"/>
                </a:solidFill>
                <a:latin typeface="Söhne"/>
              </a:rPr>
              <a:t>Triggers basés </a:t>
            </a:r>
            <a:r>
              <a:rPr lang="fr-FR" sz="1400" b="1" dirty="0" smtClean="0">
                <a:solidFill>
                  <a:srgbClr val="292929"/>
                </a:solidFill>
                <a:latin typeface="Söhne"/>
              </a:rPr>
              <a:t>sur les </a:t>
            </a:r>
            <a:r>
              <a:rPr lang="fr-FR" sz="1400" b="1" dirty="0" err="1" smtClean="0">
                <a:solidFill>
                  <a:srgbClr val="292929"/>
                </a:solidFill>
                <a:latin typeface="Söhne"/>
              </a:rPr>
              <a:t>Webhooks</a:t>
            </a:r>
            <a:endParaRPr lang="fr-FR" sz="1400" b="1" dirty="0">
              <a:solidFill>
                <a:srgbClr val="292929"/>
              </a:solidFill>
              <a:latin typeface="Söhne"/>
            </a:endParaRPr>
          </a:p>
        </p:txBody>
      </p:sp>
      <p:pic>
        <p:nvPicPr>
          <p:cNvPr id="5" name="Picture 4"/>
          <p:cNvPicPr>
            <a:picLocks noChangeAspect="1"/>
          </p:cNvPicPr>
          <p:nvPr/>
        </p:nvPicPr>
        <p:blipFill>
          <a:blip r:embed="rId5"/>
          <a:stretch>
            <a:fillRect/>
          </a:stretch>
        </p:blipFill>
        <p:spPr>
          <a:xfrm>
            <a:off x="446163" y="1391177"/>
            <a:ext cx="2052243" cy="3401987"/>
          </a:xfrm>
          <a:prstGeom prst="rect">
            <a:avLst/>
          </a:prstGeom>
        </p:spPr>
      </p:pic>
      <p:cxnSp>
        <p:nvCxnSpPr>
          <p:cNvPr id="7" name="Straight Arrow Connector 6"/>
          <p:cNvCxnSpPr/>
          <p:nvPr/>
        </p:nvCxnSpPr>
        <p:spPr>
          <a:xfrm flipH="1">
            <a:off x="1472284" y="3812147"/>
            <a:ext cx="619985" cy="792051"/>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9" name="Oval 8"/>
          <p:cNvSpPr/>
          <p:nvPr/>
        </p:nvSpPr>
        <p:spPr>
          <a:xfrm>
            <a:off x="4531841" y="3567447"/>
            <a:ext cx="367048" cy="347730"/>
          </a:xfrm>
          <a:prstGeom prst="ellipse">
            <a:avLst/>
          </a:prstGeom>
          <a:solidFill>
            <a:srgbClr val="FF0000"/>
          </a:solidFill>
          <a:ln>
            <a:solidFill>
              <a:srgbClr val="FF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fr-FR" dirty="0" smtClean="0"/>
              <a:t>2</a:t>
            </a:r>
            <a:endParaRPr lang="en-US" dirty="0"/>
          </a:p>
        </p:txBody>
      </p:sp>
      <p:pic>
        <p:nvPicPr>
          <p:cNvPr id="6" name="Picture 5"/>
          <p:cNvPicPr>
            <a:picLocks noChangeAspect="1"/>
          </p:cNvPicPr>
          <p:nvPr/>
        </p:nvPicPr>
        <p:blipFill>
          <a:blip r:embed="rId6"/>
          <a:stretch>
            <a:fillRect/>
          </a:stretch>
        </p:blipFill>
        <p:spPr>
          <a:xfrm>
            <a:off x="5679583" y="937946"/>
            <a:ext cx="4910912" cy="1671986"/>
          </a:xfrm>
          <a:prstGeom prst="rect">
            <a:avLst/>
          </a:prstGeom>
        </p:spPr>
      </p:pic>
      <p:pic>
        <p:nvPicPr>
          <p:cNvPr id="10" name="Picture 9"/>
          <p:cNvPicPr>
            <a:picLocks noChangeAspect="1"/>
          </p:cNvPicPr>
          <p:nvPr/>
        </p:nvPicPr>
        <p:blipFill>
          <a:blip r:embed="rId7"/>
          <a:stretch>
            <a:fillRect/>
          </a:stretch>
        </p:blipFill>
        <p:spPr>
          <a:xfrm>
            <a:off x="6545863" y="2945062"/>
            <a:ext cx="4318222" cy="1638384"/>
          </a:xfrm>
          <a:prstGeom prst="rect">
            <a:avLst/>
          </a:prstGeom>
        </p:spPr>
      </p:pic>
      <p:cxnSp>
        <p:nvCxnSpPr>
          <p:cNvPr id="12" name="Straight Arrow Connector 11"/>
          <p:cNvCxnSpPr/>
          <p:nvPr/>
        </p:nvCxnSpPr>
        <p:spPr>
          <a:xfrm flipH="1">
            <a:off x="9403524" y="3203744"/>
            <a:ext cx="619985" cy="792051"/>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24506292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4" name="Rectangle 1"/>
          <p:cNvSpPr>
            <a:spLocks noChangeArrowheads="1"/>
          </p:cNvSpPr>
          <p:nvPr/>
        </p:nvSpPr>
        <p:spPr bwMode="auto">
          <a:xfrm>
            <a:off x="434036" y="924468"/>
            <a:ext cx="10461491"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292929"/>
                </a:solidFill>
                <a:effectLst/>
                <a:latin typeface="Söhne"/>
              </a:rPr>
              <a:t>SCM Polling Trigger (</a:t>
            </a:r>
            <a:r>
              <a:rPr kumimoji="0" lang="en-US" altLang="en-US" sz="1400" b="1" i="0" u="none" strike="noStrike" cap="none" normalizeH="0" baseline="0" dirty="0" err="1" smtClean="0">
                <a:ln>
                  <a:noFill/>
                </a:ln>
                <a:solidFill>
                  <a:srgbClr val="292929"/>
                </a:solidFill>
                <a:effectLst/>
                <a:latin typeface="Söhne"/>
              </a:rPr>
              <a:t>pollSCM</a:t>
            </a:r>
            <a:r>
              <a:rPr kumimoji="0" lang="en-US" altLang="en-US" sz="1400" b="1" i="0" u="none" strike="noStrike" cap="none" normalizeH="0" baseline="0" dirty="0" smtClean="0">
                <a:ln>
                  <a:noFill/>
                </a:ln>
                <a:solidFill>
                  <a:srgbClr val="292929"/>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400" b="0" i="0" u="none" strike="noStrike" cap="none" normalizeH="0" baseline="0" dirty="0" smtClean="0">
                <a:ln>
                  <a:noFill/>
                </a:ln>
                <a:solidFill>
                  <a:srgbClr val="292929"/>
                </a:solidFill>
                <a:effectLst/>
                <a:latin typeface="Söhne"/>
              </a:rPr>
              <a:t>Le </a:t>
            </a:r>
            <a:r>
              <a:rPr kumimoji="0" lang="fr-FR" altLang="en-US" sz="1400" b="1" i="0" u="none" strike="noStrike" cap="none" normalizeH="0" baseline="0" dirty="0" smtClean="0">
                <a:ln>
                  <a:noFill/>
                </a:ln>
                <a:solidFill>
                  <a:srgbClr val="292929"/>
                </a:solidFill>
                <a:effectLst/>
                <a:latin typeface="Söhne"/>
              </a:rPr>
              <a:t>polling SCM</a:t>
            </a:r>
            <a:r>
              <a:rPr kumimoji="0" lang="fr-FR" altLang="en-US" sz="1400" b="0" i="0" u="none" strike="noStrike" cap="none" normalizeH="0" baseline="0" dirty="0" smtClean="0">
                <a:ln>
                  <a:noFill/>
                </a:ln>
                <a:solidFill>
                  <a:srgbClr val="292929"/>
                </a:solidFill>
                <a:effectLst/>
                <a:latin typeface="Söhne"/>
              </a:rPr>
              <a:t> permet à Jenkins de vérifier régulièrement s'il y a eu des changements dans le dépôt source (</a:t>
            </a:r>
            <a:r>
              <a:rPr kumimoji="0" lang="fr-FR" altLang="en-US" sz="1400" b="0" i="0" u="none" strike="noStrike" cap="none" normalizeH="0" baseline="0" dirty="0" err="1" smtClean="0">
                <a:ln>
                  <a:noFill/>
                </a:ln>
                <a:solidFill>
                  <a:srgbClr val="292929"/>
                </a:solidFill>
                <a:effectLst/>
                <a:latin typeface="Söhne"/>
              </a:rPr>
              <a:t>GitLab</a:t>
            </a:r>
            <a:r>
              <a:rPr kumimoji="0" lang="fr-FR" altLang="en-US" sz="1400" b="0" i="0" u="none" strike="noStrike" cap="none" normalizeH="0" baseline="0" dirty="0" smtClean="0">
                <a:ln>
                  <a:noFill/>
                </a:ln>
                <a:solidFill>
                  <a:srgbClr val="292929"/>
                </a:solidFill>
                <a:effectLst/>
                <a:latin typeface="Söhne"/>
              </a:rPr>
              <a:t>, Git, SVN, etc.). Si des changements sont détectés, la pipeline est déclenchée.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rgbClr val="292929"/>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smtClean="0">
                <a:ln>
                  <a:noFill/>
                </a:ln>
                <a:solidFill>
                  <a:srgbClr val="292929"/>
                </a:solidFill>
                <a:effectLst/>
                <a:latin typeface="-apple-system"/>
              </a:rPr>
              <a:t>Exemple</a:t>
            </a:r>
            <a:r>
              <a:rPr kumimoji="0" lang="en-US" altLang="en-US" sz="1400" b="1" i="0" u="none" strike="noStrike" cap="none" normalizeH="0" baseline="0" dirty="0" smtClean="0">
                <a:ln>
                  <a:noFill/>
                </a:ln>
                <a:solidFill>
                  <a:srgbClr val="292929"/>
                </a:solidFill>
                <a:effectLst/>
                <a:latin typeface="-apple-system"/>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pipeline { </a:t>
            </a:r>
          </a:p>
          <a:p>
            <a:pPr lvl="1"/>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agent any </a:t>
            </a:r>
          </a:p>
          <a:p>
            <a:pPr lvl="1"/>
            <a:r>
              <a:rPr lang="en-US" altLang="en-US" sz="1400" dirty="0">
                <a:solidFill>
                  <a:srgbClr val="292929"/>
                </a:solidFill>
                <a:latin typeface="var(--fontStack-monospace, ui-monospace, SFMono-Regular, SF Mono, Menlo, Consolas, Liberation Mono, monospace)"/>
              </a:rPr>
              <a:t> </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triggers</a:t>
            </a:r>
          </a:p>
          <a:p>
            <a:pPr lvl="1"/>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 </a:t>
            </a:r>
          </a:p>
          <a:p>
            <a:pPr lvl="1"/>
            <a:r>
              <a:rPr lang="en-US" altLang="en-US" sz="1400" dirty="0">
                <a:solidFill>
                  <a:srgbClr val="292929"/>
                </a:solidFill>
                <a:latin typeface="var(--fontStack-monospace, ui-monospace, SFMono-Regular, SF Mono, Menlo, Consolas, Liberation Mono, monospace)"/>
              </a:rPr>
              <a:t>	</a:t>
            </a:r>
            <a:r>
              <a:rPr kumimoji="0" lang="en-US" altLang="en-US" sz="1400" b="0" i="0" u="none" strike="noStrike" cap="none" normalizeH="0" baseline="0" dirty="0" err="1" smtClean="0">
                <a:ln>
                  <a:noFill/>
                </a:ln>
                <a:solidFill>
                  <a:srgbClr val="292929"/>
                </a:solidFill>
                <a:effectLst/>
                <a:latin typeface="var(--fontStack-monospace, ui-monospace, SFMono-Regular, SF Mono, Menlo, Consolas, Liberation Mono, monospace)"/>
              </a:rPr>
              <a:t>pollSCM</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('H/5 * * * *') </a:t>
            </a:r>
            <a:r>
              <a:rPr kumimoji="0" lang="en-US" altLang="en-US" sz="1400" b="0" i="0" u="none" strike="noStrike" cap="none" normalizeH="0" dirty="0" smtClean="0">
                <a:ln>
                  <a:noFill/>
                </a:ln>
                <a:solidFill>
                  <a:srgbClr val="292929"/>
                </a:solidFill>
                <a:effectLst/>
                <a:latin typeface="var(--fontStack-monospace, ui-monospace, SFMono-Regular, SF Mono, Menlo, Consolas, Liberation Mono, monospace)"/>
              </a:rPr>
              <a:t> </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Vérifie</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toutes</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les 5 minutes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si</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des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changements</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ont</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été</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effectués</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dans</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le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dépôt</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1"/>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 </a:t>
            </a:r>
          </a:p>
          <a:p>
            <a:pPr lvl="1"/>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stages { stage('Build') </a:t>
            </a:r>
          </a:p>
          <a:p>
            <a:pPr lvl="1"/>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1"/>
            <a:r>
              <a:rPr lang="en-US" altLang="en-US" sz="1400" dirty="0">
                <a:solidFill>
                  <a:srgbClr val="292929"/>
                </a:solidFill>
                <a:latin typeface="var(--fontStack-monospace, ui-monospace, SFMono-Regular, SF Mono, Menlo, Consolas, Liberation Mono, monospace)"/>
              </a:rPr>
              <a:t>	</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steps { echo 'Building the project...' } </a:t>
            </a:r>
          </a:p>
          <a:p>
            <a:pPr lvl="1"/>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a:t>
            </a:r>
            <a:r>
              <a:rPr kumimoji="0" lang="en-US" altLang="en-US" sz="1400" b="0" i="0" u="none" strike="noStrike" cap="none" normalizeH="0" baseline="0" dirty="0" smtClean="0">
                <a:ln>
                  <a:noFill/>
                </a:ln>
                <a:solidFill>
                  <a:schemeClr val="tx1"/>
                </a:solidFill>
                <a:effectLst/>
              </a:rPr>
              <a:t> </a:t>
            </a:r>
          </a:p>
        </p:txBody>
      </p:sp>
    </p:spTree>
    <p:extLst>
      <p:ext uri="{BB962C8B-B14F-4D97-AF65-F5344CB8AC3E}">
        <p14:creationId xmlns:p14="http://schemas.microsoft.com/office/powerpoint/2010/main" val="150964352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4" name="Rectangle 1"/>
          <p:cNvSpPr>
            <a:spLocks noChangeArrowheads="1"/>
          </p:cNvSpPr>
          <p:nvPr/>
        </p:nvSpPr>
        <p:spPr bwMode="auto">
          <a:xfrm>
            <a:off x="395400" y="652346"/>
            <a:ext cx="1046149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292929"/>
                </a:solidFill>
                <a:effectLst/>
                <a:latin typeface="Söhne"/>
              </a:rPr>
              <a:t>CRON Trigger </a:t>
            </a:r>
          </a:p>
          <a:p>
            <a:pPr lvl="0"/>
            <a:r>
              <a:rPr lang="fr-FR" sz="1400" dirty="0"/>
              <a:t>Le </a:t>
            </a:r>
            <a:r>
              <a:rPr lang="fr-FR" sz="1400" b="1" dirty="0" err="1"/>
              <a:t>cron</a:t>
            </a:r>
            <a:r>
              <a:rPr lang="fr-FR" sz="1400" b="1" dirty="0"/>
              <a:t> trigger</a:t>
            </a:r>
            <a:r>
              <a:rPr lang="fr-FR" sz="1400" dirty="0"/>
              <a:t> permet de déclencher des </a:t>
            </a:r>
            <a:r>
              <a:rPr lang="fr-FR" sz="1400" dirty="0" err="1"/>
              <a:t>builds</a:t>
            </a:r>
            <a:r>
              <a:rPr lang="fr-FR" sz="1400" dirty="0"/>
              <a:t> à des intervalles de temps définis, même si aucun changement n'a été effectué dans le dépôt. La syntaxe est la même que celle utilisée dans les tâches </a:t>
            </a:r>
            <a:r>
              <a:rPr lang="fr-FR" sz="1400" dirty="0" err="1"/>
              <a:t>cron</a:t>
            </a:r>
            <a:r>
              <a:rPr lang="fr-FR" sz="1400" dirty="0"/>
              <a:t> Unix</a:t>
            </a:r>
            <a:endParaRPr kumimoji="0" lang="en-US" altLang="en-US" sz="1100" b="1" i="0" u="none" strike="noStrike" cap="none" normalizeH="0" baseline="0" dirty="0" smtClean="0">
              <a:ln>
                <a:noFill/>
              </a:ln>
              <a:solidFill>
                <a:srgbClr val="292929"/>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rgbClr val="292929"/>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smtClean="0">
                <a:ln>
                  <a:noFill/>
                </a:ln>
                <a:solidFill>
                  <a:srgbClr val="292929"/>
                </a:solidFill>
                <a:effectLst/>
                <a:latin typeface="-apple-system"/>
              </a:rPr>
              <a:t>Exemple</a:t>
            </a:r>
            <a:r>
              <a:rPr kumimoji="0" lang="en-US" altLang="en-US" sz="1400" b="1" i="0" u="none" strike="noStrike" cap="none" normalizeH="0" baseline="0" dirty="0" smtClean="0">
                <a:ln>
                  <a:noFill/>
                </a:ln>
                <a:solidFill>
                  <a:srgbClr val="292929"/>
                </a:solidFill>
                <a:effectLst/>
                <a:latin typeface="-apple-system"/>
              </a:rPr>
              <a:t> :</a:t>
            </a:r>
          </a:p>
        </p:txBody>
      </p:sp>
      <p:sp>
        <p:nvSpPr>
          <p:cNvPr id="2" name="Rectangle 1"/>
          <p:cNvSpPr>
            <a:spLocks noChangeArrowheads="1"/>
          </p:cNvSpPr>
          <p:nvPr/>
        </p:nvSpPr>
        <p:spPr bwMode="auto">
          <a:xfrm>
            <a:off x="395400" y="1932842"/>
            <a:ext cx="6819364"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pipeline { </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agent any</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Triggers</a:t>
            </a:r>
            <a:endParaRPr lang="en-US" altLang="en-US" sz="1400" dirty="0">
              <a:solidFill>
                <a:srgbClr val="292929"/>
              </a:solidFill>
              <a:latin typeface="var(--fontStack-monospace, ui-monospace, SFMono-Regular, SF Mono, Menlo, Consolas, Liberation Mono, monospace)"/>
            </a:endParaRP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3" eaLnBrk="0" fontAlgn="base" hangingPunct="0">
              <a:spcBef>
                <a:spcPct val="0"/>
              </a:spcBef>
              <a:spcAft>
                <a:spcPct val="0"/>
              </a:spcAft>
            </a:pPr>
            <a:r>
              <a:rPr kumimoji="0" lang="en-US" altLang="en-US" sz="1400" b="0" i="0" u="none" strike="noStrike" cap="none" normalizeH="0" baseline="0" dirty="0" err="1" smtClean="0">
                <a:ln>
                  <a:noFill/>
                </a:ln>
                <a:solidFill>
                  <a:srgbClr val="292929"/>
                </a:solidFill>
                <a:effectLst/>
                <a:latin typeface="var(--fontStack-monospace, ui-monospace, SFMono-Regular, SF Mono, Menlo, Consolas, Liberation Mono, monospace)"/>
              </a:rPr>
              <a:t>cron</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('H 0 * * *') </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Exécute</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la pipeline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tous</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les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jours</a:t>
            </a:r>
            <a:r>
              <a:rPr kumimoji="0" lang="en-US" altLang="en-US" sz="1400" b="0" i="1" u="none" strike="noStrike" cap="none" normalizeH="0" baseline="0" dirty="0" smtClean="0">
                <a:ln>
                  <a:noFill/>
                </a:ln>
                <a:solidFill>
                  <a:srgbClr val="292929"/>
                </a:solidFill>
                <a:effectLst/>
                <a:latin typeface="var(--fontStack-monospace, ui-monospace, SFMono-Regular, SF Mono, Menlo, Consolas, Liberation Mono, monospace)"/>
              </a:rPr>
              <a:t> à </a:t>
            </a:r>
            <a:r>
              <a:rPr kumimoji="0" lang="en-US" altLang="en-US" sz="1400" b="0" i="1" u="none" strike="noStrike" cap="none" normalizeH="0" baseline="0" dirty="0" err="1" smtClean="0">
                <a:ln>
                  <a:noFill/>
                </a:ln>
                <a:solidFill>
                  <a:srgbClr val="292929"/>
                </a:solidFill>
                <a:effectLst/>
                <a:latin typeface="var(--fontStack-monospace, ui-monospace, SFMono-Regular, SF Mono, Menlo, Consolas, Liberation Mono, monospace)"/>
              </a:rPr>
              <a:t>minuit</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3"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Stages</a:t>
            </a:r>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 </a:t>
            </a:r>
          </a:p>
          <a:p>
            <a:pPr lvl="2" eaLnBrk="0" fontAlgn="base" hangingPunct="0">
              <a:spcBef>
                <a:spcPct val="0"/>
              </a:spcBef>
              <a:spcAft>
                <a:spcPct val="0"/>
              </a:spcAft>
            </a:pPr>
            <a:r>
              <a:rPr lang="en-US" altLang="en-US" sz="1400" dirty="0">
                <a:solidFill>
                  <a:srgbClr val="292929"/>
                </a:solidFill>
                <a:latin typeface="var(--fontStack-monospace, ui-monospace, SFMono-Regular, SF Mono, Menlo, Consolas, Liberation Mono, monospace)"/>
              </a:rPr>
              <a:t>	</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stage('Build') </a:t>
            </a:r>
          </a:p>
          <a:p>
            <a:pPr lvl="3"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3" eaLnBrk="0" fontAlgn="base" hangingPunct="0">
              <a:spcBef>
                <a:spcPct val="0"/>
              </a:spcBef>
              <a:spcAft>
                <a:spcPct val="0"/>
              </a:spcAft>
            </a:pPr>
            <a:r>
              <a:rPr lang="en-US" altLang="en-US" sz="1400" dirty="0">
                <a:solidFill>
                  <a:srgbClr val="292929"/>
                </a:solidFill>
                <a:latin typeface="var(--fontStack-monospace, ui-monospace, SFMono-Regular, SF Mono, Menlo, Consolas, Liberation Mono, monospace)"/>
              </a:rPr>
              <a:t>	</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steps { echo 'Running a scheduled build...' } </a:t>
            </a:r>
          </a:p>
          <a:p>
            <a:pPr lvl="3"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 </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a:t>
            </a:r>
            <a:r>
              <a:rPr kumimoji="0" lang="en-US" altLang="en-US" sz="1400" b="0" i="0" u="none" strike="noStrike" cap="none" normalizeH="0" baseline="0" dirty="0" smtClean="0">
                <a:ln>
                  <a:noFill/>
                </a:ln>
                <a:solidFill>
                  <a:schemeClr val="tx1"/>
                </a:solidFill>
                <a:effectLst/>
              </a:rPr>
              <a:t> </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2976275"/>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427597" y="693561"/>
            <a:ext cx="10461491"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dirty="0" err="1" smtClean="0">
                <a:solidFill>
                  <a:srgbClr val="292929"/>
                </a:solidFill>
                <a:latin typeface="Söhne"/>
              </a:rPr>
              <a:t>WebHook</a:t>
            </a:r>
            <a:r>
              <a:rPr lang="en-US" altLang="en-US" sz="1400" b="1" dirty="0" smtClean="0">
                <a:solidFill>
                  <a:srgbClr val="292929"/>
                </a:solidFill>
                <a:latin typeface="Söhne"/>
              </a:rPr>
              <a:t> </a:t>
            </a:r>
            <a:r>
              <a:rPr lang="en-US" altLang="en-US" sz="1400" b="1" dirty="0">
                <a:solidFill>
                  <a:srgbClr val="292929"/>
                </a:solidFill>
                <a:latin typeface="Söhne"/>
              </a:rPr>
              <a:t>Trigger </a:t>
            </a:r>
            <a:endParaRPr lang="fr-FR" sz="1400" dirty="0" smtClean="0"/>
          </a:p>
          <a:p>
            <a:pPr lvl="0"/>
            <a:r>
              <a:rPr lang="fr-FR" sz="1400" dirty="0" smtClean="0"/>
              <a:t>Dans </a:t>
            </a:r>
            <a:r>
              <a:rPr lang="fr-FR" sz="1400" dirty="0"/>
              <a:t>ce cas, les </a:t>
            </a:r>
            <a:r>
              <a:rPr lang="fr-FR" sz="1400" b="1" dirty="0"/>
              <a:t>triggers</a:t>
            </a:r>
            <a:r>
              <a:rPr lang="fr-FR" sz="1400" dirty="0"/>
              <a:t> </a:t>
            </a:r>
            <a:r>
              <a:rPr lang="fr-FR" sz="1400" dirty="0" err="1"/>
              <a:t>GitLab</a:t>
            </a:r>
            <a:r>
              <a:rPr lang="fr-FR" sz="1400" dirty="0"/>
              <a:t> ne sont pas écrits directement dans le </a:t>
            </a:r>
            <a:r>
              <a:rPr lang="fr-FR" sz="1400" dirty="0" err="1"/>
              <a:t>Jenkinsfile</a:t>
            </a:r>
            <a:r>
              <a:rPr lang="fr-FR" sz="1400" dirty="0"/>
              <a:t>, mais configurés via un </a:t>
            </a:r>
            <a:r>
              <a:rPr lang="fr-FR" sz="1400" b="1" dirty="0" err="1"/>
              <a:t>webhook</a:t>
            </a:r>
            <a:r>
              <a:rPr lang="fr-FR" sz="1400" dirty="0"/>
              <a:t> dans </a:t>
            </a:r>
            <a:r>
              <a:rPr lang="fr-FR" sz="1400" dirty="0" err="1"/>
              <a:t>GitLab</a:t>
            </a:r>
            <a:r>
              <a:rPr lang="fr-FR" sz="1400" dirty="0"/>
              <a:t>, comme décrit dans les sections précédentes. Le </a:t>
            </a:r>
            <a:r>
              <a:rPr lang="fr-FR" sz="1400" b="1" dirty="0" err="1"/>
              <a:t>Jenkinsfile</a:t>
            </a:r>
            <a:r>
              <a:rPr lang="fr-FR" sz="1400" dirty="0"/>
              <a:t> récupère ensuite automatiquement les changements lorsque le </a:t>
            </a:r>
            <a:r>
              <a:rPr lang="fr-FR" sz="1400" dirty="0" err="1"/>
              <a:t>webhook</a:t>
            </a:r>
            <a:r>
              <a:rPr lang="fr-FR" sz="1400" dirty="0"/>
              <a:t> est déclenché.</a:t>
            </a:r>
            <a:endParaRPr kumimoji="0" lang="en-US" altLang="en-US" sz="1400" b="1" i="0" u="none" strike="noStrike" cap="none" normalizeH="0" baseline="0" dirty="0" smtClean="0">
              <a:ln>
                <a:noFill/>
              </a:ln>
              <a:solidFill>
                <a:srgbClr val="292929"/>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rgbClr val="292929"/>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solidFill>
                <a:srgbClr val="292929"/>
              </a:solidFill>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smtClean="0">
                <a:ln>
                  <a:noFill/>
                </a:ln>
                <a:solidFill>
                  <a:srgbClr val="292929"/>
                </a:solidFill>
                <a:effectLst/>
                <a:latin typeface="-apple-system"/>
              </a:rPr>
              <a:t>Exemple</a:t>
            </a:r>
            <a:r>
              <a:rPr kumimoji="0" lang="en-US" altLang="en-US" sz="1400" b="1" i="0" u="none" strike="noStrike" cap="none" normalizeH="0" baseline="0" dirty="0" smtClean="0">
                <a:ln>
                  <a:noFill/>
                </a:ln>
                <a:solidFill>
                  <a:srgbClr val="292929"/>
                </a:solidFill>
                <a:effectLst/>
                <a:latin typeface="-apple-system"/>
              </a:rPr>
              <a:t> :</a:t>
            </a:r>
          </a:p>
        </p:txBody>
      </p:sp>
      <p:sp>
        <p:nvSpPr>
          <p:cNvPr id="340994" name="Rectangle 1">
            <a:hlinkClick r:id="rId3" action="ppaction://hlinkfile"/>
          </p:cNvPr>
          <p:cNvSpPr>
            <a:spLocks noChangeArrowheads="1"/>
          </p:cNvSpPr>
          <p:nvPr/>
        </p:nvSpPr>
        <p:spPr bwMode="auto">
          <a:xfrm>
            <a:off x="327314" y="2366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8" name="Rectangle 4"/>
          <p:cNvSpPr>
            <a:spLocks noChangeArrowheads="1"/>
          </p:cNvSpPr>
          <p:nvPr/>
        </p:nvSpPr>
        <p:spPr bwMode="auto">
          <a:xfrm>
            <a:off x="573109" y="2438358"/>
            <a:ext cx="10805376"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pipeline { </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agent any stages</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 </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stage('Checkout')</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 </a:t>
            </a:r>
          </a:p>
          <a:p>
            <a:pPr lvl="1" eaLnBrk="0" fontAlgn="base" hangingPunct="0">
              <a:spcBef>
                <a:spcPct val="0"/>
              </a:spcBef>
              <a:spcAft>
                <a:spcPct val="0"/>
              </a:spcAft>
            </a:pPr>
            <a:r>
              <a:rPr lang="en-US" altLang="en-US" sz="1400" dirty="0">
                <a:solidFill>
                  <a:srgbClr val="292929"/>
                </a:solidFill>
                <a:latin typeface="var(--fontStack-monospace, ui-monospace, SFMono-Regular, SF Mono, Menlo, Consolas, Liberation Mono, monospace)"/>
              </a:rPr>
              <a:t> </a:t>
            </a:r>
            <a:r>
              <a:rPr lang="en-US" altLang="en-US" sz="1400" dirty="0" smtClean="0">
                <a:solidFill>
                  <a:srgbClr val="292929"/>
                </a:solidFill>
                <a:latin typeface="var(--fontStack-monospace, ui-monospace, SFMono-Regular, SF Mono, Menlo, Consolas, Liberation Mono, monospace)"/>
              </a:rPr>
              <a:t>   </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steps </a:t>
            </a:r>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2" eaLnBrk="0" fontAlgn="base" hangingPunct="0">
              <a:spcBef>
                <a:spcPct val="0"/>
              </a:spcBef>
              <a:spcAft>
                <a:spcPct val="0"/>
              </a:spcAft>
            </a:pPr>
            <a:r>
              <a:rPr lang="en-US" altLang="en-US" sz="1400" dirty="0">
                <a:solidFill>
                  <a:srgbClr val="292929"/>
                </a:solidFill>
                <a:latin typeface="var(--fontStack-monospace, ui-monospace, SFMono-Regular, SF Mono, Menlo, Consolas, Liberation Mono, monospace)"/>
              </a:rPr>
              <a:t> </a:t>
            </a:r>
            <a:r>
              <a:rPr lang="en-US" altLang="en-US" sz="1400" dirty="0" smtClean="0">
                <a:solidFill>
                  <a:srgbClr val="292929"/>
                </a:solidFill>
                <a:latin typeface="var(--fontStack-monospace, ui-monospace, SFMono-Regular, SF Mono, Menlo, Consolas, Liberation Mono, monospace)"/>
              </a:rPr>
              <a:t>      </a:t>
            </a:r>
            <a:r>
              <a:rPr kumimoji="0" lang="en-US" altLang="en-US" sz="1400" b="0" i="0" u="none" strike="noStrike" cap="none" normalizeH="0" baseline="0" dirty="0" err="1" smtClean="0">
                <a:ln>
                  <a:noFill/>
                </a:ln>
                <a:solidFill>
                  <a:srgbClr val="292929"/>
                </a:solidFill>
                <a:effectLst/>
                <a:latin typeface="var(--fontStack-monospace, ui-monospace, SFMono-Regular, SF Mono, Menlo, Consolas, Liberation Mono, monospace)"/>
              </a:rPr>
              <a:t>git</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url: 'https://gitlab.com/username/</a:t>
            </a:r>
            <a:r>
              <a:rPr kumimoji="0" lang="en-US" altLang="en-US" sz="1400" b="0" i="0" u="none" strike="noStrike" cap="none" normalizeH="0" baseline="0" dirty="0" err="1" smtClean="0">
                <a:ln>
                  <a:noFill/>
                </a:ln>
                <a:solidFill>
                  <a:srgbClr val="292929"/>
                </a:solidFill>
                <a:effectLst/>
                <a:latin typeface="var(--fontStack-monospace, ui-monospace, SFMono-Regular, SF Mono, Menlo, Consolas, Liberation Mono, monospace)"/>
              </a:rPr>
              <a:t>project.git</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branch: 'master‘</a:t>
            </a:r>
            <a:r>
              <a:rPr lang="en-US" altLang="en-US" sz="1400" i="1" dirty="0">
                <a:solidFill>
                  <a:srgbClr val="292929"/>
                </a:solidFill>
                <a:latin typeface="var(--fontStack-monospace, ui-monospace, SFMono-Regular, SF Mono, Menlo, Consolas, Liberation Mono, monospace)"/>
              </a:rPr>
              <a:t>// Cloner le </a:t>
            </a:r>
            <a:r>
              <a:rPr lang="en-US" altLang="en-US" sz="1400" i="1" dirty="0" err="1">
                <a:solidFill>
                  <a:srgbClr val="292929"/>
                </a:solidFill>
                <a:latin typeface="var(--fontStack-monospace, ui-monospace, SFMono-Regular, SF Mono, Menlo, Consolas, Liberation Mono, monospace)"/>
              </a:rPr>
              <a:t>dépôt</a:t>
            </a:r>
            <a:r>
              <a:rPr lang="en-US" altLang="en-US" sz="1400" i="1" dirty="0">
                <a:solidFill>
                  <a:srgbClr val="292929"/>
                </a:solidFill>
                <a:latin typeface="var(--fontStack-monospace, ui-monospace, SFMono-Regular, SF Mono, Menlo, Consolas, Liberation Mono, monospace)"/>
              </a:rPr>
              <a:t> </a:t>
            </a:r>
            <a:r>
              <a:rPr lang="en-US" altLang="en-US" sz="1400" i="1" dirty="0" err="1">
                <a:solidFill>
                  <a:srgbClr val="292929"/>
                </a:solidFill>
                <a:latin typeface="var(--fontStack-monospace, ui-monospace, SFMono-Regular, SF Mono, Menlo, Consolas, Liberation Mono, monospace)"/>
              </a:rPr>
              <a:t>GitLab</a:t>
            </a:r>
            <a:r>
              <a:rPr lang="en-US" altLang="en-US" sz="1400" dirty="0">
                <a:solidFill>
                  <a:srgbClr val="292929"/>
                </a:solidFill>
                <a:latin typeface="var(--fontStack-monospace, ui-monospace, SFMono-Regular, SF Mono, Menlo, Consolas, Liberation Mono, monospace)"/>
              </a:rPr>
              <a:t> </a:t>
            </a:r>
            <a:endParaRPr lang="en-US" sz="1400" dirty="0"/>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2" eaLnBrk="0" fontAlgn="base" hangingPunct="0">
              <a:spcBef>
                <a:spcPct val="0"/>
              </a:spcBef>
              <a:spcAft>
                <a:spcPct val="0"/>
              </a:spcAft>
            </a:pPr>
            <a:endParaRPr lang="en-US" altLang="en-US" sz="1400" dirty="0">
              <a:solidFill>
                <a:srgbClr val="292929"/>
              </a:solidFill>
              <a:latin typeface="var(--fontStack-monospace, ui-monospace, SFMono-Regular, SF Mono, Menlo, Consolas, Liberation Mono, monospace)"/>
            </a:endParaRPr>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a:t>
            </a:r>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stage('Build') </a:t>
            </a:r>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2" eaLnBrk="0" fontAlgn="base" hangingPunct="0">
              <a:spcBef>
                <a:spcPct val="0"/>
              </a:spcBef>
              <a:spcAft>
                <a:spcPct val="0"/>
              </a:spcAft>
            </a:pPr>
            <a:r>
              <a:rPr lang="en-US" altLang="en-US" sz="1400" dirty="0">
                <a:solidFill>
                  <a:srgbClr val="292929"/>
                </a:solidFill>
                <a:latin typeface="var(--fontStack-monospace, ui-monospace, SFMono-Regular, SF Mono, Menlo, Consolas, Liberation Mono, monospace)"/>
              </a:rPr>
              <a:t> </a:t>
            </a:r>
            <a:r>
              <a:rPr lang="en-US" altLang="en-US" sz="1400" dirty="0" smtClean="0">
                <a:solidFill>
                  <a:srgbClr val="292929"/>
                </a:solidFill>
                <a:latin typeface="var(--fontStack-monospace, ui-monospace, SFMono-Regular, SF Mono, Menlo, Consolas, Liberation Mono, monospace)"/>
              </a:rPr>
              <a:t>       </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steps { echo 'Building the project based on </a:t>
            </a:r>
            <a:r>
              <a:rPr kumimoji="0" lang="en-US" altLang="en-US" sz="1400" b="0" i="0" u="none" strike="noStrike" cap="none" normalizeH="0" baseline="0" dirty="0" err="1" smtClean="0">
                <a:ln>
                  <a:noFill/>
                </a:ln>
                <a:solidFill>
                  <a:srgbClr val="292929"/>
                </a:solidFill>
                <a:effectLst/>
                <a:latin typeface="var(--fontStack-monospace, ui-monospace, SFMono-Regular, SF Mono, Menlo, Consolas, Liberation Mono, monospace)"/>
              </a:rPr>
              <a:t>GitLab</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r>
              <a:rPr kumimoji="0" lang="en-US" altLang="en-US" sz="1400" b="0" i="0" u="none" strike="noStrike" cap="none" normalizeH="0" baseline="0" dirty="0" err="1" smtClean="0">
                <a:ln>
                  <a:noFill/>
                </a:ln>
                <a:solidFill>
                  <a:srgbClr val="292929"/>
                </a:solidFill>
                <a:effectLst/>
                <a:latin typeface="var(--fontStack-monospace, ui-monospace, SFMono-Regular, SF Mono, Menlo, Consolas, Liberation Mono, monospace)"/>
              </a:rPr>
              <a:t>webhook</a:t>
            </a: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 </a:t>
            </a:r>
          </a:p>
          <a:p>
            <a:pPr lvl="2"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   } </a:t>
            </a:r>
          </a:p>
          <a:p>
            <a:pPr lvl="1" eaLnBrk="0" fontAlgn="base" hangingPunct="0">
              <a:spcBef>
                <a:spcPct val="0"/>
              </a:spcBef>
              <a:spcAft>
                <a:spcPct val="0"/>
              </a:spcAft>
            </a:pPr>
            <a:r>
              <a:rPr kumimoji="0" lang="en-US" altLang="en-US" sz="1400" b="0" i="0" u="none" strike="noStrike" cap="none" normalizeH="0" baseline="0" dirty="0" smtClean="0">
                <a:ln>
                  <a:noFill/>
                </a:ln>
                <a:solidFill>
                  <a:srgbClr val="292929"/>
                </a:solidFill>
                <a:effectLst/>
                <a:latin typeface="var(--fontStack-monospace, ui-monospace, SFMono-Regular, SF Mono, Menlo, Consolas, Liberation Mono, monospace)"/>
              </a:rPr>
              <a:t>}</a:t>
            </a:r>
            <a:r>
              <a:rPr kumimoji="0" lang="en-US" altLang="en-US" sz="1400" b="0" i="0" u="none" strike="noStrike" cap="none" normalizeH="0" baseline="0" dirty="0" smtClean="0">
                <a:ln>
                  <a:noFill/>
                </a:ln>
                <a:solidFill>
                  <a:schemeClr val="tx1"/>
                </a:solidFill>
                <a:effectLst/>
              </a:rPr>
              <a:t> </a:t>
            </a: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7535902" y="3464997"/>
            <a:ext cx="184731" cy="369332"/>
          </a:xfrm>
          <a:prstGeom prst="rect">
            <a:avLst/>
          </a:prstGeom>
        </p:spPr>
        <p:txBody>
          <a:bodyPr wrap="none">
            <a:spAutoFit/>
          </a:bodyPr>
          <a:lstStyle/>
          <a:p>
            <a:endParaRPr lang="en-US" dirty="0"/>
          </a:p>
        </p:txBody>
      </p:sp>
    </p:spTree>
    <p:extLst>
      <p:ext uri="{BB962C8B-B14F-4D97-AF65-F5344CB8AC3E}">
        <p14:creationId xmlns:p14="http://schemas.microsoft.com/office/powerpoint/2010/main" val="378404826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421157" y="714628"/>
            <a:ext cx="10461491"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dirty="0" smtClean="0">
                <a:solidFill>
                  <a:srgbClr val="292929"/>
                </a:solidFill>
                <a:latin typeface="Söhne"/>
              </a:rPr>
              <a:t>Upstream </a:t>
            </a:r>
            <a:r>
              <a:rPr lang="en-US" altLang="en-US" sz="1400" b="1" dirty="0">
                <a:solidFill>
                  <a:srgbClr val="292929"/>
                </a:solidFill>
                <a:latin typeface="Söhne"/>
              </a:rPr>
              <a:t>Trigger </a:t>
            </a:r>
            <a:endParaRPr lang="fr-FR" sz="1400" dirty="0" smtClean="0"/>
          </a:p>
          <a:p>
            <a:pPr lvl="0"/>
            <a:r>
              <a:rPr lang="fr-FR" sz="1400" dirty="0" err="1"/>
              <a:t>Upstream</a:t>
            </a:r>
            <a:r>
              <a:rPr lang="fr-FR" sz="1400" dirty="0"/>
              <a:t> Triggers (</a:t>
            </a:r>
            <a:r>
              <a:rPr lang="fr-FR" sz="1400" dirty="0" err="1"/>
              <a:t>build</a:t>
            </a:r>
            <a:r>
              <a:rPr lang="fr-FR" sz="1400" dirty="0"/>
              <a:t> </a:t>
            </a:r>
            <a:r>
              <a:rPr lang="fr-FR" sz="1400" dirty="0" err="1"/>
              <a:t>triggered</a:t>
            </a:r>
            <a:r>
              <a:rPr lang="fr-FR" sz="1400" dirty="0"/>
              <a:t> by </a:t>
            </a:r>
            <a:r>
              <a:rPr lang="fr-FR" sz="1400" dirty="0" err="1"/>
              <a:t>another</a:t>
            </a:r>
            <a:r>
              <a:rPr lang="fr-FR" sz="1400" dirty="0"/>
              <a:t> job)</a:t>
            </a:r>
          </a:p>
          <a:p>
            <a:pPr lvl="0"/>
            <a:r>
              <a:rPr lang="fr-FR" sz="1400" dirty="0"/>
              <a:t>Vous pouvez également configurer une pipeline pour être déclenchée après l'exécution d'un autre job/pipeline dans Jenkins. C'est utile pour les pipelines en chaîne ou les dépendances entre plusieurs projets.</a:t>
            </a:r>
          </a:p>
          <a:p>
            <a:pPr lvl="0"/>
            <a:endParaRPr lang="fr-FR" sz="1400" dirty="0"/>
          </a:p>
          <a:p>
            <a:pPr lvl="0"/>
            <a:r>
              <a:rPr lang="fr-FR" sz="1400" dirty="0"/>
              <a:t>Dans un </a:t>
            </a:r>
            <a:r>
              <a:rPr lang="fr-FR" sz="1400" dirty="0" err="1"/>
              <a:t>Jenkinsfile</a:t>
            </a:r>
            <a:r>
              <a:rPr lang="fr-FR" sz="1400" dirty="0"/>
              <a:t>, cela est géré via l'interface de Jenkins, mais il est aussi possible de le spécifier dans le code.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b="1" dirty="0">
              <a:solidFill>
                <a:srgbClr val="292929"/>
              </a:solidFill>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smtClean="0">
                <a:ln>
                  <a:noFill/>
                </a:ln>
                <a:solidFill>
                  <a:srgbClr val="292929"/>
                </a:solidFill>
                <a:effectLst/>
                <a:latin typeface="-apple-system"/>
              </a:rPr>
              <a:t>Exemple</a:t>
            </a:r>
            <a:r>
              <a:rPr kumimoji="0" lang="en-US" altLang="en-US" sz="1400" b="1" i="0" u="none" strike="noStrike" cap="none" normalizeH="0" baseline="0" dirty="0" smtClean="0">
                <a:ln>
                  <a:noFill/>
                </a:ln>
                <a:solidFill>
                  <a:srgbClr val="292929"/>
                </a:solidFill>
                <a:effectLst/>
                <a:latin typeface="-apple-system"/>
              </a:rPr>
              <a:t> :</a:t>
            </a:r>
          </a:p>
        </p:txBody>
      </p:sp>
      <p:sp>
        <p:nvSpPr>
          <p:cNvPr id="340994" name="Rectangle 1">
            <a:hlinkClick r:id="rId3" action="ppaction://hlinkfile"/>
          </p:cNvPr>
          <p:cNvSpPr>
            <a:spLocks noChangeArrowheads="1"/>
          </p:cNvSpPr>
          <p:nvPr/>
        </p:nvSpPr>
        <p:spPr bwMode="auto">
          <a:xfrm>
            <a:off x="327314" y="2366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9" name="Rectangle 8"/>
          <p:cNvSpPr/>
          <p:nvPr/>
        </p:nvSpPr>
        <p:spPr>
          <a:xfrm>
            <a:off x="7535902" y="3464997"/>
            <a:ext cx="184731" cy="369332"/>
          </a:xfrm>
          <a:prstGeom prst="rect">
            <a:avLst/>
          </a:prstGeom>
        </p:spPr>
        <p:txBody>
          <a:bodyPr wrap="none">
            <a:spAutoFit/>
          </a:bodyPr>
          <a:lstStyle/>
          <a:p>
            <a:endParaRPr lang="en-US" dirty="0"/>
          </a:p>
        </p:txBody>
      </p:sp>
      <p:sp>
        <p:nvSpPr>
          <p:cNvPr id="2" name="Rectangle 1"/>
          <p:cNvSpPr/>
          <p:nvPr/>
        </p:nvSpPr>
        <p:spPr>
          <a:xfrm>
            <a:off x="695458" y="2723881"/>
            <a:ext cx="7888311" cy="3323987"/>
          </a:xfrm>
          <a:prstGeom prst="rect">
            <a:avLst/>
          </a:prstGeom>
        </p:spPr>
        <p:txBody>
          <a:bodyPr wrap="square">
            <a:spAutoFit/>
          </a:bodyPr>
          <a:lstStyle/>
          <a:p>
            <a:r>
              <a:rPr lang="en-US" sz="1400" dirty="0"/>
              <a:t>pipeline {</a:t>
            </a:r>
          </a:p>
          <a:p>
            <a:r>
              <a:rPr lang="en-US" sz="1400" dirty="0"/>
              <a:t>    agent any</a:t>
            </a:r>
          </a:p>
          <a:p>
            <a:endParaRPr lang="en-US" sz="1400" dirty="0"/>
          </a:p>
          <a:p>
            <a:r>
              <a:rPr lang="en-US" sz="1400" dirty="0"/>
              <a:t>    triggers {</a:t>
            </a:r>
          </a:p>
          <a:p>
            <a:r>
              <a:rPr lang="en-US" sz="1400" dirty="0"/>
              <a:t>        upstream(</a:t>
            </a:r>
            <a:r>
              <a:rPr lang="en-US" sz="1400" dirty="0" err="1"/>
              <a:t>upstreamProjects</a:t>
            </a:r>
            <a:r>
              <a:rPr lang="en-US" sz="1400" dirty="0"/>
              <a:t>: 'other-job', threshold: </a:t>
            </a:r>
            <a:r>
              <a:rPr lang="en-US" sz="1400" dirty="0" err="1"/>
              <a:t>hudson.model.Result.SUCCESS</a:t>
            </a:r>
            <a:r>
              <a:rPr lang="en-US" sz="1400" dirty="0"/>
              <a:t>)</a:t>
            </a:r>
          </a:p>
          <a:p>
            <a:r>
              <a:rPr lang="en-US" sz="1400" dirty="0"/>
              <a:t>    }</a:t>
            </a:r>
          </a:p>
          <a:p>
            <a:endParaRPr lang="en-US" sz="1400" dirty="0"/>
          </a:p>
          <a:p>
            <a:r>
              <a:rPr lang="en-US" sz="1400" dirty="0"/>
              <a:t>    stages {</a:t>
            </a:r>
          </a:p>
          <a:p>
            <a:r>
              <a:rPr lang="en-US" sz="1400" dirty="0"/>
              <a:t>        stage('Build') {</a:t>
            </a:r>
          </a:p>
          <a:p>
            <a:r>
              <a:rPr lang="en-US" sz="1400" dirty="0"/>
              <a:t>            steps {</a:t>
            </a:r>
          </a:p>
          <a:p>
            <a:r>
              <a:rPr lang="en-US" sz="1400" dirty="0"/>
              <a:t>                echo 'Pipeline triggered after the success of another job...'</a:t>
            </a:r>
          </a:p>
          <a:p>
            <a:r>
              <a:rPr lang="en-US" sz="1400" dirty="0"/>
              <a:t>            }</a:t>
            </a:r>
          </a:p>
          <a:p>
            <a:r>
              <a:rPr lang="en-US" sz="1400" dirty="0"/>
              <a:t>        }</a:t>
            </a:r>
          </a:p>
          <a:p>
            <a:r>
              <a:rPr lang="en-US" sz="1400" dirty="0"/>
              <a:t>    }</a:t>
            </a:r>
          </a:p>
          <a:p>
            <a:r>
              <a:rPr lang="en-US" sz="1400" dirty="0"/>
              <a:t>}</a:t>
            </a:r>
          </a:p>
        </p:txBody>
      </p:sp>
    </p:spTree>
    <p:extLst>
      <p:ext uri="{BB962C8B-B14F-4D97-AF65-F5344CB8AC3E}">
        <p14:creationId xmlns:p14="http://schemas.microsoft.com/office/powerpoint/2010/main" val="3885481517"/>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327314" y="236661"/>
            <a:ext cx="4792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smtClean="0">
                <a:latin typeface="Söhne"/>
              </a:rPr>
              <a:t>Les modes  de déclenchements de Pipelines</a:t>
            </a:r>
            <a:endParaRPr lang="fr-FR" altLang="en-US" sz="1600" b="1" dirty="0">
              <a:latin typeface="Söhne"/>
              <a:cs typeface="Times New Roman" panose="02020603050405020304" pitchFamily="18" charset="0"/>
            </a:endParaRPr>
          </a:p>
        </p:txBody>
      </p:sp>
      <p:sp>
        <p:nvSpPr>
          <p:cNvPr id="9" name="Rectangle 8"/>
          <p:cNvSpPr/>
          <p:nvPr/>
        </p:nvSpPr>
        <p:spPr>
          <a:xfrm>
            <a:off x="7535902" y="3464997"/>
            <a:ext cx="184731" cy="369332"/>
          </a:xfrm>
          <a:prstGeom prst="rect">
            <a:avLst/>
          </a:prstGeom>
        </p:spPr>
        <p:txBody>
          <a:bodyPr wrap="none">
            <a:spAutoFit/>
          </a:bodyPr>
          <a:lstStyle/>
          <a:p>
            <a:endParaRPr lang="en-US" dirty="0"/>
          </a:p>
        </p:txBody>
      </p:sp>
      <p:sp>
        <p:nvSpPr>
          <p:cNvPr id="3" name="Rectangle 2"/>
          <p:cNvSpPr/>
          <p:nvPr/>
        </p:nvSpPr>
        <p:spPr>
          <a:xfrm>
            <a:off x="626771" y="863777"/>
            <a:ext cx="9811556" cy="5109091"/>
          </a:xfrm>
          <a:prstGeom prst="rect">
            <a:avLst/>
          </a:prstGeom>
        </p:spPr>
        <p:txBody>
          <a:bodyPr wrap="square">
            <a:spAutoFit/>
          </a:bodyPr>
          <a:lstStyle/>
          <a:p>
            <a:r>
              <a:rPr lang="en-US" b="1" dirty="0"/>
              <a:t>Parameterized Trigger (à </a:t>
            </a:r>
            <a:r>
              <a:rPr lang="en-US" b="1" dirty="0" err="1"/>
              <a:t>déclencher</a:t>
            </a:r>
            <a:r>
              <a:rPr lang="en-US" b="1" dirty="0"/>
              <a:t> </a:t>
            </a:r>
            <a:r>
              <a:rPr lang="en-US" b="1" dirty="0" err="1"/>
              <a:t>manuellement</a:t>
            </a:r>
            <a:r>
              <a:rPr lang="en-US" b="1" dirty="0"/>
              <a:t> avec des </a:t>
            </a:r>
            <a:r>
              <a:rPr lang="en-US" b="1" dirty="0" err="1"/>
              <a:t>paramètres</a:t>
            </a:r>
            <a:r>
              <a:rPr lang="en-US" b="1" dirty="0"/>
              <a:t>)</a:t>
            </a:r>
          </a:p>
          <a:p>
            <a:r>
              <a:rPr lang="en-US" sz="1600" dirty="0"/>
              <a:t>Si </a:t>
            </a:r>
            <a:r>
              <a:rPr lang="en-US" sz="1600" dirty="0" err="1"/>
              <a:t>vous</a:t>
            </a:r>
            <a:r>
              <a:rPr lang="en-US" sz="1600" dirty="0"/>
              <a:t> </a:t>
            </a:r>
            <a:r>
              <a:rPr lang="en-US" sz="1600" dirty="0" err="1"/>
              <a:t>souhaitez</a:t>
            </a:r>
            <a:r>
              <a:rPr lang="en-US" sz="1600" dirty="0"/>
              <a:t> </a:t>
            </a:r>
            <a:r>
              <a:rPr lang="en-US" sz="1600" dirty="0" err="1"/>
              <a:t>déclencher</a:t>
            </a:r>
            <a:r>
              <a:rPr lang="en-US" sz="1600" dirty="0"/>
              <a:t> </a:t>
            </a:r>
            <a:r>
              <a:rPr lang="en-US" sz="1600" dirty="0" err="1"/>
              <a:t>manuellement</a:t>
            </a:r>
            <a:r>
              <a:rPr lang="en-US" sz="1600" dirty="0"/>
              <a:t> un pipeline avec des </a:t>
            </a:r>
            <a:r>
              <a:rPr lang="en-US" sz="1600" dirty="0" err="1"/>
              <a:t>paramètres</a:t>
            </a:r>
            <a:r>
              <a:rPr lang="en-US" sz="1600" dirty="0"/>
              <a:t>, </a:t>
            </a:r>
            <a:r>
              <a:rPr lang="en-US" sz="1600" dirty="0" err="1"/>
              <a:t>vous</a:t>
            </a:r>
            <a:r>
              <a:rPr lang="en-US" sz="1600" dirty="0"/>
              <a:t> </a:t>
            </a:r>
            <a:r>
              <a:rPr lang="en-US" sz="1600" dirty="0" err="1"/>
              <a:t>pouvez</a:t>
            </a:r>
            <a:r>
              <a:rPr lang="en-US" sz="1600" dirty="0"/>
              <a:t> </a:t>
            </a:r>
            <a:r>
              <a:rPr lang="en-US" sz="1600" dirty="0" err="1"/>
              <a:t>configurer</a:t>
            </a:r>
            <a:r>
              <a:rPr lang="en-US" sz="1600" dirty="0"/>
              <a:t> le </a:t>
            </a:r>
            <a:r>
              <a:rPr lang="en-US" sz="1600" dirty="0" err="1"/>
              <a:t>Jenkinsfile</a:t>
            </a:r>
            <a:r>
              <a:rPr lang="en-US" sz="1600" dirty="0"/>
              <a:t> pour accepter des </a:t>
            </a:r>
            <a:r>
              <a:rPr lang="en-US" sz="1600" dirty="0" err="1"/>
              <a:t>paramètres</a:t>
            </a:r>
            <a:r>
              <a:rPr lang="en-US" sz="1600" dirty="0"/>
              <a:t> </a:t>
            </a:r>
            <a:r>
              <a:rPr lang="en-US" sz="1600" dirty="0" err="1"/>
              <a:t>d'entrée</a:t>
            </a:r>
            <a:r>
              <a:rPr lang="en-US" sz="1600" dirty="0"/>
              <a:t>.</a:t>
            </a:r>
          </a:p>
          <a:p>
            <a:endParaRPr lang="en-US" sz="1600" dirty="0"/>
          </a:p>
          <a:p>
            <a:r>
              <a:rPr lang="en-US" sz="1600" dirty="0" err="1"/>
              <a:t>Exemple</a:t>
            </a:r>
            <a:r>
              <a:rPr lang="en-US" sz="1600" dirty="0"/>
              <a:t> :</a:t>
            </a:r>
          </a:p>
          <a:p>
            <a:r>
              <a:rPr lang="en-US" sz="1600" dirty="0"/>
              <a:t>pipeline {</a:t>
            </a:r>
          </a:p>
          <a:p>
            <a:r>
              <a:rPr lang="en-US" sz="1600" dirty="0"/>
              <a:t>    agent any</a:t>
            </a:r>
          </a:p>
          <a:p>
            <a:endParaRPr lang="en-US" sz="1600" dirty="0"/>
          </a:p>
          <a:p>
            <a:r>
              <a:rPr lang="en-US" sz="1600" dirty="0"/>
              <a:t>    parameters {</a:t>
            </a:r>
          </a:p>
          <a:p>
            <a:r>
              <a:rPr lang="en-US" sz="1600" dirty="0"/>
              <a:t>        string(name: 'ENVIRONMENT', </a:t>
            </a:r>
            <a:r>
              <a:rPr lang="en-US" sz="1600" dirty="0" err="1"/>
              <a:t>defaultValue</a:t>
            </a:r>
            <a:r>
              <a:rPr lang="en-US" sz="1600" dirty="0"/>
              <a:t>: 'development', description: 'Which environment to deploy to?')</a:t>
            </a:r>
          </a:p>
          <a:p>
            <a:r>
              <a:rPr lang="en-US" sz="1600" dirty="0"/>
              <a:t>    }</a:t>
            </a:r>
          </a:p>
          <a:p>
            <a:endParaRPr lang="en-US" sz="1600" dirty="0"/>
          </a:p>
          <a:p>
            <a:r>
              <a:rPr lang="en-US" sz="1600" dirty="0"/>
              <a:t>    stages {</a:t>
            </a:r>
          </a:p>
          <a:p>
            <a:r>
              <a:rPr lang="en-US" sz="1600" dirty="0"/>
              <a:t>        stage('Build') {</a:t>
            </a:r>
          </a:p>
          <a:p>
            <a:r>
              <a:rPr lang="en-US" sz="1600" dirty="0"/>
              <a:t>            steps {</a:t>
            </a:r>
          </a:p>
          <a:p>
            <a:r>
              <a:rPr lang="en-US" sz="1600" dirty="0"/>
              <a:t>                echo "Building for environment: ${</a:t>
            </a:r>
            <a:r>
              <a:rPr lang="en-US" sz="1600" dirty="0" err="1"/>
              <a:t>params.ENVIRONMENT</a:t>
            </a:r>
            <a:r>
              <a:rPr lang="en-US" sz="1600" dirty="0"/>
              <a:t>}"</a:t>
            </a:r>
          </a:p>
          <a:p>
            <a:r>
              <a:rPr lang="en-US" sz="1600" dirty="0"/>
              <a:t>            }</a:t>
            </a:r>
          </a:p>
          <a:p>
            <a:r>
              <a:rPr lang="en-US" sz="1600" dirty="0"/>
              <a:t>        }</a:t>
            </a:r>
          </a:p>
          <a:p>
            <a:r>
              <a:rPr lang="en-US" sz="1600" dirty="0"/>
              <a:t>    }</a:t>
            </a:r>
          </a:p>
          <a:p>
            <a:r>
              <a:rPr lang="en-US" sz="1600" dirty="0"/>
              <a:t>}</a:t>
            </a:r>
          </a:p>
        </p:txBody>
      </p:sp>
    </p:spTree>
    <p:extLst>
      <p:ext uri="{BB962C8B-B14F-4D97-AF65-F5344CB8AC3E}">
        <p14:creationId xmlns:p14="http://schemas.microsoft.com/office/powerpoint/2010/main" val="199441998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2" name="Rectangle 1"/>
          <p:cNvSpPr/>
          <p:nvPr/>
        </p:nvSpPr>
        <p:spPr>
          <a:xfrm>
            <a:off x="407821" y="751747"/>
            <a:ext cx="2818400" cy="338554"/>
          </a:xfrm>
          <a:prstGeom prst="rect">
            <a:avLst/>
          </a:prstGeom>
        </p:spPr>
        <p:txBody>
          <a:bodyPr wrap="none">
            <a:spAutoFit/>
          </a:bodyPr>
          <a:lstStyle/>
          <a:p>
            <a:r>
              <a:rPr lang="fr-FR" sz="1600" b="1" dirty="0" smtClean="0">
                <a:solidFill>
                  <a:srgbClr val="101820"/>
                </a:solidFill>
                <a:latin typeface="Söhne"/>
              </a:rPr>
              <a:t>Les bibliothèques de code </a:t>
            </a:r>
            <a:endParaRPr lang="fr-FR" sz="1600" b="1" i="0" dirty="0">
              <a:effectLst/>
              <a:latin typeface="Söhne"/>
            </a:endParaRPr>
          </a:p>
        </p:txBody>
      </p:sp>
      <p:sp>
        <p:nvSpPr>
          <p:cNvPr id="5" name="Rectangle 4"/>
          <p:cNvSpPr/>
          <p:nvPr/>
        </p:nvSpPr>
        <p:spPr>
          <a:xfrm>
            <a:off x="401366" y="1267133"/>
            <a:ext cx="11182773" cy="1200329"/>
          </a:xfrm>
          <a:prstGeom prst="rect">
            <a:avLst/>
          </a:prstGeom>
        </p:spPr>
        <p:txBody>
          <a:bodyPr wrap="square">
            <a:spAutoFit/>
          </a:bodyPr>
          <a:lstStyle/>
          <a:p>
            <a:r>
              <a:rPr lang="fr-FR" dirty="0"/>
              <a:t>Ils </a:t>
            </a:r>
            <a:r>
              <a:rPr lang="fr-FR" dirty="0" smtClean="0"/>
              <a:t>permettent </a:t>
            </a:r>
            <a:r>
              <a:rPr lang="fr-FR" dirty="0"/>
              <a:t>d'encapsuler la logique, de promouvoir les meilleures pratiques et de partager facilement le code entre plusieurs pipelines</a:t>
            </a:r>
            <a:endParaRPr lang="fr-FR" dirty="0" smtClean="0"/>
          </a:p>
          <a:p>
            <a:endParaRPr lang="fr-FR" dirty="0"/>
          </a:p>
          <a:p>
            <a:r>
              <a:rPr lang="fr-FR" dirty="0" smtClean="0"/>
              <a:t>Il existe deux </a:t>
            </a:r>
            <a:r>
              <a:rPr lang="fr-FR" dirty="0"/>
              <a:t>types de </a:t>
            </a:r>
            <a:r>
              <a:rPr lang="fr-FR" dirty="0" smtClean="0"/>
              <a:t>bibliothèques:</a:t>
            </a:r>
          </a:p>
        </p:txBody>
      </p:sp>
      <p:sp>
        <p:nvSpPr>
          <p:cNvPr id="3" name="Rectangle 2"/>
          <p:cNvSpPr/>
          <p:nvPr/>
        </p:nvSpPr>
        <p:spPr>
          <a:xfrm>
            <a:off x="407821" y="2644294"/>
            <a:ext cx="11643360" cy="2308324"/>
          </a:xfrm>
          <a:prstGeom prst="rect">
            <a:avLst/>
          </a:prstGeom>
        </p:spPr>
        <p:txBody>
          <a:bodyPr wrap="square">
            <a:spAutoFit/>
          </a:bodyPr>
          <a:lstStyle/>
          <a:p>
            <a:r>
              <a:rPr lang="fr-FR" sz="1600" b="1" dirty="0">
                <a:solidFill>
                  <a:srgbClr val="0D0D0D"/>
                </a:solidFill>
                <a:latin typeface="Söhne"/>
              </a:rPr>
              <a:t>Librairies partagées (Shared </a:t>
            </a:r>
            <a:r>
              <a:rPr lang="fr-FR" sz="1600" b="1" dirty="0" err="1">
                <a:solidFill>
                  <a:srgbClr val="0D0D0D"/>
                </a:solidFill>
                <a:latin typeface="Söhne"/>
              </a:rPr>
              <a:t>Libraries</a:t>
            </a:r>
            <a:r>
              <a:rPr lang="fr-FR" sz="1600" b="1" dirty="0">
                <a:solidFill>
                  <a:srgbClr val="0D0D0D"/>
                </a:solidFill>
                <a:latin typeface="Söhne"/>
              </a:rPr>
              <a:t>)</a:t>
            </a:r>
            <a:r>
              <a:rPr lang="fr-FR" sz="1600" dirty="0">
                <a:solidFill>
                  <a:srgbClr val="0D0D0D"/>
                </a:solidFill>
                <a:latin typeface="Söhne"/>
              </a:rPr>
              <a:t> </a:t>
            </a:r>
            <a:r>
              <a:rPr lang="fr-FR" sz="1600" dirty="0" smtClean="0">
                <a:solidFill>
                  <a:srgbClr val="0D0D0D"/>
                </a:solidFill>
                <a:latin typeface="Söhne"/>
              </a:rPr>
              <a:t>:</a:t>
            </a:r>
          </a:p>
          <a:p>
            <a:pPr>
              <a:buFont typeface="+mj-lt"/>
              <a:buAutoNum type="arabicPeriod"/>
            </a:pPr>
            <a:endParaRPr lang="fr-FR" sz="1600" dirty="0">
              <a:solidFill>
                <a:srgbClr val="0D0D0D"/>
              </a:solidFill>
              <a:latin typeface="Söhne"/>
            </a:endParaRPr>
          </a:p>
          <a:p>
            <a:pPr lvl="1"/>
            <a:r>
              <a:rPr lang="fr-FR" sz="1600" dirty="0">
                <a:solidFill>
                  <a:srgbClr val="0D0D0D"/>
                </a:solidFill>
                <a:latin typeface="Söhne"/>
              </a:rPr>
              <a:t>Les bibliothèques partagées sont des bibliothèques </a:t>
            </a:r>
            <a:r>
              <a:rPr lang="fr-FR" sz="1600" dirty="0" err="1">
                <a:solidFill>
                  <a:srgbClr val="0D0D0D"/>
                </a:solidFill>
                <a:latin typeface="Söhne"/>
              </a:rPr>
              <a:t>Groovy</a:t>
            </a:r>
            <a:r>
              <a:rPr lang="fr-FR" sz="1600" dirty="0">
                <a:solidFill>
                  <a:srgbClr val="0D0D0D"/>
                </a:solidFill>
                <a:latin typeface="Söhne"/>
              </a:rPr>
              <a:t> réutilisables </a:t>
            </a:r>
            <a:r>
              <a:rPr lang="fr-FR" sz="1600" dirty="0" smtClean="0">
                <a:solidFill>
                  <a:srgbClr val="0D0D0D"/>
                </a:solidFill>
                <a:latin typeface="Söhne"/>
              </a:rPr>
              <a:t>utilisées </a:t>
            </a:r>
            <a:r>
              <a:rPr lang="fr-FR" sz="1600" dirty="0">
                <a:solidFill>
                  <a:srgbClr val="0D0D0D"/>
                </a:solidFill>
                <a:latin typeface="Söhne"/>
              </a:rPr>
              <a:t>dans plusieurs pipelines </a:t>
            </a:r>
            <a:r>
              <a:rPr lang="fr-FR" sz="1600" dirty="0" smtClean="0">
                <a:solidFill>
                  <a:srgbClr val="0D0D0D"/>
                </a:solidFill>
                <a:latin typeface="Söhne"/>
              </a:rPr>
              <a:t>Jenkins en même temps.</a:t>
            </a:r>
          </a:p>
          <a:p>
            <a:pPr marL="742950" lvl="1" indent="-285750">
              <a:buFont typeface="+mj-lt"/>
              <a:buAutoNum type="arabicPeriod"/>
            </a:pPr>
            <a:endParaRPr lang="fr-FR" sz="1600" dirty="0">
              <a:solidFill>
                <a:srgbClr val="0D0D0D"/>
              </a:solidFill>
              <a:latin typeface="Söhne"/>
            </a:endParaRPr>
          </a:p>
          <a:p>
            <a:pPr lvl="1"/>
            <a:r>
              <a:rPr lang="fr-FR" sz="1600" dirty="0">
                <a:solidFill>
                  <a:srgbClr val="0D0D0D"/>
                </a:solidFill>
                <a:latin typeface="Söhne"/>
              </a:rPr>
              <a:t>Elles sont </a:t>
            </a:r>
            <a:r>
              <a:rPr lang="fr-FR" sz="1600" dirty="0" smtClean="0">
                <a:solidFill>
                  <a:srgbClr val="0D0D0D"/>
                </a:solidFill>
                <a:latin typeface="Söhne"/>
              </a:rPr>
              <a:t>stockées dans un emplacement commun exemple un </a:t>
            </a:r>
            <a:r>
              <a:rPr lang="fr-FR" sz="1600" dirty="0">
                <a:solidFill>
                  <a:srgbClr val="0D0D0D"/>
                </a:solidFill>
                <a:latin typeface="Söhne"/>
              </a:rPr>
              <a:t>référentiel de contrôle de version tel que Git</a:t>
            </a:r>
            <a:r>
              <a:rPr lang="fr-FR" sz="1600" dirty="0" smtClean="0">
                <a:solidFill>
                  <a:srgbClr val="0D0D0D"/>
                </a:solidFill>
                <a:latin typeface="Söhne"/>
              </a:rPr>
              <a:t>.</a:t>
            </a:r>
          </a:p>
          <a:p>
            <a:pPr lvl="1"/>
            <a:endParaRPr lang="fr-FR" sz="1600" dirty="0">
              <a:solidFill>
                <a:srgbClr val="0D0D0D"/>
              </a:solidFill>
              <a:latin typeface="Söhne"/>
            </a:endParaRPr>
          </a:p>
          <a:p>
            <a:pPr lvl="1"/>
            <a:r>
              <a:rPr lang="fr-FR" sz="1600" dirty="0">
                <a:solidFill>
                  <a:srgbClr val="0D0D0D"/>
                </a:solidFill>
                <a:latin typeface="Söhne"/>
              </a:rPr>
              <a:t>Les bibliothèques partagées peuvent contenir des classes, des fonctions et des méthodes réutilisables qui simplifient et organisent la logique des pipelines.</a:t>
            </a:r>
            <a:endParaRPr lang="fr-FR" sz="1600" b="0" i="0" dirty="0">
              <a:solidFill>
                <a:srgbClr val="0D0D0D"/>
              </a:solidFill>
              <a:effectLst/>
              <a:latin typeface="Söhne"/>
            </a:endParaRPr>
          </a:p>
        </p:txBody>
      </p:sp>
    </p:spTree>
    <p:extLst>
      <p:ext uri="{BB962C8B-B14F-4D97-AF65-F5344CB8AC3E}">
        <p14:creationId xmlns:p14="http://schemas.microsoft.com/office/powerpoint/2010/main" val="2393009822"/>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2" name="Rectangle 1"/>
          <p:cNvSpPr/>
          <p:nvPr/>
        </p:nvSpPr>
        <p:spPr>
          <a:xfrm>
            <a:off x="407821" y="751747"/>
            <a:ext cx="2818400" cy="338554"/>
          </a:xfrm>
          <a:prstGeom prst="rect">
            <a:avLst/>
          </a:prstGeom>
        </p:spPr>
        <p:txBody>
          <a:bodyPr wrap="none">
            <a:spAutoFit/>
          </a:bodyPr>
          <a:lstStyle/>
          <a:p>
            <a:r>
              <a:rPr lang="fr-FR" sz="1600" b="1" dirty="0" smtClean="0">
                <a:solidFill>
                  <a:srgbClr val="101820"/>
                </a:solidFill>
                <a:latin typeface="Söhne"/>
              </a:rPr>
              <a:t>Les bibliothèques de code </a:t>
            </a:r>
            <a:endParaRPr lang="fr-FR" sz="1600" b="1" i="0" dirty="0">
              <a:effectLst/>
              <a:latin typeface="Söhne"/>
            </a:endParaRPr>
          </a:p>
        </p:txBody>
      </p:sp>
      <p:sp>
        <p:nvSpPr>
          <p:cNvPr id="5" name="Rectangle 4"/>
          <p:cNvSpPr/>
          <p:nvPr/>
        </p:nvSpPr>
        <p:spPr>
          <a:xfrm>
            <a:off x="401366" y="1267133"/>
            <a:ext cx="11182773" cy="923330"/>
          </a:xfrm>
          <a:prstGeom prst="rect">
            <a:avLst/>
          </a:prstGeom>
        </p:spPr>
        <p:txBody>
          <a:bodyPr wrap="square">
            <a:spAutoFit/>
          </a:bodyPr>
          <a:lstStyle/>
          <a:p>
            <a:r>
              <a:rPr lang="fr-FR" dirty="0" smtClean="0"/>
              <a:t>Le code source de la bibliothèque partagée est généralement situé dans un contrôle de code source SCM</a:t>
            </a:r>
          </a:p>
          <a:p>
            <a:endParaRPr lang="fr-FR" dirty="0"/>
          </a:p>
          <a:p>
            <a:r>
              <a:rPr lang="fr-FR" dirty="0" smtClean="0"/>
              <a:t>La bibliothèque doit être structurée d'une façon particulière</a:t>
            </a:r>
          </a:p>
        </p:txBody>
      </p:sp>
      <p:pic>
        <p:nvPicPr>
          <p:cNvPr id="4" name="Image 3"/>
          <p:cNvPicPr>
            <a:picLocks noChangeAspect="1"/>
          </p:cNvPicPr>
          <p:nvPr/>
        </p:nvPicPr>
        <p:blipFill rotWithShape="1">
          <a:blip r:embed="rId4"/>
          <a:srcRect t="8051"/>
          <a:stretch/>
        </p:blipFill>
        <p:spPr>
          <a:xfrm>
            <a:off x="1934304" y="2262293"/>
            <a:ext cx="7754432" cy="4160730"/>
          </a:xfrm>
          <a:prstGeom prst="rect">
            <a:avLst/>
          </a:prstGeom>
        </p:spPr>
      </p:pic>
    </p:spTree>
    <p:extLst>
      <p:ext uri="{BB962C8B-B14F-4D97-AF65-F5344CB8AC3E}">
        <p14:creationId xmlns:p14="http://schemas.microsoft.com/office/powerpoint/2010/main" val="258370918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2" name="Rectangle 1"/>
          <p:cNvSpPr/>
          <p:nvPr/>
        </p:nvSpPr>
        <p:spPr>
          <a:xfrm>
            <a:off x="407821" y="751747"/>
            <a:ext cx="2818400" cy="338554"/>
          </a:xfrm>
          <a:prstGeom prst="rect">
            <a:avLst/>
          </a:prstGeom>
        </p:spPr>
        <p:txBody>
          <a:bodyPr wrap="none">
            <a:spAutoFit/>
          </a:bodyPr>
          <a:lstStyle/>
          <a:p>
            <a:r>
              <a:rPr lang="fr-FR" sz="1600" b="1" dirty="0" smtClean="0">
                <a:solidFill>
                  <a:srgbClr val="101820"/>
                </a:solidFill>
                <a:latin typeface="Söhne"/>
              </a:rPr>
              <a:t>Les bibliothèques de code </a:t>
            </a:r>
            <a:endParaRPr lang="fr-FR" sz="1600" b="1" i="0" dirty="0">
              <a:effectLst/>
              <a:latin typeface="Söhne"/>
            </a:endParaRPr>
          </a:p>
        </p:txBody>
      </p:sp>
      <p:sp>
        <p:nvSpPr>
          <p:cNvPr id="7" name="Rectangle 6"/>
          <p:cNvSpPr/>
          <p:nvPr/>
        </p:nvSpPr>
        <p:spPr>
          <a:xfrm>
            <a:off x="474133" y="1267133"/>
            <a:ext cx="11325013" cy="2893100"/>
          </a:xfrm>
          <a:prstGeom prst="rect">
            <a:avLst/>
          </a:prstGeom>
        </p:spPr>
        <p:txBody>
          <a:bodyPr wrap="square">
            <a:spAutoFit/>
          </a:bodyPr>
          <a:lstStyle/>
          <a:p>
            <a:r>
              <a:rPr lang="fr-FR" sz="1600" b="1" dirty="0" err="1">
                <a:latin typeface="Söhne"/>
              </a:rPr>
              <a:t>src</a:t>
            </a:r>
            <a:r>
              <a:rPr lang="fr-FR" sz="1600" b="1" dirty="0">
                <a:latin typeface="Söhne"/>
              </a:rPr>
              <a:t> :</a:t>
            </a:r>
          </a:p>
          <a:p>
            <a:r>
              <a:rPr lang="fr-FR" sz="1600" dirty="0">
                <a:latin typeface="Söhne"/>
              </a:rPr>
              <a:t>Le dossier </a:t>
            </a:r>
            <a:r>
              <a:rPr lang="fr-FR" sz="1600" dirty="0" err="1">
                <a:latin typeface="Söhne"/>
              </a:rPr>
              <a:t>src</a:t>
            </a:r>
            <a:r>
              <a:rPr lang="fr-FR" sz="1600" dirty="0">
                <a:latin typeface="Söhne"/>
              </a:rPr>
              <a:t> contient des fichiers source </a:t>
            </a:r>
            <a:r>
              <a:rPr lang="fr-FR" sz="1600" dirty="0" err="1">
                <a:latin typeface="Söhne"/>
              </a:rPr>
              <a:t>Groovy</a:t>
            </a:r>
            <a:r>
              <a:rPr lang="fr-FR" sz="1600" dirty="0">
                <a:latin typeface="Söhne"/>
              </a:rPr>
              <a:t> qui définissent des classes, des fonctions ou des méthodes réutilisables pour la bibliothèque partagée.</a:t>
            </a:r>
          </a:p>
          <a:p>
            <a:endParaRPr lang="fr-FR" sz="1600" dirty="0">
              <a:latin typeface="Söhne"/>
            </a:endParaRPr>
          </a:p>
          <a:p>
            <a:r>
              <a:rPr lang="fr-FR" sz="1600" b="1" dirty="0">
                <a:latin typeface="Söhne"/>
              </a:rPr>
              <a:t>vars :</a:t>
            </a:r>
          </a:p>
          <a:p>
            <a:r>
              <a:rPr lang="fr-FR" sz="1600" dirty="0">
                <a:latin typeface="Söhne"/>
              </a:rPr>
              <a:t>Le dossier vars contient des scripts </a:t>
            </a:r>
            <a:r>
              <a:rPr lang="fr-FR" sz="1600" dirty="0" err="1">
                <a:latin typeface="Söhne"/>
              </a:rPr>
              <a:t>Groovy</a:t>
            </a:r>
            <a:r>
              <a:rPr lang="fr-FR" sz="1600" dirty="0">
                <a:latin typeface="Söhne"/>
              </a:rPr>
              <a:t> qui définissent des variables ou des fonctions globales (appelées "vars") pouvant </a:t>
            </a:r>
            <a:r>
              <a:rPr lang="fr-FR" sz="1600" dirty="0" smtClean="0">
                <a:latin typeface="Söhne"/>
              </a:rPr>
              <a:t>être appelées </a:t>
            </a:r>
            <a:r>
              <a:rPr lang="fr-FR" sz="1600" dirty="0">
                <a:latin typeface="Söhne"/>
              </a:rPr>
              <a:t>directement  dans les scripts de pipeline.</a:t>
            </a:r>
          </a:p>
          <a:p>
            <a:endParaRPr lang="fr-FR" sz="1600" dirty="0">
              <a:latin typeface="Söhne"/>
            </a:endParaRPr>
          </a:p>
          <a:p>
            <a:r>
              <a:rPr lang="fr-FR" sz="1600" b="1" dirty="0" err="1">
                <a:latin typeface="Söhne"/>
              </a:rPr>
              <a:t>resources</a:t>
            </a:r>
            <a:r>
              <a:rPr lang="fr-FR" sz="1600" b="1" dirty="0">
                <a:latin typeface="Söhne"/>
              </a:rPr>
              <a:t> :</a:t>
            </a:r>
          </a:p>
          <a:p>
            <a:r>
              <a:rPr lang="fr-FR" sz="1600" dirty="0">
                <a:latin typeface="Söhne"/>
              </a:rPr>
              <a:t>Le dossier </a:t>
            </a:r>
            <a:r>
              <a:rPr lang="fr-FR" sz="1600" dirty="0" err="1">
                <a:latin typeface="Söhne"/>
              </a:rPr>
              <a:t>resources</a:t>
            </a:r>
            <a:r>
              <a:rPr lang="fr-FR" sz="1600" dirty="0">
                <a:latin typeface="Söhne"/>
              </a:rPr>
              <a:t> est </a:t>
            </a:r>
            <a:r>
              <a:rPr lang="fr-FR" sz="1600" dirty="0" smtClean="0">
                <a:latin typeface="Söhne"/>
              </a:rPr>
              <a:t>facultatif, il </a:t>
            </a:r>
            <a:r>
              <a:rPr lang="fr-FR" sz="1600" dirty="0">
                <a:latin typeface="Söhne"/>
              </a:rPr>
              <a:t>est utilisé pour stocker des ressources non-</a:t>
            </a:r>
            <a:r>
              <a:rPr lang="fr-FR" sz="1600" dirty="0" err="1">
                <a:latin typeface="Söhne"/>
              </a:rPr>
              <a:t>Groovy</a:t>
            </a:r>
            <a:r>
              <a:rPr lang="fr-FR" sz="1600" dirty="0">
                <a:latin typeface="Söhne"/>
              </a:rPr>
              <a:t>, tels que des fichiers BASH, BAT, JSON, des modèles XML ou des fichiers de propriétés.</a:t>
            </a:r>
          </a:p>
        </p:txBody>
      </p:sp>
    </p:spTree>
    <p:extLst>
      <p:ext uri="{BB962C8B-B14F-4D97-AF65-F5344CB8AC3E}">
        <p14:creationId xmlns:p14="http://schemas.microsoft.com/office/powerpoint/2010/main" val="322028591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2" name="Rectangle 1"/>
          <p:cNvSpPr/>
          <p:nvPr/>
        </p:nvSpPr>
        <p:spPr>
          <a:xfrm>
            <a:off x="407821" y="751747"/>
            <a:ext cx="2818400" cy="338554"/>
          </a:xfrm>
          <a:prstGeom prst="rect">
            <a:avLst/>
          </a:prstGeom>
        </p:spPr>
        <p:txBody>
          <a:bodyPr wrap="none">
            <a:spAutoFit/>
          </a:bodyPr>
          <a:lstStyle/>
          <a:p>
            <a:r>
              <a:rPr lang="fr-FR" sz="1600" b="1" dirty="0" smtClean="0">
                <a:solidFill>
                  <a:srgbClr val="101820"/>
                </a:solidFill>
                <a:latin typeface="Söhne"/>
              </a:rPr>
              <a:t>Les bibliothèques de code </a:t>
            </a:r>
            <a:endParaRPr lang="fr-FR" sz="1600" b="1" i="0" dirty="0">
              <a:effectLst/>
              <a:latin typeface="Söhne"/>
            </a:endParaRPr>
          </a:p>
        </p:txBody>
      </p:sp>
      <p:sp>
        <p:nvSpPr>
          <p:cNvPr id="3" name="Rectangle 2"/>
          <p:cNvSpPr/>
          <p:nvPr/>
        </p:nvSpPr>
        <p:spPr>
          <a:xfrm>
            <a:off x="3121331" y="1185240"/>
            <a:ext cx="4933338" cy="369332"/>
          </a:xfrm>
          <a:prstGeom prst="rect">
            <a:avLst/>
          </a:prstGeom>
        </p:spPr>
        <p:txBody>
          <a:bodyPr wrap="none">
            <a:spAutoFit/>
          </a:bodyPr>
          <a:lstStyle/>
          <a:p>
            <a:r>
              <a:rPr lang="fr-FR" dirty="0"/>
              <a:t>https://github.com/bejaouibechir/jenkins/tree/Lib</a:t>
            </a:r>
          </a:p>
        </p:txBody>
      </p:sp>
      <p:pic>
        <p:nvPicPr>
          <p:cNvPr id="4" name="Image 3"/>
          <p:cNvPicPr>
            <a:picLocks noChangeAspect="1"/>
          </p:cNvPicPr>
          <p:nvPr/>
        </p:nvPicPr>
        <p:blipFill>
          <a:blip r:embed="rId4"/>
          <a:stretch>
            <a:fillRect/>
          </a:stretch>
        </p:blipFill>
        <p:spPr>
          <a:xfrm>
            <a:off x="544291" y="1805330"/>
            <a:ext cx="10764752" cy="4182059"/>
          </a:xfrm>
          <a:prstGeom prst="rect">
            <a:avLst/>
          </a:prstGeom>
        </p:spPr>
      </p:pic>
    </p:spTree>
    <p:extLst>
      <p:ext uri="{BB962C8B-B14F-4D97-AF65-F5344CB8AC3E}">
        <p14:creationId xmlns:p14="http://schemas.microsoft.com/office/powerpoint/2010/main" val="1333950013"/>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2" name="Rectangle 1"/>
          <p:cNvSpPr/>
          <p:nvPr/>
        </p:nvSpPr>
        <p:spPr>
          <a:xfrm>
            <a:off x="407821" y="751747"/>
            <a:ext cx="2818400" cy="338554"/>
          </a:xfrm>
          <a:prstGeom prst="rect">
            <a:avLst/>
          </a:prstGeom>
        </p:spPr>
        <p:txBody>
          <a:bodyPr wrap="none">
            <a:spAutoFit/>
          </a:bodyPr>
          <a:lstStyle/>
          <a:p>
            <a:r>
              <a:rPr lang="fr-FR" sz="1600" b="1" dirty="0" smtClean="0">
                <a:solidFill>
                  <a:srgbClr val="101820"/>
                </a:solidFill>
                <a:latin typeface="Söhne"/>
              </a:rPr>
              <a:t>Les bibliothèques de code </a:t>
            </a:r>
            <a:endParaRPr lang="fr-FR" sz="1600" b="1" i="0" dirty="0">
              <a:effectLst/>
              <a:latin typeface="Söhne"/>
            </a:endParaRPr>
          </a:p>
        </p:txBody>
      </p:sp>
      <p:sp>
        <p:nvSpPr>
          <p:cNvPr id="3" name="Rectangle 2"/>
          <p:cNvSpPr/>
          <p:nvPr/>
        </p:nvSpPr>
        <p:spPr>
          <a:xfrm>
            <a:off x="3121331" y="1185240"/>
            <a:ext cx="4933338" cy="369332"/>
          </a:xfrm>
          <a:prstGeom prst="rect">
            <a:avLst/>
          </a:prstGeom>
        </p:spPr>
        <p:txBody>
          <a:bodyPr wrap="none">
            <a:spAutoFit/>
          </a:bodyPr>
          <a:lstStyle/>
          <a:p>
            <a:r>
              <a:rPr lang="fr-FR" dirty="0"/>
              <a:t>https://github.com/bejaouibechir/jenkins/tree/Lib</a:t>
            </a:r>
          </a:p>
        </p:txBody>
      </p:sp>
      <p:pic>
        <p:nvPicPr>
          <p:cNvPr id="4" name="Image 3"/>
          <p:cNvPicPr>
            <a:picLocks noChangeAspect="1"/>
          </p:cNvPicPr>
          <p:nvPr/>
        </p:nvPicPr>
        <p:blipFill>
          <a:blip r:embed="rId4"/>
          <a:stretch>
            <a:fillRect/>
          </a:stretch>
        </p:blipFill>
        <p:spPr>
          <a:xfrm>
            <a:off x="544291" y="1805330"/>
            <a:ext cx="10764752" cy="4182059"/>
          </a:xfrm>
          <a:prstGeom prst="rect">
            <a:avLst/>
          </a:prstGeom>
        </p:spPr>
      </p:pic>
      <p:pic>
        <p:nvPicPr>
          <p:cNvPr id="5" name="Image 4"/>
          <p:cNvPicPr>
            <a:picLocks noChangeAspect="1"/>
          </p:cNvPicPr>
          <p:nvPr/>
        </p:nvPicPr>
        <p:blipFill>
          <a:blip r:embed="rId5"/>
          <a:stretch>
            <a:fillRect/>
          </a:stretch>
        </p:blipFill>
        <p:spPr>
          <a:xfrm>
            <a:off x="4240864" y="3105152"/>
            <a:ext cx="7354326" cy="2991267"/>
          </a:xfrm>
          <a:prstGeom prst="rect">
            <a:avLst/>
          </a:prstGeom>
          <a:ln>
            <a:noFill/>
          </a:ln>
          <a:effectLst>
            <a:outerShdw blurRad="292100" dist="139700" dir="2700000" algn="tl" rotWithShape="0">
              <a:srgbClr val="333333">
                <a:alpha val="65000"/>
              </a:srgbClr>
            </a:outerShdw>
          </a:effectLst>
        </p:spPr>
      </p:pic>
      <p:cxnSp>
        <p:nvCxnSpPr>
          <p:cNvPr id="7" name="Connecteur droit avec flèche 6"/>
          <p:cNvCxnSpPr/>
          <p:nvPr/>
        </p:nvCxnSpPr>
        <p:spPr>
          <a:xfrm flipV="1">
            <a:off x="1442720" y="3576320"/>
            <a:ext cx="4632960" cy="1645921"/>
          </a:xfrm>
          <a:prstGeom prst="straightConnector1">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629379486"/>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2" name="Rectangle 1"/>
          <p:cNvSpPr/>
          <p:nvPr/>
        </p:nvSpPr>
        <p:spPr>
          <a:xfrm>
            <a:off x="407821" y="751747"/>
            <a:ext cx="2818400" cy="338554"/>
          </a:xfrm>
          <a:prstGeom prst="rect">
            <a:avLst/>
          </a:prstGeom>
        </p:spPr>
        <p:txBody>
          <a:bodyPr wrap="none">
            <a:spAutoFit/>
          </a:bodyPr>
          <a:lstStyle/>
          <a:p>
            <a:r>
              <a:rPr lang="fr-FR" sz="1600" b="1" dirty="0" smtClean="0">
                <a:solidFill>
                  <a:srgbClr val="101820"/>
                </a:solidFill>
                <a:latin typeface="Söhne"/>
              </a:rPr>
              <a:t>Les bibliothèques de code </a:t>
            </a:r>
            <a:endParaRPr lang="fr-FR" sz="1600" b="1" i="0" dirty="0">
              <a:effectLst/>
              <a:latin typeface="Söhne"/>
            </a:endParaRPr>
          </a:p>
        </p:txBody>
      </p:sp>
      <p:pic>
        <p:nvPicPr>
          <p:cNvPr id="6" name="Image 5"/>
          <p:cNvPicPr>
            <a:picLocks noChangeAspect="1"/>
          </p:cNvPicPr>
          <p:nvPr/>
        </p:nvPicPr>
        <p:blipFill>
          <a:blip r:embed="rId4"/>
          <a:stretch>
            <a:fillRect/>
          </a:stretch>
        </p:blipFill>
        <p:spPr>
          <a:xfrm>
            <a:off x="1414114" y="1414516"/>
            <a:ext cx="8049748" cy="3753374"/>
          </a:xfrm>
          <a:prstGeom prst="rect">
            <a:avLst/>
          </a:prstGeom>
        </p:spPr>
      </p:pic>
      <p:sp>
        <p:nvSpPr>
          <p:cNvPr id="8" name="Rectangle 7"/>
          <p:cNvSpPr/>
          <p:nvPr/>
        </p:nvSpPr>
        <p:spPr>
          <a:xfrm>
            <a:off x="3668024" y="5307439"/>
            <a:ext cx="1723549" cy="369332"/>
          </a:xfrm>
          <a:prstGeom prst="rect">
            <a:avLst/>
          </a:prstGeom>
        </p:spPr>
        <p:txBody>
          <a:bodyPr wrap="none">
            <a:spAutoFit/>
          </a:bodyPr>
          <a:lstStyle/>
          <a:p>
            <a:r>
              <a:rPr lang="fr-FR" altLang="en-US" dirty="0" smtClean="0">
                <a:latin typeface="Arial" panose="020B0604020202020204" pitchFamily="34" charset="0"/>
                <a:ea typeface="DejaVu Sans"/>
                <a:cs typeface="DejaVu Sans"/>
              </a:rPr>
              <a:t>Appel au code </a:t>
            </a:r>
            <a:endParaRPr lang="fr-FR" dirty="0"/>
          </a:p>
        </p:txBody>
      </p:sp>
      <p:pic>
        <p:nvPicPr>
          <p:cNvPr id="10" name="Image 9"/>
          <p:cNvPicPr>
            <a:picLocks noChangeAspect="1"/>
          </p:cNvPicPr>
          <p:nvPr/>
        </p:nvPicPr>
        <p:blipFill>
          <a:blip r:embed="rId5"/>
          <a:stretch>
            <a:fillRect/>
          </a:stretch>
        </p:blipFill>
        <p:spPr>
          <a:xfrm>
            <a:off x="5168653" y="307764"/>
            <a:ext cx="5851404" cy="2379975"/>
          </a:xfrm>
          <a:prstGeom prst="rect">
            <a:avLst/>
          </a:prstGeom>
          <a:ln>
            <a:noFill/>
          </a:ln>
          <a:effectLst>
            <a:outerShdw blurRad="292100" dist="139700" dir="2700000" algn="tl" rotWithShape="0">
              <a:srgbClr val="333333">
                <a:alpha val="65000"/>
              </a:srgbClr>
            </a:outerShdw>
          </a:effectLst>
        </p:spPr>
      </p:pic>
      <p:cxnSp>
        <p:nvCxnSpPr>
          <p:cNvPr id="11" name="Connecteur droit avec flèche 10"/>
          <p:cNvCxnSpPr/>
          <p:nvPr/>
        </p:nvCxnSpPr>
        <p:spPr>
          <a:xfrm flipH="1">
            <a:off x="5276427" y="751747"/>
            <a:ext cx="2722880" cy="3142920"/>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2" name="Rectangle 11"/>
          <p:cNvSpPr/>
          <p:nvPr/>
        </p:nvSpPr>
        <p:spPr>
          <a:xfrm>
            <a:off x="4226559" y="3905188"/>
            <a:ext cx="1165014" cy="3092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7640320" y="514773"/>
            <a:ext cx="768774" cy="2402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4"/>
          <p:cNvPicPr>
            <a:picLocks noChangeAspect="1"/>
          </p:cNvPicPr>
          <p:nvPr/>
        </p:nvPicPr>
        <p:blipFill rotWithShape="1">
          <a:blip r:embed="rId5"/>
          <a:srcRect l="14710" t="71068" r="13521"/>
          <a:stretch/>
        </p:blipFill>
        <p:spPr>
          <a:xfrm>
            <a:off x="6319520" y="2787673"/>
            <a:ext cx="5677268" cy="930887"/>
          </a:xfrm>
          <a:prstGeom prst="rect">
            <a:avLst/>
          </a:prstGeom>
          <a:ln>
            <a:noFill/>
          </a:ln>
          <a:effectLst>
            <a:outerShdw blurRad="292100" dist="139700" dir="2700000" algn="tl" rotWithShape="0">
              <a:srgbClr val="333333">
                <a:alpha val="65000"/>
              </a:srgbClr>
            </a:outerShdw>
          </a:effectLst>
        </p:spPr>
      </p:pic>
      <p:cxnSp>
        <p:nvCxnSpPr>
          <p:cNvPr id="16" name="Connecteur droit 15"/>
          <p:cNvCxnSpPr/>
          <p:nvPr/>
        </p:nvCxnSpPr>
        <p:spPr>
          <a:xfrm flipV="1">
            <a:off x="2514578" y="2390987"/>
            <a:ext cx="2533227" cy="27093"/>
          </a:xfrm>
          <a:prstGeom prst="line">
            <a:avLst/>
          </a:prstGeom>
          <a:ln w="28575">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8" name="Connecteur droit avec flèche 17"/>
          <p:cNvCxnSpPr>
            <a:stCxn id="21" idx="0"/>
            <a:endCxn id="15" idx="2"/>
          </p:cNvCxnSpPr>
          <p:nvPr/>
        </p:nvCxnSpPr>
        <p:spPr>
          <a:xfrm flipH="1" flipV="1">
            <a:off x="9158154" y="3718560"/>
            <a:ext cx="1083806" cy="1079998"/>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21" name="Rectangle 20"/>
          <p:cNvSpPr/>
          <p:nvPr/>
        </p:nvSpPr>
        <p:spPr>
          <a:xfrm>
            <a:off x="8835164" y="4798558"/>
            <a:ext cx="2813591" cy="369332"/>
          </a:xfrm>
          <a:prstGeom prst="rect">
            <a:avLst/>
          </a:prstGeom>
        </p:spPr>
        <p:txBody>
          <a:bodyPr wrap="none">
            <a:spAutoFit/>
          </a:bodyPr>
          <a:lstStyle/>
          <a:p>
            <a:r>
              <a:rPr lang="fr-FR" altLang="en-US" dirty="0" smtClean="0">
                <a:latin typeface="Arial" panose="020B0604020202020204" pitchFamily="34" charset="0"/>
                <a:ea typeface="DejaVu Sans"/>
                <a:cs typeface="DejaVu Sans"/>
              </a:rPr>
              <a:t>Définition des paramètres</a:t>
            </a:r>
            <a:endParaRPr lang="fr-FR" dirty="0"/>
          </a:p>
        </p:txBody>
      </p:sp>
      <p:cxnSp>
        <p:nvCxnSpPr>
          <p:cNvPr id="22" name="Connecteur droit avec flèche 21"/>
          <p:cNvCxnSpPr>
            <a:stCxn id="8" idx="0"/>
            <a:endCxn id="12" idx="2"/>
          </p:cNvCxnSpPr>
          <p:nvPr/>
        </p:nvCxnSpPr>
        <p:spPr>
          <a:xfrm flipV="1">
            <a:off x="4529799" y="4214437"/>
            <a:ext cx="279267" cy="1093002"/>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06425620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2" name="Rectangle 1"/>
          <p:cNvSpPr/>
          <p:nvPr/>
        </p:nvSpPr>
        <p:spPr>
          <a:xfrm>
            <a:off x="407821" y="751747"/>
            <a:ext cx="2818400" cy="338554"/>
          </a:xfrm>
          <a:prstGeom prst="rect">
            <a:avLst/>
          </a:prstGeom>
        </p:spPr>
        <p:txBody>
          <a:bodyPr wrap="none">
            <a:spAutoFit/>
          </a:bodyPr>
          <a:lstStyle/>
          <a:p>
            <a:r>
              <a:rPr lang="fr-FR" sz="1600" b="1" dirty="0" smtClean="0">
                <a:solidFill>
                  <a:srgbClr val="101820"/>
                </a:solidFill>
                <a:latin typeface="Söhne"/>
              </a:rPr>
              <a:t>Les bibliothèques de code </a:t>
            </a:r>
            <a:endParaRPr lang="fr-FR" sz="1600" b="1" i="0" dirty="0">
              <a:effectLst/>
              <a:latin typeface="Söhne"/>
            </a:endParaRPr>
          </a:p>
        </p:txBody>
      </p:sp>
      <p:sp>
        <p:nvSpPr>
          <p:cNvPr id="4" name="Rectangle 3"/>
          <p:cNvSpPr/>
          <p:nvPr/>
        </p:nvSpPr>
        <p:spPr>
          <a:xfrm>
            <a:off x="568959" y="1328694"/>
            <a:ext cx="10986347" cy="2585323"/>
          </a:xfrm>
          <a:prstGeom prst="rect">
            <a:avLst/>
          </a:prstGeom>
        </p:spPr>
        <p:txBody>
          <a:bodyPr wrap="square">
            <a:spAutoFit/>
          </a:bodyPr>
          <a:lstStyle/>
          <a:p>
            <a:r>
              <a:rPr lang="fr-FR" b="1" dirty="0">
                <a:solidFill>
                  <a:srgbClr val="0D0D0D"/>
                </a:solidFill>
                <a:latin typeface="Söhne"/>
              </a:rPr>
              <a:t>Librairies de </a:t>
            </a:r>
            <a:r>
              <a:rPr lang="fr-FR" b="1" dirty="0" smtClean="0">
                <a:solidFill>
                  <a:srgbClr val="0D0D0D"/>
                </a:solidFill>
                <a:latin typeface="Söhne"/>
              </a:rPr>
              <a:t>pipeline partagées a niveau du dossier (</a:t>
            </a:r>
            <a:r>
              <a:rPr lang="fr-FR" b="1" dirty="0" err="1" smtClean="0">
                <a:solidFill>
                  <a:srgbClr val="0D0D0D"/>
                </a:solidFill>
                <a:latin typeface="Söhne"/>
              </a:rPr>
              <a:t>Folder</a:t>
            </a:r>
            <a:r>
              <a:rPr lang="fr-FR" b="1" dirty="0" smtClean="0">
                <a:solidFill>
                  <a:srgbClr val="0D0D0D"/>
                </a:solidFill>
                <a:latin typeface="Söhne"/>
              </a:rPr>
              <a:t>-level Shared </a:t>
            </a:r>
            <a:r>
              <a:rPr lang="fr-FR" b="1" dirty="0" err="1" smtClean="0">
                <a:solidFill>
                  <a:srgbClr val="0D0D0D"/>
                </a:solidFill>
                <a:latin typeface="Söhne"/>
              </a:rPr>
              <a:t>Libraries</a:t>
            </a:r>
            <a:r>
              <a:rPr lang="fr-FR" b="1" dirty="0" smtClean="0">
                <a:solidFill>
                  <a:srgbClr val="0D0D0D"/>
                </a:solidFill>
                <a:latin typeface="Söhne"/>
              </a:rPr>
              <a:t> )</a:t>
            </a:r>
            <a:r>
              <a:rPr lang="fr-FR" dirty="0" smtClean="0">
                <a:solidFill>
                  <a:srgbClr val="0D0D0D"/>
                </a:solidFill>
                <a:latin typeface="Söhne"/>
              </a:rPr>
              <a:t> </a:t>
            </a:r>
            <a:r>
              <a:rPr lang="fr-FR" dirty="0">
                <a:solidFill>
                  <a:srgbClr val="0D0D0D"/>
                </a:solidFill>
                <a:latin typeface="Söhne"/>
              </a:rPr>
              <a:t>:</a:t>
            </a:r>
          </a:p>
          <a:p>
            <a:pPr lvl="1"/>
            <a:endParaRPr lang="fr-FR" sz="1600" dirty="0" smtClean="0">
              <a:solidFill>
                <a:srgbClr val="0D0D0D"/>
              </a:solidFill>
              <a:latin typeface="Söhne"/>
            </a:endParaRPr>
          </a:p>
          <a:p>
            <a:pPr lvl="1"/>
            <a:r>
              <a:rPr lang="fr-FR" sz="1600" dirty="0" smtClean="0">
                <a:solidFill>
                  <a:srgbClr val="0D0D0D"/>
                </a:solidFill>
                <a:latin typeface="Söhne"/>
              </a:rPr>
              <a:t>Les </a:t>
            </a:r>
            <a:r>
              <a:rPr lang="fr-FR" sz="1600" dirty="0">
                <a:solidFill>
                  <a:srgbClr val="0D0D0D"/>
                </a:solidFill>
                <a:latin typeface="Söhne"/>
              </a:rPr>
              <a:t>bibliothèques de pipeline sont similaires aux bibliothèques partagées mais sont spécifiquement conçues pour être utilisées dans les pipelines </a:t>
            </a:r>
            <a:r>
              <a:rPr lang="fr-FR" sz="1600" dirty="0" smtClean="0">
                <a:solidFill>
                  <a:srgbClr val="0D0D0D"/>
                </a:solidFill>
                <a:latin typeface="Söhne"/>
              </a:rPr>
              <a:t>Jenkins particuliers.</a:t>
            </a:r>
          </a:p>
          <a:p>
            <a:pPr marL="742950" lvl="1" indent="-285750">
              <a:buFont typeface="+mj-lt"/>
              <a:buAutoNum type="arabicPeriod"/>
            </a:pPr>
            <a:endParaRPr lang="fr-FR" sz="1600" dirty="0">
              <a:solidFill>
                <a:srgbClr val="0D0D0D"/>
              </a:solidFill>
              <a:latin typeface="Söhne"/>
            </a:endParaRPr>
          </a:p>
          <a:p>
            <a:pPr lvl="1"/>
            <a:r>
              <a:rPr lang="fr-FR" sz="1600" dirty="0">
                <a:solidFill>
                  <a:srgbClr val="0D0D0D"/>
                </a:solidFill>
                <a:latin typeface="Söhne"/>
              </a:rPr>
              <a:t>Elles peuvent inclure des étapes de pipeline prédéfinies et des </a:t>
            </a:r>
            <a:r>
              <a:rPr lang="fr-FR" sz="1600" dirty="0" err="1">
                <a:solidFill>
                  <a:srgbClr val="0D0D0D"/>
                </a:solidFill>
                <a:latin typeface="Söhne"/>
              </a:rPr>
              <a:t>wrappers</a:t>
            </a:r>
            <a:r>
              <a:rPr lang="fr-FR" sz="1600" dirty="0">
                <a:solidFill>
                  <a:srgbClr val="0D0D0D"/>
                </a:solidFill>
                <a:latin typeface="Söhne"/>
              </a:rPr>
              <a:t> de pipeline pour simplifier la réutilisation du code et promouvoir des pratiques de développement cohérentes dans toute l'organisation</a:t>
            </a:r>
            <a:r>
              <a:rPr lang="fr-FR" sz="1600" dirty="0" smtClean="0">
                <a:solidFill>
                  <a:srgbClr val="0D0D0D"/>
                </a:solidFill>
                <a:latin typeface="Söhne"/>
              </a:rPr>
              <a:t>.</a:t>
            </a:r>
          </a:p>
          <a:p>
            <a:pPr marL="742950" lvl="1" indent="-285750">
              <a:buFont typeface="+mj-lt"/>
              <a:buAutoNum type="arabicPeriod"/>
            </a:pPr>
            <a:endParaRPr lang="fr-FR" sz="1600" dirty="0">
              <a:solidFill>
                <a:srgbClr val="0D0D0D"/>
              </a:solidFill>
              <a:latin typeface="Söhne"/>
            </a:endParaRPr>
          </a:p>
          <a:p>
            <a:pPr lvl="1"/>
            <a:r>
              <a:rPr lang="fr-FR" sz="1600" dirty="0">
                <a:solidFill>
                  <a:srgbClr val="0D0D0D"/>
                </a:solidFill>
                <a:latin typeface="Söhne"/>
              </a:rPr>
              <a:t>Les bibliothèques de pipeline sont souvent utilisées pour encapsuler des logiques complexes, des pratiques de déploiement, des configurations de tests, etc.</a:t>
            </a:r>
            <a:endParaRPr lang="fr-FR" sz="1600" b="0" i="0" dirty="0">
              <a:solidFill>
                <a:srgbClr val="0D0D0D"/>
              </a:solidFill>
              <a:effectLst/>
              <a:latin typeface="Söhne"/>
            </a:endParaRPr>
          </a:p>
        </p:txBody>
      </p:sp>
    </p:spTree>
    <p:extLst>
      <p:ext uri="{BB962C8B-B14F-4D97-AF65-F5344CB8AC3E}">
        <p14:creationId xmlns:p14="http://schemas.microsoft.com/office/powerpoint/2010/main" val="748126079"/>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1">
            <a:hlinkClick r:id="rId3" action="ppaction://hlinkfile"/>
          </p:cNvPr>
          <p:cNvSpPr>
            <a:spLocks noChangeArrowheads="1"/>
          </p:cNvSpPr>
          <p:nvPr/>
        </p:nvSpPr>
        <p:spPr bwMode="auto">
          <a:xfrm>
            <a:off x="204965" y="236361"/>
            <a:ext cx="2747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sz="1600" b="1" dirty="0" err="1" smtClean="0">
                <a:latin typeface="Söhne"/>
              </a:rPr>
              <a:t>Groovy</a:t>
            </a:r>
            <a:r>
              <a:rPr lang="fr-FR" sz="1600" b="1" dirty="0" smtClean="0">
                <a:latin typeface="Söhne"/>
              </a:rPr>
              <a:t> dans Jenkins</a:t>
            </a:r>
            <a:endParaRPr lang="fr-FR" altLang="en-US" sz="1600" b="1" dirty="0">
              <a:latin typeface="Söhne"/>
              <a:cs typeface="Times New Roman" panose="02020603050405020304" pitchFamily="18" charset="0"/>
            </a:endParaRPr>
          </a:p>
        </p:txBody>
      </p:sp>
      <p:sp>
        <p:nvSpPr>
          <p:cNvPr id="4" name="Rectangle 3"/>
          <p:cNvSpPr/>
          <p:nvPr/>
        </p:nvSpPr>
        <p:spPr>
          <a:xfrm>
            <a:off x="460586" y="759734"/>
            <a:ext cx="10986347" cy="2492990"/>
          </a:xfrm>
          <a:prstGeom prst="rect">
            <a:avLst/>
          </a:prstGeom>
        </p:spPr>
        <p:txBody>
          <a:bodyPr wrap="square">
            <a:spAutoFit/>
          </a:bodyPr>
          <a:lstStyle/>
          <a:p>
            <a:r>
              <a:rPr lang="fr-FR" b="1" dirty="0" smtClean="0">
                <a:solidFill>
                  <a:srgbClr val="0D0D0D"/>
                </a:solidFill>
                <a:latin typeface="Söhne"/>
              </a:rPr>
              <a:t>Les scripts bash ou bat</a:t>
            </a:r>
            <a:r>
              <a:rPr lang="fr-FR" dirty="0" smtClean="0">
                <a:solidFill>
                  <a:srgbClr val="0D0D0D"/>
                </a:solidFill>
                <a:latin typeface="Söhne"/>
              </a:rPr>
              <a:t>:</a:t>
            </a:r>
            <a:endParaRPr lang="fr-FR" dirty="0">
              <a:solidFill>
                <a:srgbClr val="0D0D0D"/>
              </a:solidFill>
              <a:latin typeface="Söhne"/>
            </a:endParaRPr>
          </a:p>
          <a:p>
            <a:pPr lvl="1"/>
            <a:endParaRPr lang="fr-FR" sz="1600" dirty="0" smtClean="0">
              <a:solidFill>
                <a:srgbClr val="0D0D0D"/>
              </a:solidFill>
              <a:latin typeface="Söhne"/>
            </a:endParaRPr>
          </a:p>
          <a:p>
            <a:pPr lvl="1"/>
            <a:r>
              <a:rPr lang="fr-FR" dirty="0"/>
              <a:t>L'utilisation d'un script </a:t>
            </a:r>
            <a:r>
              <a:rPr lang="fr-FR" dirty="0" err="1"/>
              <a:t>shell</a:t>
            </a:r>
            <a:r>
              <a:rPr lang="fr-FR" dirty="0"/>
              <a:t> dans Jenkins Pipeline peut aider à simplifier les </a:t>
            </a:r>
            <a:r>
              <a:rPr lang="fr-FR" dirty="0" err="1"/>
              <a:t>builds</a:t>
            </a:r>
            <a:r>
              <a:rPr lang="fr-FR" dirty="0"/>
              <a:t> en combinant plusieurs étapes en une seule étape</a:t>
            </a:r>
            <a:r>
              <a:rPr lang="fr-FR" dirty="0" smtClean="0"/>
              <a:t>.</a:t>
            </a:r>
          </a:p>
          <a:p>
            <a:pPr lvl="1"/>
            <a:endParaRPr lang="fr-FR" sz="1600" b="0" i="0" dirty="0">
              <a:solidFill>
                <a:srgbClr val="0D0D0D"/>
              </a:solidFill>
              <a:effectLst/>
              <a:latin typeface="Söhne"/>
            </a:endParaRPr>
          </a:p>
          <a:p>
            <a:pPr lvl="1"/>
            <a:r>
              <a:rPr lang="fr-FR" dirty="0"/>
              <a:t>Le script </a:t>
            </a:r>
            <a:r>
              <a:rPr lang="fr-FR" dirty="0" err="1"/>
              <a:t>shell</a:t>
            </a:r>
            <a:r>
              <a:rPr lang="fr-FR" dirty="0"/>
              <a:t> permet également aux utilisateurs d'ajouter ou de mettre à jour des commandes sans avoir à modifier chaque étape ou étape séparément</a:t>
            </a:r>
            <a:r>
              <a:rPr lang="fr-FR" dirty="0" smtClean="0"/>
              <a:t>.</a:t>
            </a:r>
          </a:p>
          <a:p>
            <a:pPr lvl="1"/>
            <a:endParaRPr lang="fr-FR" sz="1600" b="0" i="0" dirty="0">
              <a:solidFill>
                <a:srgbClr val="0D0D0D"/>
              </a:solidFill>
              <a:effectLst/>
              <a:latin typeface="Söhne"/>
            </a:endParaRPr>
          </a:p>
          <a:p>
            <a:pPr lvl="1"/>
            <a:r>
              <a:rPr lang="fr-FR" dirty="0"/>
              <a:t> </a:t>
            </a:r>
            <a:r>
              <a:rPr lang="fr-FR" dirty="0" smtClean="0"/>
              <a:t>Il </a:t>
            </a:r>
            <a:r>
              <a:rPr lang="fr-FR" dirty="0"/>
              <a:t>est </a:t>
            </a:r>
            <a:r>
              <a:rPr lang="fr-FR" dirty="0" smtClean="0"/>
              <a:t>important </a:t>
            </a:r>
            <a:r>
              <a:rPr lang="fr-FR" dirty="0"/>
              <a:t>de réduire la quantité de code </a:t>
            </a:r>
            <a:r>
              <a:rPr lang="fr-FR" dirty="0" err="1"/>
              <a:t>Groovy</a:t>
            </a:r>
            <a:r>
              <a:rPr lang="fr-FR" dirty="0"/>
              <a:t> exécuté par Pipelines</a:t>
            </a:r>
            <a:endParaRPr lang="fr-FR" sz="1600" b="0" i="0" dirty="0">
              <a:solidFill>
                <a:srgbClr val="0D0D0D"/>
              </a:solidFill>
              <a:effectLst/>
              <a:latin typeface="Söhne"/>
            </a:endParaRPr>
          </a:p>
        </p:txBody>
      </p:sp>
    </p:spTree>
    <p:extLst>
      <p:ext uri="{BB962C8B-B14F-4D97-AF65-F5344CB8AC3E}">
        <p14:creationId xmlns:p14="http://schemas.microsoft.com/office/powerpoint/2010/main" val="3730877568"/>
      </p:ext>
    </p:extLst>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16318</TotalTime>
  <Words>2644</Words>
  <Application>Microsoft Office PowerPoint</Application>
  <PresentationFormat>Widescreen</PresentationFormat>
  <Paragraphs>610</Paragraphs>
  <Slides>34</Slides>
  <Notes>34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34</vt:i4>
      </vt:variant>
    </vt:vector>
  </HeadingPairs>
  <TitlesOfParts>
    <vt:vector size="49" baseType="lpstr">
      <vt:lpstr>-apple-system</vt:lpstr>
      <vt:lpstr>Arial</vt:lpstr>
      <vt:lpstr>Arial Unicode MS</vt:lpstr>
      <vt:lpstr>Calibri</vt:lpstr>
      <vt:lpstr>Calibri Light</vt:lpstr>
      <vt:lpstr>Comic Sans MS</vt:lpstr>
      <vt:lpstr>DejaVu Sans</vt:lpstr>
      <vt:lpstr>Montserrat</vt:lpstr>
      <vt:lpstr>Roboto Mono</vt:lpstr>
      <vt:lpstr>Söhne</vt:lpstr>
      <vt:lpstr>Söhne </vt:lpstr>
      <vt:lpstr>Times New Roman</vt:lpstr>
      <vt:lpstr>var(--fontStack-monospace, ui-monospace, SFMono-Regular, SF Mono, Menlo, Consolas, Liberation Mono, monospace)</vt:lpstr>
      <vt:lpstr>Verdana</vt:lpstr>
      <vt:lpstr>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DELL</dc:creator>
  <cp:lastModifiedBy>DELL</cp:lastModifiedBy>
  <cp:revision>150</cp:revision>
  <dcterms:created xsi:type="dcterms:W3CDTF">2024-04-11T08:14:00Z</dcterms:created>
  <dcterms:modified xsi:type="dcterms:W3CDTF">2025-08-24T08:06:09Z</dcterms:modified>
</cp:coreProperties>
</file>